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91" r:id="rId2"/>
  </p:sldMasterIdLst>
  <p:notesMasterIdLst>
    <p:notesMasterId r:id="rId32"/>
  </p:notesMasterIdLst>
  <p:handoutMasterIdLst>
    <p:handoutMasterId r:id="rId33"/>
  </p:handoutMasterIdLst>
  <p:sldIdLst>
    <p:sldId id="662" r:id="rId3"/>
    <p:sldId id="661" r:id="rId4"/>
    <p:sldId id="437" r:id="rId5"/>
    <p:sldId id="664" r:id="rId6"/>
    <p:sldId id="663" r:id="rId7"/>
    <p:sldId id="494" r:id="rId8"/>
    <p:sldId id="496" r:id="rId9"/>
    <p:sldId id="665" r:id="rId10"/>
    <p:sldId id="498" r:id="rId11"/>
    <p:sldId id="499" r:id="rId12"/>
    <p:sldId id="500" r:id="rId13"/>
    <p:sldId id="501" r:id="rId14"/>
    <p:sldId id="502" r:id="rId15"/>
    <p:sldId id="503" r:id="rId16"/>
    <p:sldId id="666" r:id="rId17"/>
    <p:sldId id="669" r:id="rId18"/>
    <p:sldId id="670" r:id="rId19"/>
    <p:sldId id="671" r:id="rId20"/>
    <p:sldId id="672" r:id="rId21"/>
    <p:sldId id="673" r:id="rId22"/>
    <p:sldId id="674" r:id="rId23"/>
    <p:sldId id="675" r:id="rId24"/>
    <p:sldId id="676" r:id="rId25"/>
    <p:sldId id="508" r:id="rId26"/>
    <p:sldId id="509" r:id="rId27"/>
    <p:sldId id="510" r:id="rId28"/>
    <p:sldId id="511" r:id="rId29"/>
    <p:sldId id="659" r:id="rId30"/>
    <p:sldId id="667" r:id="rId3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9" autoAdjust="0"/>
    <p:restoredTop sz="99824" autoAdjust="0"/>
  </p:normalViewPr>
  <p:slideViewPr>
    <p:cSldViewPr>
      <p:cViewPr varScale="1">
        <p:scale>
          <a:sx n="70" d="100"/>
          <a:sy n="70" d="100"/>
        </p:scale>
        <p:origin x="154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37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29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D2A3F-9A1F-466D-A2FC-91E2F6E0E496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THE MORE YOU READ THE BETTER YOU BE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9BC92-EF73-4AB6-86C7-5FE76F0CD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9804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7BA83-326A-4A4D-8328-4F99C7035B1E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THE MORE YOU READ THE BETTER YOU BE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5FB0F-F637-4CA4-9A4B-54AA345C1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4253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62229" algn="l"/>
                <a:tab pos="924458" algn="l"/>
                <a:tab pos="1386688" algn="l"/>
                <a:tab pos="1848917" algn="l"/>
                <a:tab pos="2311146" algn="l"/>
                <a:tab pos="2773375" algn="l"/>
                <a:tab pos="3235604" algn="l"/>
                <a:tab pos="3697834" algn="l"/>
                <a:tab pos="4160063" algn="l"/>
                <a:tab pos="4622292" algn="l"/>
                <a:tab pos="5084521" algn="l"/>
                <a:tab pos="5546750" algn="l"/>
                <a:tab pos="6008980" algn="l"/>
                <a:tab pos="6471209" algn="l"/>
                <a:tab pos="6933438" algn="l"/>
                <a:tab pos="7395667" algn="l"/>
                <a:tab pos="7857896" algn="l"/>
                <a:tab pos="8320126" algn="l"/>
                <a:tab pos="8782355" algn="l"/>
                <a:tab pos="9244584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62229" algn="l"/>
                <a:tab pos="924458" algn="l"/>
                <a:tab pos="1386688" algn="l"/>
                <a:tab pos="1848917" algn="l"/>
                <a:tab pos="2311146" algn="l"/>
                <a:tab pos="2773375" algn="l"/>
                <a:tab pos="3235604" algn="l"/>
                <a:tab pos="3697834" algn="l"/>
                <a:tab pos="4160063" algn="l"/>
                <a:tab pos="4622292" algn="l"/>
                <a:tab pos="5084521" algn="l"/>
                <a:tab pos="5546750" algn="l"/>
                <a:tab pos="6008980" algn="l"/>
                <a:tab pos="6471209" algn="l"/>
                <a:tab pos="6933438" algn="l"/>
                <a:tab pos="7395667" algn="l"/>
                <a:tab pos="7857896" algn="l"/>
                <a:tab pos="8320126" algn="l"/>
                <a:tab pos="8782355" algn="l"/>
                <a:tab pos="9244584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62229" algn="l"/>
                <a:tab pos="924458" algn="l"/>
                <a:tab pos="1386688" algn="l"/>
                <a:tab pos="1848917" algn="l"/>
                <a:tab pos="2311146" algn="l"/>
                <a:tab pos="2773375" algn="l"/>
                <a:tab pos="3235604" algn="l"/>
                <a:tab pos="3697834" algn="l"/>
                <a:tab pos="4160063" algn="l"/>
                <a:tab pos="4622292" algn="l"/>
                <a:tab pos="5084521" algn="l"/>
                <a:tab pos="5546750" algn="l"/>
                <a:tab pos="6008980" algn="l"/>
                <a:tab pos="6471209" algn="l"/>
                <a:tab pos="6933438" algn="l"/>
                <a:tab pos="7395667" algn="l"/>
                <a:tab pos="7857896" algn="l"/>
                <a:tab pos="8320126" algn="l"/>
                <a:tab pos="8782355" algn="l"/>
                <a:tab pos="9244584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62229" algn="l"/>
                <a:tab pos="924458" algn="l"/>
                <a:tab pos="1386688" algn="l"/>
                <a:tab pos="1848917" algn="l"/>
                <a:tab pos="2311146" algn="l"/>
                <a:tab pos="2773375" algn="l"/>
                <a:tab pos="3235604" algn="l"/>
                <a:tab pos="3697834" algn="l"/>
                <a:tab pos="4160063" algn="l"/>
                <a:tab pos="4622292" algn="l"/>
                <a:tab pos="5084521" algn="l"/>
                <a:tab pos="5546750" algn="l"/>
                <a:tab pos="6008980" algn="l"/>
                <a:tab pos="6471209" algn="l"/>
                <a:tab pos="6933438" algn="l"/>
                <a:tab pos="7395667" algn="l"/>
                <a:tab pos="7857896" algn="l"/>
                <a:tab pos="8320126" algn="l"/>
                <a:tab pos="8782355" algn="l"/>
                <a:tab pos="9244584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62229" algn="l"/>
                <a:tab pos="924458" algn="l"/>
                <a:tab pos="1386688" algn="l"/>
                <a:tab pos="1848917" algn="l"/>
                <a:tab pos="2311146" algn="l"/>
                <a:tab pos="2773375" algn="l"/>
                <a:tab pos="3235604" algn="l"/>
                <a:tab pos="3697834" algn="l"/>
                <a:tab pos="4160063" algn="l"/>
                <a:tab pos="4622292" algn="l"/>
                <a:tab pos="5084521" algn="l"/>
                <a:tab pos="5546750" algn="l"/>
                <a:tab pos="6008980" algn="l"/>
                <a:tab pos="6471209" algn="l"/>
                <a:tab pos="6933438" algn="l"/>
                <a:tab pos="7395667" algn="l"/>
                <a:tab pos="7857896" algn="l"/>
                <a:tab pos="8320126" algn="l"/>
                <a:tab pos="8782355" algn="l"/>
                <a:tab pos="9244584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42261" indent="-231115" defTabSz="462229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62229" algn="l"/>
                <a:tab pos="924458" algn="l"/>
                <a:tab pos="1386688" algn="l"/>
                <a:tab pos="1848917" algn="l"/>
                <a:tab pos="2311146" algn="l"/>
                <a:tab pos="2773375" algn="l"/>
                <a:tab pos="3235604" algn="l"/>
                <a:tab pos="3697834" algn="l"/>
                <a:tab pos="4160063" algn="l"/>
                <a:tab pos="4622292" algn="l"/>
                <a:tab pos="5084521" algn="l"/>
                <a:tab pos="5546750" algn="l"/>
                <a:tab pos="6008980" algn="l"/>
                <a:tab pos="6471209" algn="l"/>
                <a:tab pos="6933438" algn="l"/>
                <a:tab pos="7395667" algn="l"/>
                <a:tab pos="7857896" algn="l"/>
                <a:tab pos="8320126" algn="l"/>
                <a:tab pos="8782355" algn="l"/>
                <a:tab pos="9244584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004490" indent="-231115" defTabSz="462229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62229" algn="l"/>
                <a:tab pos="924458" algn="l"/>
                <a:tab pos="1386688" algn="l"/>
                <a:tab pos="1848917" algn="l"/>
                <a:tab pos="2311146" algn="l"/>
                <a:tab pos="2773375" algn="l"/>
                <a:tab pos="3235604" algn="l"/>
                <a:tab pos="3697834" algn="l"/>
                <a:tab pos="4160063" algn="l"/>
                <a:tab pos="4622292" algn="l"/>
                <a:tab pos="5084521" algn="l"/>
                <a:tab pos="5546750" algn="l"/>
                <a:tab pos="6008980" algn="l"/>
                <a:tab pos="6471209" algn="l"/>
                <a:tab pos="6933438" algn="l"/>
                <a:tab pos="7395667" algn="l"/>
                <a:tab pos="7857896" algn="l"/>
                <a:tab pos="8320126" algn="l"/>
                <a:tab pos="8782355" algn="l"/>
                <a:tab pos="9244584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66719" indent="-231115" defTabSz="462229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62229" algn="l"/>
                <a:tab pos="924458" algn="l"/>
                <a:tab pos="1386688" algn="l"/>
                <a:tab pos="1848917" algn="l"/>
                <a:tab pos="2311146" algn="l"/>
                <a:tab pos="2773375" algn="l"/>
                <a:tab pos="3235604" algn="l"/>
                <a:tab pos="3697834" algn="l"/>
                <a:tab pos="4160063" algn="l"/>
                <a:tab pos="4622292" algn="l"/>
                <a:tab pos="5084521" algn="l"/>
                <a:tab pos="5546750" algn="l"/>
                <a:tab pos="6008980" algn="l"/>
                <a:tab pos="6471209" algn="l"/>
                <a:tab pos="6933438" algn="l"/>
                <a:tab pos="7395667" algn="l"/>
                <a:tab pos="7857896" algn="l"/>
                <a:tab pos="8320126" algn="l"/>
                <a:tab pos="8782355" algn="l"/>
                <a:tab pos="9244584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928948" indent="-231115" defTabSz="462229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62229" algn="l"/>
                <a:tab pos="924458" algn="l"/>
                <a:tab pos="1386688" algn="l"/>
                <a:tab pos="1848917" algn="l"/>
                <a:tab pos="2311146" algn="l"/>
                <a:tab pos="2773375" algn="l"/>
                <a:tab pos="3235604" algn="l"/>
                <a:tab pos="3697834" algn="l"/>
                <a:tab pos="4160063" algn="l"/>
                <a:tab pos="4622292" algn="l"/>
                <a:tab pos="5084521" algn="l"/>
                <a:tab pos="5546750" algn="l"/>
                <a:tab pos="6008980" algn="l"/>
                <a:tab pos="6471209" algn="l"/>
                <a:tab pos="6933438" algn="l"/>
                <a:tab pos="7395667" algn="l"/>
                <a:tab pos="7857896" algn="l"/>
                <a:tab pos="8320126" algn="l"/>
                <a:tab pos="8782355" algn="l"/>
                <a:tab pos="9244584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924458">
              <a:spcBef>
                <a:spcPct val="0"/>
              </a:spcBef>
              <a:buClrTx/>
              <a:defRPr/>
            </a:pPr>
            <a:fld id="{1BE8124A-20A4-4FE0-B578-10A4F1354AA5}" type="slidenum">
              <a:rPr lang="en-US" altLang="en-US">
                <a:ea typeface="Microsoft YaHei" panose="020B0503020204020204" pitchFamily="34" charset="-122"/>
              </a:rPr>
              <a:pPr defTabSz="924458">
                <a:spcBef>
                  <a:spcPct val="0"/>
                </a:spcBef>
                <a:buClrTx/>
                <a:defRPr/>
              </a:pPr>
              <a:t>1</a:t>
            </a:fld>
            <a:endParaRPr lang="en-US" altLang="en-US">
              <a:ea typeface="Microsoft YaHei" panose="020B0503020204020204" pitchFamily="34" charset="-122"/>
            </a:endParaRPr>
          </a:p>
        </p:txBody>
      </p:sp>
      <p:sp>
        <p:nvSpPr>
          <p:cNvPr id="4099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30588" cy="2571750"/>
          </a:xfrm>
          <a:solidFill>
            <a:srgbClr val="FFFFFF"/>
          </a:solidFill>
          <a:ln/>
        </p:spPr>
      </p:sp>
      <p:sp>
        <p:nvSpPr>
          <p:cNvPr id="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1219201" y="3257550"/>
            <a:ext cx="6705600" cy="3086100"/>
          </a:xfrm>
          <a:extLst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en-US" dirty="0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709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AF160A-DB98-41E1-8A16-2F223CCD02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9520" y="3329940"/>
            <a:ext cx="6817360" cy="315468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333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25576B-A479-4B61-A0DE-E836E898F08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9520" y="3329940"/>
            <a:ext cx="6817360" cy="315468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679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04E60A-0CD6-4BC0-B805-791F26692AE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9520" y="3329940"/>
            <a:ext cx="6817360" cy="315468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320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9624D-CA17-4180-BA07-D74C02363E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89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w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1001647"/>
            <a:ext cx="9144000" cy="73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350">
              <a:solidFill>
                <a:srgbClr val="000000"/>
              </a:solidFill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136651" y="384175"/>
            <a:ext cx="1792288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3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564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w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36103455-AFDC-4BAB-8C3E-1CD269E48E7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9864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 i="1"/>
            </a:lvl1pPr>
          </a:lstStyle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idx="11"/>
          </p:nvPr>
        </p:nvSpPr>
        <p:spPr>
          <a:xfrm>
            <a:off x="7543801" y="6537326"/>
            <a:ext cx="1598613" cy="333375"/>
          </a:xfrm>
          <a:ln/>
        </p:spPr>
        <p:txBody>
          <a:bodyPr/>
          <a:lstStyle>
            <a:lvl1pPr>
              <a:defRPr b="1" i="1"/>
            </a:lvl1pPr>
          </a:lstStyle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idx="12"/>
          </p:nvPr>
        </p:nvSpPr>
        <p:spPr>
          <a:xfrm>
            <a:off x="4724401" y="6537324"/>
            <a:ext cx="2132013" cy="319088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03455-AFDC-4BAB-8C3E-1CD269E48E7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5297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900115"/>
            <a:ext cx="4037013" cy="524668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900115"/>
            <a:ext cx="4038600" cy="524668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1201F2-510A-4412-A5A7-27C7D2D838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3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78970-D0E6-408C-8497-3D6C3F4BCA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2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D0141-BAB5-41B8-9CBD-BA365ACD587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6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2CB6B0-DFB5-4A57-992B-6A9D766DFFF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7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3373E0-210D-42B4-A7A4-930C988116A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7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84E08-3424-4CB5-A8FF-84BB80AFF9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8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E30E00-D272-4B8D-8A3B-6704F5F0E9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14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150815"/>
            <a:ext cx="2055813" cy="59959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0815"/>
            <a:ext cx="6019800" cy="59959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FCC6E-F3A1-4D29-81B3-1CA6558447D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12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15463-5F3E-40D4-9DB8-104449CDB2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1326"/>
            <a:ext cx="8062912" cy="659535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B579-202D-4432-BA43-D04023B4CB83}" type="datetime4">
              <a:rPr lang="en-US" smtClean="0"/>
              <a:pPr/>
              <a:t>November 8,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7199" y="1107618"/>
            <a:ext cx="4031619" cy="460768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606925" y="1107618"/>
            <a:ext cx="3913188" cy="4607382"/>
          </a:xfrm>
        </p:spPr>
        <p:txBody>
          <a:bodyPr/>
          <a:lstStyle>
            <a:lvl1pPr>
              <a:buClr>
                <a:srgbClr val="6CB255"/>
              </a:buClr>
              <a:defRPr>
                <a:solidFill>
                  <a:srgbClr val="212F62"/>
                </a:solidFill>
              </a:defRPr>
            </a:lvl1pPr>
            <a:lvl2pPr marL="731520" indent="-4572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2pPr>
            <a:lvl3pPr marL="1257300" indent="-3429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3pPr>
            <a:lvl4pPr marL="1714500" indent="-3429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4pPr>
            <a:lvl5pPr marL="2171700" indent="-3429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7718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 marL="788670" indent="-514350">
              <a:buFont typeface="+mj-lt"/>
              <a:buAutoNum type="alphaLcParenR"/>
              <a:defRPr sz="2800"/>
            </a:lvl2pPr>
            <a:lvl3pPr marL="1371600" indent="-457200">
              <a:buFont typeface="+mj-lt"/>
              <a:buAutoNum type="alphaLcParenR"/>
              <a:defRPr sz="2400"/>
            </a:lvl3pPr>
            <a:lvl4pPr marL="1828800" indent="-457200">
              <a:buFont typeface="+mj-lt"/>
              <a:buAutoNum type="alphaLcParenR"/>
              <a:defRPr sz="2000"/>
            </a:lvl4pPr>
            <a:lvl5pPr marL="2286000" indent="-457200">
              <a:buFont typeface="+mj-lt"/>
              <a:buAutoNum type="alphaLcParenR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/>
          <a:lstStyle/>
          <a:p>
            <a:fld id="{AA6F98A2-93E5-4790-BE6A-D421FE2369D3}" type="datetime4">
              <a:rPr lang="en-US" smtClean="0"/>
              <a:pPr/>
              <a:t>November 8,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41326"/>
            <a:ext cx="8062912" cy="659535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60458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/>
          <a:lstStyle/>
          <a:p>
            <a:fld id="{0509AE1A-C4AB-42D5-A65B-F7AEDA1CB18F}" type="datetime4">
              <a:rPr lang="en-US" smtClean="0"/>
              <a:pPr/>
              <a:t>November 8,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0" y="789677"/>
            <a:ext cx="9144000" cy="7091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rgbClr val="6CB25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/>
              <a:t>College Physics</a:t>
            </a:r>
          </a:p>
          <a:p>
            <a:pPr algn="ctr"/>
            <a:endParaRPr lang="en-US" sz="1800" cap="none" dirty="0">
              <a:solidFill>
                <a:srgbClr val="FFFFFF">
                  <a:lumMod val="20000"/>
                  <a:lumOff val="80000"/>
                </a:srgbClr>
              </a:solidFill>
              <a:latin typeface="Arial"/>
            </a:endParaRPr>
          </a:p>
          <a:p>
            <a:pPr algn="ctr"/>
            <a:r>
              <a:rPr lang="en-US" sz="2000" b="1" cap="none" dirty="0">
                <a:solidFill>
                  <a:srgbClr val="212F62"/>
                </a:solidFill>
                <a:latin typeface="Arial"/>
              </a:rPr>
              <a:t>Chapter # Chapter Title</a:t>
            </a:r>
          </a:p>
          <a:p>
            <a:pPr algn="ctr"/>
            <a:r>
              <a:rPr lang="en-US" sz="1600" cap="none" dirty="0">
                <a:solidFill>
                  <a:srgbClr val="000000"/>
                </a:solidFill>
                <a:latin typeface="Arial"/>
              </a:rPr>
              <a:t>PowerPoint Image Slideshow</a:t>
            </a:r>
          </a:p>
        </p:txBody>
      </p:sp>
      <p:pic>
        <p:nvPicPr>
          <p:cNvPr id="9" name="Picture 8" descr="medium_covers_Page_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758" y="2517424"/>
            <a:ext cx="2010682" cy="2603836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  <a:scene3d>
            <a:camera prst="obliqueTop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952198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www.hu.edu.et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smtClean="0"/>
              <a:t>Ever to Excel!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b-NO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5151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7813"/>
            <a:ext cx="9144000" cy="11699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" y="1600200"/>
            <a:ext cx="4343400" cy="51054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51054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580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17F4C-95F5-40F2-A059-F52F32819D49}" type="datetime1">
              <a:rPr lang="en-US" smtClean="0"/>
              <a:t>11/8/2023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66C45-AB29-477C-97ED-74D7BFC077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964189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B941-C2BD-41EA-8A98-84ADF46B3022}" type="datetime1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66C45-AB29-477C-97ED-74D7BFC077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307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DFCA-2D6B-42FF-BD2E-A532BA389D25}" type="datetime1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66C45-AB29-477C-97ED-74D7BFC077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916477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ED71E-A555-42F5-BF61-581E160C97B9}" type="datetime1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66C45-AB29-477C-97ED-74D7BFC077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255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5FBC-0543-4BBF-A8B1-1DE5F0CA79D5}" type="datetime1">
              <a:rPr lang="en-US" smtClean="0"/>
              <a:t>11/8/2023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66C45-AB29-477C-97ED-74D7BFC077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456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3D393-8A3B-4716-B886-04DC75457E72}" type="datetime1">
              <a:rPr lang="en-US" smtClean="0"/>
              <a:t>11/8/2023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66C45-AB29-477C-97ED-74D7BFC077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541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3259-F6A6-42EE-810B-FB7D3DEA704D}" type="datetime1">
              <a:rPr lang="en-US" smtClean="0"/>
              <a:t>11/8/2023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66C45-AB29-477C-97ED-74D7BFC077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990633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E357-1991-4661-96B1-659619BCB96F}" type="datetime1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66C45-AB29-477C-97ED-74D7BFC077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16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93D6B-A209-4734-9776-FEF5D2BBE324}" type="datetime1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66C45-AB29-477C-97ED-74D7BFC077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1745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50FEB-83B8-40CB-A839-E32B40F895CB}" type="datetime1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66C45-AB29-477C-97ED-74D7BFC077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21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7312-E24F-4608-ABD7-CC08563B9DAC}" type="datetime1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66C45-AB29-477C-97ED-74D7BFC077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69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vmlDrawing" Target="../drawings/vmlDrawing1.v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" r:id="rId21" imgW="7390476" imgH="913963" progId="">
                  <p:embed/>
                </p:oleObj>
              </mc:Choice>
              <mc:Fallback>
                <p:oleObj r:id="rId21" imgW="7390476" imgH="91396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6538915"/>
            <a:ext cx="9144000" cy="333375"/>
          </a:xfrm>
          <a:prstGeom prst="rect">
            <a:avLst/>
          </a:prstGeom>
          <a:gradFill rotWithShape="0">
            <a:gsLst>
              <a:gs pos="0">
                <a:srgbClr val="48BDEC"/>
              </a:gs>
              <a:gs pos="100000">
                <a:srgbClr val="1640B6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692152"/>
            <a:ext cx="9144000" cy="73025"/>
          </a:xfrm>
          <a:prstGeom prst="rect">
            <a:avLst/>
          </a:prstGeom>
          <a:gradFill rotWithShape="0">
            <a:gsLst>
              <a:gs pos="0">
                <a:srgbClr val="48BDEC"/>
              </a:gs>
              <a:gs pos="50000">
                <a:srgbClr val="CDEDFA"/>
              </a:gs>
              <a:gs pos="100000">
                <a:srgbClr val="48BDEC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35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1" y="900115"/>
            <a:ext cx="8228013" cy="5246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the outline text format</a:t>
            </a:r>
          </a:p>
          <a:p>
            <a:pPr lvl="1"/>
            <a:r>
              <a:rPr lang="en-GB" altLang="en-US" smtClean="0"/>
              <a:t>Second Outline Level</a:t>
            </a:r>
          </a:p>
          <a:p>
            <a:pPr lvl="2"/>
            <a:r>
              <a:rPr lang="en-GB" altLang="en-US" smtClean="0"/>
              <a:t>Third Outline Level</a:t>
            </a:r>
          </a:p>
          <a:p>
            <a:pPr lvl="3"/>
            <a:r>
              <a:rPr lang="en-GB" altLang="en-US" smtClean="0"/>
              <a:t>Fourth Outline Level</a:t>
            </a:r>
          </a:p>
          <a:p>
            <a:pPr lvl="4"/>
            <a:r>
              <a:rPr lang="en-GB" altLang="en-US" smtClean="0"/>
              <a:t>Fifth Outline Level</a:t>
            </a:r>
          </a:p>
          <a:p>
            <a:pPr lvl="4"/>
            <a:r>
              <a:rPr lang="en-GB" altLang="en-US" smtClean="0"/>
              <a:t>Sixth Outline Level</a:t>
            </a:r>
          </a:p>
          <a:p>
            <a:pPr lvl="4"/>
            <a:r>
              <a:rPr lang="en-GB" altLang="en-US" smtClean="0"/>
              <a:t>Seventh Outline Level</a:t>
            </a:r>
          </a:p>
          <a:p>
            <a:pPr lvl="4"/>
            <a:r>
              <a:rPr lang="en-GB" altLang="en-US" smtClean="0"/>
              <a:t>Eighth Outline Level</a:t>
            </a:r>
          </a:p>
          <a:p>
            <a:pPr lvl="4"/>
            <a:r>
              <a:rPr lang="en-GB" altLang="en-US" smtClean="0"/>
              <a:t>Ninth Outline Level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dt"/>
          </p:nvPr>
        </p:nvSpPr>
        <p:spPr bwMode="auto">
          <a:xfrm>
            <a:off x="427039" y="6551615"/>
            <a:ext cx="2132012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buClrTx/>
              <a:buSzPct val="100000"/>
              <a:buFontTx/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 i="1">
                <a:solidFill>
                  <a:srgbClr val="000000"/>
                </a:solidFill>
                <a:latin typeface="Arial" charset="0"/>
                <a:ea typeface="Microsoft YaHei" charset="-122"/>
                <a:cs typeface="Arial Unicode MS" charset="0"/>
              </a:defRPr>
            </a:lvl1pPr>
          </a:lstStyle>
          <a:p>
            <a:pPr>
              <a:defRPr/>
            </a:pPr>
            <a:r>
              <a:rPr lang="en-US" smtClean="0"/>
              <a:t>www.hu.edu.et</a:t>
            </a: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/>
          </p:nvPr>
        </p:nvSpPr>
        <p:spPr bwMode="auto">
          <a:xfrm>
            <a:off x="5943601" y="6537325"/>
            <a:ext cx="3198813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SzPct val="100000"/>
              <a:buFontTx/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 sz="1800" i="1">
                <a:solidFill>
                  <a:srgbClr val="000000"/>
                </a:solidFill>
                <a:latin typeface="Arial" charset="0"/>
                <a:ea typeface="Microsoft YaHei" charset="-122"/>
                <a:cs typeface="+mj-cs"/>
              </a:defRPr>
            </a:lvl1pPr>
          </a:lstStyle>
          <a:p>
            <a:pPr>
              <a:defRPr/>
            </a:pPr>
            <a:r>
              <a:rPr lang="en-US" smtClean="0"/>
              <a:t>Ever to Excel!</a:t>
            </a:r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3276601" y="6537325"/>
            <a:ext cx="2132013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SzPct val="100000"/>
              <a:buFontTx/>
              <a:buNone/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  <a:defRPr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fld id="{36103455-AFDC-4BAB-8C3E-1CD269E48E7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43001" y="150815"/>
            <a:ext cx="6323013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the title text format</a:t>
            </a: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838200" cy="82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136651" y="384175"/>
            <a:ext cx="1792288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3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43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iming>
    <p:tnLst>
      <p:par>
        <p:cTn id="1" dur="indefinite" restart="never" nodeType="tmRoot"/>
      </p:par>
    </p:tnLst>
  </p:timing>
  <p:hf hdr="0"/>
  <p:txStyles>
    <p:titleStyle>
      <a:lvl1pPr algn="ctr" defTabSz="342900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100" b="1">
          <a:solidFill>
            <a:srgbClr val="FFFFFF"/>
          </a:solidFill>
          <a:latin typeface="+mj-lt"/>
          <a:ea typeface="+mj-ea"/>
          <a:cs typeface="+mj-cs"/>
        </a:defRPr>
      </a:lvl1pPr>
      <a:lvl2pPr algn="ctr" defTabSz="342900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100" b="1">
          <a:solidFill>
            <a:srgbClr val="FFFFFF"/>
          </a:solidFill>
          <a:latin typeface="Times New Roman" panose="02020603050405020304" pitchFamily="18" charset="0"/>
          <a:cs typeface="Arial" charset="0"/>
        </a:defRPr>
      </a:lvl2pPr>
      <a:lvl3pPr algn="ctr" defTabSz="342900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100" b="1">
          <a:solidFill>
            <a:srgbClr val="FFFFFF"/>
          </a:solidFill>
          <a:latin typeface="Times New Roman" panose="02020603050405020304" pitchFamily="18" charset="0"/>
          <a:cs typeface="Arial" charset="0"/>
        </a:defRPr>
      </a:lvl3pPr>
      <a:lvl4pPr algn="ctr" defTabSz="342900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100" b="1">
          <a:solidFill>
            <a:srgbClr val="FFFFFF"/>
          </a:solidFill>
          <a:latin typeface="Times New Roman" panose="02020603050405020304" pitchFamily="18" charset="0"/>
          <a:cs typeface="Arial" charset="0"/>
        </a:defRPr>
      </a:lvl4pPr>
      <a:lvl5pPr algn="ctr" defTabSz="342900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100" b="1">
          <a:solidFill>
            <a:srgbClr val="FFFFFF"/>
          </a:solidFill>
          <a:latin typeface="Times New Roman" panose="02020603050405020304" pitchFamily="18" charset="0"/>
          <a:cs typeface="Arial" charset="0"/>
        </a:defRPr>
      </a:lvl5pPr>
      <a:lvl6pPr marL="1885950" indent="-171450" algn="ctr" defTabSz="342900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100" b="1">
          <a:solidFill>
            <a:srgbClr val="FFFFFF"/>
          </a:solidFill>
          <a:latin typeface="Arial" charset="0"/>
          <a:cs typeface="Arial" charset="0"/>
        </a:defRPr>
      </a:lvl6pPr>
      <a:lvl7pPr marL="2228850" indent="-171450" algn="ctr" defTabSz="342900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100" b="1">
          <a:solidFill>
            <a:srgbClr val="FFFFFF"/>
          </a:solidFill>
          <a:latin typeface="Arial" charset="0"/>
          <a:cs typeface="Arial" charset="0"/>
        </a:defRPr>
      </a:lvl7pPr>
      <a:lvl8pPr marL="2571750" indent="-171450" algn="ctr" defTabSz="342900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100" b="1">
          <a:solidFill>
            <a:srgbClr val="FFFFFF"/>
          </a:solidFill>
          <a:latin typeface="Arial" charset="0"/>
          <a:cs typeface="Arial" charset="0"/>
        </a:defRPr>
      </a:lvl8pPr>
      <a:lvl9pPr marL="2914650" indent="-171450" algn="ctr" defTabSz="342900" rtl="0" eaLnBrk="1" fontAlgn="base" hangingPunct="1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100" b="1">
          <a:solidFill>
            <a:srgbClr val="FFFFFF"/>
          </a:solidFill>
          <a:latin typeface="Arial" charset="0"/>
          <a:cs typeface="Arial" charset="0"/>
        </a:defRPr>
      </a:lvl9pPr>
    </p:titleStyle>
    <p:bodyStyle>
      <a:lvl1pPr marL="257175" indent="-257175" algn="l" defTabSz="342900" rtl="0" eaLnBrk="1" fontAlgn="base" hangingPunct="1"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100" b="1">
          <a:solidFill>
            <a:srgbClr val="2B166E"/>
          </a:solidFill>
          <a:latin typeface="+mn-lt"/>
          <a:ea typeface="+mn-ea"/>
          <a:cs typeface="+mn-cs"/>
        </a:defRPr>
      </a:lvl1pPr>
      <a:lvl2pPr marL="557213" indent="-214313" algn="l" defTabSz="342900" rtl="0" eaLnBrk="1" fontAlgn="base" hangingPunct="1"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100">
          <a:solidFill>
            <a:srgbClr val="2B166E"/>
          </a:solidFill>
          <a:latin typeface="+mj-lt"/>
          <a:ea typeface="+mn-ea"/>
        </a:defRPr>
      </a:lvl2pPr>
      <a:lvl3pPr marL="857250" indent="-171450" algn="l" defTabSz="342900" rtl="0" eaLnBrk="1" fontAlgn="base" hangingPunct="1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800">
          <a:solidFill>
            <a:srgbClr val="2B166E"/>
          </a:solidFill>
          <a:latin typeface="+mj-lt"/>
          <a:ea typeface="+mn-ea"/>
        </a:defRPr>
      </a:lvl3pPr>
      <a:lvl4pPr marL="1200150" indent="-171450" algn="l" defTabSz="342900" rtl="0" eaLnBrk="1" fontAlgn="base" hangingPunct="1">
        <a:spcBef>
          <a:spcPts val="3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500">
          <a:solidFill>
            <a:srgbClr val="2B166E"/>
          </a:solidFill>
          <a:latin typeface="+mj-lt"/>
          <a:ea typeface="+mn-ea"/>
        </a:defRPr>
      </a:lvl4pPr>
      <a:lvl5pPr marL="1543050" indent="-171450" algn="l" defTabSz="342900" rtl="0" eaLnBrk="1" fontAlgn="base" hangingPunct="1">
        <a:spcBef>
          <a:spcPts val="3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500">
          <a:solidFill>
            <a:srgbClr val="2B166E"/>
          </a:solidFill>
          <a:latin typeface="+mj-lt"/>
          <a:ea typeface="+mn-ea"/>
        </a:defRPr>
      </a:lvl5pPr>
      <a:lvl6pPr marL="1885950" indent="-171450" algn="l" defTabSz="342900" rtl="0" eaLnBrk="1" fontAlgn="base" hangingPunct="1">
        <a:spcBef>
          <a:spcPts val="3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500">
          <a:solidFill>
            <a:srgbClr val="2B166E"/>
          </a:solidFill>
          <a:latin typeface="+mj-lt"/>
          <a:ea typeface="+mn-ea"/>
        </a:defRPr>
      </a:lvl6pPr>
      <a:lvl7pPr marL="2228850" indent="-171450" algn="l" defTabSz="342900" rtl="0" eaLnBrk="1" fontAlgn="base" hangingPunct="1">
        <a:spcBef>
          <a:spcPts val="3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500">
          <a:solidFill>
            <a:srgbClr val="2B166E"/>
          </a:solidFill>
          <a:latin typeface="+mj-lt"/>
          <a:ea typeface="+mn-ea"/>
        </a:defRPr>
      </a:lvl7pPr>
      <a:lvl8pPr marL="2571750" indent="-171450" algn="l" defTabSz="342900" rtl="0" eaLnBrk="1" fontAlgn="base" hangingPunct="1">
        <a:spcBef>
          <a:spcPts val="3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500">
          <a:solidFill>
            <a:srgbClr val="2B166E"/>
          </a:solidFill>
          <a:latin typeface="+mj-lt"/>
          <a:ea typeface="+mn-ea"/>
        </a:defRPr>
      </a:lvl8pPr>
      <a:lvl9pPr marL="2914650" indent="-171450" algn="l" defTabSz="342900" rtl="0" eaLnBrk="1" fontAlgn="base" hangingPunct="1">
        <a:spcBef>
          <a:spcPts val="3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500">
          <a:solidFill>
            <a:srgbClr val="2B166E"/>
          </a:solidFill>
          <a:latin typeface="+mj-lt"/>
          <a:ea typeface="+mn-ea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2873940E-D09D-410B-89F5-8FC7FCBBF486}" type="datetime1">
              <a:rPr lang="en-US" smtClean="0"/>
              <a:t>11/8/2023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8C66C45-AB29-477C-97ED-74D7BFC077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5085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/>
          <p:cNvSpPr txBox="1">
            <a:spLocks noChangeArrowheads="1"/>
          </p:cNvSpPr>
          <p:nvPr/>
        </p:nvSpPr>
        <p:spPr bwMode="auto">
          <a:xfrm>
            <a:off x="6515493" y="6513922"/>
            <a:ext cx="2133600" cy="15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  <a:defRPr/>
            </a:pPr>
            <a:fld id="{50C94A2C-C5D9-4D43-B149-421FE0A38260}" type="slidenum">
              <a:rPr lang="en-US" altLang="en-US" sz="1800"/>
              <a:pPr algn="r">
                <a:spcBef>
                  <a:spcPct val="0"/>
                </a:spcBef>
                <a:buClrTx/>
                <a:buFontTx/>
                <a:buNone/>
                <a:defRPr/>
              </a:pPr>
              <a:t>1</a:t>
            </a:fld>
            <a:endParaRPr lang="en-US" altLang="en-US" sz="1800"/>
          </a:p>
        </p:txBody>
      </p:sp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216816" y="829558"/>
            <a:ext cx="8927184" cy="5400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1pPr>
            <a:lvl2pPr marL="914400" indent="-449263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Microsoft YaHei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buClrTx/>
              <a:buFontTx/>
              <a:buNone/>
              <a:defRPr/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6815" y="1219200"/>
            <a:ext cx="879520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nb-NO" altLang="en-US" sz="4400" b="1" dirty="0" smtClean="0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Biology (Biol1012)</a:t>
            </a:r>
          </a:p>
          <a:p>
            <a:pPr algn="ctr">
              <a:lnSpc>
                <a:spcPct val="150000"/>
              </a:lnSpc>
              <a:defRPr/>
            </a:pPr>
            <a:r>
              <a:rPr lang="nb-NO" altLang="en-US" sz="4400" b="1" dirty="0" smtClean="0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Slides</a:t>
            </a:r>
          </a:p>
          <a:p>
            <a:pPr algn="ctr">
              <a:lnSpc>
                <a:spcPct val="150000"/>
              </a:lnSpc>
              <a:defRPr/>
            </a:pPr>
            <a:r>
              <a:rPr lang="nb-NO" altLang="en-US" sz="4400" b="1" dirty="0" smtClean="0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7. </a:t>
            </a:r>
            <a:r>
              <a:rPr lang="en-US" altLang="en-US" sz="4400" b="1" dirty="0" smtClean="0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Taxonomy </a:t>
            </a:r>
            <a:r>
              <a:rPr lang="en-US" altLang="en-US" sz="4400" b="1" dirty="0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4400" b="1" dirty="0" smtClean="0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Organisms </a:t>
            </a:r>
            <a:endParaRPr lang="en-US" altLang="en-US" sz="4400" b="1" dirty="0">
              <a:solidFill>
                <a:srgbClr val="66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493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084"/>
            <a:ext cx="7498080" cy="6858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Unit 7. Taxonomy of organisms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Taxonomy is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erived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from two Greek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words: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1203325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"taxis", which means arrangement and</a:t>
            </a:r>
          </a:p>
          <a:p>
            <a:pPr marL="1203325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nomos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" which means law </a:t>
            </a:r>
          </a:p>
          <a:p>
            <a:pPr marL="457200" indent="-34925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Thus, taxonomy means </a:t>
            </a:r>
            <a:r>
              <a:rPr lang="en-US" sz="2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law governing the classification or arrangement of organisms into </a:t>
            </a:r>
            <a:r>
              <a:rPr lang="en-US" sz="22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taxa (taxonomic groups)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z="2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it is mainly concerned with </a:t>
            </a:r>
            <a:r>
              <a:rPr lang="en-US" sz="2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description, classification</a:t>
            </a:r>
            <a:r>
              <a:rPr lang="en-US" sz="2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nomenclature and identification of </a:t>
            </a:r>
            <a:r>
              <a:rPr lang="en-US" sz="2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organisms.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Description: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assignment of features to an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organism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Classification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ordering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organisms into hierarchy of ranks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based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similarities/phylogenetic relationships 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Nomenclature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naming of taxonomic groups/taxa according to some standardized system (i.e. allocation of name of the taxa produced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Identification: </a:t>
            </a:r>
            <a:r>
              <a:rPr lang="en-US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assignment of </a:t>
            </a:r>
            <a:r>
              <a:rPr lang="en-US" sz="2200" dirty="0" smtClean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an organism </a:t>
            </a:r>
            <a:r>
              <a:rPr lang="en-US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or specimen to an existing </a:t>
            </a:r>
            <a:r>
              <a:rPr lang="en-US" sz="2200" dirty="0" smtClean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classification/by </a:t>
            </a:r>
            <a:r>
              <a:rPr lang="en-US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reference to an already existent classification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7038" y="6551615"/>
            <a:ext cx="3306761" cy="319087"/>
          </a:xfrm>
        </p:spPr>
        <p:txBody>
          <a:bodyPr/>
          <a:lstStyle/>
          <a:p>
            <a:fld id="{2EC9D752-5C82-4B65-8D72-07055D84EBDA}" type="datetime2">
              <a:rPr lang="en-US" smtClean="0"/>
              <a:t>Wednesday, November 8, 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4707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Early Attempts to Classify Organisms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610600" cy="5715000"/>
          </a:xfrm>
        </p:spPr>
        <p:txBody>
          <a:bodyPr>
            <a:normAutofit/>
          </a:bodyPr>
          <a:lstStyle/>
          <a:p>
            <a:pPr marL="0" indent="0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development of modern taxonomy has not a linear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path.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Naming, describing &amp; classifying living organisms are natural &amp; integral activity of humans.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Without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such knowledge, it would be difficult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communicate.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Phases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developmental stages of taxonomy:</a:t>
            </a:r>
          </a:p>
          <a:p>
            <a:pPr marL="860425" indent="-860425">
              <a:spcBef>
                <a:spcPts val="60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Pre-Linnaean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653796" indent="-571500">
              <a:lnSpc>
                <a:spcPct val="150000"/>
              </a:lnSpc>
              <a:buClr>
                <a:srgbClr val="FF0000"/>
              </a:buClr>
              <a:buAutoNum type="romanLcParenR"/>
            </a:pPr>
            <a:r>
              <a:rPr lang="en-US" sz="2400" dirty="0">
                <a:solidFill>
                  <a:srgbClr val="FF0000"/>
                </a:solidFill>
              </a:rPr>
              <a:t>Ancient taxonomy</a:t>
            </a:r>
          </a:p>
          <a:p>
            <a:pPr marL="539496" indent="-457200">
              <a:lnSpc>
                <a:spcPct val="150000"/>
              </a:lnSpc>
              <a:buClr>
                <a:srgbClr val="FF0000"/>
              </a:buClr>
              <a:buFont typeface="Courier New" pitchFamily="49" charset="0"/>
              <a:buChar char="o"/>
            </a:pPr>
            <a:r>
              <a:rPr lang="en-US" sz="2000" dirty="0">
                <a:solidFill>
                  <a:srgbClr val="340AE6"/>
                </a:solidFill>
              </a:rPr>
              <a:t>Ancient  people have grouped/ categorized living things into </a:t>
            </a:r>
            <a:r>
              <a:rPr lang="en-US" sz="2000" dirty="0">
                <a:solidFill>
                  <a:srgbClr val="FF0000"/>
                </a:solidFill>
              </a:rPr>
              <a:t>categories &amp; gave common names  </a:t>
            </a:r>
            <a:r>
              <a:rPr lang="en-US" sz="2000" dirty="0">
                <a:solidFill>
                  <a:srgbClr val="340AE6"/>
                </a:solidFill>
              </a:rPr>
              <a:t>= </a:t>
            </a:r>
            <a:r>
              <a:rPr lang="en-US" sz="2000" dirty="0">
                <a:solidFill>
                  <a:srgbClr val="FF0000"/>
                </a:solidFill>
              </a:rPr>
              <a:t>Folk Taxonomy</a:t>
            </a:r>
          </a:p>
          <a:p>
            <a:pPr marL="653796" indent="-5715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000" dirty="0">
                <a:solidFill>
                  <a:srgbClr val="340AE6"/>
                </a:solidFill>
              </a:rPr>
              <a:t>Characterized by </a:t>
            </a:r>
            <a:r>
              <a:rPr lang="en-US" sz="2000" dirty="0">
                <a:solidFill>
                  <a:srgbClr val="FF0000"/>
                </a:solidFill>
              </a:rPr>
              <a:t>existent &amp; no-existent </a:t>
            </a:r>
            <a:r>
              <a:rPr lang="en-US" sz="2000" dirty="0">
                <a:solidFill>
                  <a:srgbClr val="340AE6"/>
                </a:solidFill>
              </a:rPr>
              <a:t>of common names</a:t>
            </a:r>
          </a:p>
          <a:p>
            <a:pPr marL="653796" indent="-5715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000" dirty="0">
                <a:solidFill>
                  <a:srgbClr val="340AE6"/>
                </a:solidFill>
              </a:rPr>
              <a:t>Important for communication of the people</a:t>
            </a:r>
          </a:p>
          <a:p>
            <a:pPr marL="860425" indent="-860425">
              <a:spcBef>
                <a:spcPts val="600"/>
              </a:spcBef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B3F5-DAB0-4B8F-A058-A997B411DCEA}" type="datetime2">
              <a:rPr lang="en-US" smtClean="0"/>
              <a:t>Wednesday, November 8,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7414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Early Attempts to Classify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Organisms …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8915400" cy="5715000"/>
          </a:xfrm>
        </p:spPr>
        <p:txBody>
          <a:bodyPr>
            <a:normAutofit fontScale="92500" lnSpcReduction="20000"/>
          </a:bodyPr>
          <a:lstStyle/>
          <a:p>
            <a:pPr marL="653796" indent="-571500">
              <a:lnSpc>
                <a:spcPct val="150000"/>
              </a:lnSpc>
              <a:buClr>
                <a:srgbClr val="FF0000"/>
              </a:buClr>
              <a:buNone/>
            </a:pPr>
            <a:r>
              <a:rPr lang="en-US" sz="2600" dirty="0" smtClean="0">
                <a:solidFill>
                  <a:srgbClr val="FF0000"/>
                </a:solidFill>
              </a:rPr>
              <a:t>ii</a:t>
            </a:r>
            <a:r>
              <a:rPr lang="en-US" sz="2600" dirty="0">
                <a:solidFill>
                  <a:srgbClr val="FF0000"/>
                </a:solidFill>
              </a:rPr>
              <a:t>) Greek and Roman Philosophers=Essentialists </a:t>
            </a:r>
            <a:endParaRPr lang="en-US" sz="2600" dirty="0" smtClean="0">
              <a:solidFill>
                <a:srgbClr val="FF0000"/>
              </a:solidFill>
            </a:endParaRPr>
          </a:p>
          <a:p>
            <a:pPr marL="653796" indent="-5715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400" dirty="0" smtClean="0">
                <a:solidFill>
                  <a:srgbClr val="340AE6"/>
                </a:solidFill>
              </a:rPr>
              <a:t>Tried to classify organisms based on selected/more essential characteristics</a:t>
            </a:r>
            <a:endParaRPr lang="en-US" sz="2400" dirty="0">
              <a:solidFill>
                <a:srgbClr val="340AE6"/>
              </a:solidFill>
            </a:endParaRPr>
          </a:p>
          <a:p>
            <a:pPr marL="825246" indent="-742950">
              <a:lnSpc>
                <a:spcPct val="150000"/>
              </a:lnSpc>
              <a:buClr>
                <a:srgbClr val="FF0000"/>
              </a:buClr>
              <a:buAutoNum type="alphaLcParenR"/>
            </a:pPr>
            <a:r>
              <a:rPr lang="en-US" sz="2400" dirty="0">
                <a:solidFill>
                  <a:srgbClr val="FF0000"/>
                </a:solidFill>
              </a:rPr>
              <a:t>Aristotle (384–322 BC</a:t>
            </a:r>
            <a:r>
              <a:rPr lang="en-US" sz="2400" dirty="0" smtClean="0">
                <a:solidFill>
                  <a:srgbClr val="FF0000"/>
                </a:solidFill>
              </a:rPr>
              <a:t>)</a:t>
            </a:r>
          </a:p>
          <a:p>
            <a:pPr marL="425196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rgbClr val="6600FF"/>
                </a:solidFill>
              </a:rPr>
              <a:t>Aristotle viewed life was hierarchical and he classified </a:t>
            </a:r>
            <a:r>
              <a:rPr lang="en-US" sz="2400" dirty="0" smtClean="0">
                <a:solidFill>
                  <a:srgbClr val="6600FF"/>
                </a:solidFill>
              </a:rPr>
              <a:t>organisms</a:t>
            </a:r>
            <a:endParaRPr lang="en-US" sz="2400" dirty="0">
              <a:solidFill>
                <a:srgbClr val="6600FF"/>
              </a:solidFill>
            </a:endParaRPr>
          </a:p>
          <a:p>
            <a:pPr marL="825246" indent="-7429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the first to classify living things into plants &amp; animals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6600FF"/>
                </a:solidFill>
              </a:rPr>
              <a:t>Animals: </a:t>
            </a:r>
            <a:r>
              <a:rPr lang="en-US" sz="2400" dirty="0"/>
              <a:t>into “animals with blood” &amp; “animals without blood” 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u="sng" dirty="0">
                <a:solidFill>
                  <a:srgbClr val="6600FF"/>
                </a:solidFill>
              </a:rPr>
              <a:t>animals with blood</a:t>
            </a:r>
            <a:r>
              <a:rPr lang="en-US" sz="2400" dirty="0">
                <a:solidFill>
                  <a:srgbClr val="6600FF"/>
                </a:solidFill>
              </a:rPr>
              <a:t>: </a:t>
            </a:r>
            <a:r>
              <a:rPr lang="en-US" sz="2400" dirty="0"/>
              <a:t>live-bearing &amp; egg-bearing,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u="sng" dirty="0" smtClean="0">
                <a:solidFill>
                  <a:srgbClr val="340AE6"/>
                </a:solidFill>
              </a:rPr>
              <a:t>Animals without </a:t>
            </a:r>
            <a:r>
              <a:rPr lang="en-US" sz="2400" u="sng" dirty="0">
                <a:solidFill>
                  <a:srgbClr val="340AE6"/>
                </a:solidFill>
              </a:rPr>
              <a:t>blood:  </a:t>
            </a:r>
            <a:r>
              <a:rPr lang="en-US" sz="2400" dirty="0"/>
              <a:t>insects, </a:t>
            </a:r>
            <a:r>
              <a:rPr lang="en-US" sz="2400" dirty="0" err="1"/>
              <a:t>crustacea</a:t>
            </a:r>
            <a:r>
              <a:rPr lang="en-US" sz="2400" dirty="0"/>
              <a:t> and </a:t>
            </a:r>
            <a:r>
              <a:rPr lang="en-US" sz="2400" dirty="0" err="1"/>
              <a:t>testacea</a:t>
            </a:r>
            <a:r>
              <a:rPr lang="en-US" sz="2400" dirty="0"/>
              <a:t> (</a:t>
            </a:r>
            <a:r>
              <a:rPr lang="en-US" sz="2400" dirty="0" err="1"/>
              <a:t>molluscs</a:t>
            </a:r>
            <a:r>
              <a:rPr lang="en-US" sz="2400" dirty="0"/>
              <a:t>)</a:t>
            </a:r>
          </a:p>
          <a:p>
            <a:pPr marL="860425" indent="-860425">
              <a:spcBef>
                <a:spcPts val="600"/>
              </a:spcBef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B3F5-DAB0-4B8F-A058-A997B411DCEA}" type="datetime2">
              <a:rPr lang="en-US" smtClean="0"/>
              <a:t>Wednesday, November 8,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8999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Early Attempts to Classify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Organisms …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991600" cy="57912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b) Theophrastus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(370-285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BC)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was the first taxonomist to write down a classification in a logical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form</a:t>
            </a:r>
          </a:p>
          <a:p>
            <a:pPr marL="91440" indent="-282575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Classified of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all known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plants at that time, in his book “De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Historia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Plantarum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”, </a:t>
            </a:r>
          </a:p>
          <a:p>
            <a:pPr marL="91440" indent="-282575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classified 480 kinds of plants based on their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habit/growth form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Plants were classified as trees, shrubs/herbs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91440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However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his work incorporates the principle of the rules of </a:t>
            </a:r>
            <a:r>
              <a:rPr lang="en-US" sz="2200" u="sng" dirty="0" smtClean="0">
                <a:latin typeface="Times New Roman" pitchFamily="18" charset="0"/>
                <a:cs typeface="Times New Roman" pitchFamily="18" charset="0"/>
              </a:rPr>
              <a:t>Dichotomy </a:t>
            </a:r>
            <a:r>
              <a:rPr lang="en-US" sz="2200" u="sng" dirty="0">
                <a:latin typeface="Times New Roman" pitchFamily="18" charset="0"/>
                <a:cs typeface="Times New Roman" pitchFamily="18" charset="0"/>
              </a:rPr>
              <a:t>or Excluded Middle</a:t>
            </a:r>
          </a:p>
          <a:p>
            <a:pPr marL="91440" indent="-282575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According to Theophrastus classification system, </a:t>
            </a:r>
            <a:r>
              <a:rPr lang="en-US" sz="22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there are no any intermediate organisms</a:t>
            </a:r>
          </a:p>
          <a:p>
            <a:pPr marL="261302" indent="-342900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Any given organisms is either A or not A</a:t>
            </a:r>
          </a:p>
          <a:p>
            <a:pPr marL="91440" indent="-282575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 was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typologists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belief that every natural group of organisms has an invariant, generalized or idealized pattern shared by all members of the group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B3F5-DAB0-4B8F-A058-A997B411DCEA}" type="datetime2">
              <a:rPr lang="en-US" smtClean="0"/>
              <a:t>Wednesday, November 8,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0120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03943"/>
            <a:ext cx="8839200" cy="6172200"/>
          </a:xfrm>
        </p:spPr>
        <p:txBody>
          <a:bodyPr>
            <a:normAutofit fontScale="62500" lnSpcReduction="20000"/>
          </a:bodyPr>
          <a:lstStyle/>
          <a:p>
            <a:pPr marL="0" indent="0">
              <a:spcBef>
                <a:spcPts val="1200"/>
              </a:spcBef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sz="2900" dirty="0">
                <a:solidFill>
                  <a:srgbClr val="FF0000"/>
                </a:solidFill>
                <a:cs typeface="Times New Roman" panose="02020603050405020304" pitchFamily="18" charset="0"/>
              </a:rPr>
              <a:t>c</a:t>
            </a:r>
            <a:r>
              <a:rPr lang="en-US" sz="29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) Pliny the Elder (23-79 A.D.)</a:t>
            </a:r>
          </a:p>
          <a:p>
            <a:pPr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900" dirty="0" smtClean="0">
                <a:cs typeface="Times New Roman" panose="02020603050405020304" pitchFamily="18" charset="0"/>
              </a:rPr>
              <a:t>Naturalist who wrote books termed </a:t>
            </a:r>
            <a:r>
              <a:rPr lang="en-US" sz="2900" dirty="0" err="1" smtClean="0">
                <a:cs typeface="Times New Roman" panose="02020603050405020304" pitchFamily="18" charset="0"/>
              </a:rPr>
              <a:t>Historia</a:t>
            </a:r>
            <a:r>
              <a:rPr lang="en-US" sz="2900" dirty="0" smtClean="0">
                <a:cs typeface="Times New Roman" panose="02020603050405020304" pitchFamily="18" charset="0"/>
              </a:rPr>
              <a:t> </a:t>
            </a:r>
            <a:r>
              <a:rPr lang="en-US" sz="2900" dirty="0" err="1" smtClean="0">
                <a:cs typeface="Times New Roman" panose="02020603050405020304" pitchFamily="18" charset="0"/>
              </a:rPr>
              <a:t>naturalis</a:t>
            </a:r>
            <a:endParaRPr lang="en-US" sz="2900" dirty="0" smtClean="0">
              <a:cs typeface="Times New Roman" panose="02020603050405020304" pitchFamily="18" charset="0"/>
            </a:endParaRPr>
          </a:p>
          <a:p>
            <a:pPr marL="457200" indent="-23495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900" dirty="0" smtClean="0">
                <a:cs typeface="Times New Roman" panose="02020603050405020304" pitchFamily="18" charset="0"/>
              </a:rPr>
              <a:t> Categorized plants in terms horticultural practices medicinal uses, and timber use practices</a:t>
            </a:r>
          </a:p>
          <a:p>
            <a:pPr marL="457200" indent="-23495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900" dirty="0">
                <a:cs typeface="Times New Roman" panose="02020603050405020304" pitchFamily="18" charset="0"/>
              </a:rPr>
              <a:t>described several plants &amp;  gave them Latin names. </a:t>
            </a:r>
            <a:endParaRPr lang="en-US" sz="2900" dirty="0" smtClean="0">
              <a:cs typeface="Times New Roman" panose="02020603050405020304" pitchFamily="18" charset="0"/>
            </a:endParaRPr>
          </a:p>
          <a:p>
            <a:pPr marL="457200" indent="-23495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900" dirty="0">
                <a:cs typeface="Times New Roman" panose="02020603050405020304" pitchFamily="18" charset="0"/>
              </a:rPr>
              <a:t>Many of these names are </a:t>
            </a:r>
            <a:r>
              <a:rPr lang="en-US" sz="2900" dirty="0" err="1">
                <a:cs typeface="Times New Roman" panose="02020603050405020304" pitchFamily="18" charset="0"/>
              </a:rPr>
              <a:t>stil</a:t>
            </a:r>
            <a:r>
              <a:rPr lang="en-US" sz="2900" dirty="0">
                <a:cs typeface="Times New Roman" panose="02020603050405020304" pitchFamily="18" charset="0"/>
              </a:rPr>
              <a:t> in use (e.g. </a:t>
            </a:r>
            <a:r>
              <a:rPr lang="en-US" sz="2900" dirty="0" err="1">
                <a:cs typeface="Times New Roman" panose="02020603050405020304" pitchFamily="18" charset="0"/>
              </a:rPr>
              <a:t>Populus</a:t>
            </a:r>
            <a:r>
              <a:rPr lang="en-US" sz="2900" dirty="0">
                <a:cs typeface="Times New Roman" panose="02020603050405020304" pitchFamily="18" charset="0"/>
              </a:rPr>
              <a:t> alba &amp; </a:t>
            </a:r>
            <a:r>
              <a:rPr lang="en-US" sz="2900" dirty="0" err="1">
                <a:cs typeface="Times New Roman" panose="02020603050405020304" pitchFamily="18" charset="0"/>
              </a:rPr>
              <a:t>Populus</a:t>
            </a:r>
            <a:r>
              <a:rPr lang="en-US" sz="2900" dirty="0"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cs typeface="Times New Roman" panose="02020603050405020304" pitchFamily="18" charset="0"/>
              </a:rPr>
              <a:t>nigra</a:t>
            </a:r>
            <a:r>
              <a:rPr lang="en-US" sz="2900" dirty="0">
                <a:cs typeface="Times New Roman" panose="02020603050405020304" pitchFamily="18" charset="0"/>
              </a:rPr>
              <a:t>) </a:t>
            </a:r>
          </a:p>
          <a:p>
            <a:pPr marL="457200" indent="-23495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900" dirty="0">
                <a:cs typeface="Times New Roman" panose="02020603050405020304" pitchFamily="18" charset="0"/>
              </a:rPr>
              <a:t>Some call him the Father of Botanical Latin</a:t>
            </a:r>
            <a:r>
              <a:rPr lang="en-US" sz="2900" dirty="0" smtClean="0"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900" dirty="0">
                <a:solidFill>
                  <a:srgbClr val="FF0000"/>
                </a:solidFill>
              </a:rPr>
              <a:t>d</a:t>
            </a:r>
            <a:r>
              <a:rPr lang="en-US" sz="2900" dirty="0" smtClean="0">
                <a:solidFill>
                  <a:srgbClr val="FF0000"/>
                </a:solidFill>
              </a:rPr>
              <a:t>) </a:t>
            </a:r>
            <a:r>
              <a:rPr lang="en-US" sz="2900" dirty="0" err="1" smtClean="0">
                <a:solidFill>
                  <a:srgbClr val="FF0000"/>
                </a:solidFill>
              </a:rPr>
              <a:t>Dioscorides</a:t>
            </a:r>
            <a:r>
              <a:rPr lang="en-US" sz="2900" dirty="0" smtClean="0">
                <a:solidFill>
                  <a:srgbClr val="FF0000"/>
                </a:solidFill>
              </a:rPr>
              <a:t> (40–90 AD)- Greek physician</a:t>
            </a:r>
          </a:p>
          <a:p>
            <a:pPr marL="342900" indent="-342900" algn="just">
              <a:buFont typeface="Wingdings" pitchFamily="2" charset="2"/>
              <a:buChar char="v"/>
            </a:pPr>
            <a:r>
              <a:rPr lang="en-US" sz="2900" dirty="0" smtClean="0">
                <a:solidFill>
                  <a:srgbClr val="9900CC"/>
                </a:solidFill>
              </a:rPr>
              <a:t>Wrote a book entitled “De </a:t>
            </a:r>
            <a:r>
              <a:rPr lang="en-US" sz="2900" dirty="0" err="1" smtClean="0">
                <a:solidFill>
                  <a:srgbClr val="9900CC"/>
                </a:solidFill>
              </a:rPr>
              <a:t>Materia</a:t>
            </a:r>
            <a:r>
              <a:rPr lang="en-US" sz="2900" dirty="0" smtClean="0">
                <a:solidFill>
                  <a:srgbClr val="9900CC"/>
                </a:solidFill>
              </a:rPr>
              <a:t> </a:t>
            </a:r>
            <a:r>
              <a:rPr lang="en-US" sz="2900" dirty="0" err="1" smtClean="0">
                <a:solidFill>
                  <a:srgbClr val="9900CC"/>
                </a:solidFill>
              </a:rPr>
              <a:t>Medica</a:t>
            </a:r>
            <a:r>
              <a:rPr lang="en-US" sz="2900" dirty="0" smtClean="0">
                <a:solidFill>
                  <a:srgbClr val="9900CC"/>
                </a:solidFill>
              </a:rPr>
              <a:t>” ≈ 600 plant species with their useful application (mostly medicinal uses).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900" dirty="0" smtClean="0">
                <a:solidFill>
                  <a:srgbClr val="9900CC"/>
                </a:solidFill>
              </a:rPr>
              <a:t>Used in medicine until the 16</a:t>
            </a:r>
            <a:r>
              <a:rPr lang="en-US" sz="2900" baseline="30000" dirty="0" smtClean="0">
                <a:solidFill>
                  <a:srgbClr val="9900CC"/>
                </a:solidFill>
              </a:rPr>
              <a:t>th</a:t>
            </a:r>
            <a:r>
              <a:rPr lang="en-US" sz="2900" dirty="0" smtClean="0">
                <a:solidFill>
                  <a:srgbClr val="9900CC"/>
                </a:solidFill>
              </a:rPr>
              <a:t> C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en-US" sz="2900" dirty="0" smtClean="0">
                <a:solidFill>
                  <a:srgbClr val="9900CC"/>
                </a:solidFill>
              </a:rPr>
              <a:t> classification based on medicinal properties</a:t>
            </a:r>
            <a:endParaRPr lang="en-US" sz="2900" dirty="0" smtClean="0">
              <a:cs typeface="Times New Roman" panose="02020603050405020304" pitchFamily="18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sz="2900" dirty="0">
                <a:solidFill>
                  <a:srgbClr val="FF0000"/>
                </a:solidFill>
                <a:cs typeface="Times New Roman" panose="02020603050405020304" pitchFamily="18" charset="0"/>
              </a:rPr>
              <a:t>e</a:t>
            </a:r>
            <a:r>
              <a:rPr lang="en-US" sz="29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) </a:t>
            </a:r>
            <a:r>
              <a:rPr lang="en-US" sz="2900" dirty="0" err="1" smtClean="0">
                <a:solidFill>
                  <a:srgbClr val="FF0000"/>
                </a:solidFill>
                <a:cs typeface="Times New Roman" panose="02020603050405020304" pitchFamily="18" charset="0"/>
              </a:rPr>
              <a:t>Caesalpinus</a:t>
            </a:r>
            <a:r>
              <a:rPr lang="en-US" sz="29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(1519-1603)</a:t>
            </a:r>
          </a:p>
          <a:p>
            <a:pPr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900" dirty="0" smtClean="0">
                <a:cs typeface="Times New Roman" panose="02020603050405020304" pitchFamily="18" charset="0"/>
              </a:rPr>
              <a:t>In his book "De </a:t>
            </a:r>
            <a:r>
              <a:rPr lang="en-US" sz="2900" dirty="0" err="1" smtClean="0">
                <a:cs typeface="Times New Roman" panose="02020603050405020304" pitchFamily="18" charset="0"/>
              </a:rPr>
              <a:t>Plantis</a:t>
            </a:r>
            <a:r>
              <a:rPr lang="en-US" sz="2900" dirty="0" smtClean="0">
                <a:cs typeface="Times New Roman" panose="02020603050405020304" pitchFamily="18" charset="0"/>
              </a:rPr>
              <a:t>" he illustrated about 1500 plant species</a:t>
            </a:r>
          </a:p>
          <a:p>
            <a:pPr marL="852488" indent="-284163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900" dirty="0" smtClean="0">
                <a:cs typeface="Times New Roman" panose="02020603050405020304" pitchFamily="18" charset="0"/>
              </a:rPr>
              <a:t>He classified plants based on definite morphological criteria mainly on the basis of habit, fruits, seeds, and ovaries and ovary positions</a:t>
            </a:r>
          </a:p>
          <a:p>
            <a:pPr marL="568325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27038" y="6551615"/>
            <a:ext cx="4449761" cy="306385"/>
          </a:xfrm>
        </p:spPr>
        <p:txBody>
          <a:bodyPr/>
          <a:lstStyle/>
          <a:p>
            <a:fld id="{3D0D60AC-6A01-48A6-A319-38C5FAE0C26B}" type="datetime2">
              <a:rPr lang="en-US" smtClean="0"/>
              <a:t>Wednesday, November 8, 2023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Early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Attempts to Classify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Organisms …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94416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8991600" cy="58674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spcBef>
                <a:spcPts val="1200"/>
              </a:spcBef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Bauhin</a:t>
            </a:r>
            <a:r>
              <a:rPr 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 J. (1554-1631) </a:t>
            </a:r>
          </a:p>
          <a:p>
            <a:pPr marL="617220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cs typeface="Times New Roman" panose="02020603050405020304" pitchFamily="18" charset="0"/>
              </a:rPr>
              <a:t>Recognize genera and species as major taxonomic levels </a:t>
            </a:r>
          </a:p>
          <a:p>
            <a:pPr marL="617220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 smtClean="0">
                <a:cs typeface="Times New Roman" panose="02020603050405020304" pitchFamily="18" charset="0"/>
              </a:rPr>
              <a:t>Used </a:t>
            </a:r>
            <a:r>
              <a:rPr lang="en-US" sz="2400" dirty="0">
                <a:cs typeface="Times New Roman" panose="02020603050405020304" pitchFamily="18" charset="0"/>
              </a:rPr>
              <a:t>a binary nomenclature composed of the genus name followed by a single specific</a:t>
            </a:r>
          </a:p>
          <a:p>
            <a:pPr marL="274320" indent="-571500"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B.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Linnaean Era (1707-1778)= Sexual 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system of classification</a:t>
            </a:r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  <a:p>
            <a:pPr marL="360045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 smtClean="0">
                <a:cs typeface="Times New Roman" panose="02020603050405020304" pitchFamily="18" charset="0"/>
              </a:rPr>
              <a:t>Considered as the </a:t>
            </a:r>
            <a:r>
              <a:rPr lang="en-US" sz="2400" dirty="0">
                <a:cs typeface="Times New Roman" panose="02020603050405020304" pitchFamily="18" charset="0"/>
              </a:rPr>
              <a:t>father of modern taxonomy</a:t>
            </a:r>
          </a:p>
          <a:p>
            <a:pPr marL="27432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Briefly described the genera and the species in his </a:t>
            </a:r>
            <a:r>
              <a:rPr lang="en-US" sz="2400" dirty="0" smtClean="0">
                <a:cs typeface="Times New Roman" panose="02020603050405020304" pitchFamily="18" charset="0"/>
              </a:rPr>
              <a:t>books “Genera </a:t>
            </a:r>
            <a:r>
              <a:rPr lang="en-US" sz="2400" dirty="0" err="1">
                <a:cs typeface="Times New Roman" panose="02020603050405020304" pitchFamily="18" charset="0"/>
              </a:rPr>
              <a:t>Plantarum</a:t>
            </a:r>
            <a:r>
              <a:rPr lang="en-US" sz="2400" dirty="0">
                <a:cs typeface="Times New Roman" panose="02020603050405020304" pitchFamily="18" charset="0"/>
              </a:rPr>
              <a:t> (1737) and Species </a:t>
            </a:r>
            <a:r>
              <a:rPr lang="en-US" sz="2400" dirty="0" err="1">
                <a:cs typeface="Times New Roman" panose="02020603050405020304" pitchFamily="18" charset="0"/>
              </a:rPr>
              <a:t>Plantarum</a:t>
            </a:r>
            <a:r>
              <a:rPr lang="en-US" sz="2400" dirty="0">
                <a:cs typeface="Times New Roman" panose="02020603050405020304" pitchFamily="18" charset="0"/>
              </a:rPr>
              <a:t> (1753</a:t>
            </a:r>
            <a:r>
              <a:rPr lang="en-US" sz="2400" dirty="0" smtClean="0">
                <a:cs typeface="Times New Roman" panose="02020603050405020304" pitchFamily="18" charset="0"/>
              </a:rPr>
              <a:t>)”</a:t>
            </a:r>
          </a:p>
          <a:p>
            <a:pPr marL="27432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Binomial nomenclature</a:t>
            </a:r>
            <a:r>
              <a:rPr lang="en-US" sz="24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solidFill>
                  <a:srgbClr val="3333FF"/>
                </a:solidFill>
                <a:cs typeface="Times New Roman" panose="02020603050405020304" pitchFamily="18" charset="0"/>
              </a:rPr>
              <a:t>system </a:t>
            </a:r>
            <a:r>
              <a:rPr lang="en-US" sz="2400" dirty="0">
                <a:solidFill>
                  <a:srgbClr val="3333FF"/>
                </a:solidFill>
                <a:cs typeface="Times New Roman" panose="02020603050405020304" pitchFamily="18" charset="0"/>
              </a:rPr>
              <a:t>of nomenclature in which two terms are used to denote a species </a:t>
            </a:r>
            <a:r>
              <a:rPr lang="en-US" sz="2400" dirty="0" smtClean="0">
                <a:solidFill>
                  <a:srgbClr val="3333FF"/>
                </a:solidFill>
                <a:cs typeface="Times New Roman" panose="02020603050405020304" pitchFamily="18" charset="0"/>
              </a:rPr>
              <a:t>name (genus name and specific </a:t>
            </a:r>
            <a:r>
              <a:rPr lang="en-US" sz="2400" dirty="0">
                <a:solidFill>
                  <a:srgbClr val="3333FF"/>
                </a:solidFill>
                <a:cs typeface="Times New Roman" panose="02020603050405020304" pitchFamily="18" charset="0"/>
              </a:rPr>
              <a:t>name /specific </a:t>
            </a:r>
            <a:r>
              <a:rPr lang="en-US" sz="2400" dirty="0" smtClean="0">
                <a:solidFill>
                  <a:srgbClr val="3333FF"/>
                </a:solidFill>
                <a:cs typeface="Times New Roman" panose="02020603050405020304" pitchFamily="18" charset="0"/>
              </a:rPr>
              <a:t>epithet.</a:t>
            </a:r>
          </a:p>
          <a:p>
            <a:pPr marL="360045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 smtClean="0">
                <a:cs typeface="Times New Roman" panose="02020603050405020304" pitchFamily="18" charset="0"/>
              </a:rPr>
              <a:t>His </a:t>
            </a:r>
            <a:r>
              <a:rPr lang="en-US" sz="2400" dirty="0">
                <a:cs typeface="Times New Roman" panose="02020603050405020304" pitchFamily="18" charset="0"/>
              </a:rPr>
              <a:t>classification system was artificial-which depends only on few characteristics like stamens and pistil numbers  </a:t>
            </a:r>
            <a:r>
              <a:rPr lang="en-US" sz="2400" dirty="0" smtClean="0">
                <a:cs typeface="Times New Roman" panose="02020603050405020304" pitchFamily="18" charset="0"/>
              </a:rPr>
              <a:t>&amp;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cs typeface="Times New Roman" panose="02020603050405020304" pitchFamily="18" charset="0"/>
              </a:rPr>
              <a:t>position</a:t>
            </a:r>
            <a:r>
              <a:rPr lang="en-US" sz="2400" dirty="0">
                <a:cs typeface="Times New Roman" panose="02020603050405020304" pitchFamily="18" charset="0"/>
              </a:rPr>
              <a:t>.</a:t>
            </a:r>
            <a:endParaRPr lang="en-US" sz="2400" dirty="0" smtClean="0">
              <a:cs typeface="Times New Roman" panose="02020603050405020304" pitchFamily="18" charset="0"/>
            </a:endParaRPr>
          </a:p>
          <a:p>
            <a:pPr marL="27432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 smtClean="0">
                <a:cs typeface="Times New Roman" panose="02020603050405020304" pitchFamily="18" charset="0"/>
              </a:rPr>
              <a:t>Linnaeus </a:t>
            </a:r>
            <a:r>
              <a:rPr lang="en-US" sz="2400" dirty="0">
                <a:cs typeface="Times New Roman" panose="02020603050405020304" pitchFamily="18" charset="0"/>
              </a:rPr>
              <a:t>developed a hierarchical system of classification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sz="2000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7716-CEAB-4374-876C-206A12A337B1}" type="datetime2">
              <a:rPr lang="en-US" smtClean="0"/>
              <a:t>Wednesday, November 8, 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7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763000" cy="6096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Early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Attempts to Classify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Organisms …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26895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686800" cy="5791200"/>
          </a:xfrm>
        </p:spPr>
        <p:txBody>
          <a:bodyPr/>
          <a:lstStyle/>
          <a:p>
            <a:pPr marL="0" indent="0" algn="just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C. Post-Linnaean </a:t>
            </a:r>
            <a:r>
              <a:rPr lang="en-US" sz="2400" dirty="0" smtClean="0">
                <a:solidFill>
                  <a:srgbClr val="FF0000"/>
                </a:solidFill>
              </a:rPr>
              <a:t>Taxonomy= </a:t>
            </a:r>
            <a:r>
              <a:rPr lang="en-US" sz="2000" dirty="0" smtClean="0">
                <a:solidFill>
                  <a:srgbClr val="FF0000"/>
                </a:solidFill>
              </a:rPr>
              <a:t>Natural system of classification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smtClean="0"/>
              <a:t>The </a:t>
            </a:r>
            <a:r>
              <a:rPr lang="en-US" dirty="0"/>
              <a:t>foundation of modern classification comes mainly after the </a:t>
            </a:r>
            <a:r>
              <a:rPr lang="en-US" dirty="0" err="1" smtClean="0"/>
              <a:t>the</a:t>
            </a:r>
            <a:r>
              <a:rPr lang="en-US" dirty="0" smtClean="0"/>
              <a:t> </a:t>
            </a:r>
            <a:r>
              <a:rPr lang="en-US" dirty="0"/>
              <a:t>works of other taxonomists M. </a:t>
            </a:r>
            <a:r>
              <a:rPr lang="en-US" dirty="0" err="1"/>
              <a:t>Adanson</a:t>
            </a:r>
            <a:r>
              <a:rPr lang="en-US" dirty="0"/>
              <a:t> (1727-1806), De </a:t>
            </a:r>
            <a:r>
              <a:rPr lang="en-US" dirty="0" err="1"/>
              <a:t>Jussieu</a:t>
            </a:r>
            <a:r>
              <a:rPr lang="en-US" dirty="0"/>
              <a:t> (1748-1836), and J. de Lamarck (</a:t>
            </a:r>
            <a:r>
              <a:rPr lang="en-US" dirty="0" smtClean="0"/>
              <a:t>1744-153 1829</a:t>
            </a:r>
            <a:r>
              <a:rPr lang="en-US" dirty="0"/>
              <a:t>), A.P. de Candolle and C. Darwin (1859), who never followed artificial system of Linnaeus classification</a:t>
            </a:r>
            <a:r>
              <a:rPr lang="en-US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FF0000"/>
                </a:solidFill>
              </a:rPr>
              <a:t>M. </a:t>
            </a:r>
            <a:r>
              <a:rPr lang="en-US" sz="2400" dirty="0" err="1">
                <a:solidFill>
                  <a:srgbClr val="FF0000"/>
                </a:solidFill>
              </a:rPr>
              <a:t>Adanson</a:t>
            </a:r>
            <a:r>
              <a:rPr lang="en-US" sz="2400" dirty="0">
                <a:solidFill>
                  <a:srgbClr val="FF0000"/>
                </a:solidFill>
              </a:rPr>
              <a:t> (1727-1806)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C</a:t>
            </a:r>
            <a:r>
              <a:rPr lang="en-US" dirty="0" smtClean="0"/>
              <a:t>hampioning </a:t>
            </a:r>
            <a:r>
              <a:rPr lang="en-US" dirty="0"/>
              <a:t>the idea that in classification one should use a great range of </a:t>
            </a:r>
            <a:r>
              <a:rPr lang="en-US" dirty="0" smtClean="0"/>
              <a:t>characteristics without </a:t>
            </a:r>
            <a:r>
              <a:rPr lang="en-US" dirty="0"/>
              <a:t>placing greater emphasis on some than on others=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Natural system of classification</a:t>
            </a:r>
            <a:endParaRPr lang="en-US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 Empirical </a:t>
            </a:r>
            <a:r>
              <a:rPr lang="en-US" dirty="0"/>
              <a:t>approach. </a:t>
            </a:r>
            <a:r>
              <a:rPr lang="en-US" dirty="0" err="1"/>
              <a:t>Adanson</a:t>
            </a:r>
            <a:r>
              <a:rPr lang="en-US" dirty="0"/>
              <a:t> was a severe critic of Linnaeus' works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www.hu.edu.et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smtClean="0"/>
              <a:t>Ever to Excel!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b-NO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87956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5400"/>
            <a:ext cx="8686800" cy="7112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 </a:t>
            </a:r>
            <a:r>
              <a:rPr lang="en-US" sz="2000" dirty="0">
                <a:latin typeface="+mn-lt"/>
                <a:cs typeface="Times New Roman" pitchFamily="18" charset="0"/>
              </a:rPr>
              <a:t>Modern Views of </a:t>
            </a:r>
            <a:r>
              <a:rPr lang="en-US" sz="2000" dirty="0" smtClean="0">
                <a:latin typeface="+mn-lt"/>
                <a:cs typeface="Times New Roman" pitchFamily="18" charset="0"/>
              </a:rPr>
              <a:t>Classification/Schemes </a:t>
            </a:r>
            <a:r>
              <a:rPr lang="en-US" sz="2000" dirty="0">
                <a:latin typeface="+mn-lt"/>
                <a:cs typeface="Times New Roman" pitchFamily="18" charset="0"/>
              </a:rPr>
              <a:t>of </a:t>
            </a:r>
            <a:r>
              <a:rPr lang="en-US" sz="2000" dirty="0" smtClean="0">
                <a:latin typeface="+mn-lt"/>
                <a:cs typeface="Times New Roman" pitchFamily="18" charset="0"/>
              </a:rPr>
              <a:t>Classification</a:t>
            </a:r>
            <a:endParaRPr lang="en-US" sz="2000" dirty="0"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067800" cy="5638800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Classification system of diversified organisms  depends up on the combined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evidences: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371600" indent="-40322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Morphology</a:t>
            </a:r>
          </a:p>
          <a:p>
            <a:pPr marL="1371600" indent="-40322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Ultrastructure and </a:t>
            </a:r>
          </a:p>
          <a:p>
            <a:pPr marL="1371600" indent="-40322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Molecular phylogeny</a:t>
            </a:r>
          </a:p>
          <a:p>
            <a:pPr marL="228600" indent="-228600">
              <a:spcBef>
                <a:spcPts val="120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 Artificial classification system</a:t>
            </a:r>
          </a:p>
          <a:p>
            <a:pPr marL="457200" indent="-29527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this system, only one or at most a few characters are selected for use in making comparison among organisms</a:t>
            </a:r>
          </a:p>
          <a:p>
            <a:pPr marL="457200" indent="-29527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Ranking is done subjectively </a:t>
            </a:r>
          </a:p>
          <a:p>
            <a:pPr marL="457200" indent="-29527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Artificial system is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monothetic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82880" indent="-228600">
              <a:spcBef>
                <a:spcPts val="1200"/>
              </a:spcBef>
              <a:buFont typeface="Courier New" pitchFamily="49" charset="0"/>
              <a:buChar char="o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ossession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unique set of characters/features is both sufficient and necessary for membership in the group defined</a:t>
            </a:r>
          </a:p>
          <a:p>
            <a:pPr marL="182880" indent="-349250">
              <a:spcBef>
                <a:spcPts val="1200"/>
              </a:spcBef>
              <a:buFont typeface="Wingdings" pitchFamily="2" charset="2"/>
              <a:buChar char="v"/>
            </a:pPr>
            <a:r>
              <a:rPr lang="en-US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Classifications followed by Theophrastus 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and Linnaeus are good example of artificial system of classification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7038" y="6551615"/>
            <a:ext cx="3459161" cy="306385"/>
          </a:xfrm>
        </p:spPr>
        <p:txBody>
          <a:bodyPr/>
          <a:lstStyle/>
          <a:p>
            <a:fld id="{41FDEFA5-E43A-44CA-A247-41B1E9DDF921}" type="datetime2">
              <a:rPr lang="en-US" smtClean="0"/>
              <a:t>Wednesday, November 8,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2291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839200" cy="5592763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 Natural classification system</a:t>
            </a:r>
          </a:p>
          <a:p>
            <a:pPr marL="27432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classification system is based up on several to many characters selected for their value</a:t>
            </a:r>
          </a:p>
          <a:p>
            <a:pPr marL="27432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system is therefore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polythetic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7432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places together organisms that have the greatest number of shared features</a:t>
            </a:r>
          </a:p>
          <a:p>
            <a:pPr marL="274320" indent="-282575"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 single feature is either essential to group membership or is sufficient to make an organism a member of the group </a:t>
            </a:r>
          </a:p>
          <a:p>
            <a:pPr marL="274320" indent="-295275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Classification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system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Adanson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De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Jussieu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are good examples of natural classification system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7D88-9C1F-4D4E-AFD0-5B2CF709F36C}" type="datetime2">
              <a:rPr lang="en-US" smtClean="0"/>
              <a:t>Wednesday, November 8, 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3299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610600" cy="55927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 Phyletic or Evolutionary classification system</a:t>
            </a:r>
          </a:p>
          <a:p>
            <a:pPr marL="625475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a classification that aims at reconstructing a sequence starting with the most primitive character and ending with the most advanced or derived character</a:t>
            </a:r>
          </a:p>
          <a:p>
            <a:pPr marL="625475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It ensures that each taxon recognized as a monophyletic i.e. has arisen by the diversification of a single ancestor</a:t>
            </a:r>
          </a:p>
          <a:p>
            <a:pPr marL="625475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According to phyletic classification system,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4CE0-6DE3-471E-8FEF-B5C64EF65A7C}" type="datetime2">
              <a:rPr lang="en-US" smtClean="0"/>
              <a:t>Wednesday, November 8, 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3166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3429"/>
            <a:ext cx="8458200" cy="594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Phenetics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classification system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According to Harrison (1960), the word "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Phenetic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" is to mean a relationship by overall similarity of all available morphological characters </a:t>
            </a:r>
          </a:p>
          <a:p>
            <a:pPr marL="623888" indent="-27622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Thus,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similarity/resemblance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determined based on a set of phenotypic characteristics of organisms (numerous characters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 equal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weight)</a:t>
            </a: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following methods/approaches are used for determining the similarity of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organisms under study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860425" indent="-28257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Selection of taxa-called Operational Taxonomic Units (OTUs) for study.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may be species, genera or families.</a:t>
            </a:r>
          </a:p>
          <a:p>
            <a:pPr marL="860425" indent="-28257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Selection of character states (minimum of 60 and 80 -100 are desirable for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comparisons)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860425" indent="-28257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Description or measurement of character states</a:t>
            </a:r>
          </a:p>
          <a:p>
            <a:pPr marL="860425" indent="-28257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Ranking of all OTUs into the categories of the taxonomic hierarchy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4AEF-E1CA-480F-B982-055BF5462515}" type="datetime2">
              <a:rPr lang="en-US" smtClean="0"/>
              <a:t>Wednesday, November 8, 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6032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638800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 Phylogenetic classification system</a:t>
            </a:r>
          </a:p>
          <a:p>
            <a:pPr marL="457200" indent="-282575"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the concepts and methods of determining similarity by constructing branching patterns of evolution</a:t>
            </a:r>
          </a:p>
          <a:p>
            <a:pPr marL="457200" indent="-282575"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method works as follows:</a:t>
            </a:r>
          </a:p>
          <a:p>
            <a:pPr marL="1371600" indent="-33655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Select monophyletic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taxa (descended from common evolutionary ancestor)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371600" indent="-33655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Select characters of evolutionary interest</a:t>
            </a:r>
          </a:p>
          <a:p>
            <a:pPr marL="1371600" indent="-33655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Describe and/or measure character states</a:t>
            </a:r>
          </a:p>
          <a:p>
            <a:pPr marL="1371600" indent="-33655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Determine homologies of characters and character states</a:t>
            </a:r>
          </a:p>
          <a:p>
            <a:pPr marL="1371600" indent="-33655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Generate trees or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cladograms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511175" indent="-282575"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Once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cladogram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or tree of life is generated, it is possible to construct classification based upon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cladogram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27038" y="6551615"/>
            <a:ext cx="3078161" cy="306385"/>
          </a:xfrm>
        </p:spPr>
        <p:txBody>
          <a:bodyPr/>
          <a:lstStyle/>
          <a:p>
            <a:fld id="{350F8B9A-90BB-438B-B8BC-01AFF73BEFE9}" type="datetime2">
              <a:rPr lang="en-US" smtClean="0"/>
              <a:t>Wednesday, November 8, 2023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5536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1"/>
            <a:ext cx="7924799" cy="914400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+mn-lt"/>
                <a:cs typeface="Times New Roman" pitchFamily="18" charset="0"/>
              </a:rPr>
              <a:t>Domains of Life </a:t>
            </a:r>
            <a:r>
              <a:rPr lang="en-US" sz="2200" dirty="0" smtClean="0">
                <a:latin typeface="+mn-lt"/>
                <a:cs typeface="Times New Roman" pitchFamily="18" charset="0"/>
              </a:rPr>
              <a:t>&amp; Hierarchical </a:t>
            </a:r>
            <a:r>
              <a:rPr lang="en-US" sz="2200" dirty="0">
                <a:latin typeface="+mn-lt"/>
                <a:cs typeface="Times New Roman" pitchFamily="18" charset="0"/>
              </a:rPr>
              <a:t>System of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399"/>
            <a:ext cx="8534400" cy="5686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Hierarchical System of Classification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 arrangement of taxa into an ascending series of ever–increasing inclusiveness forms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a hierarchical system, we start at the bottom with individuals (species) and end up at the top with one all-embracing taxon (Domain)</a:t>
            </a:r>
          </a:p>
          <a:p>
            <a:pPr marL="282575" indent="-282575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major levels in the hierarchy are the following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7038" y="6551615"/>
            <a:ext cx="3840161" cy="306385"/>
          </a:xfrm>
        </p:spPr>
        <p:txBody>
          <a:bodyPr/>
          <a:lstStyle/>
          <a:p>
            <a:fld id="{70A091B2-86FF-45B6-A0AC-30F4C88906EB}" type="datetime2">
              <a:rPr lang="en-US" smtClean="0"/>
              <a:t>Wednesday, November 8, 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200400"/>
            <a:ext cx="5965794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651742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www.hu.edu.et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smtClean="0"/>
              <a:t>Ever to Excel!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b-NO" smtClean="0"/>
              <a:t>1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533400" y="734321"/>
            <a:ext cx="7825740" cy="5549003"/>
            <a:chOff x="533400" y="734321"/>
            <a:chExt cx="7825740" cy="5549003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734321"/>
              <a:ext cx="7825740" cy="55490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2819400" y="5227320"/>
              <a:ext cx="11430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b="1" dirty="0" smtClean="0">
                  <a:solidFill>
                    <a:srgbClr val="6600CC"/>
                  </a:solidFill>
                </a:rPr>
                <a:t> 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8309397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3704"/>
            <a:ext cx="7315200" cy="9144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6600CC"/>
                </a:solidFill>
              </a:rPr>
              <a:t>Concepts of the Kingdom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8153400" cy="5562600"/>
          </a:xfrm>
        </p:spPr>
        <p:txBody>
          <a:bodyPr>
            <a:noAutofit/>
          </a:bodyPr>
          <a:lstStyle/>
          <a:p>
            <a:pPr marL="457200" lvl="1" indent="-457200">
              <a:buFont typeface="Courier New" pitchFamily="49" charset="0"/>
              <a:buChar char="o"/>
            </a:pPr>
            <a:r>
              <a:rPr lang="en-US" sz="2400" b="1" dirty="0">
                <a:solidFill>
                  <a:srgbClr val="66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400" b="1" dirty="0" smtClean="0">
                <a:solidFill>
                  <a:srgbClr val="66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ifferent kingdom systems have been introduced during different developmental stages of taxonomy</a:t>
            </a:r>
          </a:p>
          <a:p>
            <a:pPr>
              <a:buFont typeface="Courier New" pitchFamily="49" charset="0"/>
              <a:buChar char="o"/>
            </a:pPr>
            <a:endParaRPr lang="en-US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Courier New" pitchFamily="49" charset="0"/>
              <a:buChar char="o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umber of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of kingdom has  increased from 2 to 5 or 6/7.</a:t>
            </a:r>
          </a:p>
          <a:p>
            <a:pPr marL="80962" indent="0">
              <a:buNone/>
            </a:pP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 Two kingdom approach: </a:t>
            </a:r>
          </a:p>
          <a:p>
            <a:pPr marL="653796" indent="-571500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kingdom </a:t>
            </a:r>
            <a:r>
              <a:rPr lang="en-US" sz="2400" b="1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animalia</a:t>
            </a:r>
            <a:r>
              <a:rPr lang="en-US" sz="2400" b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-living thing that moved, ate, and grew to a certain size </a:t>
            </a:r>
          </a:p>
          <a:p>
            <a:pPr marL="653796" indent="-571500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Kingdom </a:t>
            </a:r>
            <a:r>
              <a:rPr lang="en-US" sz="2400" b="1" dirty="0" err="1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plantea</a:t>
            </a:r>
            <a:r>
              <a:rPr lang="en-US" sz="2400" b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- living thing that did not move or eat and that continued to grow</a:t>
            </a:r>
          </a:p>
          <a:p>
            <a:pPr marL="653796" indent="-571500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Mode </a:t>
            </a:r>
            <a:r>
              <a:rPr lang="en-US" sz="24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of nutrition and presence or absence of cell wall.</a:t>
            </a:r>
            <a:endParaRPr lang="en-US" sz="2400" b="1" dirty="0" smtClean="0">
              <a:solidFill>
                <a:srgbClr val="0000CC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C66C45-AB29-477C-97ED-74D7BFC077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668110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457200"/>
            <a:ext cx="7866888" cy="617220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ii) 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Kingdoms</a:t>
            </a:r>
          </a:p>
          <a:p>
            <a:pPr>
              <a:lnSpc>
                <a:spcPct val="170000"/>
              </a:lnSpc>
              <a:buClr>
                <a:schemeClr val="tx1"/>
              </a:buClr>
              <a:buFont typeface="Courier New" pitchFamily="49" charset="0"/>
              <a:buChar char="o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 third kingdom,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protista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(unicellular) was proposed by Ernst Haeckel in 1866.</a:t>
            </a:r>
          </a:p>
          <a:p>
            <a:pPr>
              <a:lnSpc>
                <a:spcPct val="17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Whether organisms are unicellular 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1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Protista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 or multicellular (</a:t>
            </a:r>
            <a:r>
              <a:rPr 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Animals and Plants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>
              <a:lnSpc>
                <a:spcPct val="17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Kingdom System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Kingdom </a:t>
            </a:r>
            <a:r>
              <a:rPr lang="en-US" sz="2400" b="1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Protista</a:t>
            </a:r>
            <a:r>
              <a:rPr 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Kingdom </a:t>
            </a:r>
            <a:r>
              <a:rPr lang="en-US" sz="2400" b="1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Plantae</a:t>
            </a:r>
            <a:r>
              <a:rPr 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Kingdom </a:t>
            </a:r>
            <a:r>
              <a:rPr lang="en-US" sz="2400" b="1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Animalia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C66C45-AB29-477C-97ED-74D7BFC077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86783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381000"/>
            <a:ext cx="8077200" cy="6477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 Four kingdoms</a:t>
            </a:r>
          </a:p>
          <a:p>
            <a:pPr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result of the discovery of the electron microscope</a:t>
            </a:r>
          </a:p>
          <a:p>
            <a:pPr>
              <a:lnSpc>
                <a:spcPct val="150000"/>
              </a:lnSpc>
              <a:buFont typeface="Courier New" pitchFamily="49" charset="0"/>
              <a:buChar char="o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four-kingdom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was proposed by 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Copeland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in 1938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Prokaryotes (</a:t>
            </a:r>
            <a:r>
              <a:rPr 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bacteria and blue green algae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kingdom </a:t>
            </a:r>
            <a:r>
              <a:rPr lang="en-US" sz="24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Monnera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 and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eukaryotics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plantae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n-US" sz="24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Animalia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24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Protista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 were distinguished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Initiated the rank above kingdom, a 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super-kingdom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empire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2400" b="1" dirty="0" smtClean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=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Prokaryot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Eukaryta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C66C45-AB29-477C-97ED-74D7BFC077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63907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457200"/>
            <a:ext cx="80772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IV. Five kingdoms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+mj-lt"/>
              </a:rPr>
              <a:t>P</a:t>
            </a:r>
            <a:r>
              <a:rPr lang="en-US" sz="2400" b="1" dirty="0" smtClean="0">
                <a:latin typeface="+mj-lt"/>
              </a:rPr>
              <a:t>roposed by Whittaker in 1969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latin typeface="+mj-lt"/>
              </a:rPr>
              <a:t>Formation of the 5</a:t>
            </a:r>
            <a:r>
              <a:rPr lang="en-US" sz="2400" b="1" baseline="30000" dirty="0" smtClean="0">
                <a:latin typeface="+mj-lt"/>
              </a:rPr>
              <a:t>th</a:t>
            </a:r>
            <a:r>
              <a:rPr lang="en-US" sz="2400" b="1" dirty="0" smtClean="0">
                <a:latin typeface="+mj-lt"/>
              </a:rPr>
              <a:t> kingdom was based mainly on differences in nutrition; multicellular </a:t>
            </a:r>
            <a:r>
              <a:rPr lang="en-US" sz="2400" b="1" dirty="0" err="1" smtClean="0">
                <a:latin typeface="+mj-lt"/>
              </a:rPr>
              <a:t>saprotrophs</a:t>
            </a:r>
            <a:r>
              <a:rPr lang="en-US" sz="2400" b="1" dirty="0">
                <a:latin typeface="+mj-lt"/>
              </a:rPr>
              <a:t> (</a:t>
            </a:r>
            <a:r>
              <a:rPr lang="en-US" sz="2400" b="1" dirty="0" smtClean="0">
                <a:latin typeface="+mj-lt"/>
              </a:rPr>
              <a:t>saprophytes) formed the kingdom </a:t>
            </a:r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Fungi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Fungi are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</a:t>
            </a:r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rokaryotic, no chlorophyll &amp; they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contain chitin in their cell </a:t>
            </a:r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wall.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i="1" dirty="0" smtClean="0">
                <a:solidFill>
                  <a:srgbClr val="0000FF"/>
                </a:solidFill>
              </a:rPr>
              <a:t>Thus, Kingdom </a:t>
            </a:r>
            <a:r>
              <a:rPr lang="en-US" sz="2400" b="1" i="1" dirty="0" err="1" smtClean="0">
                <a:solidFill>
                  <a:srgbClr val="0000FF"/>
                </a:solidFill>
              </a:rPr>
              <a:t>Monera</a:t>
            </a:r>
            <a:r>
              <a:rPr lang="en-US" sz="2400" b="1" i="1" dirty="0" smtClean="0">
                <a:solidFill>
                  <a:srgbClr val="0000FF"/>
                </a:solidFill>
              </a:rPr>
              <a:t> </a:t>
            </a:r>
            <a:r>
              <a:rPr lang="en-US" sz="2400" b="1" i="1" dirty="0" smtClean="0"/>
              <a:t>(prokaryotic)</a:t>
            </a:r>
            <a:r>
              <a:rPr lang="en-US" sz="2400" b="1" dirty="0" smtClean="0"/>
              <a:t> </a:t>
            </a:r>
            <a:r>
              <a:rPr lang="en-US" sz="2400" b="1" dirty="0"/>
              <a:t>+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Eukaryotics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0000FF"/>
                </a:solidFill>
              </a:rPr>
              <a:t>(</a:t>
            </a:r>
            <a:r>
              <a:rPr lang="en-US" sz="2400" b="1" i="1" dirty="0" smtClean="0">
                <a:solidFill>
                  <a:srgbClr val="0000FF"/>
                </a:solidFill>
              </a:rPr>
              <a:t>Kingdoms Protista</a:t>
            </a:r>
            <a:r>
              <a:rPr lang="en-US" sz="2400" b="1" dirty="0" smtClean="0">
                <a:solidFill>
                  <a:srgbClr val="0000FF"/>
                </a:solidFill>
              </a:rPr>
              <a:t>, </a:t>
            </a:r>
            <a:r>
              <a:rPr lang="en-US" sz="2400" b="1" i="1" dirty="0" smtClean="0">
                <a:solidFill>
                  <a:srgbClr val="0000FF"/>
                </a:solidFill>
              </a:rPr>
              <a:t>Plantae, Fungi</a:t>
            </a:r>
            <a:r>
              <a:rPr lang="en-US" sz="2400" b="1" dirty="0" smtClean="0">
                <a:solidFill>
                  <a:srgbClr val="0000FF"/>
                </a:solidFill>
              </a:rPr>
              <a:t> and </a:t>
            </a:r>
            <a:r>
              <a:rPr lang="en-US" sz="2400" b="1" i="1" dirty="0" err="1" smtClean="0">
                <a:solidFill>
                  <a:srgbClr val="0000FF"/>
                </a:solidFill>
              </a:rPr>
              <a:t>Animalia</a:t>
            </a:r>
            <a:r>
              <a:rPr lang="en-US" sz="2400" b="1" i="1" dirty="0" smtClean="0">
                <a:solidFill>
                  <a:srgbClr val="0000FF"/>
                </a:solidFill>
              </a:rPr>
              <a:t> 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C66C45-AB29-477C-97ED-74D7BFC077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5141726"/>
      </p:ext>
    </p:extLst>
  </p:cSld>
  <p:clrMapOvr>
    <a:masterClrMapping/>
  </p:clrMapOvr>
  <p:transition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81000"/>
            <a:ext cx="8153400" cy="6477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VI. Six Kingdoms</a:t>
            </a:r>
          </a:p>
          <a:p>
            <a:pPr>
              <a:spcBef>
                <a:spcPts val="0"/>
              </a:spcBef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Based on such RNA studies, Carl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Woese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(1977) divided prokaryotes (Kingdom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Monera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 into </a:t>
            </a:r>
            <a:r>
              <a:rPr lang="en-US" sz="2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Eubacteria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US" sz="24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Archae</a:t>
            </a:r>
            <a:r>
              <a:rPr lang="en-US" sz="2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bacteria.</a:t>
            </a:r>
          </a:p>
          <a:p>
            <a:pPr marL="82296" indent="0">
              <a:spcBef>
                <a:spcPts val="0"/>
              </a:spcBef>
              <a:buNone/>
            </a:pPr>
            <a:endParaRPr lang="en-US" sz="2400" b="1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Font typeface="Wingdings" pitchFamily="2" charset="2"/>
              <a:buChar char="Ø"/>
            </a:pPr>
            <a:r>
              <a:rPr lang="en-US" sz="2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solidFill>
                  <a:srgbClr val="66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Kingdom Bacteria, </a:t>
            </a:r>
            <a:r>
              <a:rPr lang="en-US" sz="2400" b="1" dirty="0" err="1" smtClean="0">
                <a:solidFill>
                  <a:srgbClr val="66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Archae</a:t>
            </a:r>
            <a:r>
              <a:rPr lang="en-US" sz="2400" b="1" dirty="0" smtClean="0">
                <a:solidFill>
                  <a:srgbClr val="66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Protista, Plantae, Fungi &amp;  </a:t>
            </a:r>
            <a:r>
              <a:rPr lang="en-US" sz="2400" b="1" dirty="0" err="1" smtClean="0">
                <a:solidFill>
                  <a:srgbClr val="66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Animalia</a:t>
            </a:r>
            <a:endParaRPr lang="en-US" sz="2400" b="1" dirty="0" smtClean="0">
              <a:solidFill>
                <a:srgbClr val="66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371600" y="3048000"/>
          <a:ext cx="6705599" cy="32766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100">
                <a:tc rowSpan="6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Times New Roman"/>
                          <a:cs typeface="Times New Roman"/>
                        </a:rPr>
                        <a:t>Life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Domain Bacteria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Times New Roman"/>
                          <a:cs typeface="Times New Roman"/>
                        </a:rPr>
                        <a:t>Kingdom Bacteria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Domain </a:t>
                      </a:r>
                      <a:r>
                        <a:rPr lang="en-US" sz="2400" b="1" dirty="0" err="1">
                          <a:solidFill>
                            <a:srgbClr val="FF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Archaea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Times New Roman"/>
                          <a:cs typeface="Times New Roman"/>
                        </a:rPr>
                        <a:t>Kingdom </a:t>
                      </a:r>
                      <a:r>
                        <a:rPr lang="en-US" sz="2800" b="1" dirty="0" err="1">
                          <a:latin typeface="Calibri"/>
                          <a:ea typeface="Times New Roman"/>
                          <a:cs typeface="Times New Roman"/>
                        </a:rPr>
                        <a:t>Archaea</a:t>
                      </a:r>
                      <a:endParaRPr lang="en-US" sz="2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Domain </a:t>
                      </a:r>
                      <a:r>
                        <a:rPr lang="en-US" sz="2400" b="1" dirty="0" err="1">
                          <a:solidFill>
                            <a:srgbClr val="FF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Eukarya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Times New Roman"/>
                          <a:cs typeface="Times New Roman"/>
                        </a:rPr>
                        <a:t>Kingdom </a:t>
                      </a:r>
                      <a:r>
                        <a:rPr lang="en-US" sz="2800" b="1" dirty="0" err="1">
                          <a:latin typeface="Calibri"/>
                          <a:ea typeface="Times New Roman"/>
                          <a:cs typeface="Times New Roman"/>
                        </a:rPr>
                        <a:t>Protista</a:t>
                      </a:r>
                      <a:endParaRPr lang="en-US" sz="2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Times New Roman"/>
                          <a:cs typeface="Times New Roman"/>
                        </a:rPr>
                        <a:t>Kingdom </a:t>
                      </a:r>
                      <a:r>
                        <a:rPr lang="en-US" sz="2800" b="1" dirty="0" err="1">
                          <a:latin typeface="Calibri"/>
                          <a:ea typeface="Times New Roman"/>
                          <a:cs typeface="Times New Roman"/>
                        </a:rPr>
                        <a:t>Plantae</a:t>
                      </a:r>
                      <a:endParaRPr lang="en-US" sz="2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Times New Roman"/>
                          <a:cs typeface="Times New Roman"/>
                        </a:rPr>
                        <a:t>Kingdom Fungi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latin typeface="Calibri"/>
                          <a:ea typeface="Times New Roman"/>
                          <a:cs typeface="Times New Roman"/>
                        </a:rPr>
                        <a:t>Kingdom </a:t>
                      </a:r>
                      <a:r>
                        <a:rPr lang="en-US" sz="2800" b="1" dirty="0" err="1">
                          <a:latin typeface="Calibri"/>
                          <a:ea typeface="Times New Roman"/>
                          <a:cs typeface="Times New Roman"/>
                        </a:rPr>
                        <a:t>Animalia</a:t>
                      </a:r>
                      <a:endParaRPr lang="en-US" sz="2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C66C45-AB29-477C-97ED-74D7BFC077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4186780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The Three-Domain System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5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biologists observed differences between two kinds of prokaryotes, they saw similarities among eukaryotes.</a:t>
            </a:r>
          </a:p>
          <a:p>
            <a:pPr eaLnBrk="1" hangingPunct="1"/>
            <a:endParaRPr lang="en-US" sz="2500" b="1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sz="25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new system divided all organisms into three domains: Bacteria,  </a:t>
            </a:r>
            <a:r>
              <a:rPr lang="en-US" sz="2500" b="1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Archaea</a:t>
            </a:r>
            <a:r>
              <a:rPr lang="en-US" sz="25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500" b="1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Eukarya</a:t>
            </a:r>
            <a:r>
              <a:rPr lang="en-US" sz="25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/>
            <a:endParaRPr lang="en-US" sz="2500" b="1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sz="25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Today, most biologists tentatively recognize three domains and six kingdoms.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C66C45-AB29-477C-97ED-74D7BFC077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585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6" grpId="0"/>
      <p:bldP spid="11878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"/>
            <a:ext cx="8153400" cy="6858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Phylogenetic </a:t>
            </a:r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diagram of major groups of organisms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6323" name="Picture 3" descr="D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648" y="796646"/>
            <a:ext cx="8077200" cy="550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C66C45-AB29-477C-97ED-74D7BFC077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435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8077200" cy="6858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rgbClr val="0000FF"/>
                </a:solidFill>
              </a:rPr>
              <a:t>Kingdom and Domain Characteristics</a:t>
            </a:r>
          </a:p>
        </p:txBody>
      </p:sp>
      <p:pic>
        <p:nvPicPr>
          <p:cNvPr id="59395" name="Picture 3" descr="D2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53440"/>
            <a:ext cx="8686800" cy="5851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C66C45-AB29-477C-97ED-74D7BFC077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9860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Binomial Nomenclature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2117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Nomenclature</a:t>
            </a:r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is the naming of organisms and the rules governing the application of these names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nomenclatural system, each organism is designated by two names </a:t>
            </a:r>
          </a:p>
          <a:p>
            <a:pPr marL="1150938" indent="-347663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first is the name of the genus</a:t>
            </a:r>
          </a:p>
          <a:p>
            <a:pPr marL="1150938" indent="-347663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second is the specific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epithet (in Botany)/specific names (Zoology)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01638" indent="-401638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 two species can have the same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scientific name.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01638" indent="-401638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names are always Latin (or Latinized) and the genus is capitalized while species name is not</a:t>
            </a:r>
          </a:p>
          <a:p>
            <a:pPr marL="401638" indent="-401638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88F4F-943B-4DBD-BF5E-518561647518}" type="datetime2">
              <a:rPr lang="en-US" smtClean="0"/>
              <a:t>Wednesday, November 8, 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2862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839200" cy="5516563"/>
          </a:xfrm>
        </p:spPr>
        <p:txBody>
          <a:bodyPr>
            <a:normAutofit lnSpcReduction="10000"/>
          </a:bodyPr>
          <a:lstStyle/>
          <a:p>
            <a:pPr marL="4572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Purpose of giving names to organisms</a:t>
            </a:r>
          </a:p>
          <a:p>
            <a:pPr marL="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Name is a conventional symbol or code that serves as a means of reference</a:t>
            </a:r>
          </a:p>
          <a:p>
            <a:pPr marL="4572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Purpose </a:t>
            </a:r>
          </a:p>
          <a:p>
            <a:pPr marL="457200" indent="-2222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Easy communication</a:t>
            </a:r>
          </a:p>
          <a:p>
            <a:pPr marL="457200" indent="-2222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Avoids the use of an inconvenient descriptive phrase</a:t>
            </a:r>
          </a:p>
          <a:p>
            <a:pPr marL="457200" indent="-2222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universalize the organism</a:t>
            </a:r>
          </a:p>
          <a:p>
            <a:pPr marL="457200" indent="-234950"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 this reason sets of rules have been drawn up</a:t>
            </a:r>
          </a:p>
          <a:p>
            <a:pPr marL="457200" indent="-2222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International Code Botanical Nomenclature (ICBN)</a:t>
            </a:r>
          </a:p>
          <a:p>
            <a:pPr marL="457200" indent="-2222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International Code of Zoological Nomenclature (ICZN)</a:t>
            </a:r>
          </a:p>
          <a:p>
            <a:pPr marL="457200" indent="-2222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International Code of Nomenclature of Bacteria</a:t>
            </a:r>
          </a:p>
          <a:p>
            <a:pPr marL="457200" indent="-2222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International Code of Nomenclature for Cultivated Plants</a:t>
            </a:r>
          </a:p>
          <a:p>
            <a:pPr marL="457200" indent="-346075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International Organizations &amp; Unions for the Stabilization of Changes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74BE-6061-43D4-A9CB-790F2DEB6938}" type="datetime2">
              <a:rPr lang="en-US" smtClean="0"/>
              <a:t>Wednesday, November 8, 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3148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18457"/>
            <a:ext cx="8991600" cy="6172200"/>
          </a:xfrm>
        </p:spPr>
        <p:txBody>
          <a:bodyPr>
            <a:normAutofit/>
          </a:bodyPr>
          <a:lstStyle/>
          <a:p>
            <a:pPr marL="8001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Operative Principles of Nomenclature</a:t>
            </a:r>
          </a:p>
          <a:p>
            <a:pPr marL="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nomenclature code has set certain provisions, called Operative Principles of Nomenclature. These provisions are </a:t>
            </a:r>
          </a:p>
          <a:p>
            <a:pPr marL="457200" indent="-2222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Publication</a:t>
            </a:r>
          </a:p>
          <a:p>
            <a:pPr marL="457200" indent="-2222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Typification and </a:t>
            </a:r>
          </a:p>
          <a:p>
            <a:pPr marL="457200" indent="-2222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Priority</a:t>
            </a:r>
          </a:p>
          <a:p>
            <a:pPr marL="457200" indent="-6921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Publication</a:t>
            </a:r>
          </a:p>
          <a:p>
            <a:pPr marL="457200" indent="-230188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Publication is the means by which scientific names enter to the biological nomenclature system</a:t>
            </a:r>
          </a:p>
          <a:p>
            <a:pPr marL="457200" indent="-230188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Two basic conditions must be fulfilled before a properly formulated scientific name </a:t>
            </a:r>
          </a:p>
          <a:p>
            <a:pPr marL="457200" indent="-22225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name must be published in works that are printed in permanent and made available to the interested public</a:t>
            </a:r>
          </a:p>
          <a:p>
            <a:pPr marL="457200" indent="-22225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 name must be accompanied by a written matter or a reference to such description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27038" y="6551615"/>
            <a:ext cx="3382961" cy="306385"/>
          </a:xfrm>
        </p:spPr>
        <p:txBody>
          <a:bodyPr/>
          <a:lstStyle/>
          <a:p>
            <a:fld id="{CDFF3E00-FA7E-4DA1-B167-8DF9D623CCC5}" type="datetime2">
              <a:rPr lang="en-US" smtClean="0"/>
              <a:t>Wednesday, November 8, 2023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19200" y="160993"/>
            <a:ext cx="7086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Operative Principles of Nomenclature</a:t>
            </a:r>
          </a:p>
        </p:txBody>
      </p:sp>
    </p:spTree>
    <p:extLst>
      <p:ext uri="{BB962C8B-B14F-4D97-AF65-F5344CB8AC3E}">
        <p14:creationId xmlns:p14="http://schemas.microsoft.com/office/powerpoint/2010/main" val="366267448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06450"/>
            <a:ext cx="8991600" cy="6051550"/>
          </a:xfrm>
        </p:spPr>
        <p:txBody>
          <a:bodyPr>
            <a:noAutofit/>
          </a:bodyPr>
          <a:lstStyle/>
          <a:p>
            <a:pPr marL="365760" indent="-342900">
              <a:spcBef>
                <a:spcPts val="0"/>
              </a:spcBef>
              <a:buFont typeface="Wingdings" pitchFamily="2" charset="2"/>
              <a:buChar char="v"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Typification</a:t>
            </a:r>
          </a:p>
          <a:p>
            <a:pPr marL="36576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type is an element on which the description associated with the original publication of a name was based</a:t>
            </a:r>
          </a:p>
          <a:p>
            <a:pPr marL="36576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nomenclature, there are different kinds of "Types". Some of these are: </a:t>
            </a:r>
          </a:p>
          <a:p>
            <a:pPr marL="365760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Holotype</a:t>
            </a:r>
          </a:p>
          <a:p>
            <a:pPr marL="365760" indent="-29210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sole element used or designated by the author of a name as a type</a:t>
            </a:r>
          </a:p>
          <a:p>
            <a:pPr marL="365760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Isotype</a:t>
            </a:r>
          </a:p>
          <a:p>
            <a:pPr marL="365760" indent="-29210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duplicates of a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holotype </a:t>
            </a:r>
            <a:r>
              <a:rPr 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(collected specimen at the same time by the same person from the same population).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Syntype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indent="-29210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one of two or more elements used by the author of a name who did not designate a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holotype </a:t>
            </a:r>
            <a:r>
              <a:rPr 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(when more than one specimen are cited by the author without mentioning</a:t>
            </a:r>
            <a:r>
              <a:rPr 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about the holotype)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Lectotype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indent="-29210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element selected subsequently from amongst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syntypes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serve as a type</a:t>
            </a:r>
          </a:p>
          <a:p>
            <a:pPr marL="365760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Neotype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indent="-29210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element selected to serve as a nomenclatural type when through loss or destruction of the above "Types“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DC93-8DB2-442F-8742-5C4D9AC69280}" type="datetime2">
              <a:rPr lang="en-US" smtClean="0"/>
              <a:t>Wednesday, November 8, 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7585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92763"/>
          </a:xfrm>
        </p:spPr>
        <p:txBody>
          <a:bodyPr>
            <a:normAutofit lnSpcReduction="10000"/>
          </a:bodyPr>
          <a:lstStyle/>
          <a:p>
            <a:pPr marL="457200" indent="-342900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 publication</a:t>
            </a:r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priority requires when two or more names apply to the same taxon</a:t>
            </a:r>
          </a:p>
          <a:p>
            <a:pPr marL="4572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the name is given generally based up on by the oldest one, which is validly published name </a:t>
            </a:r>
          </a:p>
          <a:p>
            <a:pPr marL="4572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nomenclature, when two or more names are applied the same taxon, it is known as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synonyms (</a:t>
            </a:r>
            <a:r>
              <a:rPr lang="en-US" sz="23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i.e. the synonyms are rejected name as only one scientific name is accept as correct name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kinds of synonyms</a:t>
            </a:r>
          </a:p>
          <a:p>
            <a:pPr marL="457200" indent="6350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Nomenclatural </a:t>
            </a:r>
          </a:p>
          <a:p>
            <a:pPr marL="457200" indent="-2921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same ‘ type‘ of the organism and called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obligate or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homotypic synonyms</a:t>
            </a:r>
          </a:p>
          <a:p>
            <a:pPr marL="45720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Taxonomic synonyms</a:t>
            </a:r>
          </a:p>
          <a:p>
            <a:pPr marL="457200" indent="-2921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different ‘ type‘ of an organism, and called heterotypic synonyms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7038" y="6551615"/>
            <a:ext cx="3001961" cy="306385"/>
          </a:xfrm>
        </p:spPr>
        <p:txBody>
          <a:bodyPr/>
          <a:lstStyle/>
          <a:p>
            <a:fld id="{2C78EB0D-BDD4-4401-BB03-C55491CD52D6}" type="datetime2">
              <a:rPr lang="en-US" smtClean="0"/>
              <a:t>Wednesday, November 8, 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081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Authorities and Their 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1771" y="762000"/>
            <a:ext cx="9067800" cy="5729285"/>
          </a:xfrm>
        </p:spPr>
        <p:txBody>
          <a:bodyPr/>
          <a:lstStyle/>
          <a:p>
            <a:pPr marL="365760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sz="2400" dirty="0"/>
              <a:t>The scientific names of organisms are often written followed by one or more personal names /</a:t>
            </a:r>
            <a:r>
              <a:rPr lang="en-US" sz="2400" dirty="0" smtClean="0"/>
              <a:t> </a:t>
            </a:r>
            <a:r>
              <a:rPr lang="en-US" sz="2400" dirty="0"/>
              <a:t>author name, who first published the name in the way that satisfies the criteria of valid publication or available names</a:t>
            </a:r>
            <a:r>
              <a:rPr lang="en-US" sz="2400" dirty="0" smtClean="0"/>
              <a:t>.</a:t>
            </a:r>
          </a:p>
          <a:p>
            <a:pPr marL="365760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/>
              <a:t>Sometimes </a:t>
            </a:r>
            <a:r>
              <a:rPr lang="en-US" sz="2400" dirty="0" smtClean="0"/>
              <a:t>the names of the authors are abbreviated</a:t>
            </a:r>
          </a:p>
          <a:p>
            <a:pPr marL="365760" indent="0"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e.g. </a:t>
            </a:r>
            <a:r>
              <a:rPr lang="en-US" sz="2400" i="1" dirty="0" err="1"/>
              <a:t>Rumex</a:t>
            </a:r>
            <a:r>
              <a:rPr lang="en-US" sz="2400" i="1" dirty="0"/>
              <a:t> </a:t>
            </a:r>
            <a:r>
              <a:rPr lang="en-US" sz="2400" i="1" dirty="0" err="1"/>
              <a:t>abyssinicus</a:t>
            </a:r>
            <a:r>
              <a:rPr lang="en-US" sz="2400" i="1" dirty="0"/>
              <a:t> </a:t>
            </a:r>
            <a:r>
              <a:rPr lang="en-US" sz="2400" dirty="0" err="1"/>
              <a:t>Jacq</a:t>
            </a:r>
            <a:r>
              <a:rPr lang="en-US" sz="2400" dirty="0"/>
              <a:t>., </a:t>
            </a:r>
            <a:r>
              <a:rPr lang="en-US" sz="2400" i="1" dirty="0" err="1"/>
              <a:t>Plantago</a:t>
            </a:r>
            <a:r>
              <a:rPr lang="en-US" sz="2400" i="1" dirty="0"/>
              <a:t> </a:t>
            </a:r>
            <a:r>
              <a:rPr lang="en-US" sz="2400" i="1" dirty="0" err="1"/>
              <a:t>lanceolata</a:t>
            </a:r>
            <a:r>
              <a:rPr lang="en-US" sz="2400" i="1" dirty="0"/>
              <a:t> </a:t>
            </a:r>
            <a:r>
              <a:rPr lang="en-US" sz="2400" dirty="0"/>
              <a:t>L</a:t>
            </a:r>
            <a:r>
              <a:rPr lang="en-US" sz="2400" dirty="0" smtClean="0"/>
              <a:t>.</a:t>
            </a:r>
          </a:p>
          <a:p>
            <a:pPr marL="365760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/>
              <a:t>Sometimes, double citations are </a:t>
            </a:r>
            <a:r>
              <a:rPr lang="en-US" sz="2400" dirty="0" smtClean="0"/>
              <a:t>required due to change </a:t>
            </a:r>
            <a:r>
              <a:rPr lang="en-US" sz="2400" dirty="0"/>
              <a:t>in taxonomic position or rank. </a:t>
            </a:r>
            <a:endParaRPr lang="en-US" sz="2400" dirty="0" smtClean="0"/>
          </a:p>
          <a:p>
            <a:pPr marL="365760" indent="0">
              <a:lnSpc>
                <a:spcPct val="150000"/>
              </a:lnSpc>
              <a:spcBef>
                <a:spcPts val="0"/>
              </a:spcBef>
            </a:pPr>
            <a:r>
              <a:rPr lang="en-US" sz="2400" dirty="0" smtClean="0"/>
              <a:t>e.g</a:t>
            </a:r>
            <a:r>
              <a:rPr lang="en-US" sz="2400" dirty="0"/>
              <a:t>. </a:t>
            </a:r>
            <a:r>
              <a:rPr lang="en-US" sz="2400" i="1" dirty="0"/>
              <a:t>Carissa </a:t>
            </a:r>
            <a:r>
              <a:rPr lang="en-US" sz="2400" i="1" dirty="0" err="1"/>
              <a:t>edulis</a:t>
            </a:r>
            <a:r>
              <a:rPr lang="en-US" sz="2400" dirty="0" smtClean="0"/>
              <a:t> </a:t>
            </a:r>
            <a:r>
              <a:rPr lang="en-US" sz="2400" dirty="0" err="1" smtClean="0"/>
              <a:t>Vahl</a:t>
            </a:r>
            <a:r>
              <a:rPr lang="en-US" sz="2400" dirty="0" smtClean="0"/>
              <a:t>. was later changed to </a:t>
            </a:r>
            <a:r>
              <a:rPr lang="en-US" sz="2400" i="1" dirty="0" smtClean="0"/>
              <a:t>Carissa </a:t>
            </a:r>
            <a:r>
              <a:rPr lang="en-US" sz="2400" i="1" dirty="0" err="1" smtClean="0"/>
              <a:t>spinarum</a:t>
            </a:r>
            <a:r>
              <a:rPr lang="en-US" sz="2400" i="1" dirty="0" smtClean="0"/>
              <a:t> </a:t>
            </a:r>
            <a:r>
              <a:rPr lang="en-US" sz="2400" dirty="0" smtClean="0"/>
              <a:t>(</a:t>
            </a:r>
            <a:r>
              <a:rPr lang="en-US" sz="2400" dirty="0" err="1"/>
              <a:t>Vahl</a:t>
            </a:r>
            <a:r>
              <a:rPr lang="en-US" sz="2400" dirty="0"/>
              <a:t>.) L</a:t>
            </a:r>
            <a:r>
              <a:rPr lang="en-US" sz="2400" dirty="0" smtClean="0"/>
              <a:t>. by Linnaeus .  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www.hu.edu.et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 smtClean="0"/>
              <a:t>Ever to Excel!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b-NO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3719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HwU Theme.2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icrosoft YaHei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icrosoft YaHei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wU Theme.2" id="{EA961F07-CEFB-46F8-A5FB-94480D336DF0}" vid="{9735596D-32DE-4689-8024-CACD4FC2DB06}"/>
    </a:ext>
  </a:extLst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45046</TotalTime>
  <Words>2357</Words>
  <Application>Microsoft Office PowerPoint</Application>
  <PresentationFormat>On-screen Show (4:3)</PresentationFormat>
  <Paragraphs>279</Paragraphs>
  <Slides>29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Microsoft YaHei</vt:lpstr>
      <vt:lpstr>ＭＳ Ｐゴシック</vt:lpstr>
      <vt:lpstr>Arial</vt:lpstr>
      <vt:lpstr>Arial Unicode MS</vt:lpstr>
      <vt:lpstr>Calibri</vt:lpstr>
      <vt:lpstr>Courier New</vt:lpstr>
      <vt:lpstr>Gill Sans MT</vt:lpstr>
      <vt:lpstr>Times New Roman</vt:lpstr>
      <vt:lpstr>Verdana</vt:lpstr>
      <vt:lpstr>Wingdings</vt:lpstr>
      <vt:lpstr>Wingdings 2</vt:lpstr>
      <vt:lpstr>HwU Theme.2</vt:lpstr>
      <vt:lpstr>Solstice</vt:lpstr>
      <vt:lpstr>PowerPoint Presentation</vt:lpstr>
      <vt:lpstr>Unit 7. Taxonomy of organisms </vt:lpstr>
      <vt:lpstr>Early Attempts to Classify Organisms </vt:lpstr>
      <vt:lpstr>Early Attempts to Classify Organisms … </vt:lpstr>
      <vt:lpstr>Early Attempts to Classify Organisms … </vt:lpstr>
      <vt:lpstr> Early Attempts to Classify Organisms … </vt:lpstr>
      <vt:lpstr> Early Attempts to Classify Organisms … </vt:lpstr>
      <vt:lpstr>PowerPoint Presentation</vt:lpstr>
      <vt:lpstr> Modern Views of Classification/Schemes of Classification</vt:lpstr>
      <vt:lpstr>PowerPoint Presentation</vt:lpstr>
      <vt:lpstr>PowerPoint Presentation</vt:lpstr>
      <vt:lpstr>PowerPoint Presentation</vt:lpstr>
      <vt:lpstr>PowerPoint Presentation</vt:lpstr>
      <vt:lpstr>Domains of Life &amp; Hierarchical System of Classification</vt:lpstr>
      <vt:lpstr>PowerPoint Presentation</vt:lpstr>
      <vt:lpstr>Concepts of the Kingdom </vt:lpstr>
      <vt:lpstr>PowerPoint Presentation</vt:lpstr>
      <vt:lpstr>PowerPoint Presentation</vt:lpstr>
      <vt:lpstr>PowerPoint Presentation</vt:lpstr>
      <vt:lpstr>PowerPoint Presentation</vt:lpstr>
      <vt:lpstr>The Three-Domain System</vt:lpstr>
      <vt:lpstr>Phylogenetic diagram of major groups of organisms</vt:lpstr>
      <vt:lpstr>Kingdom and Domain Characteristics</vt:lpstr>
      <vt:lpstr>Binomial Nomenclature</vt:lpstr>
      <vt:lpstr>PowerPoint Presentation</vt:lpstr>
      <vt:lpstr>PowerPoint Presentation</vt:lpstr>
      <vt:lpstr>PowerPoint Presentation</vt:lpstr>
      <vt:lpstr>PowerPoint Presentation</vt:lpstr>
      <vt:lpstr>Authorities and Their Citations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(Biol. 1012) lecture note</dc:title>
  <dc:creator>Gebre</dc:creator>
  <cp:lastModifiedBy>Admin</cp:lastModifiedBy>
  <cp:revision>1009</cp:revision>
  <dcterms:created xsi:type="dcterms:W3CDTF">2020-03-06T19:53:00Z</dcterms:created>
  <dcterms:modified xsi:type="dcterms:W3CDTF">2023-11-08T06:28:56Z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484126-3486-41a9-802e-7f1e2277276c_Enabled">
    <vt:lpwstr>True</vt:lpwstr>
  </property>
  <property fmtid="{D5CDD505-2E9C-101B-9397-08002B2CF9AE}" pid="3" name="MSIP_Label_d0484126-3486-41a9-802e-7f1e2277276c_SiteId">
    <vt:lpwstr>eec01f8e-737f-43e3-9ed5-f8a59913bd82</vt:lpwstr>
  </property>
  <property fmtid="{D5CDD505-2E9C-101B-9397-08002B2CF9AE}" pid="4" name="MSIP_Label_d0484126-3486-41a9-802e-7f1e2277276c_Owner">
    <vt:lpwstr>yadessa.gonfa.keneni@nmbu.no</vt:lpwstr>
  </property>
  <property fmtid="{D5CDD505-2E9C-101B-9397-08002B2CF9AE}" pid="5" name="MSIP_Label_d0484126-3486-41a9-802e-7f1e2277276c_SetDate">
    <vt:lpwstr>2021-01-19T12:57:36.7306972Z</vt:lpwstr>
  </property>
  <property fmtid="{D5CDD505-2E9C-101B-9397-08002B2CF9AE}" pid="6" name="MSIP_Label_d0484126-3486-41a9-802e-7f1e2277276c_Name">
    <vt:lpwstr>Internal</vt:lpwstr>
  </property>
  <property fmtid="{D5CDD505-2E9C-101B-9397-08002B2CF9AE}" pid="7" name="MSIP_Label_d0484126-3486-41a9-802e-7f1e2277276c_Application">
    <vt:lpwstr>Microsoft Azure Information Protection</vt:lpwstr>
  </property>
  <property fmtid="{D5CDD505-2E9C-101B-9397-08002B2CF9AE}" pid="8" name="MSIP_Label_d0484126-3486-41a9-802e-7f1e2277276c_ActionId">
    <vt:lpwstr>f6a3ba11-9cf2-4e56-a96b-ec70ce0746d6</vt:lpwstr>
  </property>
  <property fmtid="{D5CDD505-2E9C-101B-9397-08002B2CF9AE}" pid="9" name="MSIP_Label_d0484126-3486-41a9-802e-7f1e2277276c_Extended_MSFT_Method">
    <vt:lpwstr>Automatic</vt:lpwstr>
  </property>
  <property fmtid="{D5CDD505-2E9C-101B-9397-08002B2CF9AE}" pid="10" name="Sensitivity">
    <vt:lpwstr>Internal</vt:lpwstr>
  </property>
</Properties>
</file>