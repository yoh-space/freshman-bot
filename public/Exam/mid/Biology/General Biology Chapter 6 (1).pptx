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514" r:id="rId2"/>
    <p:sldId id="663" r:id="rId3"/>
    <p:sldId id="664" r:id="rId4"/>
    <p:sldId id="515" r:id="rId5"/>
    <p:sldId id="665" r:id="rId6"/>
    <p:sldId id="516" r:id="rId7"/>
    <p:sldId id="698" r:id="rId8"/>
    <p:sldId id="666" r:id="rId9"/>
    <p:sldId id="518" r:id="rId10"/>
    <p:sldId id="685" r:id="rId11"/>
    <p:sldId id="519" r:id="rId12"/>
    <p:sldId id="658" r:id="rId13"/>
    <p:sldId id="692" r:id="rId14"/>
    <p:sldId id="686" r:id="rId15"/>
    <p:sldId id="708" r:id="rId16"/>
    <p:sldId id="520" r:id="rId17"/>
    <p:sldId id="667" r:id="rId18"/>
    <p:sldId id="523" r:id="rId19"/>
    <p:sldId id="524" r:id="rId20"/>
    <p:sldId id="526" r:id="rId21"/>
    <p:sldId id="527" r:id="rId22"/>
    <p:sldId id="705" r:id="rId23"/>
    <p:sldId id="528" r:id="rId24"/>
    <p:sldId id="706" r:id="rId25"/>
    <p:sldId id="529" r:id="rId26"/>
    <p:sldId id="671" r:id="rId27"/>
    <p:sldId id="531" r:id="rId28"/>
    <p:sldId id="702" r:id="rId29"/>
    <p:sldId id="703" r:id="rId30"/>
    <p:sldId id="704" r:id="rId31"/>
    <p:sldId id="532" r:id="rId32"/>
    <p:sldId id="533" r:id="rId33"/>
    <p:sldId id="712" r:id="rId34"/>
    <p:sldId id="709" r:id="rId35"/>
    <p:sldId id="711" r:id="rId36"/>
    <p:sldId id="713" r:id="rId37"/>
    <p:sldId id="714" r:id="rId38"/>
    <p:sldId id="715" r:id="rId39"/>
    <p:sldId id="693" r:id="rId40"/>
    <p:sldId id="696" r:id="rId41"/>
    <p:sldId id="538" r:id="rId42"/>
    <p:sldId id="539" r:id="rId43"/>
    <p:sldId id="675" r:id="rId44"/>
    <p:sldId id="551" r:id="rId45"/>
    <p:sldId id="542" r:id="rId46"/>
    <p:sldId id="543" r:id="rId47"/>
    <p:sldId id="697" r:id="rId48"/>
    <p:sldId id="721" r:id="rId49"/>
    <p:sldId id="722" r:id="rId50"/>
    <p:sldId id="540" r:id="rId51"/>
    <p:sldId id="679" r:id="rId52"/>
    <p:sldId id="718" r:id="rId53"/>
    <p:sldId id="717" r:id="rId54"/>
    <p:sldId id="719" r:id="rId55"/>
    <p:sldId id="637" r:id="rId56"/>
    <p:sldId id="720" r:id="rId57"/>
    <p:sldId id="546" r:id="rId58"/>
    <p:sldId id="682" r:id="rId59"/>
    <p:sldId id="683" r:id="rId60"/>
    <p:sldId id="716" r:id="rId61"/>
    <p:sldId id="549" r:id="rId62"/>
    <p:sldId id="550" r:id="rId63"/>
    <p:sldId id="648" r:id="rId64"/>
    <p:sldId id="695" r:id="rId65"/>
    <p:sldId id="638" r:id="rId66"/>
    <p:sldId id="641" r:id="rId67"/>
    <p:sldId id="639" r:id="rId68"/>
    <p:sldId id="681" r:id="rId6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9" autoAdjust="0"/>
    <p:restoredTop sz="99824" autoAdjust="0"/>
  </p:normalViewPr>
  <p:slideViewPr>
    <p:cSldViewPr>
      <p:cViewPr varScale="1">
        <p:scale>
          <a:sx n="70" d="100"/>
          <a:sy n="70" d="100"/>
        </p:scale>
        <p:origin x="154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37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D2A3F-9A1F-466D-A2FC-91E2F6E0E496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THE MORE YOU READ THE BETTER YOU BE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9BC92-EF73-4AB6-86C7-5FE76F0CD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804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7BA83-326A-4A4D-8328-4F99C7035B1E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THE MORE YOU READ THE BETTER YOU BE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5FB0F-F637-4CA4-9A4B-54AA345C1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4253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B2955-B839-4BCC-B23C-E0C589A94C2C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43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0F4B-F110-4C33-900C-FB3E615453AD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7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05C6-B959-414C-AA52-BA517B77F6EC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0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CE84-4B6B-41B1-8CD9-776DB4B4558C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1EACC-7CE6-4C8E-AC8F-3F55DE3DAD59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7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4280C-C062-4F42-B72B-57EC78C24CB4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6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514E-081A-42D0-94C7-C2FB8BFACD33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6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1D8F6-7FAA-434C-86F2-05FCC8BE5139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1E00A-1116-4F92-869B-DF0B23654A61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2839-147A-4B16-83B3-95FB0809BD15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9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D1FF5-BDDB-48AD-A6CE-4678EB558A87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1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C0AE3-CEA7-4B7C-8630-C8A443F25B43}" type="datetime2">
              <a:rPr lang="en-US" smtClean="0"/>
              <a:t>Tuesday, November 21,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CB5EC-E102-4298-8460-B4D67C3C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1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1828800"/>
            <a:ext cx="6819900" cy="86611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  <a:cs typeface="Times New Roman" pitchFamily="18" charset="0"/>
              </a:rPr>
              <a:t> Chapter 6</a:t>
            </a:r>
            <a:endParaRPr lang="en-US" sz="3600" b="1" dirty="0">
              <a:solidFill>
                <a:srgbClr val="0070C0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50" y="3078422"/>
            <a:ext cx="78486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Infectious diseases and Immunity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6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4572000" cy="714375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cs typeface="Times New Roman" pitchFamily="18" charset="0"/>
              </a:rPr>
              <a:t>Outline of the chapter</a:t>
            </a:r>
            <a:endParaRPr lang="en-US" sz="3600" b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37617"/>
            <a:ext cx="7905750" cy="54292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Infectious </a:t>
            </a:r>
            <a:r>
              <a:rPr lang="en-US" sz="2400" b="1" dirty="0">
                <a:solidFill>
                  <a:srgbClr val="0070C0"/>
                </a:solidFill>
              </a:rPr>
              <a:t>diseases 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marL="341313" indent="-341313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Infection and disease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Disease development and stages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Pathogenicity (primary and opportunistic pathogen)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Types of infectious diseases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Modes of transmission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0070C0"/>
                </a:solidFill>
              </a:rPr>
              <a:t>Host defenses against infectious diseases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4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612" y="152400"/>
            <a:ext cx="8229600" cy="79650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infectious diseases? 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24900" cy="5621338"/>
          </a:xfrm>
        </p:spPr>
        <p:txBody>
          <a:bodyPr>
            <a:noAutofit/>
          </a:bodyPr>
          <a:lstStyle/>
          <a:p>
            <a:pPr marL="231775" indent="-231775">
              <a:buFont typeface="Wingdings" panose="05000000000000000000" pitchFamily="2" charset="2"/>
              <a:buChar char="§"/>
            </a:pP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Infectious d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iseases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illnesses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harmful agents 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get into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body. The most common causes are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bacteria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viruses, fungi, protozoa, 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helminthes.</a:t>
            </a:r>
          </a:p>
          <a:p>
            <a:pPr marL="231775" indent="-231775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Usually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from person to person, through contaminated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food, water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through bug bites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-231775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as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of interactions between pathogenic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microorganisms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host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order to cause infectious </a:t>
            </a: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disease,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pathogen must accomplish the following </a:t>
            </a: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pPr marL="969963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It must enter the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9963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It must metabolize and multiply on or in the host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9963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It must resist host defenses</a:t>
            </a:r>
          </a:p>
          <a:p>
            <a:pPr marL="969963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It must damage the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disease cause host damage by entering cell 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causing cell death, releasing toxin that kill cell at a distance, releasing enzyme that degrade tissue components, damage blood vessels &amp;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152400"/>
            <a:ext cx="8801100" cy="64770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7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365127"/>
            <a:ext cx="8229600" cy="5334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Infection and disease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49466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terms "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and "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synonymous </a:t>
            </a:r>
          </a:p>
          <a:p>
            <a:pPr marL="53975" indent="0">
              <a:buNone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infection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successful colonization of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 by a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microorganisms.</a:t>
            </a:r>
          </a:p>
          <a:p>
            <a:pPr marL="573088" indent="-341313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results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pathogen enters and begins growing within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</a:p>
          <a:p>
            <a:pPr marL="573088" indent="-341313"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lead to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causes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resulting in a deviation from the normal structure or functioning of the host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31775" indent="0">
              <a:buNone/>
            </a:pPr>
            <a:endParaRPr lang="en-US" sz="2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" indent="0">
              <a:buNone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condition in which the normal structure or functions of the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 body cells are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damaged or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impaired.</a:t>
            </a:r>
          </a:p>
          <a:p>
            <a:pPr marL="573088" indent="-285750">
              <a:buFont typeface="Wingdings" panose="05000000000000000000" pitchFamily="2" charset="2"/>
              <a:buChar char="ü"/>
            </a:pP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result of the infection and signs and symptoms of an illness </a:t>
            </a: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appear</a:t>
            </a:r>
            <a:endParaRPr lang="en-US" sz="2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2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56" y="172497"/>
            <a:ext cx="6708444" cy="63976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and Symptoms of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556" y="609600"/>
            <a:ext cx="8765844" cy="601980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endParaRPr lang="en-US" sz="2400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0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disease are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measurable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can be directly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a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clinician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result of disease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9113" indent="-177800">
              <a:buFont typeface="Wingdings" pitchFamily="2" charset="2"/>
              <a:buChar char="ü"/>
            </a:pPr>
            <a:r>
              <a:rPr lang="en-US" sz="20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Vital </a:t>
            </a:r>
            <a:r>
              <a:rPr lang="en-US" sz="2000" i="1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</a:t>
            </a:r>
            <a:r>
              <a:rPr lang="en-US" sz="2000" i="1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are used to measure the body’s basic </a:t>
            </a:r>
            <a:r>
              <a:rPr lang="en-US" sz="2000" i="1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functions. </a:t>
            </a:r>
            <a:r>
              <a:rPr lang="en-US" sz="20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body </a:t>
            </a:r>
            <a:r>
              <a:rPr lang="en-US" sz="2000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heart rate, blood pressure, breathing rate and etc.</a:t>
            </a:r>
          </a:p>
          <a:p>
            <a:pPr marL="519113" indent="-177800">
              <a:buFont typeface="Wingdings" pitchFamily="2" charset="2"/>
              <a:buChar char="ü"/>
            </a:pPr>
            <a:r>
              <a:rPr lang="en-US" sz="2000" i="1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</a:t>
            </a:r>
            <a:r>
              <a:rPr lang="en-US" sz="2000" i="1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any of the body’s vital signs may be indicative of </a:t>
            </a:r>
            <a:r>
              <a:rPr lang="en-US" sz="2000" i="1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en-US" sz="20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sz="20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a </a:t>
            </a:r>
            <a:r>
              <a:rPr lang="en-US" sz="2000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fever</a:t>
            </a:r>
          </a:p>
          <a:p>
            <a:pPr marL="519113" indent="-177800">
              <a:buFont typeface="Wingdings" pitchFamily="2" charset="2"/>
              <a:buChar char="ü"/>
            </a:pPr>
            <a:r>
              <a:rPr lang="en-US" sz="2000" i="1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Observable conditions. </a:t>
            </a:r>
            <a:r>
              <a:rPr lang="en-US" sz="20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the presence of antibodies in a patient’s serum</a:t>
            </a:r>
          </a:p>
          <a:p>
            <a:pPr>
              <a:buFont typeface="Wingdings" pitchFamily="2" charset="2"/>
              <a:buChar char="v"/>
            </a:pPr>
            <a:r>
              <a:rPr lang="en-US" sz="24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</a:t>
            </a:r>
            <a:endParaRPr lang="en-US" sz="2400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2" indent="0">
              <a:buNone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 are </a:t>
            </a: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subjective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body function that is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felt </a:t>
            </a: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experienced by the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result of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disease. </a:t>
            </a:r>
          </a:p>
          <a:p>
            <a:pPr marL="682625" indent="-163513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Examples of symptoms include nausea, loss of appetite, and pain.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Syndrome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8975" indent="-231775">
              <a:buFont typeface="Wingdings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group of signs and symptoms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occur together and characterize a particular abnormality or condition.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  <a:cs typeface="Times New Roman" pitchFamily="18" charset="0"/>
              </a:rPr>
              <a:t>Classification of infectious </a:t>
            </a:r>
            <a:r>
              <a:rPr lang="en-US" sz="2800" b="1" dirty="0">
                <a:solidFill>
                  <a:srgbClr val="C00000"/>
                </a:solidFill>
                <a:cs typeface="Times New Roman" pitchFamily="18" charset="0"/>
              </a:rPr>
              <a:t>diseases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609600"/>
            <a:ext cx="8877300" cy="601980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criteria can be used to classify infectious diseases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Based on transmission potential </a:t>
            </a:r>
          </a:p>
          <a:p>
            <a:pPr marL="573088" indent="-341313"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Communicable disease</a:t>
            </a:r>
          </a:p>
          <a:p>
            <a:pPr marL="682625" indent="-287338"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that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from one host to another.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communicable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contagious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meaning easily spread; 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 through direct, bodily contact with an infected person, their discharges, or an object or surface they've contaminated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2625" indent="-287338">
              <a:buFont typeface="Wingdings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degree to which a disease is contagious usually depends on how the pathogen is transmitted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341313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E.g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Influenza, Salmonella and etc.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341313"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Non-communicable disease</a:t>
            </a:r>
          </a:p>
          <a:p>
            <a:pPr marL="573088" indent="-341313">
              <a:buFont typeface="Wingdings" pitchFamily="2" charset="2"/>
              <a:buChar char="ü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Aren’t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microorganisms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by genetics, anatomical differences, getting older and the environment you live in.</a:t>
            </a:r>
          </a:p>
          <a:p>
            <a:pPr marL="573088" indent="-341313"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that is not transmitted from one host to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</a:p>
          <a:p>
            <a:pPr marL="231775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Cancer, diabetes, congestive heart failure and Alzheimer’s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0" indent="-638175">
              <a:buFont typeface="Wingdings" pitchFamily="2" charset="2"/>
              <a:buChar char="ü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2350" indent="-398463">
              <a:buFont typeface="Wingdings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7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s 3"/>
          <p:cNvSpPr/>
          <p:nvPr/>
        </p:nvSpPr>
        <p:spPr>
          <a:xfrm>
            <a:off x="114300" y="152400"/>
            <a:ext cx="8877300" cy="64770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8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6106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Based on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occurrence/based on a disease's rate of spread</a:t>
            </a:r>
            <a:endParaRPr 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variety of terms are used to describe the occurrence of an infectious disease within a specific geographic area or population.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338" indent="-177800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Sporadic disease</a:t>
            </a:r>
          </a:p>
          <a:p>
            <a:pPr marL="573088" indent="-285750"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that occurs occasionally and unpredictably in a population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338" indent="-233363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Endemic disease</a:t>
            </a:r>
          </a:p>
          <a:p>
            <a:pPr marL="573088" indent="-285750">
              <a:buFont typeface="Wingdings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consistently present but limited to a particular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  <a:p>
            <a:pPr marL="573088" indent="-285750">
              <a:buFont typeface="Wingdings" pitchFamily="2" charset="2"/>
              <a:buChar char="ü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Malaria considered endemic in certain countries and regions.</a:t>
            </a: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338" indent="-177800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Epidemic disease</a:t>
            </a:r>
          </a:p>
          <a:p>
            <a:pPr marL="573088" indent="-285750">
              <a:buFont typeface="Wingdings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unexpected increase in the number of disease cases in a specific geographical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285750"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by many hosts in a given area in a short time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287338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Pandemic disease</a:t>
            </a:r>
          </a:p>
          <a:p>
            <a:pPr marL="573088" indent="-285750">
              <a:buFont typeface="Wingdings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disease’s growth is exponential, affecting several countries 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populations; worldwide epidemic</a:t>
            </a:r>
          </a:p>
          <a:p>
            <a:pPr marL="512762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s 3"/>
          <p:cNvSpPr/>
          <p:nvPr/>
        </p:nvSpPr>
        <p:spPr>
          <a:xfrm>
            <a:off x="114300" y="76199"/>
            <a:ext cx="8801100" cy="6645275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085" y="92324"/>
            <a:ext cx="1600200" cy="364876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1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599" y="228600"/>
                <a:ext cx="8701585" cy="64008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of disease frequency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prevalence </a:t>
                </a:r>
                <a:r>
                  <a:rPr 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incidence </a:t>
                </a:r>
                <a:endParaRPr lang="en-US" sz="2400" b="1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itchFamily="2" charset="2"/>
                  <a:buChar char="v"/>
                </a:pPr>
                <a:r>
                  <a:rPr lang="en-US" sz="2400" b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Prevalence</a:t>
                </a:r>
              </a:p>
              <a:p>
                <a:pPr marL="736600" indent="-279400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raction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 population </a:t>
                </a:r>
                <a:r>
                  <a:rPr lang="en-US" sz="24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having a specific disease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a given time 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11275" indent="-274638">
                  <a:buFont typeface="Wingdings" panose="05000000000000000000" pitchFamily="2" charset="2"/>
                  <a:buChar char="ü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existing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cases</a:t>
                </a:r>
              </a:p>
              <a:p>
                <a:pPr marL="1036637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𝑃𝑟𝑒𝑣𝑎𝑙𝑒𝑛𝑐𝑒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𝑝𝑒𝑜𝑝𝑙𝑒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𝑠𝑎𝑚𝑝𝑙𝑒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𝑤𝑖𝑡h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𝑐h𝑎𝑟𝑎𝑐𝑡𝑒𝑟𝑖𝑠𝑡𝑖𝑐𝑠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𝑝𝑒𝑜𝑝𝑙𝑒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𝑠𝑎𝑚𝑝𝑙𝑒</m:t>
                        </m:r>
                      </m:den>
                    </m:f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100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buNone/>
                </a:pP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In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population of 10,000 people, 500 persons are reported to be affected by a certain disease. So what is the prevalence of this disease in this population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0" lv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Font typeface="Wingdings" pitchFamily="2" charset="2"/>
                  <a:buChar char="v"/>
                </a:pPr>
                <a:r>
                  <a:rPr lang="en-US" sz="2400" b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Incidence </a:t>
                </a:r>
                <a:endParaRPr lang="en-US" sz="2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36600" lvl="0" indent="-279400"/>
                <a:r>
                  <a:rPr 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fraction of a population that contracts a disease during a specific time </a:t>
                </a:r>
              </a:p>
              <a:p>
                <a:pPr marL="1082675" lvl="0" indent="-107950">
                  <a:buFont typeface="Wingdings" panose="05000000000000000000" pitchFamily="2" charset="2"/>
                  <a:buChar char="ü"/>
                </a:pP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 of new cases of a disease or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disorder</a:t>
                </a:r>
              </a:p>
              <a:p>
                <a:pPr marL="974725" lvl="0" indent="0">
                  <a:buNone/>
                </a:pP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599" y="228600"/>
                <a:ext cx="8701585" cy="6400802"/>
              </a:xfrm>
              <a:blipFill>
                <a:blip r:embed="rId2"/>
                <a:stretch>
                  <a:fillRect l="-1050" t="-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s 3"/>
          <p:cNvSpPr/>
          <p:nvPr/>
        </p:nvSpPr>
        <p:spPr>
          <a:xfrm>
            <a:off x="114300" y="76200"/>
            <a:ext cx="8801100" cy="65532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6105583"/>
            <a:ext cx="330563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4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47690"/>
            <a:ext cx="8915400" cy="63103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Severity </a:t>
            </a:r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duration of infectious disease </a:t>
            </a:r>
            <a:endParaRPr lang="en-US" sz="2400" b="1" u="sng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0">
              <a:buNone/>
            </a:pP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the period of illness can vary greatly depending on the pathogen, effectiveness of the immune response in the host, and any medical treatment received.</a:t>
            </a:r>
          </a:p>
          <a:p>
            <a:pPr marL="395288" indent="-2174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Acute</a:t>
            </a:r>
            <a:endParaRPr 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6600" indent="-273050">
              <a:buFont typeface="Wingdings" pitchFamily="2" charset="2"/>
              <a:buChar char="ü"/>
            </a:pP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Pathologic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occur over a relatively short time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(e.g., hours, days, or a few weeks) and involve a rapid onset of disease conditions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63550" indent="0">
              <a:buNone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Influenza (the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incubation period is approximately 1–2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days)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5288" indent="-2174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27063" indent="-285750">
              <a:buFont typeface="Wingdings" pitchFamily="2" charset="2"/>
              <a:buChar char="ü"/>
            </a:pP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Pathologic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can occur over longer time spans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(e.g., months, years, or a lifetime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1312" indent="0">
              <a:buNone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chronic gastritis  caused by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Helicobacter pylori.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085" y="92324"/>
            <a:ext cx="1600200" cy="639762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3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9067800" cy="6172200"/>
          </a:xfrm>
        </p:spPr>
        <p:txBody>
          <a:bodyPr>
            <a:normAutofit/>
          </a:bodyPr>
          <a:lstStyle/>
          <a:p>
            <a:pPr marL="395288" indent="-2174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Subacute</a:t>
            </a:r>
          </a:p>
          <a:p>
            <a:pPr marL="804863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appear between acute and chronic </a:t>
            </a:r>
          </a:p>
          <a:p>
            <a:pPr marL="395288" indent="-217488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231775">
              <a:buFont typeface="Wingdings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causal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 goes dormant for extended periods of time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active </a:t>
            </a: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en-US" sz="24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231775"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symptoms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causative agent is inactive </a:t>
            </a:r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0">
              <a:buNone/>
            </a:pPr>
            <a:endParaRPr lang="en-US" sz="2400" dirty="0" smtClean="0">
              <a:solidFill>
                <a:srgbClr val="D600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0">
              <a:buNone/>
            </a:pPr>
            <a:r>
              <a:rPr lang="en-US" sz="2400" b="1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b="1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herpes simplex viruses </a:t>
            </a:r>
            <a:r>
              <a:rPr lang="en-US" sz="24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evade the host immune system by residing in a latent form within cells of the nervous system for long periods of time, </a:t>
            </a:r>
            <a:endParaRPr lang="en-US" sz="2400" dirty="0" smtClean="0">
              <a:solidFill>
                <a:srgbClr val="D600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0">
              <a:buNone/>
            </a:pPr>
            <a:r>
              <a:rPr lang="en-US" sz="2400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4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</a:t>
            </a:r>
            <a:r>
              <a:rPr lang="en-US" sz="2400" b="1" i="1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reactivate to become active infections during times of stress and immunosuppression</a:t>
            </a:r>
            <a:r>
              <a:rPr lang="en-US" sz="2400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4800" y="215902"/>
            <a:ext cx="1600200" cy="639762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36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85" y="609600"/>
            <a:ext cx="8557715" cy="594360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Extent of infection in the host </a:t>
            </a:r>
          </a:p>
          <a:p>
            <a:pPr marL="1146175" indent="-638175">
              <a:spcBef>
                <a:spcPts val="12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Local infection</a:t>
            </a:r>
          </a:p>
          <a:p>
            <a:pPr marL="1146175" indent="-2905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limited to a small area of the body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6175" indent="-638175">
              <a:spcBef>
                <a:spcPts val="12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Systemic infection</a:t>
            </a:r>
          </a:p>
          <a:p>
            <a:pPr marL="1146175" indent="-2905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throughout the body by blood and/or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lymph</a:t>
            </a:r>
          </a:p>
          <a:p>
            <a:pPr marL="1435100">
              <a:spcBef>
                <a:spcPts val="1200"/>
              </a:spcBef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Bacteremia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bacteria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blood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5100">
              <a:spcBef>
                <a:spcPts val="1200"/>
              </a:spcBef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Septicemia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and growth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bacteria in the blood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35100">
              <a:spcBef>
                <a:spcPts val="1200"/>
              </a:spcBef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Toxemia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toxins in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blood</a:t>
            </a:r>
          </a:p>
          <a:p>
            <a:pPr marL="1435100">
              <a:spcBef>
                <a:spcPts val="1200"/>
              </a:spcBef>
            </a:pPr>
            <a:r>
              <a:rPr lang="en-US" sz="2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Viremia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viruses in the blood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6175" indent="-638175">
              <a:spcBef>
                <a:spcPts val="12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Focal infection</a:t>
            </a:r>
          </a:p>
          <a:p>
            <a:pPr marL="1146175" indent="-2905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ystemic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that began as a local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moves via blood or lymph to set up a new infection at another site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7488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tooth infection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s 3"/>
          <p:cNvSpPr/>
          <p:nvPr/>
        </p:nvSpPr>
        <p:spPr>
          <a:xfrm>
            <a:off x="114300" y="215902"/>
            <a:ext cx="89535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085" y="92324"/>
            <a:ext cx="1600200" cy="63976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59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3730"/>
            <a:ext cx="8610600" cy="586567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Pathogenicity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Pathogenicity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of a microbial agent to cause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disease. Pathogens can be classified as either 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pathogens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opportunistic </a:t>
            </a:r>
            <a:r>
              <a:rPr lang="en-US" sz="2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pathogens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 </a:t>
            </a:r>
          </a:p>
          <a:p>
            <a:pPr marL="1023938" indent="-3968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primary pathogen can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disease in a host regardless of the host’s resident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microbiota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3938" indent="-3968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Microbe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virus that causes disease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healthy individual</a:t>
            </a:r>
          </a:p>
          <a:p>
            <a:pPr marL="627063" indent="0">
              <a:spcBef>
                <a:spcPts val="12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231775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Opportunistic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 (opportunist) </a:t>
            </a:r>
          </a:p>
          <a:p>
            <a:pPr marL="968375" indent="-285750">
              <a:lnSpc>
                <a:spcPct val="110000"/>
              </a:lnSpc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cause disease in situations that compromise the host’s defenses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the body’s protective barriers, immune system, or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microbiota.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0"/>
            <a:ext cx="8953500" cy="65532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236610"/>
            <a:ext cx="1600200" cy="366710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69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562602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Diagnosing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identifying the causative agent of disease. The following are methods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diagnosing infectious disease.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Microscopy and in vitro culture 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Molecular diagnosis-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molecular techniques such as nucleic acid sequencing and protein analysis by mass spectrometry are rapidly replacing traditional methods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Serologic diagnosis-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immunologic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are used to detect, identify,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quantitate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antigen in clinical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samples. </a:t>
            </a:r>
          </a:p>
          <a:p>
            <a:pPr marL="573088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specificity of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antibody-antigen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and the sensitivity of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of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immunologic techniques make them powerful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tools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0"/>
            <a:ext cx="8953500" cy="65532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0" y="388145"/>
            <a:ext cx="6814213" cy="36671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Diagnosing Infectious Disease</a:t>
            </a: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30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638802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cause disease, a pathogen must successfully achieve four steps or stages of pathogenesis: </a:t>
            </a:r>
            <a:r>
              <a:rPr lang="en-US" sz="26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exposure (contact), adhesion (colonization), invasion, and infection</a:t>
            </a:r>
            <a:r>
              <a:rPr lang="en-US" sz="26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6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Exposure </a:t>
            </a:r>
            <a:r>
              <a:rPr lang="en-US" sz="26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contact)</a:t>
            </a:r>
          </a:p>
          <a:p>
            <a:pPr marL="573088" indent="-341313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encountering 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potential pathogen. </a:t>
            </a:r>
            <a:r>
              <a:rPr lang="en-US" sz="26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we eat and the objects we handle are all ways that we can come into contact with potential </a:t>
            </a:r>
            <a:r>
              <a:rPr lang="en-US" sz="26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pathogens.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6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Adhesion </a:t>
            </a:r>
            <a:r>
              <a:rPr lang="en-US" sz="26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(colonization</a:t>
            </a:r>
            <a:r>
              <a:rPr lang="en-US" sz="26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9113" indent="-341313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6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initial exposure, the pathogen adheres at the portal of </a:t>
            </a:r>
            <a:r>
              <a:rPr lang="en-US" sz="26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6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adhesion factors</a:t>
            </a:r>
            <a:r>
              <a:rPr lang="en-US" sz="26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9113" indent="-341313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6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Molecules (either proteins or carbohydrates) called </a:t>
            </a:r>
            <a:r>
              <a:rPr lang="en-US" sz="26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adhesins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found on the surface of certain pathogens and bind to specific receptors (glycoproteins) on host cells. </a:t>
            </a:r>
            <a:endParaRPr lang="en-US" sz="2600" i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341313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600" i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Adhesins</a:t>
            </a:r>
            <a:r>
              <a:rPr lang="en-US" sz="26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present on the fimbriae and flagella of bacteria, the cilia of protozoa, and the capsids or membranes of viruses. </a:t>
            </a:r>
            <a:endParaRPr lang="en-US" sz="2600" i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4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0"/>
            <a:ext cx="8953500" cy="65532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6645" y="428914"/>
            <a:ext cx="7620000" cy="36671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ahoma" panose="020B0604030504040204" pitchFamily="34" charset="0"/>
              </a:rPr>
              <a:t>Stages of Pathogenesis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52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63880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Invasion</a:t>
            </a:r>
          </a:p>
          <a:p>
            <a:pPr indent="-1651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Once adhesion is successful, invasion can proceed. </a:t>
            </a:r>
            <a:endParaRPr lang="en-US" sz="2400" i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651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Invasion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involves the dissemination of a pathogen throughout local tissues or the body. </a:t>
            </a:r>
            <a:endParaRPr lang="en-US" sz="2400" i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651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Pathogens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produce </a:t>
            </a:r>
            <a:r>
              <a:rPr lang="en-US" sz="24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exoenzymes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toxins, which serve as virulence factors that allow them to colonize and damage host tissues as they spread deeper into the body.</a:t>
            </a:r>
            <a:endParaRPr lang="en-US" sz="2400" i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</a:p>
          <a:p>
            <a:pPr indent="-233363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multiplication of the pathogen leads to infection. </a:t>
            </a:r>
            <a:endParaRPr lang="en-US" sz="2400" i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33363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Infections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described as local, focal, or systemic, depending on the extent of the infection. </a:t>
            </a:r>
          </a:p>
          <a:p>
            <a:pPr marL="0" indent="0">
              <a:spcBef>
                <a:spcPts val="1200"/>
              </a:spcBef>
              <a:buNone/>
            </a:pPr>
            <a:endParaRPr lang="en-US" sz="20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0"/>
            <a:ext cx="8953500" cy="65532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6645" y="428914"/>
            <a:ext cx="7620000" cy="366710"/>
          </a:xfrm>
        </p:spPr>
        <p:txBody>
          <a:bodyPr>
            <a:noAutofit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latin typeface="Tahoma" panose="020B0604030504040204" pitchFamily="34" charset="0"/>
              </a:rPr>
              <a:t>Cont’d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7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251" y="780446"/>
            <a:ext cx="8610600" cy="5941028"/>
          </a:xfrm>
        </p:spPr>
        <p:txBody>
          <a:bodyPr>
            <a:noAutofit/>
          </a:bodyPr>
          <a:lstStyle/>
          <a:p>
            <a:pPr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immune system is able to fight off the pathogen before it can establish an infection, no signs of disease will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occur. 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disease process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different stages of infection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someone contracts an acute infection, they will experience five stages of infection:</a:t>
            </a:r>
          </a:p>
          <a:p>
            <a:pPr marL="1023938" indent="-1023938">
              <a:buNone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Incubation period</a:t>
            </a:r>
          </a:p>
          <a:p>
            <a:pPr marL="627063" indent="-285750">
              <a:buFont typeface="Wingdings" pitchFamily="2" charset="2"/>
              <a:buChar char="ü"/>
              <a:tabLst>
                <a:tab pos="627063" algn="l"/>
              </a:tabLst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interval between initial infection and first appearance of signs and symptoms. A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 does not show any signs or symptoms of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sickness.</a:t>
            </a:r>
          </a:p>
          <a:p>
            <a:pPr marL="1023938" indent="-1023938">
              <a:buNone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Prodromal period</a:t>
            </a:r>
          </a:p>
          <a:p>
            <a:pPr marL="573088" indent="-231775"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appearance of first mild signs and </a:t>
            </a: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signal onset of some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diseases. </a:t>
            </a:r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231775"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symptoms are mild and not very specific or diagnostic.</a:t>
            </a:r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0"/>
            <a:ext cx="8801100" cy="6645274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66800" y="140684"/>
            <a:ext cx="6172200" cy="639762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C00000"/>
                </a:solidFill>
                <a:cs typeface="Times New Roman" pitchFamily="18" charset="0"/>
              </a:rPr>
              <a:t>Disease development and stages 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22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145" y="1066800"/>
            <a:ext cx="3950255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4800" y="608106"/>
            <a:ext cx="46482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Period of illness </a:t>
            </a:r>
          </a:p>
          <a:p>
            <a:pPr marL="573088" lvl="0" indent="-231775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at its height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it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highly contagious and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 experiencing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fulminant symptoms.</a:t>
            </a:r>
          </a:p>
          <a:p>
            <a:pPr lvl="0">
              <a:spcBef>
                <a:spcPct val="20000"/>
              </a:spcBef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Period of decline</a:t>
            </a:r>
          </a:p>
          <a:p>
            <a:pPr marL="627063" lvl="0" indent="-231775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and symptoms subside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invading pathogens decrease in the body as the immune system combats the infection.</a:t>
            </a:r>
          </a:p>
          <a:p>
            <a:pPr lvl="0">
              <a:spcBef>
                <a:spcPct val="20000"/>
              </a:spcBef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Period of convalescence</a:t>
            </a:r>
          </a:p>
          <a:p>
            <a:pPr marL="627063" lvl="0" indent="-231775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returns to pre diseased state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health is restored, microbial replication has halted by immune system.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4800" y="236610"/>
            <a:ext cx="1600200" cy="36671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91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65151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/>
            </a:r>
            <a:br>
              <a:rPr lang="en-US" sz="28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</a:br>
            <a:r>
              <a:rPr lang="en-US" sz="28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Causative agents of </a:t>
            </a:r>
            <a:r>
              <a:rPr lang="en-US" sz="2800" b="1" dirty="0">
                <a:solidFill>
                  <a:srgbClr val="C00000"/>
                </a:solidFill>
                <a:cs typeface="Times New Roman" pitchFamily="18" charset="0"/>
              </a:rPr>
              <a:t>infectious disease </a:t>
            </a:r>
            <a:endParaRPr lang="en-US" sz="2800" b="1" dirty="0">
              <a:solidFill>
                <a:srgbClr val="C0000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2057399"/>
            <a:ext cx="8153401" cy="420687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infectious agent responsible for development of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pathogens known as causative agents for different types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diseases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</a:p>
          <a:p>
            <a:pPr marL="1023938" indent="-45085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bacteria, viruses, fungi,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protozoa </a:t>
            </a: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helminths 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18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5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5900"/>
            <a:ext cx="8763000" cy="63373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Bacteria</a:t>
            </a:r>
            <a:endParaRPr lang="en-US" sz="31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unicellular prokaryotic </a:t>
            </a:r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organisms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reproduce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 fission</a:t>
            </a:r>
          </a:p>
          <a:p>
            <a:pPr indent="-2286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Their cell walls are made from peptidoglycan</a:t>
            </a:r>
          </a:p>
          <a:p>
            <a:pPr indent="-2286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most common shapes of bacteria are:</a:t>
            </a:r>
          </a:p>
          <a:p>
            <a:pPr indent="-2286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Bacillus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(rod-shaped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coccus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(spherical), or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spirillum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(helical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rods) Based on their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wall structures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influences their Gram stain reaction, bacteria can be: </a:t>
            </a:r>
          </a:p>
          <a:p>
            <a:pPr marL="290513" indent="-290513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Gram-negative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7713" indent="-290513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 </a:t>
            </a: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the staining procedure</a:t>
            </a:r>
          </a:p>
          <a:p>
            <a:pPr marL="1316038" indent="-290513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Salmonella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causes typhoid fever </a:t>
            </a:r>
          </a:p>
          <a:p>
            <a:pPr marL="1316038" indent="-290513">
              <a:lnSpc>
                <a:spcPct val="150000"/>
              </a:lnSpc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Yersinia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pestis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plague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Gram-positive bacteria </a:t>
            </a:r>
          </a:p>
          <a:p>
            <a:pPr marL="747713" indent="-290513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Gram staining procedure 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6038" indent="-290513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Staphylococcus aureus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3238" indent="-166688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skin, respiratory and wound infections</a:t>
            </a:r>
          </a:p>
          <a:p>
            <a:pPr marL="1312863" indent="-287338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Clostridium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tetani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3238" indent="-166688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toxin that can be lethal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19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1"/>
            <a:ext cx="8801100" cy="6505573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6572" y="3048000"/>
            <a:ext cx="3293160" cy="2085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3282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10600" cy="6324602"/>
          </a:xfrm>
        </p:spPr>
        <p:txBody>
          <a:bodyPr>
            <a:normAutofit lnSpcReduction="10000"/>
          </a:bodyPr>
          <a:lstStyle/>
          <a:p>
            <a:pPr marL="401638" indent="-401638" algn="ctr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Bacterial association with the host</a:t>
            </a:r>
          </a:p>
          <a:p>
            <a:pPr marL="744538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them live inside the human body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causing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 (normal flora). </a:t>
            </a:r>
            <a:r>
              <a:rPr lang="en-US" sz="24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mouth, intestine</a:t>
            </a:r>
          </a:p>
          <a:p>
            <a:pPr marL="914400" indent="-23177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symbiotic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with the host </a:t>
            </a:r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23177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 provides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place to colonize,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nutrients, </a:t>
            </a:r>
          </a:p>
          <a:p>
            <a:pPr marL="914400" indent="-23177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microbes stimulate innate immunity and prevent colonization with unwanted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pathogens</a:t>
            </a:r>
          </a:p>
          <a:p>
            <a:pPr marL="682625" indent="0">
              <a:buNone/>
            </a:pPr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0425" indent="-1778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all body organs harbor normal flora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some are free of any microbes. </a:t>
            </a:r>
            <a:r>
              <a:rPr lang="en-US" sz="24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Kidney, heart, lung &amp; </a:t>
            </a:r>
            <a:r>
              <a:rPr lang="en-US" sz="24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36600" indent="-334963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bacterial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 diseases like:</a:t>
            </a:r>
          </a:p>
          <a:p>
            <a:pPr marL="1092200" indent="-355600"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E.g. cholera, pneumonia, tuberculosis, typhoid, and etc.</a:t>
            </a:r>
          </a:p>
          <a:p>
            <a:pPr marL="1092200" indent="-355600"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Bacterial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infections can be treated with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antibiotics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152400"/>
            <a:ext cx="8877300" cy="64770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9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762000"/>
            <a:ext cx="8801100" cy="5867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Viruses</a:t>
            </a:r>
          </a:p>
          <a:p>
            <a:pPr marL="623888" indent="-3333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not living organisms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unless occupying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appropriate living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host cell 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reproduce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3333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have no metabolic capability</a:t>
            </a:r>
          </a:p>
          <a:p>
            <a:pPr marL="623888" indent="-3333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viruses 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obligate intracellular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parasites</a:t>
            </a:r>
          </a:p>
          <a:p>
            <a:pPr marL="623888" indent="-3333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DNA or RNA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not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</a:p>
          <a:p>
            <a:pPr marL="623888" indent="-3333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no internal cellular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marL="290513" indent="0">
              <a:spcBef>
                <a:spcPts val="1200"/>
              </a:spcBef>
              <a:buNone/>
            </a:pP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21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152399"/>
            <a:ext cx="8877300" cy="6569075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609600"/>
            <a:ext cx="8801100" cy="6019802"/>
          </a:xfrm>
        </p:spPr>
        <p:txBody>
          <a:bodyPr>
            <a:normAutofit/>
          </a:bodyPr>
          <a:lstStyle/>
          <a:p>
            <a:pPr marL="290513" indent="0">
              <a:spcBef>
                <a:spcPts val="1200"/>
              </a:spcBef>
              <a:buNone/>
            </a:pPr>
            <a:r>
              <a:rPr lang="en-US" sz="2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viruses are composed of?</a:t>
            </a:r>
          </a:p>
          <a:p>
            <a:pPr marL="290513" indent="0">
              <a:spcBef>
                <a:spcPts val="1200"/>
              </a:spcBef>
              <a:buNone/>
            </a:pP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intact viral particle, or </a:t>
            </a:r>
            <a:r>
              <a:rPr lang="en-US" sz="22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virion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has in essence </a:t>
            </a: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</a:t>
            </a:r>
            <a:r>
              <a:rPr lang="en-US" sz="22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core of nucleic acid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surrounded and protected by a </a:t>
            </a: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 coat </a:t>
            </a:r>
            <a:r>
              <a:rPr lang="en-US" sz="22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capsid.</a:t>
            </a:r>
            <a:endParaRPr lang="en-US" sz="2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2286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Enveloped viruses-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of nucleic acid DNA or RNA, capsid (protein) and an envelop)</a:t>
            </a:r>
          </a:p>
          <a:p>
            <a:pPr marL="177800" indent="0">
              <a:spcBef>
                <a:spcPts val="1200"/>
              </a:spcBef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E.g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HIV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retrovirus, Influenza virus,  </a:t>
            </a:r>
          </a:p>
          <a:p>
            <a:pPr marL="177800" indent="0">
              <a:spcBef>
                <a:spcPts val="1200"/>
              </a:spcBef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SARS-CoV-2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virus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228600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2286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Non-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enveloped viruses-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of nucleic acid DNA or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RNA and capsid. </a:t>
            </a:r>
            <a:endParaRPr lang="en-US" sz="2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333375">
              <a:spcBef>
                <a:spcPts val="1200"/>
              </a:spcBef>
              <a:buFont typeface="Wingdings" pitchFamily="2" charset="2"/>
              <a:buChar char="ü"/>
            </a:pP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22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152399"/>
            <a:ext cx="8877300" cy="6569075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133823"/>
            <a:ext cx="2444387" cy="14955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045" y="2683582"/>
            <a:ext cx="3277483" cy="187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3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00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The 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en-US" sz="2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process 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replication and infection</a:t>
            </a:r>
            <a:endParaRPr lang="en-US" sz="23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9975" indent="-1876425">
              <a:buNone/>
            </a:pP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9975" indent="-1876425">
              <a:buNone/>
            </a:pP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9975" indent="-1876425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9975" indent="-1876425">
              <a:buNone/>
            </a:pP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9975" indent="-1876425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9975" indent="-1876425">
              <a:buNone/>
            </a:pP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indent="-346075">
              <a:buFont typeface="Wingdings" pitchFamily="2" charset="2"/>
              <a:buChar char="v"/>
            </a:pPr>
            <a:endParaRPr lang="en-US" sz="23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3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3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indent="-346075">
              <a:buFont typeface="Wingdings" pitchFamily="2" charset="2"/>
              <a:buChar char="v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viruses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released through either of the two situations  </a:t>
            </a:r>
          </a:p>
          <a:p>
            <a:pPr marL="290513" indent="-290513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cases, virus-derived enzymes destroy the host cell membranes,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killing the cell and releasing the new virus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particles</a:t>
            </a:r>
          </a:p>
          <a:p>
            <a:pPr marL="234950" indent="-234950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cases, new virus particles exit the cell by a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budding process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weakening but not destroying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</a:p>
          <a:p>
            <a:pPr marL="0" indent="0">
              <a:buNone/>
            </a:pPr>
            <a:endParaRPr lang="en-US" sz="23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23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0"/>
            <a:ext cx="8877300" cy="65532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9" r="8354" b="3426"/>
          <a:stretch/>
        </p:blipFill>
        <p:spPr bwMode="auto">
          <a:xfrm>
            <a:off x="4038599" y="695074"/>
            <a:ext cx="4201723" cy="387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4800" y="1182231"/>
            <a:ext cx="37338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indent="-287338"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Viral particle first attaches to a specific host cell </a:t>
            </a:r>
          </a:p>
          <a:p>
            <a:pPr marL="341313" indent="-287338"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The viral genome is then inserted into the host cell, </a:t>
            </a:r>
          </a:p>
          <a:p>
            <a:pPr marL="2339975" indent="-2286000"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Replication, then</a:t>
            </a:r>
          </a:p>
          <a:p>
            <a:pPr marL="287338" indent="-233363">
              <a:buNone/>
            </a:pP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The new viruses are released </a:t>
            </a: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host cell</a:t>
            </a:r>
          </a:p>
        </p:txBody>
      </p:sp>
    </p:spTree>
    <p:extLst>
      <p:ext uri="{BB962C8B-B14F-4D97-AF65-F5344CB8AC3E}">
        <p14:creationId xmlns:p14="http://schemas.microsoft.com/office/powerpoint/2010/main" val="355444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4800" y="761999"/>
            <a:ext cx="8461248" cy="59594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Single-stranded RNA viral genomes can be divided into two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types:  (+) sense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sense RNA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(+) sense is able to act as mRNA, attach to ribosomes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become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translated into the relevant proteins within the host cell. As such, it 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own right.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(−) sense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only infectious in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capsid protein possessing RNA polymerase activity. This is needed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(−) RNA into its complementary (+) strand, which then acts as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for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production, as described above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C093-FD40-458A-8981-DB0E155AE750}" type="datetime1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E3948F8-E4BB-41C8-A38C-C88C72EC395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Cont’d</a:t>
            </a:r>
            <a:endParaRPr lang="en-GB" sz="1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96874"/>
            <a:ext cx="6831271" cy="2651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813" y="150813"/>
            <a:ext cx="8842375" cy="6570662"/>
          </a:xfrm>
          <a:prstGeom prst="rect">
            <a:avLst/>
          </a:prstGeom>
          <a:noFill/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5pPr>
          </a:lstStyle>
          <a:p>
            <a:pPr algn="ctr">
              <a:defRPr/>
            </a:pPr>
            <a:endParaRPr lang="en-US" altLang="x-none" noProof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47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381000"/>
            <a:ext cx="8801100" cy="6248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RNA viruses</a:t>
            </a:r>
          </a:p>
          <a:p>
            <a:pPr marL="396875"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enetic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can be used directly as messenger RNA to produce viral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proteins</a:t>
            </a:r>
          </a:p>
          <a:p>
            <a:pPr marL="396875">
              <a:buFont typeface="Wingdings" panose="05000000000000000000" pitchFamily="2" charset="2"/>
              <a:buChar char="§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RNA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viruses that cause human disease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</a:p>
          <a:p>
            <a:pPr marL="1255713" indent="-341313" defTabSz="1371600">
              <a:buFont typeface="Wingdings" panose="05000000000000000000" pitchFamily="2" charset="2"/>
              <a:buChar char="ü"/>
              <a:tabLst>
                <a:tab pos="1377950" algn="l"/>
              </a:tabLst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rhinoviruses: cause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colds</a:t>
            </a:r>
          </a:p>
          <a:p>
            <a:pPr marL="1255713" indent="-341313" defTabSz="1371600">
              <a:buFont typeface="Wingdings" panose="05000000000000000000" pitchFamily="2" charset="2"/>
              <a:buChar char="ü"/>
              <a:tabLst>
                <a:tab pos="1377950" algn="l"/>
              </a:tabLst>
            </a:pPr>
            <a:r>
              <a:rPr lang="en-US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myxoviruses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paramyxoviruses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cause influenza, measles, and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mumps</a:t>
            </a:r>
          </a:p>
          <a:p>
            <a:pPr marL="1255713" indent="-341313" defTabSz="1371600">
              <a:buFont typeface="Wingdings" panose="05000000000000000000" pitchFamily="2" charset="2"/>
              <a:buChar char="ü"/>
              <a:tabLst>
                <a:tab pos="1377950" algn="l"/>
              </a:tabLst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rotaviruses: cause gastroenteritis</a:t>
            </a:r>
          </a:p>
          <a:p>
            <a:pPr marL="519113" indent="-287338">
              <a:buFont typeface="Wingdings" panose="05000000000000000000" pitchFamily="2" charset="2"/>
              <a:buChar char="§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Retroviruses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a unique enzyme called </a:t>
            </a:r>
            <a:r>
              <a:rPr lang="en-US" sz="23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transcriptase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copy the RNA genome into DNA </a:t>
            </a:r>
          </a:p>
          <a:p>
            <a:pPr marL="1309688" indent="-395288">
              <a:buFont typeface="Wingdings" panose="05000000000000000000" pitchFamily="2" charset="2"/>
              <a:buChar char="ü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DNA then integrates itself into the host cell genome</a:t>
            </a:r>
          </a:p>
          <a:p>
            <a:pPr marL="968375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the human immunodeficiency virus (HIV)</a:t>
            </a:r>
          </a:p>
          <a:p>
            <a:pPr marL="1717675" indent="0" defTabSz="1371600">
              <a:buNone/>
              <a:tabLst>
                <a:tab pos="1995488" algn="l"/>
              </a:tabLst>
            </a:pP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25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7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762000"/>
            <a:ext cx="8953500" cy="586740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Viruses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disease by disrupting normal cell function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They do this in a variety of ways</a:t>
            </a:r>
          </a:p>
          <a:p>
            <a:pPr marL="627063" indent="-339725">
              <a:spcBef>
                <a:spcPts val="1200"/>
              </a:spcBef>
              <a:buFont typeface="+mj-lt"/>
              <a:buAutoNum type="arabicPeriod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Some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viruses make repressor proteins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stop the synthesis of the host cell's proteins, RNA and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</a:p>
          <a:p>
            <a:pPr marL="512763" indent="-280988">
              <a:spcBef>
                <a:spcPts val="1200"/>
              </a:spcBef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Some viruses change the function of the host cell</a:t>
            </a:r>
          </a:p>
          <a:p>
            <a:pPr marL="1092200" indent="-35560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human papillomavirus can lead to cancer by forcing cells to replicate in an uncontrolled way</a:t>
            </a:r>
          </a:p>
          <a:p>
            <a:pPr marL="803275" indent="-571500">
              <a:spcBef>
                <a:spcPts val="1200"/>
              </a:spcBef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Viral activity may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weakens cell membranes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lysosomal membranes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autolysis</a:t>
            </a:r>
          </a:p>
          <a:p>
            <a:pPr marL="346075" indent="-346075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Antiviral medications help in some cases</a:t>
            </a:r>
          </a:p>
          <a:p>
            <a:pPr marL="747713" indent="-2349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prevent the virus from reproducing or boost the host's immune system</a:t>
            </a:r>
          </a:p>
          <a:p>
            <a:pPr marL="1027113" indent="-514350">
              <a:spcBef>
                <a:spcPts val="1200"/>
              </a:spcBef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395288">
              <a:buFont typeface="Courier New" pitchFamily="49" charset="0"/>
              <a:buChar char="o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26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1360" y="111182"/>
            <a:ext cx="1600200" cy="63976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51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8686800" cy="61722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Fungi</a:t>
            </a:r>
          </a:p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Fungi are </a:t>
            </a:r>
            <a:r>
              <a:rPr lang="en-US" sz="22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eukaryotic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heterotrophic organisms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have cell  walls made from 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chitin</a:t>
            </a:r>
          </a:p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Reproduce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by forming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spores</a:t>
            </a:r>
          </a:p>
          <a:p>
            <a:pPr marL="109538" indent="0">
              <a:spcBef>
                <a:spcPts val="1200"/>
              </a:spcBef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fungi are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multicellular (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moulds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long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branched, threadlike filaments called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hyphae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aggregate together to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tangled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mycelium)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some,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yeasts, are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non-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flamentous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unicellular</a:t>
            </a:r>
          </a:p>
          <a:p>
            <a:pPr marL="109538" indent="0">
              <a:spcBef>
                <a:spcPts val="1200"/>
              </a:spcBef>
              <a:buNone/>
            </a:pP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fungi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saprobic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they obtain their nutrients from decaying matter by secreting enzymes extracellularly to break down complex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molecules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8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638800"/>
          </a:xfrm>
        </p:spPr>
        <p:txBody>
          <a:bodyPr>
            <a:noAutofit/>
          </a:bodyPr>
          <a:lstStyle/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of great importance economically and may have beneficial effects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 the production of bread and alcohol, cheese making process, antibiotic production &amp;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or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indent="0">
              <a:spcBef>
                <a:spcPts val="1200"/>
              </a:spcBef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Detrimental </a:t>
            </a:r>
            <a:r>
              <a:rPr lang="en-US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destroy materials, some fungi may cause disease; huge damage is caused to crops and other commercially valuable plants,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a number of human diseases, particularly of the skin and scalp are also caused by fungi.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fungi are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dimorphic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exist in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distinct forms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Some fungi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cause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infections can change from the yeast form in the human to a mycelial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 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 in response to changes in nutrients, and environmental factors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concentration and temperature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123829"/>
            <a:ext cx="8801100" cy="6597645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0" y="237335"/>
            <a:ext cx="1981200" cy="48736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Fungi 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67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93726"/>
            <a:ext cx="8686800" cy="5883274"/>
          </a:xfrm>
        </p:spPr>
        <p:txBody>
          <a:bodyPr>
            <a:noAutofit/>
          </a:bodyPr>
          <a:lstStyle/>
          <a:p>
            <a:pPr marL="3413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limited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fungi are pathogenic to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Mycoses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caused by fungi to humans and animals.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Mycoses 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 may be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cutaneous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systemic. </a:t>
            </a:r>
          </a:p>
          <a:p>
            <a:pPr marL="736600" indent="-2730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Cutaneous mycoses-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caused by fungi known as </a:t>
            </a:r>
            <a:r>
              <a:rPr lang="en-US" sz="20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dermatophytes</a:t>
            </a:r>
          </a:p>
          <a:p>
            <a:pPr marL="1146175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keratin 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skin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hair or nails </a:t>
            </a:r>
            <a:endParaRPr lang="en-US" sz="20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0425" indent="0">
              <a:spcBef>
                <a:spcPts val="1200"/>
              </a:spcBef>
              <a:buNone/>
            </a:pP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secreting the enzyme </a:t>
            </a:r>
            <a:r>
              <a:rPr lang="en-US" sz="20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keratinase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</a:p>
          <a:p>
            <a:pPr marL="860425" indent="0">
              <a:spcBef>
                <a:spcPts val="1200"/>
              </a:spcBef>
              <a:buNone/>
            </a:pP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ringworm and athletes’ foot </a:t>
            </a:r>
            <a:endParaRPr lang="en-US" sz="20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0425" indent="0">
              <a:spcBef>
                <a:spcPts val="1200"/>
              </a:spcBef>
              <a:buNone/>
            </a:pPr>
            <a:endParaRPr lang="en-US" sz="20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0425" indent="0">
              <a:spcBef>
                <a:spcPts val="1200"/>
              </a:spcBef>
              <a:buNone/>
            </a:pPr>
            <a:endParaRPr lang="en-US" sz="20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6600" indent="-2730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0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Systemic</a:t>
            </a:r>
            <a:r>
              <a:rPr lang="en-US" sz="2000" b="1" u="sng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mycoses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infections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within the body </a:t>
            </a:r>
          </a:p>
          <a:p>
            <a:pPr marL="8064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spores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generally enter the 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by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inhalation, but subsequently spread to other organ systems via the blood, 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causing serious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even fatal disease.</a:t>
            </a:r>
          </a:p>
          <a:p>
            <a:pPr marL="914400" indent="-341313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much more serious, and include conditions such as </a:t>
            </a: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histoplasmosis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blastomycosis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123829"/>
            <a:ext cx="8801100" cy="6597645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8600" y="106366"/>
            <a:ext cx="1981200" cy="48736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Fungi 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33600"/>
            <a:ext cx="2414850" cy="218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7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5902"/>
            <a:ext cx="8686800" cy="64135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Protozoa</a:t>
            </a:r>
          </a:p>
          <a:p>
            <a:pPr marL="5651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Unicellular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heterotrophic eukaryotes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ingesting  articulate food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bacteria, and digesting them in phagocytic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vacuoles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amoeba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paramecium</a:t>
            </a:r>
          </a:p>
          <a:p>
            <a:pPr marL="5651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Morphologically there are diverse group, lack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walls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51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them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free-living,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also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commensal forms and some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parasites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animals and humans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651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sz="22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contractile vacuole- </a:t>
            </a:r>
            <a:r>
              <a:rPr lang="en-US" sz="22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pump </a:t>
            </a:r>
            <a:r>
              <a:rPr lang="en-US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excess amounts of water that enter the cell </a:t>
            </a:r>
            <a:r>
              <a:rPr lang="en-US" sz="22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osmosis</a:t>
            </a:r>
          </a:p>
          <a:p>
            <a:pPr marL="5651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features </a:t>
            </a:r>
            <a:r>
              <a:rPr lang="en-US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achieve locomotion (e.g. cilia, flagella) are among the </a:t>
            </a:r>
            <a:r>
              <a:rPr lang="en-US" sz="22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used </a:t>
            </a:r>
            <a:r>
              <a:rPr lang="en-US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classify the protozoans.</a:t>
            </a:r>
          </a:p>
          <a:p>
            <a:pPr marL="565150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acquired through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6175" indent="-231775">
              <a:spcBef>
                <a:spcPts val="1200"/>
              </a:spcBef>
              <a:buFont typeface="+mj-lt"/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Contaminated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or water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6175" indent="-231775">
              <a:spcBef>
                <a:spcPts val="1200"/>
              </a:spcBef>
              <a:buFont typeface="+mj-lt"/>
              <a:buAutoNum type="arabicPeriod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 infected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arthropod  E.g. Malaria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5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304800"/>
            <a:ext cx="8953500" cy="6324602"/>
          </a:xfrm>
        </p:spPr>
        <p:txBody>
          <a:bodyPr>
            <a:noAutofit/>
          </a:bodyPr>
          <a:lstStyle/>
          <a:p>
            <a:pPr marL="222250" indent="0">
              <a:spcBef>
                <a:spcPts val="1200"/>
              </a:spcBef>
              <a:buNone/>
            </a:pP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of protozoans are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-231775">
              <a:buFont typeface="Wingdings" panose="05000000000000000000" pitchFamily="2" charset="2"/>
              <a:buChar char="§"/>
            </a:pPr>
            <a:r>
              <a:rPr lang="en-US" sz="22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Zooflagellates</a:t>
            </a: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by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 flagellum.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free-living, symbiotic or parasitic. </a:t>
            </a:r>
            <a:endParaRPr lang="en-US" sz="2200" b="1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indent="-285750">
              <a:buFont typeface="Wingdings" panose="05000000000000000000" pitchFamily="2" charset="2"/>
              <a:buChar char="ü"/>
            </a:pP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Parasitic </a:t>
            </a:r>
            <a:r>
              <a:rPr lang="en-US" sz="22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zoofalgellates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Trypanosoma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brucei</a:t>
            </a:r>
            <a:r>
              <a:rPr lang="en-US" sz="22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causative agent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African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sleeping sickness in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humans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Giardia </a:t>
            </a:r>
            <a:r>
              <a:rPr lang="en-US" sz="22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lamblia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causative agent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intestinal disease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giardiasis).</a:t>
            </a:r>
          </a:p>
          <a:p>
            <a:pPr marL="177800" indent="-177800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ciliates (</a:t>
            </a:r>
            <a:r>
              <a:rPr lang="en-US" sz="2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Ciliophora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free-living types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paramecium</a:t>
            </a:r>
          </a:p>
          <a:p>
            <a:pPr marL="627063" indent="-28575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ciliate known to cause disease in humans is </a:t>
            </a:r>
            <a:r>
              <a:rPr lang="en-US" sz="22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Balantidium</a:t>
            </a:r>
            <a:r>
              <a:rPr lang="en-US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causes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form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dysentery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31775" indent="-231775"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amoebas (</a:t>
            </a:r>
            <a:r>
              <a:rPr lang="en-US" sz="2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Sarcodina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)-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possession of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pseudopodia</a:t>
            </a:r>
          </a:p>
          <a:p>
            <a:pPr marL="627063" indent="-231775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amoebas are 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free-living in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aquatic 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important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parasites, including </a:t>
            </a:r>
            <a:r>
              <a:rPr lang="en-US" sz="22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Entamoeba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histolytica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causes amoebic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dysentery in human.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sporozoans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Apicomplexa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)-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spore-like stage called a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sporozoite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indent="-285750"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parasitic, infecting a range of vertebrates and invertebrates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7063" indent="-28575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Plasmodium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causative agent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malaria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indent="-395288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31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1"/>
            <a:ext cx="8953500" cy="6505573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8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24840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Helminths</a:t>
            </a:r>
          </a:p>
          <a:p>
            <a:pPr marL="519113" indent="-28733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Helminths are worm-like parasites</a:t>
            </a:r>
          </a:p>
          <a:p>
            <a:pPr marL="519113" indent="-28733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invertebrate characterized by elongated, flat or round body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Some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infectious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parasites</a:t>
            </a:r>
          </a:p>
          <a:p>
            <a:pPr marL="463550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multicellular and have differentiated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tissues</a:t>
            </a:r>
          </a:p>
          <a:p>
            <a:pPr marL="519113" indent="-28733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helminthic infections can be acquired through consumption of food products from infected animals and plants, drinking contaminated water and </a:t>
            </a:r>
            <a:r>
              <a:rPr lang="en-US" sz="23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3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519113" indent="-28733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physiology is similar in some ways to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</a:p>
          <a:p>
            <a:pPr marL="968375" indent="-3413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parasitic helminth infections difficult to treat because drugs that kill helminths are frequently very toxic to human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</a:p>
          <a:p>
            <a:pPr marL="519113" indent="-28733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helminths have complex reproductive cycles that include multiple stages, many or all of which require a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</a:p>
          <a:p>
            <a:pPr marL="519113" indent="-28733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common helminthes are </a:t>
            </a:r>
            <a:r>
              <a:rPr lang="en-US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ascaries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tape worm, hook worm, </a:t>
            </a:r>
            <a:r>
              <a:rPr lang="en-US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schistosoma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etc.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287338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1537" indent="0">
              <a:spcBef>
                <a:spcPts val="1200"/>
              </a:spcBef>
              <a:buNone/>
            </a:pP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32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7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4495800" cy="6096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Helminths cont’d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based on the external and internal morphology of egg, larval and adult stages.</a:t>
            </a:r>
          </a:p>
          <a:p>
            <a:pPr marL="177800" indent="-1778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Flukes (</a:t>
            </a: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Trematodes)-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adult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flukes are leaf-shaped flatworms.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hermaphroditic except for blood flukes, which are bisexual. The life-cycle includes a snail intermediate host.</a:t>
            </a:r>
          </a:p>
          <a:p>
            <a:pPr marL="177800" indent="-1778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Tapeworms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Cestodes</a:t>
            </a: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)-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adult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tapeworms are elongated, segmented, hermaphroditic flatworms that inhabit the intestinal lumen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Roundworms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Nematodes)-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adult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larval roundworms are bisexual, cylindrical worms. They inhabit intestinal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extra-intestinal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sites.</a:t>
            </a:r>
          </a:p>
          <a:p>
            <a:pPr marL="871537" indent="0">
              <a:spcBef>
                <a:spcPts val="120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33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10" y="533400"/>
            <a:ext cx="4293927" cy="484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8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6096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0070C0"/>
                </a:solidFill>
                <a:cs typeface="Times New Roman" pitchFamily="18" charset="0"/>
              </a:rPr>
              <a:t>Prions</a:t>
            </a:r>
          </a:p>
          <a:p>
            <a:pPr marL="6762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Prion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protein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contains no genetic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</a:p>
          <a:p>
            <a:pPr marL="1201738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replicate or feed on the host but trigger abnormal behavior in the body's cells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proteins</a:t>
            </a:r>
          </a:p>
          <a:p>
            <a:pPr marL="858838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230188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Cause disease in humans and animals by triggering normally healthy proteins in the brain to fold abnormally.</a:t>
            </a:r>
          </a:p>
          <a:p>
            <a:pPr marL="288925" indent="0">
              <a:buNone/>
            </a:pPr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230188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Once a misfolded prion enters a healthy person potentially by eating infected food, it converts correctly folded proteins into the disease associated form.</a:t>
            </a:r>
          </a:p>
          <a:p>
            <a:pPr marL="858838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34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9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6096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70C0"/>
                </a:solidFill>
                <a:cs typeface="Times New Roman" pitchFamily="18" charset="0"/>
              </a:rPr>
              <a:t>Cont’d</a:t>
            </a:r>
          </a:p>
          <a:p>
            <a:pPr marL="633413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prion diseases include </a:t>
            </a:r>
          </a:p>
          <a:p>
            <a:pPr marL="1189038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Creutzfeldt-Jakob disease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 humans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)- fatal neurodegenerative disease of the brain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89038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scrapie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 sheep) and </a:t>
            </a:r>
          </a:p>
          <a:p>
            <a:pPr marL="1189038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bovine spongiform encephalopathy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("mad cow disease" in cattle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)-neurodegenerative disease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of transmission can be:</a:t>
            </a:r>
          </a:p>
          <a:p>
            <a:pPr marL="969963" indent="-277813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inherited</a:t>
            </a:r>
          </a:p>
          <a:p>
            <a:pPr marL="969963" indent="-277813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 from</a:t>
            </a:r>
          </a:p>
          <a:p>
            <a:pPr marL="1547812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eating infected tissue or</a:t>
            </a:r>
          </a:p>
          <a:p>
            <a:pPr marL="1547812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procedures such as tissue transplants</a:t>
            </a:r>
          </a:p>
          <a:p>
            <a:pPr marL="858838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35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9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562"/>
            <a:ext cx="8229600" cy="6397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Modes of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838200"/>
            <a:ext cx="8724900" cy="5867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Communicable disease are transmitted from source of infection to susceptible individual in many different ways depending on infectious agent, portals of entry, and local ecological condition.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 of transmission may be classified as: </a:t>
            </a:r>
          </a:p>
          <a:p>
            <a:pPr marL="401637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Rectangles 3"/>
          <p:cNvSpPr/>
          <p:nvPr/>
        </p:nvSpPr>
        <p:spPr>
          <a:xfrm>
            <a:off x="114300" y="76200"/>
            <a:ext cx="8801100" cy="65532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503069"/>
              </p:ext>
            </p:extLst>
          </p:nvPr>
        </p:nvGraphicFramePr>
        <p:xfrm>
          <a:off x="609600" y="3283816"/>
          <a:ext cx="7162800" cy="32914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1968375737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1891482027"/>
                    </a:ext>
                  </a:extLst>
                </a:gridCol>
              </a:tblGrid>
              <a:tr h="487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dirty="0" smtClean="0"/>
                        <a:t>Direct transmission </a:t>
                      </a:r>
                      <a:endParaRPr lang="en-US" sz="2400" b="1" u="none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dirty="0" smtClean="0"/>
                        <a:t>Indirect transmission </a:t>
                      </a:r>
                      <a:endParaRPr lang="en-US" sz="2400" b="1" u="none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155135"/>
                  </a:ext>
                </a:extLst>
              </a:tr>
              <a:tr h="422352"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contact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borne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876119"/>
                  </a:ext>
                </a:extLst>
              </a:tr>
              <a:tr h="682262"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Droplet infection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borne ( mechanical &amp;</a:t>
                      </a:r>
                      <a:r>
                        <a:rPr lang="en-US" sz="2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biological)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37894"/>
                  </a:ext>
                </a:extLst>
              </a:tr>
              <a:tr h="422352"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with soil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 borne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97802"/>
                  </a:ext>
                </a:extLst>
              </a:tr>
              <a:tr h="422352"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Inoculation into skin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Fomite borne 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79374"/>
                  </a:ext>
                </a:extLst>
              </a:tr>
              <a:tr h="747239">
                <a:tc>
                  <a:txBody>
                    <a:bodyPr/>
                    <a:lstStyle/>
                    <a:p>
                      <a:pPr marL="342900" indent="-34290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Trans-placental</a:t>
                      </a:r>
                      <a:r>
                        <a:rPr lang="en-US" sz="2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(vertical)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Unclean hands</a:t>
                      </a:r>
                      <a:r>
                        <a:rPr lang="en-US" sz="2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fingers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45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78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686800" cy="65532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transmission </a:t>
            </a:r>
          </a:p>
          <a:p>
            <a:pPr indent="-233363"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contact-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 direct contact from skin to skin and etc.</a:t>
            </a:r>
          </a:p>
          <a:p>
            <a:pPr marL="109537" indent="0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AIDS, leprosy, skin infection</a:t>
            </a:r>
          </a:p>
          <a:p>
            <a:pPr marL="341313" indent="-233363"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Droplet infection-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projection of a spray of droplets of saliva and nasopharyngeal secretion during coughing, sneezing…</a:t>
            </a:r>
          </a:p>
          <a:p>
            <a:pPr marL="107950" indent="0">
              <a:buNone/>
            </a:pP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E.g. common cold, TB, whooping cough</a:t>
            </a:r>
          </a:p>
          <a:p>
            <a:pPr marL="341313" indent="-233363"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with soil-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exposure of susceptible tissue to the disease agent in the soil.</a:t>
            </a:r>
          </a:p>
          <a:p>
            <a:pPr marL="107950" indent="0">
              <a:buNone/>
            </a:pP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E.g. hookworm larvae, tetanus</a:t>
            </a:r>
          </a:p>
          <a:p>
            <a:pPr marL="341313" indent="-233363"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Inoculation into the skin or mucosa- </a:t>
            </a:r>
          </a:p>
          <a:p>
            <a:pPr marL="107950" indent="0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 agent may be inoculated directly </a:t>
            </a:r>
          </a:p>
          <a:p>
            <a:pPr marL="107950" indent="0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skin.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Rabies </a:t>
            </a:r>
            <a:endParaRPr lang="en-US" sz="2200" b="1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233363">
              <a:buFont typeface="Wingdings" panose="05000000000000000000" pitchFamily="2" charset="2"/>
              <a:buChar char="§"/>
            </a:pPr>
            <a:r>
              <a:rPr lang="en-US" sz="22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Transplacental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vertical</a:t>
            </a:r>
          </a:p>
          <a:p>
            <a:pPr marL="107950" indent="0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disease from parent to child during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reproduction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fetal development</a:t>
            </a:r>
          </a:p>
          <a:p>
            <a:pPr marL="107950" indent="0">
              <a:buNone/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herpes encephalitis (which occurs when an infant contracts the herpes simplex type II virus during </a:t>
            </a:r>
            <a:r>
              <a:rPr lang="en-US" sz="22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birth)</a:t>
            </a:r>
          </a:p>
          <a:p>
            <a:pPr marL="10795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950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950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37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0"/>
            <a:ext cx="8877300" cy="65532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3048000"/>
            <a:ext cx="2801961" cy="207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7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686800" cy="5525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transmission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a pathogen can withstand the environment outside its host for a long period of time before infecting another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individual.</a:t>
            </a: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338" indent="-287338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borne-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through water, food, blood, plasma…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E.g. water &amp; food borne- typhoid fever, cholera, hepatitis A</a:t>
            </a:r>
          </a:p>
          <a:p>
            <a:pPr marL="287338" indent="-287338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borne-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(mechanical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biological vector)</a:t>
            </a:r>
          </a:p>
          <a:p>
            <a:pPr marL="287338" indent="-287338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borne-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in the air and disseminated by air currents from the point of their origin.</a:t>
            </a:r>
          </a:p>
          <a:p>
            <a:pPr marL="287338" indent="-287338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Fomite borne- </a:t>
            </a:r>
            <a:r>
              <a:rPr lang="en-US" sz="2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inanimated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substances such as clothes, towels, books other than water or food.</a:t>
            </a:r>
          </a:p>
          <a:p>
            <a:pPr marL="287338" indent="-287338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Unclean hands and fingers-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 medium by which pathogens are transferred to food from d/t sources</a:t>
            </a:r>
          </a:p>
          <a:p>
            <a:pPr marL="287338" indent="-287338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38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9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304800"/>
            <a:ext cx="8801100" cy="632460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parts of immune system?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system is made of up a </a:t>
            </a: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collection of cells and organs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63550" indent="-231775">
              <a:buFont typeface="Wingdings" panose="05000000000000000000" pitchFamily="2" charset="2"/>
              <a:buChar char="§"/>
            </a:pP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 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lang="en-US" sz="23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indent="-231775">
              <a:buFont typeface="Wingdings" panose="05000000000000000000" pitchFamily="2" charset="2"/>
              <a:buChar char="§"/>
            </a:pP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Lymph nodes:-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cells that analyze the foreign invaders brought into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body, </a:t>
            </a:r>
          </a:p>
          <a:p>
            <a:pPr marL="463550" indent="-231775">
              <a:buFont typeface="Wingdings" panose="05000000000000000000" pitchFamily="2" charset="2"/>
              <a:buChar char="§"/>
            </a:pP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Spleen:-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 white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cells, </a:t>
            </a:r>
          </a:p>
          <a:p>
            <a:pPr marL="463550" indent="-231775">
              <a:buFont typeface="Wingdings" panose="05000000000000000000" pitchFamily="2" charset="2"/>
              <a:buChar char="§"/>
            </a:pP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Tonsils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adenoids:-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trap foreign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invaders as soon as they enter the body, </a:t>
            </a:r>
          </a:p>
          <a:p>
            <a:pPr marL="463550" indent="-231775">
              <a:buFont typeface="Wingdings" panose="05000000000000000000" pitchFamily="2" charset="2"/>
              <a:buChar char="§"/>
            </a:pP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Thymus:-</a:t>
            </a:r>
            <a:r>
              <a:rPr lang="en-US" sz="23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mature a certain type of white blood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cell,</a:t>
            </a:r>
          </a:p>
          <a:p>
            <a:pPr marL="463550" indent="-231775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Bone 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marrow:-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makes new blood cells and releases them into blood stream,</a:t>
            </a:r>
          </a:p>
          <a:p>
            <a:pPr marL="463550" indent="-231775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Skin,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mucous membranes and other first-line 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</a:p>
          <a:p>
            <a:pPr marL="463550" indent="-231775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Stomach and bowel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stomach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 kills many bacteria soon after they enter your body.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231775">
              <a:buFont typeface="Wingdings" panose="05000000000000000000" pitchFamily="2" charset="2"/>
              <a:buChar char="§"/>
            </a:pPr>
            <a:endParaRPr lang="en-US" sz="23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39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4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162800" cy="6397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Host defenses against infectious diseases </a:t>
            </a:r>
            <a:endParaRPr lang="en-US" sz="3200" b="1" dirty="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8674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Immune System?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System </a:t>
            </a: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network of organs, white blood cells, proteins (antibodie</a:t>
            </a:r>
            <a:r>
              <a:rPr lang="en-US" sz="22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chemicals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works together to protect us from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invaders</a:t>
            </a: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humoral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marL="231775" indent="-231775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to keep germs out of our body, destroy them or limit the extent of their harm if they get in.</a:t>
            </a:r>
          </a:p>
          <a:p>
            <a:pPr marL="231775" indent="-231775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Immunity is the ability to ward off damage or disease </a:t>
            </a:r>
          </a:p>
          <a:p>
            <a:pPr marL="0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has two lines of defense against pathogens</a:t>
            </a:r>
            <a:endParaRPr lang="en-US" sz="2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8375" indent="-341313">
              <a:buFont typeface="Wingdings" pitchFamily="2" charset="2"/>
              <a:buChar char="ü"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Innate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  <a:p>
            <a:pPr marL="968375" indent="-341313">
              <a:buFont typeface="Wingdings" pitchFamily="2" charset="2"/>
              <a:buChar char="ü"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both divided into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mediated defense 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humoral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</a:t>
            </a:r>
            <a:endParaRPr lang="en-US" sz="22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indent="-346075">
              <a:buFont typeface="Wingdings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two systems work together in order to destroy invaders or to trigger defense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40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7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FF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914399"/>
            <a:ext cx="8724900" cy="5807075"/>
          </a:xfrm>
        </p:spPr>
        <p:txBody>
          <a:bodyPr>
            <a:normAutofit/>
          </a:bodyPr>
          <a:lstStyle/>
          <a:p>
            <a:pPr>
              <a:buClr>
                <a:srgbClr val="7030A0"/>
              </a:buClr>
              <a:buFont typeface="Wingdings" panose="05000000000000000000" pitchFamily="2" charset="2"/>
              <a:buChar char="q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we live in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microbial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world, our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bodies are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constantly being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exposed microbes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restrict the normal flora from entering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 sterile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defense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barriers such as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bile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gastrointestinal tract, and mucus that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inactivate 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entry of the foreign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barriers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compromised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agent gains entry in another way,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innate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must quickly rally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and prevent expansion of the invasion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innate responses then activate a major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</a:t>
            </a:r>
            <a:r>
              <a:rPr lang="en-US" sz="2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against the invader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antigen specific immune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cells, antibody, 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cells). 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41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4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306387"/>
            <a:ext cx="8229600" cy="74612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cs typeface="Times New Roman" pitchFamily="18" charset="0"/>
              </a:rPr>
              <a:t>Innate Immune </a:t>
            </a:r>
            <a:r>
              <a:rPr lang="en-US" sz="2800" b="1" dirty="0" smtClean="0">
                <a:solidFill>
                  <a:srgbClr val="C00000"/>
                </a:solidFill>
                <a:cs typeface="Times New Roman" pitchFamily="18" charset="0"/>
              </a:rPr>
              <a:t>system</a:t>
            </a:r>
            <a:endParaRPr lang="en-US" sz="2800" b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914400"/>
            <a:ext cx="8724900" cy="56388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lv-LV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omprises </a:t>
            </a:r>
            <a:r>
              <a:rPr lang="lv-LV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 </a:t>
            </a:r>
            <a:r>
              <a:rPr lang="lv-LV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lv-LV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</a:t>
            </a:r>
            <a:r>
              <a:rPr lang="lv-LV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defend the host from infection by other organisms in a </a:t>
            </a:r>
            <a:r>
              <a:rPr lang="lv-LV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non-specific </a:t>
            </a:r>
            <a:r>
              <a:rPr lang="lv-LV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manner</a:t>
            </a:r>
            <a:endParaRPr 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9963" indent="-346075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microbes from entering 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body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eliminate those that do gain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following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7163" indent="-2778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7163" indent="-2778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Non-specific</a:t>
            </a:r>
          </a:p>
          <a:p>
            <a:pPr marL="1427163" indent="-2778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memory component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/retains no memory of previous infection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7163" indent="-2778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Duration of the immune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is over a short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</a:p>
          <a:p>
            <a:pPr marL="1538288" indent="-333375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42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1"/>
            <a:ext cx="8877300" cy="6505573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0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733800"/>
            <a:ext cx="8686800" cy="2588431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Innate immune system commonly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compartments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1138" indent="-276225" algn="just">
              <a:spcBef>
                <a:spcPts val="1200"/>
              </a:spcBef>
              <a:buFont typeface="+mj-lt"/>
              <a:buAutoNum type="arabicPeriod"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Mechanical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b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arriers </a:t>
            </a:r>
          </a:p>
          <a:p>
            <a:pPr marL="1481138" indent="-276225" algn="just">
              <a:spcBef>
                <a:spcPts val="1200"/>
              </a:spcBef>
              <a:buFont typeface="+mj-lt"/>
              <a:buAutoNum type="arabicPeriod"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Humoral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 </a:t>
            </a:r>
          </a:p>
          <a:p>
            <a:pPr marL="1481138" indent="-276225" algn="just">
              <a:spcBef>
                <a:spcPts val="1200"/>
              </a:spcBef>
              <a:buFont typeface="+mj-lt"/>
              <a:buAutoNum type="arabicPeriod"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 components 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1138" indent="-276225" algn="just">
              <a:spcBef>
                <a:spcPts val="1200"/>
              </a:spcBef>
              <a:buFont typeface="+mj-lt"/>
              <a:buAutoNum type="arabicPeriod"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Fever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and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inflammation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1538288" indent="-333375" algn="just">
              <a:lnSpc>
                <a:spcPct val="150000"/>
              </a:lnSpc>
              <a:buFont typeface="+mj-lt"/>
              <a:buAutoNum type="arabicPeriod"/>
            </a:pPr>
            <a:endParaRPr lang="en-US" sz="2600" dirty="0" smtClean="0">
              <a:cs typeface="Times New Roman" pitchFamily="18" charset="0"/>
            </a:endParaRPr>
          </a:p>
          <a:p>
            <a:pPr marL="1538288" indent="-333375" algn="just">
              <a:lnSpc>
                <a:spcPct val="150000"/>
              </a:lnSpc>
              <a:buFont typeface="+mj-lt"/>
              <a:buAutoNum type="arabicPeriod"/>
            </a:pPr>
            <a:endParaRPr lang="en-US" sz="2600" dirty="0"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43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39003" y="258765"/>
            <a:ext cx="5105400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2177"/>
            <a:ext cx="6199764" cy="308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7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64008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1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Mechanical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Barriers </a:t>
            </a:r>
            <a:endParaRPr 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651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Skin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mucous membranes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8325" indent="-277813">
              <a:buFont typeface="Wingdings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2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barriers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discourage pathogens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penetrating the body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causing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</a:p>
          <a:p>
            <a:pPr marL="573088" indent="-341313">
              <a:buFont typeface="Wingdings" pitchFamily="2" charset="2"/>
              <a:buChar char="v"/>
            </a:pPr>
            <a:r>
              <a:rPr lang="en-US" sz="24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Skin-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epidermis of skin provides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formidable physical barrier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entrance of microbes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341313">
              <a:buFont typeface="Wingdings" pitchFamily="2" charset="2"/>
              <a:buChar char="v"/>
            </a:pPr>
            <a:r>
              <a:rPr lang="en-US" sz="24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Mucous </a:t>
            </a:r>
            <a:r>
              <a:rPr lang="en-US" sz="24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membranes</a:t>
            </a: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epithelial layer of mucous membranes secretes 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called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mucus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traps many microbes and foreign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substances</a:t>
            </a:r>
          </a:p>
          <a:p>
            <a:pPr marL="1201738" indent="-287338"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mucous membrane of nose has mucus-coated hairs</a:t>
            </a:r>
          </a:p>
          <a:p>
            <a:pPr marL="1201738" indent="-287338"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tract contains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cilia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trap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microbes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pollutants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inhaled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</a:p>
          <a:p>
            <a:pPr marL="1201738" indent="-287338"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coughing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sneezing accelerate movement of mucus and its entrapped pathogens out of the body</a:t>
            </a:r>
          </a:p>
          <a:p>
            <a:pPr marL="231775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3088" indent="-341313">
              <a:buFont typeface="Wingdings" pitchFamily="2" charset="2"/>
              <a:buChar char="v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5200" indent="-273050">
              <a:buFont typeface="Wingdings" pitchFamily="2" charset="2"/>
              <a:buChar char="v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44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2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609600"/>
            <a:ext cx="88011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2. Humoral component (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c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hemical barriers)</a:t>
            </a:r>
            <a:endParaRPr 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2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variety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destroying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inhibiting growth of infectious microorganisms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4863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Lysozyme</a:t>
            </a:r>
          </a:p>
          <a:p>
            <a:pPr marL="1092200" indent="-231775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peptidoglycan of pathogens cell wall</a:t>
            </a:r>
          </a:p>
          <a:p>
            <a:pPr marL="804863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 system proteins</a:t>
            </a:r>
          </a:p>
          <a:p>
            <a:pPr marL="1023938" indent="-163513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Comprised of soluble and membrane proteins that destroy pathogens through membrane injuries</a:t>
            </a:r>
          </a:p>
          <a:p>
            <a:pPr marL="804863" indent="-285750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Interferons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viral replication</a:t>
            </a:r>
          </a:p>
          <a:p>
            <a:pPr marL="804863" indent="-285750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Anti-proteases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against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microorganism proteolytic proteins </a:t>
            </a:r>
          </a:p>
          <a:p>
            <a:pPr marL="804863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C-reactive protein</a:t>
            </a:r>
          </a:p>
          <a:p>
            <a:pPr marL="1146175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promoting pathogen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opsonization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complement activation and phagocytosis</a:t>
            </a:r>
          </a:p>
          <a:p>
            <a:pPr marL="1146175" indent="-285750">
              <a:buFont typeface="Wingdings" panose="05000000000000000000" pitchFamily="2" charset="2"/>
              <a:buChar char="ü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45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5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533400"/>
            <a:ext cx="8877300" cy="609600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3. Cellular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endParaRPr 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231775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Phagocytes-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cells that perform phagocytosis</a:t>
            </a:r>
          </a:p>
          <a:p>
            <a:pPr marL="682625" indent="-1635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two major types of </a:t>
            </a: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phagocytic</a:t>
            </a: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lang="en-US" sz="2400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mammalian body </a:t>
            </a:r>
          </a:p>
          <a:p>
            <a:pPr marL="804863" indent="-341313">
              <a:spcBef>
                <a:spcPts val="1200"/>
              </a:spcBef>
              <a:buFont typeface="+mj-lt"/>
              <a:buAutoNum type="romanUcPeriod"/>
            </a:pPr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Neutrophils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(circulate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blood, are attracted by signals from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infected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tissues and then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engulf and destroy the infecting </a:t>
            </a:r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860425" indent="-465138">
              <a:spcBef>
                <a:spcPts val="1200"/>
              </a:spcBef>
              <a:buFont typeface="+mj-lt"/>
              <a:buAutoNum type="romanUcPeriod"/>
            </a:pPr>
            <a:r>
              <a:rPr lang="en-US" sz="24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Macrophages </a:t>
            </a:r>
            <a:r>
              <a:rPr lang="en-US" sz="2400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(“big eaters”)-phagocytosing foreign antigens such as bacteria.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 to 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cells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more specialized cell </a:t>
            </a:r>
            <a:r>
              <a:rPr lang="en-US" sz="2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also contribute to </a:t>
            </a:r>
            <a:r>
              <a:rPr 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innate immune defenses:</a:t>
            </a:r>
          </a:p>
          <a:p>
            <a:pPr marL="573088" indent="-231775"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Dendritic cells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mainly populate tissues, such as skin, that contact the environment. 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2200" indent="-177800"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stimulate adaptive immunity against pathogens that they engulf.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46</a:t>
            </a:fld>
            <a:endParaRPr lang="en-US" dirty="0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1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381000"/>
            <a:ext cx="8877300" cy="624840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</a:p>
          <a:p>
            <a:pPr marL="341313" indent="-231775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Eosinophils-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found beneath an epithelium, are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defending against multicellular invaders, such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parasitic worms. </a:t>
            </a:r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6600" indent="-163513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Upon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encountering such parasites,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eosinophils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discharge destructive enzymes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9537" indent="0">
              <a:lnSpc>
                <a:spcPct val="110000"/>
              </a:lnSpc>
              <a:buNone/>
            </a:pPr>
            <a:endParaRPr lang="en-US" sz="24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2333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killer </a:t>
            </a: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cells-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circulate through the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body, detect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abnormal surface proteins found on some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virus-infected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cancerous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6600" indent="-27305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engulf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stricken cells.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chemicals that lead to cell death, inhibiting spread of the virus or cancer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36600" indent="-27305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cells present in blood, spleen, lymph nodes, and bone marrow</a:t>
            </a:r>
          </a:p>
          <a:p>
            <a:pPr marL="519112" indent="0">
              <a:lnSpc>
                <a:spcPct val="110000"/>
              </a:lnSpc>
              <a:buNone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-1778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 </a:t>
            </a:r>
            <a:r>
              <a:rPr lang="en-US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cells-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found in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 and make key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inflammatory response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well as to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allergies.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7" indent="0">
              <a:lnSpc>
                <a:spcPct val="110000"/>
              </a:lnSpc>
              <a:buNone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47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4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763000" cy="609600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4. Fever and Inflammation</a:t>
            </a:r>
          </a:p>
          <a:p>
            <a:pPr marL="341313" lvl="1" indent="-163513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Fever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 is an inflammatory response results in overall increase in body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temperature.</a:t>
            </a:r>
            <a:endParaRPr 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627063"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Enhances innate immune defenses by stimulates leukocytes and rise in body temperature may inhibit growth of many pathogens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.</a:t>
            </a:r>
          </a:p>
          <a:p>
            <a:pPr marL="341313" lvl="1" indent="0">
              <a:spcBef>
                <a:spcPts val="12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627063"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It also reported that fever may stimulate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the release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of iron sequestering compound from the liver thereby starving out microbes that rely on iron for growth.</a:t>
            </a:r>
          </a:p>
          <a:p>
            <a:pPr marL="573088" lvl="1" indent="-231775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573088" lvl="1" indent="-231775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48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1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324602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Cont’d</a:t>
            </a:r>
          </a:p>
          <a:p>
            <a:pPr marL="341313" lvl="1" indent="-16351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3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Inflammation-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 local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inflammatory response begins when activated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macrophages discharge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cytokines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, </a:t>
            </a:r>
            <a:r>
              <a:rPr lang="en-US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signaling molecules that </a:t>
            </a:r>
            <a:r>
              <a:rPr lang="en-US" sz="2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recruit neutrophils </a:t>
            </a:r>
            <a:r>
              <a:rPr lang="en-US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to the site of injury or infection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.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573088" lvl="1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In addition, </a:t>
            </a:r>
            <a:r>
              <a:rPr lang="en-US" sz="2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mast 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cells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release the signaling molecule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histamine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 at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sites of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damage.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573088" lvl="1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Histamine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triggers 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blood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vessels to 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dilate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and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become more permeable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.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The resulting increase in </a:t>
            </a:r>
            <a:r>
              <a:rPr lang="en-US" sz="23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local blood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supply produces the redness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and increased skin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temperature typical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of the inflammatory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response.</a:t>
            </a:r>
          </a:p>
          <a:p>
            <a:pPr marL="573088" lvl="1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 During an inflammation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dilation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of blood vessels occurs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to:</a:t>
            </a:r>
          </a:p>
          <a:p>
            <a:pPr marL="968375" lvl="1" indent="-16351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increase blood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volume in affected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areas </a:t>
            </a:r>
          </a:p>
          <a:p>
            <a:pPr marL="968375" lvl="1" indent="-16351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allow invasion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of white blood cells into the affected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area</a:t>
            </a:r>
          </a:p>
          <a:p>
            <a:pPr marL="682625" lvl="1" indent="-341313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Characterized by redness, swelling,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fever,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 2" pitchFamily="18" charset="2"/>
              </a:rPr>
              <a:t>and pain</a:t>
            </a:r>
          </a:p>
          <a:p>
            <a:pPr marL="804862" lvl="1" indent="0">
              <a:spcBef>
                <a:spcPts val="12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573088" lvl="1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573088" lvl="1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341313" lvl="1" indent="0">
              <a:spcBef>
                <a:spcPts val="120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  <a:p>
            <a:pPr marL="573088" lvl="1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 2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49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51" y="203558"/>
            <a:ext cx="8229600" cy="51752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Times New Roman" pitchFamily="18" charset="0"/>
              </a:rPr>
              <a:t>Adaptive immunity 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721082"/>
            <a:ext cx="9029700" cy="567971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non-specific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fail, the body initiates a second,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line of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immune response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also known as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acquired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response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activated after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innate immune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more slowly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0" indent="-28416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</a:p>
          <a:p>
            <a:pPr marL="1316038" indent="-234950">
              <a:spcBef>
                <a:spcPts val="0"/>
              </a:spcBef>
              <a:buFont typeface="Courier New" pitchFamily="49" charset="0"/>
              <a:buChar char="o"/>
              <a:tabLst>
                <a:tab pos="1316038" algn="l"/>
                <a:tab pos="1371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particular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molecules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antigens)</a:t>
            </a:r>
          </a:p>
          <a:p>
            <a:pPr marL="1316038" indent="-234950">
              <a:spcBef>
                <a:spcPts val="0"/>
              </a:spcBef>
              <a:buFont typeface="Courier New" pitchFamily="49" charset="0"/>
              <a:buChar char="o"/>
              <a:tabLst>
                <a:tab pos="1316038" algn="l"/>
                <a:tab pos="1371600" algn="l"/>
              </a:tabLst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 self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non-self molecules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0" indent="-284163">
              <a:spcBef>
                <a:spcPts val="0"/>
              </a:spcBef>
              <a:buFont typeface="Wingdings" pitchFamily="2" charset="2"/>
              <a:buChar char="ü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emory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developed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3275" indent="-293688">
              <a:spcBef>
                <a:spcPts val="0"/>
              </a:spcBef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immune response is over a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period (some times lifetime)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50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1"/>
            <a:ext cx="8801100" cy="675033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125453"/>
            <a:ext cx="5638800" cy="259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2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86740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immunity relies on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cells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cells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are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blood cells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lymphocytes</a:t>
            </a:r>
            <a:endParaRPr lang="en-US" sz="24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51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28600" y="215902"/>
            <a:ext cx="1600200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7" y="1967237"/>
            <a:ext cx="8396933" cy="463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2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52</a:t>
            </a:fld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650" b="3573"/>
          <a:stretch/>
        </p:blipFill>
        <p:spPr>
          <a:xfrm>
            <a:off x="4268017" y="3217103"/>
            <a:ext cx="4494983" cy="34122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8" y="3217103"/>
            <a:ext cx="3749243" cy="337931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741" y="369506"/>
            <a:ext cx="859069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indent="-231775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substance that elicits a B or T cell response is an antigen</a:t>
            </a:r>
            <a:r>
              <a:rPr lang="en-US" sz="22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00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Recognition </a:t>
            </a: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occurs when a </a:t>
            </a: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cell or </a:t>
            </a:r>
            <a:r>
              <a:rPr lang="en-US" sz="22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 </a:t>
            </a: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binds to an antigen</a:t>
            </a: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such as a bacterial or viral protein, </a:t>
            </a:r>
            <a:r>
              <a:rPr lang="en-US" sz="22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a </a:t>
            </a: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 called an antigen </a:t>
            </a:r>
            <a:r>
              <a:rPr lang="en-US" sz="22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receptor.</a:t>
            </a:r>
          </a:p>
          <a:p>
            <a:endParaRPr lang="en-US" sz="2200" dirty="0" smtClean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antigen </a:t>
            </a:r>
            <a:r>
              <a:rPr lang="en-US" sz="22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receptor binds </a:t>
            </a: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just one part of one molecule from a </a:t>
            </a:r>
            <a:r>
              <a:rPr lang="en-US" sz="22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 pathogen</a:t>
            </a: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such as a species of bacteria or strain of virus.</a:t>
            </a:r>
          </a:p>
        </p:txBody>
      </p:sp>
    </p:spTree>
    <p:extLst>
      <p:ext uri="{BB962C8B-B14F-4D97-AF65-F5344CB8AC3E}">
        <p14:creationId xmlns:p14="http://schemas.microsoft.com/office/powerpoint/2010/main" val="314207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53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260351"/>
            <a:ext cx="5867400" cy="636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1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54</a:t>
            </a:fld>
            <a:endParaRPr lang="en-US"/>
          </a:p>
        </p:txBody>
      </p:sp>
      <p:sp>
        <p:nvSpPr>
          <p:cNvPr id="3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4300" y="369533"/>
            <a:ext cx="857932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host protein that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antigen fragment on the cell surface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histocompatibility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(MHC) molecule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antigen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fragments, MHC molecules are essential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antigen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by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348" y="1889460"/>
            <a:ext cx="4801852" cy="44970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1000" y="2514600"/>
            <a:ext cx="335154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major types of mature T-cells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exit the thymus</a:t>
            </a:r>
          </a:p>
          <a:p>
            <a:pPr marL="341313" indent="-287338">
              <a:spcBef>
                <a:spcPts val="1200"/>
              </a:spcBef>
              <a:buFont typeface="Wingdings" pitchFamily="2" charset="2"/>
              <a:buChar char="ü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Helper T cells (CD4)-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activation of cytotoxic T cells, B cells and other immune cells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1313" indent="-287338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Cytotoxic T cells (CD8)-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removing pathogens  and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death (kill cell harboring pathogens</a:t>
            </a:r>
          </a:p>
        </p:txBody>
      </p:sp>
    </p:spTree>
    <p:extLst>
      <p:ext uri="{BB962C8B-B14F-4D97-AF65-F5344CB8AC3E}">
        <p14:creationId xmlns:p14="http://schemas.microsoft.com/office/powerpoint/2010/main" val="368955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1"/>
            <a:ext cx="8686800" cy="6416674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Components of adaptive immunity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defenses provided by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lymphocytes 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divided into 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humoral</a:t>
            </a: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cell-mediated immune 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responses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Humoral </a:t>
            </a: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response </a:t>
            </a:r>
            <a:endParaRPr lang="en-US" sz="22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and lymph (once called body humors, or fluids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63550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driven by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cells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231775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response,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antibodies help neutralize or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toxins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pathogens in body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fluids.</a:t>
            </a:r>
          </a:p>
          <a:p>
            <a:pPr marL="53975" indent="55563">
              <a:spcBef>
                <a:spcPts val="1200"/>
              </a:spcBef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Cell-mediated immune response</a:t>
            </a:r>
          </a:p>
          <a:p>
            <a:pPr marL="341313" indent="-109538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Specialized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cells destroy infected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host cells.</a:t>
            </a:r>
          </a:p>
          <a:p>
            <a:pPr marL="341313" indent="-109538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Unlike humoral immunity,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depend on antibody. </a:t>
            </a:r>
          </a:p>
          <a:p>
            <a:pPr marL="341313" indent="-109538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humoral and cellular immunity can include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secondary immune response, with memory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 enabling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secondary response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55</a:t>
            </a:fld>
            <a:endParaRPr lang="en-US" dirty="0"/>
          </a:p>
        </p:txBody>
      </p:sp>
      <p:sp>
        <p:nvSpPr>
          <p:cNvPr id="6" name="Rectangles 3"/>
          <p:cNvSpPr/>
          <p:nvPr/>
        </p:nvSpPr>
        <p:spPr>
          <a:xfrm>
            <a:off x="114300" y="152400"/>
            <a:ext cx="8801100" cy="6569074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2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27" y="457200"/>
            <a:ext cx="8535773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9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cell-mediated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humoral mediated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initiated after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macrophage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engulfs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pathogen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antigens from the pathogen on their surface.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73138" indent="-290513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helps the macrophages stimulate specific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helper T-cells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release signal molecules called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lymphokines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5525">
              <a:buFont typeface="Wingdings" panose="05000000000000000000" pitchFamily="2" charset="2"/>
              <a:buChar char="v"/>
            </a:pPr>
            <a:r>
              <a:rPr lang="en-US" sz="24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Lymphokines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cytokines produced by T cells</a:t>
            </a:r>
          </a:p>
          <a:p>
            <a:pPr marL="682625" indent="0">
              <a:lnSpc>
                <a:spcPct val="150000"/>
              </a:lnSpc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lymphokines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turn, stimulate the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cell-mediated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antibody-mediated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57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152400"/>
            <a:ext cx="8801100" cy="64770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2678" y="217885"/>
            <a:ext cx="1600200" cy="47863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84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55664"/>
            <a:ext cx="8534400" cy="57737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humoral/antibody mediated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lymphokines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activate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B-cells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produce antibodies </a:t>
            </a:r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63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antibodies attach to antigens on the surface of the pathogens and signal attack by phagocytic cells and complement system.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63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B-cells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 on to become memory B-cells, which respond quickly by producing more antibodies upon subsequent infection.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58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52400" y="215902"/>
            <a:ext cx="88392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8600" y="215902"/>
            <a:ext cx="1600200" cy="63976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C00000"/>
                </a:solidFill>
                <a:cs typeface="Times New Roman" pitchFamily="18" charset="0"/>
              </a:rPr>
              <a:t>Cont’d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06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686800" cy="624840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innate immunity and adaptive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mmunity wok together</a:t>
            </a:r>
          </a:p>
          <a:p>
            <a:pPr marL="96837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contact with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other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through interactions with chemical mediators, the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cytokines.</a:t>
            </a:r>
          </a:p>
          <a:p>
            <a:pPr marL="968375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cytokines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hormone-like proteins that </a:t>
            </a:r>
            <a:r>
              <a:rPr lang="en-US" sz="22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 on </a:t>
            </a:r>
            <a:r>
              <a:rPr lang="en-US" sz="22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to activate and regulate the </a:t>
            </a:r>
            <a:r>
              <a:rPr lang="en-US" sz="2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innate </a:t>
            </a:r>
            <a:r>
              <a:rPr lang="en-US" sz="2200" i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</a:t>
            </a:r>
            <a:r>
              <a:rPr lang="en-US" sz="2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Macrophages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responsible to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phagocytosis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infectious microbes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at the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time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important cytokines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help to induce the adaptive immune response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innate immune system can be activated directly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microbes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can also be activated by antibodies, molecules of the adaptive system.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59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52400" y="152399"/>
            <a:ext cx="8839200" cy="6569075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283" y="1143000"/>
            <a:ext cx="4262660" cy="43008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08964"/>
            <a:ext cx="7620000" cy="6129948"/>
          </a:xfrm>
          <a:prstGeom prst="rect">
            <a:avLst/>
          </a:prstGeom>
        </p:spPr>
      </p:pic>
      <p:sp>
        <p:nvSpPr>
          <p:cNvPr id="6" name="Rectangles 3"/>
          <p:cNvSpPr/>
          <p:nvPr/>
        </p:nvSpPr>
        <p:spPr>
          <a:xfrm>
            <a:off x="152400" y="152399"/>
            <a:ext cx="8839200" cy="6569075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5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6949"/>
            <a:ext cx="8229600" cy="68103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cs typeface="Times New Roman" panose="02020603050405020304" pitchFamily="18" charset="0"/>
              </a:rPr>
              <a:t>I</a:t>
            </a:r>
            <a:r>
              <a:rPr lang="en-US" sz="2800" b="1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mmunological disorders</a:t>
            </a:r>
            <a:endParaRPr lang="en-US" sz="2800" b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1"/>
            <a:ext cx="8763000" cy="586740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the immune responses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protect the body from damage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may be caused by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agents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pathogens. 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sometimes  adverse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immunological reactions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occur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cause adverse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effects to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host due to: </a:t>
            </a:r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exaggerated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response and/or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producing inappropriate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response against self-components 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 recognition mechanism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there are three types of immunological </a:t>
            </a:r>
            <a:r>
              <a:rPr lang="en-US" sz="2400" b="1" dirty="0" smtClean="0">
                <a:solidFill>
                  <a:srgbClr val="D600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disorders</a:t>
            </a:r>
            <a:endParaRPr lang="en-US" sz="2400" b="1" dirty="0">
              <a:solidFill>
                <a:srgbClr val="D600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8375" indent="-344488">
              <a:spcBef>
                <a:spcPts val="1200"/>
              </a:spcBef>
              <a:buAutoNum type="arabicPeriod"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Hypersensitivity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8375" indent="-344488">
              <a:spcBef>
                <a:spcPts val="1200"/>
              </a:spcBef>
              <a:buAutoNum type="arabicPeriod"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Autoimmune diseases</a:t>
            </a:r>
          </a:p>
          <a:p>
            <a:pPr marL="1023938" indent="-400050">
              <a:spcBef>
                <a:spcPts val="1200"/>
              </a:spcBef>
              <a:buAutoNum type="arabicPeriod"/>
            </a:pP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Immunodeficiency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61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152400"/>
            <a:ext cx="8877300" cy="6477002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8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Hypersensitivity reactions </a:t>
            </a:r>
            <a:endParaRPr 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9113" indent="-284163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Hypersensitivity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immunological state in which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system “over-reacts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foreign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antigen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the immune response itself is more harmful than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antigen.</a:t>
            </a:r>
          </a:p>
          <a:p>
            <a:pPr marL="1084262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 and/or excessive tissue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damage</a:t>
            </a:r>
          </a:p>
          <a:p>
            <a:pPr marL="463550" indent="-231775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Hypersensitivity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reactions are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many of the symptoms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microbial infections.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6510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hypersensitivity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involves: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2222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immune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(highly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reactions via T or B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rior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antigen, 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exposure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sensitizes 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but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a hypersensitive reaction</a:t>
            </a:r>
          </a:p>
          <a:p>
            <a:pPr marL="1541463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hypersensitivity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only seen on secondary exposure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62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534400" cy="6248402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Hypersensitivity reactions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 to people with an established immunity to the antigen. The mediator and the time course primarily distinguish the four types of hypersensitivity responses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22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 </a:t>
            </a:r>
            <a:endParaRPr lang="en-US" sz="2200" b="1" u="sng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8325" indent="-173038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caused by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allergic, atopic, and anaphylactic reactions)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8325" indent="-173038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rapid-onset reactions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(2-30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minutes)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II: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cytotoxic reactions</a:t>
            </a: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238" indent="-2349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 due to complement activation via IgM or IgG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III: immune complex reactions</a:t>
            </a:r>
          </a:p>
          <a:p>
            <a:pPr marL="630238" indent="-2349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result from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of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 by immune complexes</a:t>
            </a:r>
          </a:p>
          <a:p>
            <a:pPr marL="630238" indent="-2349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 due to excess antibody/antigen complexes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IV: delayed cell-mediated reactions</a:t>
            </a:r>
          </a:p>
          <a:p>
            <a:pPr marL="568325" indent="-173038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 &amp;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macrophages mediated inflammatory response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I-III are all antibody-mediated, Type IV 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cell-mediated responses.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63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2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64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98" y="215902"/>
            <a:ext cx="8768504" cy="626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1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886200" cy="715962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Autoimmune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534400" cy="5638802"/>
          </a:xfrm>
        </p:spPr>
        <p:txBody>
          <a:bodyPr>
            <a:noAutofit/>
          </a:bodyPr>
          <a:lstStyle/>
          <a:p>
            <a:pPr marL="287338" indent="-28733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condition that occurs </a:t>
            </a:r>
            <a:r>
              <a:rPr lang="en-US" sz="2200" b="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immune system mistakenly attacks and destroys healthy body </a:t>
            </a:r>
            <a:r>
              <a:rPr lang="en-US" sz="2200" b="1" i="1" kern="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tissue.</a:t>
            </a:r>
            <a:endParaRPr lang="en-US" sz="2200" b="1" i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513" indent="-290513">
              <a:spcBef>
                <a:spcPts val="1200"/>
              </a:spcBef>
              <a:buFont typeface="Wingdings" pitchFamily="2" charset="2"/>
              <a:buChar char="ü"/>
            </a:pPr>
            <a:r>
              <a:rPr 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immune 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fails to recognize a protein as “self” and </a:t>
            </a:r>
            <a:r>
              <a:rPr 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launches 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</a:p>
          <a:p>
            <a:pPr marL="287338" indent="-287338" defTabSz="29051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Autoimmune disorders are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usually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irreversible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drugs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help slow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progress of these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diseases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29051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autoimmune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disorders 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25" indent="-219075"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sclerosis-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disorder in which the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body's immune system attacks the protective covering of the nerve cells in the brain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nerve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682625" indent="-219075"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Lupus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inflammatory disease affect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joints, skin, kidneys, blood cells, brain, heart and lungs.</a:t>
            </a:r>
          </a:p>
          <a:p>
            <a:pPr marL="682625" indent="-219075"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Rheumatoid arthritis-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mainly affect joints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65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9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6300"/>
            <a:ext cx="3200400" cy="639762"/>
          </a:xfrm>
        </p:spPr>
        <p:txBody>
          <a:bodyPr>
            <a:normAutofit/>
          </a:bodyPr>
          <a:lstStyle/>
          <a:p>
            <a:pPr algn="l"/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Immunodeficiency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028135"/>
            <a:ext cx="8877300" cy="5843513"/>
          </a:xfrm>
        </p:spPr>
        <p:txBody>
          <a:bodyPr>
            <a:noAutofit/>
          </a:bodyPr>
          <a:lstStyle/>
          <a:p>
            <a:pPr indent="-23336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</a:t>
            </a:r>
            <a:r>
              <a:rPr lang="en-US" alt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inadequate function of various components of the immune </a:t>
            </a:r>
            <a:r>
              <a:rPr lang="en-US" alt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indent="-23336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may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from </a:t>
            </a:r>
            <a:r>
              <a:rPr lang="en-US" alt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genetic deficiencies, starvation, drug-induced immunosuppression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steroid treatment, cancer chemotherapy, chemotherapeutic suppression of tissue graft rejection), cancer (especially of immune cells), or disease (e.g., AIDS) and naturally occurs in neonates and pregnant women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9537" indent="0">
              <a:spcBef>
                <a:spcPts val="1200"/>
              </a:spcBef>
              <a:buNone/>
            </a:pP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3336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Deficiencies in specific protective responses put a patient at high risk for serious disease caused by infectious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33363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occur in any part </a:t>
            </a:r>
            <a:r>
              <a:rPr lang="en-US" altLang="en-US" sz="2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immune system</a:t>
            </a:r>
          </a:p>
          <a:p>
            <a:pPr marL="1035050" lvl="1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barrier, phagocytes, B lymphocytes, T lymphocytes, complement, natural killer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66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773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6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82000" cy="6477002"/>
          </a:xfrm>
        </p:spPr>
        <p:txBody>
          <a:bodyPr>
            <a:noAutofit/>
          </a:bodyPr>
          <a:lstStyle/>
          <a:p>
            <a:pPr marL="280988" indent="0">
              <a:spcBef>
                <a:spcPts val="1200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Classified as primary or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immunodeficiency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(congenital) immunodeficiency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abnormality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mutations affecting any of a large number of genes that control the expression and activities of immune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affect either the </a:t>
            </a:r>
            <a:r>
              <a:rPr lang="en-US" sz="20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lymphoid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the </a:t>
            </a:r>
            <a:r>
              <a:rPr lang="en-US" sz="2000" b="1" u="sng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myeloid lineages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Defects in lymphoid lineage</a:t>
            </a:r>
          </a:p>
          <a:p>
            <a:pPr marL="749300" indent="-29210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involve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B-cell, T-cell 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</a:p>
          <a:p>
            <a:pPr marL="1206500" indent="-29210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B-Cell immunodeficiency, T-cell deficiencies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Defects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myeloid 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linage</a:t>
            </a:r>
          </a:p>
          <a:p>
            <a:pPr marL="800100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innate immunity, especially phagocytic activity. </a:t>
            </a:r>
          </a:p>
          <a:p>
            <a:pPr marL="120650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Chronic granulomatous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CGD)- genetic disorder in w/c phagocytes are unable to kill certain type of bacteria and fungi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0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 deficiencies </a:t>
            </a:r>
          </a:p>
          <a:p>
            <a:pPr marL="228600" lvl="2">
              <a:spcAft>
                <a:spcPct val="40000"/>
              </a:spcAft>
              <a:buNone/>
            </a:pPr>
            <a:r>
              <a:rPr lang="en-US" alt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Secondary (Acquired) immunodeficiency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infections, nutritional deficiencies or treatments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E.g. AIDS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chronic leukemia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67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76201"/>
            <a:ext cx="8801100" cy="6645274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10600" cy="47244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Assignment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800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Tumor Immunology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immunology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relationship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function and tumor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Immune surveillance is a concept that envisages prevention of the development of the most tumors through early destruction of abnormal cells by the host's immune system. 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CB5EC-E102-4298-8460-B4D67C3CF687}" type="slidenum">
              <a:rPr lang="en-US" smtClean="0"/>
              <a:t>68</a:t>
            </a:fld>
            <a:endParaRPr lang="en-US"/>
          </a:p>
        </p:txBody>
      </p:sp>
      <p:sp>
        <p:nvSpPr>
          <p:cNvPr id="6" name="Rectangles 3"/>
          <p:cNvSpPr/>
          <p:nvPr/>
        </p:nvSpPr>
        <p:spPr>
          <a:xfrm>
            <a:off x="114300" y="215902"/>
            <a:ext cx="8801100" cy="641350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3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47951</TotalTime>
  <Words>5982</Words>
  <Application>Microsoft Office PowerPoint</Application>
  <PresentationFormat>On-screen Show (4:3)</PresentationFormat>
  <Paragraphs>625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SimSun</vt:lpstr>
      <vt:lpstr>Arial</vt:lpstr>
      <vt:lpstr>Calibri</vt:lpstr>
      <vt:lpstr>Cambria Math</vt:lpstr>
      <vt:lpstr>Courier New</vt:lpstr>
      <vt:lpstr>Tahoma</vt:lpstr>
      <vt:lpstr>Times New Roman</vt:lpstr>
      <vt:lpstr>Wingdings</vt:lpstr>
      <vt:lpstr>Wingdings 2</vt:lpstr>
      <vt:lpstr>Office Theme</vt:lpstr>
      <vt:lpstr> Chapter 6</vt:lpstr>
      <vt:lpstr>Outline of the chapter</vt:lpstr>
      <vt:lpstr>What are infectious diseases? </vt:lpstr>
      <vt:lpstr>Infection and disease </vt:lpstr>
      <vt:lpstr>Signs and Symptoms of Disease</vt:lpstr>
      <vt:lpstr>Classification of infectious diseases </vt:lpstr>
      <vt:lpstr>Cont’d</vt:lpstr>
      <vt:lpstr>PowerPoint Presentation</vt:lpstr>
      <vt:lpstr>Cont’d</vt:lpstr>
      <vt:lpstr>Cont’d</vt:lpstr>
      <vt:lpstr>Cont’d</vt:lpstr>
      <vt:lpstr>Cont’d</vt:lpstr>
      <vt:lpstr>Laboratory Diagnosing Infectious Disease</vt:lpstr>
      <vt:lpstr>Stages of Pathogenesis</vt:lpstr>
      <vt:lpstr>Cont’d</vt:lpstr>
      <vt:lpstr>Disease development and stages </vt:lpstr>
      <vt:lpstr>PowerPoint Presentation</vt:lpstr>
      <vt:lpstr> Causative agents of infectious disease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Cont’d</vt:lpstr>
      <vt:lpstr>PowerPoint Presentation</vt:lpstr>
      <vt:lpstr>Fungi cont’d</vt:lpstr>
      <vt:lpstr>Fungi cont’d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Modes of transmission</vt:lpstr>
      <vt:lpstr>PowerPoint Presentation</vt:lpstr>
      <vt:lpstr>PowerPoint Presentation</vt:lpstr>
      <vt:lpstr>PowerPoint Presentation</vt:lpstr>
      <vt:lpstr>Host defenses against infectious diseases </vt:lpstr>
      <vt:lpstr>Cont’d</vt:lpstr>
      <vt:lpstr>Innate Immune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Adaptive immunity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Cont’d</vt:lpstr>
      <vt:lpstr>Cont’d</vt:lpstr>
      <vt:lpstr>PowerPoint Presentation</vt:lpstr>
      <vt:lpstr>PowerPoint Presentation</vt:lpstr>
      <vt:lpstr>Immunological disorders</vt:lpstr>
      <vt:lpstr>PowerPoint Presentation</vt:lpstr>
      <vt:lpstr>PowerPoint Presentation</vt:lpstr>
      <vt:lpstr>PowerPoint Presentation</vt:lpstr>
      <vt:lpstr>Autoimmune disorders</vt:lpstr>
      <vt:lpstr>Immunodeficiency</vt:lpstr>
      <vt:lpstr>PowerPoint Presentation</vt:lpstr>
      <vt:lpstr>PowerPoint Presentation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(Biol. 1012) lecture note</dc:title>
  <dc:creator>Gebre</dc:creator>
  <cp:lastModifiedBy>Admin</cp:lastModifiedBy>
  <cp:revision>1926</cp:revision>
  <dcterms:created xsi:type="dcterms:W3CDTF">2020-03-06T19:53:00Z</dcterms:created>
  <dcterms:modified xsi:type="dcterms:W3CDTF">2023-11-21T07:06:48Z</dcterms:modified>
</cp:coreProperties>
</file>