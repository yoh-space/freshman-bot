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7" r:id="rId1"/>
    <p:sldMasterId id="2147483971" r:id="rId2"/>
    <p:sldMasterId id="2147483986" r:id="rId3"/>
  </p:sldMasterIdLst>
  <p:notesMasterIdLst>
    <p:notesMasterId r:id="rId71"/>
  </p:notesMasterIdLst>
  <p:handoutMasterIdLst>
    <p:handoutMasterId r:id="rId72"/>
  </p:handoutMasterIdLst>
  <p:sldIdLst>
    <p:sldId id="425" r:id="rId4"/>
    <p:sldId id="426" r:id="rId5"/>
    <p:sldId id="427" r:id="rId6"/>
    <p:sldId id="428" r:id="rId7"/>
    <p:sldId id="429" r:id="rId8"/>
    <p:sldId id="430" r:id="rId9"/>
    <p:sldId id="431" r:id="rId10"/>
    <p:sldId id="432" r:id="rId11"/>
    <p:sldId id="443" r:id="rId12"/>
    <p:sldId id="414" r:id="rId13"/>
    <p:sldId id="444" r:id="rId14"/>
    <p:sldId id="445" r:id="rId15"/>
    <p:sldId id="446" r:id="rId16"/>
    <p:sldId id="447" r:id="rId17"/>
    <p:sldId id="448" r:id="rId18"/>
    <p:sldId id="389" r:id="rId19"/>
    <p:sldId id="390" r:id="rId20"/>
    <p:sldId id="449" r:id="rId21"/>
    <p:sldId id="450" r:id="rId22"/>
    <p:sldId id="451" r:id="rId23"/>
    <p:sldId id="452" r:id="rId24"/>
    <p:sldId id="394" r:id="rId25"/>
    <p:sldId id="395" r:id="rId26"/>
    <p:sldId id="453" r:id="rId27"/>
    <p:sldId id="454" r:id="rId28"/>
    <p:sldId id="455" r:id="rId29"/>
    <p:sldId id="456" r:id="rId30"/>
    <p:sldId id="457" r:id="rId31"/>
    <p:sldId id="458" r:id="rId32"/>
    <p:sldId id="459" r:id="rId33"/>
    <p:sldId id="460" r:id="rId34"/>
    <p:sldId id="461" r:id="rId35"/>
    <p:sldId id="462" r:id="rId36"/>
    <p:sldId id="463" r:id="rId37"/>
    <p:sldId id="464" r:id="rId38"/>
    <p:sldId id="465" r:id="rId39"/>
    <p:sldId id="466" r:id="rId40"/>
    <p:sldId id="467" r:id="rId41"/>
    <p:sldId id="468" r:id="rId42"/>
    <p:sldId id="399" r:id="rId43"/>
    <p:sldId id="469" r:id="rId44"/>
    <p:sldId id="470" r:id="rId45"/>
    <p:sldId id="471" r:id="rId46"/>
    <p:sldId id="499" r:id="rId47"/>
    <p:sldId id="402" r:id="rId48"/>
    <p:sldId id="404" r:id="rId49"/>
    <p:sldId id="472" r:id="rId50"/>
    <p:sldId id="473" r:id="rId51"/>
    <p:sldId id="476" r:id="rId52"/>
    <p:sldId id="474" r:id="rId53"/>
    <p:sldId id="480" r:id="rId54"/>
    <p:sldId id="479" r:id="rId55"/>
    <p:sldId id="481" r:id="rId56"/>
    <p:sldId id="482" r:id="rId57"/>
    <p:sldId id="484" r:id="rId58"/>
    <p:sldId id="487" r:id="rId59"/>
    <p:sldId id="488" r:id="rId60"/>
    <p:sldId id="489" r:id="rId61"/>
    <p:sldId id="490" r:id="rId62"/>
    <p:sldId id="491" r:id="rId63"/>
    <p:sldId id="492" r:id="rId64"/>
    <p:sldId id="493" r:id="rId65"/>
    <p:sldId id="494" r:id="rId66"/>
    <p:sldId id="495" r:id="rId67"/>
    <p:sldId id="496" r:id="rId68"/>
    <p:sldId id="497" r:id="rId69"/>
    <p:sldId id="498" r:id="rId7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008000"/>
    <a:srgbClr val="6CB255"/>
    <a:srgbClr val="E5D419"/>
    <a:srgbClr val="212F62"/>
    <a:srgbClr val="72A510"/>
    <a:srgbClr val="A4EC1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35" autoAdjust="0"/>
    <p:restoredTop sz="94712" autoAdjust="0"/>
  </p:normalViewPr>
  <p:slideViewPr>
    <p:cSldViewPr snapToGrid="0" snapToObjects="1">
      <p:cViewPr varScale="1">
        <p:scale>
          <a:sx n="65" d="100"/>
          <a:sy n="65" d="100"/>
        </p:scale>
        <p:origin x="1518" y="78"/>
      </p:cViewPr>
      <p:guideLst>
        <p:guide orient="horz" pos="2160"/>
        <p:guide pos="2880"/>
      </p:guideLst>
    </p:cSldViewPr>
  </p:slideViewPr>
  <p:outlineViewPr>
    <p:cViewPr>
      <p:scale>
        <a:sx n="33" d="100"/>
        <a:sy n="33" d="100"/>
      </p:scale>
      <p:origin x="0" y="-5130"/>
    </p:cViewPr>
  </p:outlineViewPr>
  <p:notesTextViewPr>
    <p:cViewPr>
      <p:scale>
        <a:sx n="100" d="100"/>
        <a:sy n="100" d="100"/>
      </p:scale>
      <p:origin x="0" y="0"/>
    </p:cViewPr>
  </p:notesTextViewPr>
  <p:sorterViewPr>
    <p:cViewPr>
      <p:scale>
        <a:sx n="100" d="100"/>
        <a:sy n="100" d="100"/>
      </p:scale>
      <p:origin x="0" y="-1035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viewProps" Target="viewProps.xml"/><Relationship Id="rId87" Type="http://schemas.microsoft.com/office/2015/10/relationships/revisionInfo" Target="revisionInfo.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8D041A-73BB-E643-A8C7-50D88C2F22F5}" type="datetimeFigureOut">
              <a:rPr lang="en-US" smtClean="0"/>
              <a:t>10/31/2023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36EFEC5-3018-A548-B247-453C6EC1EC1A}" type="slidenum">
              <a:rPr lang="en-US" smtClean="0"/>
              <a:t>‹#›</a:t>
            </a:fld>
            <a:endParaRPr lang="en-US"/>
          </a:p>
        </p:txBody>
      </p:sp>
    </p:spTree>
    <p:extLst>
      <p:ext uri="{BB962C8B-B14F-4D97-AF65-F5344CB8AC3E}">
        <p14:creationId xmlns:p14="http://schemas.microsoft.com/office/powerpoint/2010/main" val="13300572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EC36E2-7AF1-499F-B337-1197A627CE66}" type="datetimeFigureOut">
              <a:rPr lang="en-US" smtClean="0"/>
              <a:t>10/31/2023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9D15BB-FAE0-4413-91DE-B56FB6295AD2}" type="slidenum">
              <a:rPr lang="en-US" smtClean="0"/>
              <a:t>‹#›</a:t>
            </a:fld>
            <a:endParaRPr lang="en-US"/>
          </a:p>
        </p:txBody>
      </p:sp>
    </p:spTree>
    <p:extLst>
      <p:ext uri="{BB962C8B-B14F-4D97-AF65-F5344CB8AC3E}">
        <p14:creationId xmlns:p14="http://schemas.microsoft.com/office/powerpoint/2010/main" val="3731506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8"/>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auto" latinLnBrk="0" hangingPunct="1">
              <a:lnSpc>
                <a:spcPct val="100000"/>
              </a:lnSpc>
              <a:spcBef>
                <a:spcPct val="0"/>
              </a:spcBef>
              <a:spcAft>
                <a:spcPts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fld id="{1BE8124A-20A4-4FE0-B578-10A4F1354AA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rPr>
              <a:pPr marL="0" marR="0" lvl="0" indent="0" algn="r" defTabSz="914400" rtl="0" eaLnBrk="1" fontAlgn="auto" latinLnBrk="0" hangingPunct="1">
                <a:lnSpc>
                  <a:spcPct val="100000"/>
                </a:lnSpc>
                <a:spcBef>
                  <a:spcPct val="0"/>
                </a:spcBef>
                <a:spcAft>
                  <a:spcPts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t>1</a:t>
            </a:fld>
            <a:endPar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endParaRPr>
          </a:p>
        </p:txBody>
      </p:sp>
      <p:sp>
        <p:nvSpPr>
          <p:cNvPr id="4099" name="Text Box 1"/>
          <p:cNvSpPr>
            <a:spLocks noGrp="1" noRot="1" noChangeAspect="1" noChangeArrowheads="1" noTextEdit="1"/>
          </p:cNvSpPr>
          <p:nvPr>
            <p:ph type="sldImg"/>
          </p:nvPr>
        </p:nvSpPr>
        <p:spPr>
          <a:xfrm>
            <a:off x="1143000" y="685800"/>
            <a:ext cx="4572000" cy="3429000"/>
          </a:xfrm>
          <a:solidFill>
            <a:srgbClr val="FFFFFF"/>
          </a:solidFill>
          <a:ln/>
        </p:spPr>
      </p:sp>
      <p:sp>
        <p:nvSpPr>
          <p:cNvPr id="2" name="Text Box 2"/>
          <p:cNvSpPr>
            <a:spLocks noGrp="1" noChangeArrowheads="1"/>
          </p:cNvSpPr>
          <p:nvPr>
            <p:ph type="body" idx="1"/>
          </p:nvPr>
        </p:nvSpPr>
        <p:spPr>
          <a:xfrm>
            <a:off x="914400" y="4343400"/>
            <a:ext cx="5029200" cy="4114800"/>
          </a:xfrm>
          <a:extLst/>
        </p:spPr>
        <p:txBody>
          <a:bodyPr wrap="none" anchor="ctr"/>
          <a:lstStyle/>
          <a:p>
            <a:pPr>
              <a:buFont typeface="Times New Roman" charset="0"/>
              <a:buNone/>
              <a:defRPr/>
            </a:pPr>
            <a:endParaRPr lang="en-US" dirty="0" smtClean="0">
              <a:cs typeface="+mn-cs"/>
            </a:endParaRPr>
          </a:p>
        </p:txBody>
      </p:sp>
    </p:spTree>
    <p:extLst>
      <p:ext uri="{BB962C8B-B14F-4D97-AF65-F5344CB8AC3E}">
        <p14:creationId xmlns:p14="http://schemas.microsoft.com/office/powerpoint/2010/main" val="11387097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a typeface="ＭＳ Ｐゴシック" panose="020B0600070205080204" pitchFamily="34" charset="-128"/>
            </a:endParaRPr>
          </a:p>
        </p:txBody>
      </p:sp>
      <p:sp>
        <p:nvSpPr>
          <p:cNvPr id="100356" name="Slide Number Placeholder 3"/>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1pPr>
            <a:lvl2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2pPr>
            <a:lvl3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3pPr>
            <a:lvl4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4pPr>
            <a:lvl5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3D1D5C2E-E86E-49A4-B96F-472B0EE1FC7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rPr>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t>16</a:t>
            </a:fld>
            <a:endPar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endParaRPr>
          </a:p>
        </p:txBody>
      </p:sp>
    </p:spTree>
    <p:extLst>
      <p:ext uri="{BB962C8B-B14F-4D97-AF65-F5344CB8AC3E}">
        <p14:creationId xmlns:p14="http://schemas.microsoft.com/office/powerpoint/2010/main" val="2735569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378"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1pPr>
            <a:lvl2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2pPr>
            <a:lvl3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3pPr>
            <a:lvl4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4pPr>
            <a:lvl5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60FABACB-A4E9-42E2-9B06-C96CEC8C604D}"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rPr>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t>17</a:t>
            </a:fld>
            <a:endPar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endParaRPr>
          </a:p>
        </p:txBody>
      </p:sp>
      <p:sp>
        <p:nvSpPr>
          <p:cNvPr id="101379" name="Text Box 1"/>
          <p:cNvSpPr>
            <a:spLocks noGrp="1" noRot="1" noChangeAspect="1" noChangeArrowheads="1" noTextEdit="1"/>
          </p:cNvSpPr>
          <p:nvPr>
            <p:ph type="sldImg"/>
          </p:nvPr>
        </p:nvSpPr>
        <p:spPr>
          <a:xfrm>
            <a:off x="1143000" y="685800"/>
            <a:ext cx="4572000" cy="3429000"/>
          </a:xfrm>
          <a:solidFill>
            <a:srgbClr val="FFFFFF"/>
          </a:solidFill>
          <a:ln/>
        </p:spPr>
      </p:sp>
      <p:sp>
        <p:nvSpPr>
          <p:cNvPr id="63490" name="Text Box 2"/>
          <p:cNvSpPr>
            <a:spLocks noGrp="1" noChangeArrowheads="1"/>
          </p:cNvSpPr>
          <p:nvPr>
            <p:ph type="body" idx="1"/>
          </p:nvPr>
        </p:nvSpPr>
        <p:spPr>
          <a:xfrm>
            <a:off x="914400" y="4343400"/>
            <a:ext cx="5029200" cy="4114800"/>
          </a:xfrm>
          <a:extLst/>
        </p:spPr>
        <p:txBody>
          <a:bodyPr wrap="none" anchor="ctr"/>
          <a:lstStyle/>
          <a:p>
            <a:pPr>
              <a:buFont typeface="Times New Roman" charset="0"/>
              <a:buNone/>
              <a:defRPr/>
            </a:pPr>
            <a:endParaRPr lang="en-US" dirty="0" smtClean="0">
              <a:cs typeface="+mn-cs"/>
            </a:endParaRPr>
          </a:p>
        </p:txBody>
      </p:sp>
    </p:spTree>
    <p:extLst>
      <p:ext uri="{BB962C8B-B14F-4D97-AF65-F5344CB8AC3E}">
        <p14:creationId xmlns:p14="http://schemas.microsoft.com/office/powerpoint/2010/main" val="3555888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69D15BB-FAE0-4413-91DE-B56FB6295AD2}" type="slidenum">
              <a:rPr lang="en-US" smtClean="0"/>
              <a:t>21</a:t>
            </a:fld>
            <a:endParaRPr lang="en-US"/>
          </a:p>
        </p:txBody>
      </p:sp>
    </p:spTree>
    <p:extLst>
      <p:ext uri="{BB962C8B-B14F-4D97-AF65-F5344CB8AC3E}">
        <p14:creationId xmlns:p14="http://schemas.microsoft.com/office/powerpoint/2010/main" val="360604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50"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1pPr>
            <a:lvl2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2pPr>
            <a:lvl3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3pPr>
            <a:lvl4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4pPr>
            <a:lvl5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E6AE6847-F3E9-4B7B-8BD0-6C63FD7217B9}"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rPr>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t>22</a:t>
            </a:fld>
            <a:endPar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endParaRPr>
          </a:p>
        </p:txBody>
      </p:sp>
      <p:sp>
        <p:nvSpPr>
          <p:cNvPr id="104451" name="Text Box 1"/>
          <p:cNvSpPr>
            <a:spLocks noGrp="1" noRot="1" noChangeAspect="1" noChangeArrowheads="1" noTextEdit="1"/>
          </p:cNvSpPr>
          <p:nvPr>
            <p:ph type="sldImg"/>
          </p:nvPr>
        </p:nvSpPr>
        <p:spPr>
          <a:xfrm>
            <a:off x="1143000" y="685800"/>
            <a:ext cx="4572000" cy="3429000"/>
          </a:xfrm>
          <a:solidFill>
            <a:srgbClr val="FFFFFF"/>
          </a:solidFill>
          <a:ln/>
        </p:spPr>
      </p:sp>
      <p:sp>
        <p:nvSpPr>
          <p:cNvPr id="65538" name="Text Box 2"/>
          <p:cNvSpPr>
            <a:spLocks noGrp="1" noChangeArrowheads="1"/>
          </p:cNvSpPr>
          <p:nvPr>
            <p:ph type="body" idx="1"/>
          </p:nvPr>
        </p:nvSpPr>
        <p:spPr>
          <a:xfrm>
            <a:off x="914400" y="4343400"/>
            <a:ext cx="5029200" cy="4114800"/>
          </a:xfrm>
          <a:extLst/>
        </p:spPr>
        <p:txBody>
          <a:bodyPr wrap="none" anchor="ctr"/>
          <a:lstStyle/>
          <a:p>
            <a:pPr>
              <a:buFont typeface="Times New Roman" charset="0"/>
              <a:buNone/>
              <a:defRPr/>
            </a:pPr>
            <a:endParaRPr lang="en-US" dirty="0" smtClean="0">
              <a:cs typeface="+mn-cs"/>
            </a:endParaRPr>
          </a:p>
        </p:txBody>
      </p:sp>
    </p:spTree>
    <p:extLst>
      <p:ext uri="{BB962C8B-B14F-4D97-AF65-F5344CB8AC3E}">
        <p14:creationId xmlns:p14="http://schemas.microsoft.com/office/powerpoint/2010/main" val="1940772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4930"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1pPr>
            <a:lvl2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2pPr>
            <a:lvl3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3pPr>
            <a:lvl4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4pPr>
            <a:lvl5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7192516D-D798-4EF6-9015-BBEE0E81194F}"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rPr>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t>40</a:t>
            </a:fld>
            <a:endPar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endParaRPr>
          </a:p>
        </p:txBody>
      </p:sp>
      <p:sp>
        <p:nvSpPr>
          <p:cNvPr id="124931" name="Text Box 1"/>
          <p:cNvSpPr>
            <a:spLocks noGrp="1" noRot="1" noChangeAspect="1" noChangeArrowheads="1" noTextEdit="1"/>
          </p:cNvSpPr>
          <p:nvPr>
            <p:ph type="sldImg"/>
          </p:nvPr>
        </p:nvSpPr>
        <p:spPr>
          <a:xfrm>
            <a:off x="1143000" y="685800"/>
            <a:ext cx="4572000" cy="3429000"/>
          </a:xfrm>
          <a:solidFill>
            <a:srgbClr val="FFFFFF"/>
          </a:solidFill>
          <a:ln/>
        </p:spPr>
      </p:sp>
      <p:sp>
        <p:nvSpPr>
          <p:cNvPr id="124932" name="Text Box 2"/>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b="1" smtClean="0">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5384675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6978"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1pPr>
            <a:lvl2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2pPr>
            <a:lvl3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3pPr>
            <a:lvl4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4pPr>
            <a:lvl5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46FE410F-D544-462A-99AF-CD447586369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rPr>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t>45</a:t>
            </a:fld>
            <a:endPar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endParaRPr>
          </a:p>
        </p:txBody>
      </p:sp>
      <p:sp>
        <p:nvSpPr>
          <p:cNvPr id="126979" name="Text Box 1"/>
          <p:cNvSpPr>
            <a:spLocks noGrp="1" noRot="1" noChangeAspect="1" noChangeArrowheads="1" noTextEdit="1"/>
          </p:cNvSpPr>
          <p:nvPr>
            <p:ph type="sldImg"/>
          </p:nvPr>
        </p:nvSpPr>
        <p:spPr>
          <a:xfrm>
            <a:off x="1143000" y="685800"/>
            <a:ext cx="4572000" cy="3429000"/>
          </a:xfrm>
          <a:solidFill>
            <a:srgbClr val="FFFFFF"/>
          </a:solidFill>
          <a:ln/>
        </p:spPr>
      </p:sp>
      <p:sp>
        <p:nvSpPr>
          <p:cNvPr id="126980" name="Text Box 2"/>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smtClean="0">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3176611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8002"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1pPr>
            <a:lvl2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2pPr>
            <a:lvl3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3pPr>
            <a:lvl4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4pPr>
            <a:lvl5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CF0C0B22-24EE-499C-944D-1000794C07F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rPr>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t>46</a:t>
            </a:fld>
            <a:endPar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endParaRPr>
          </a:p>
        </p:txBody>
      </p:sp>
      <p:sp>
        <p:nvSpPr>
          <p:cNvPr id="128003" name="Text Box 1"/>
          <p:cNvSpPr>
            <a:spLocks noGrp="1" noRot="1" noChangeAspect="1" noChangeArrowheads="1" noTextEdit="1"/>
          </p:cNvSpPr>
          <p:nvPr>
            <p:ph type="sldImg"/>
          </p:nvPr>
        </p:nvSpPr>
        <p:spPr>
          <a:xfrm>
            <a:off x="1143000" y="685800"/>
            <a:ext cx="4572000" cy="3429000"/>
          </a:xfrm>
          <a:solidFill>
            <a:srgbClr val="FFFFFF"/>
          </a:solidFill>
          <a:ln/>
        </p:spPr>
      </p:sp>
      <p:sp>
        <p:nvSpPr>
          <p:cNvPr id="128004" name="Text Box 2"/>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smtClean="0">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8631660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714"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1pPr>
            <a:lvl2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2pPr>
            <a:lvl3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3pPr>
            <a:lvl4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4pPr>
            <a:lvl5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6A60B9AC-E258-474B-9AF7-7EAA20B131E2}"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rPr>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t>55</a:t>
            </a:fld>
            <a:endPar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endParaRPr>
          </a:p>
        </p:txBody>
      </p:sp>
      <p:sp>
        <p:nvSpPr>
          <p:cNvPr id="115715" name="Text Box 1"/>
          <p:cNvSpPr>
            <a:spLocks noGrp="1" noRot="1" noChangeAspect="1" noChangeArrowheads="1" noTextEdit="1"/>
          </p:cNvSpPr>
          <p:nvPr>
            <p:ph type="sldImg"/>
          </p:nvPr>
        </p:nvSpPr>
        <p:spPr>
          <a:xfrm>
            <a:off x="1143000" y="685800"/>
            <a:ext cx="4572000" cy="3429000"/>
          </a:xfrm>
          <a:solidFill>
            <a:srgbClr val="FFFFFF"/>
          </a:solidFill>
          <a:ln/>
        </p:spPr>
      </p:sp>
      <p:sp>
        <p:nvSpPr>
          <p:cNvPr id="74754" name="Text Box 2"/>
          <p:cNvSpPr>
            <a:spLocks noGrp="1" noChangeArrowheads="1"/>
          </p:cNvSpPr>
          <p:nvPr>
            <p:ph type="body" idx="1"/>
          </p:nvPr>
        </p:nvSpPr>
        <p:spPr>
          <a:xfrm>
            <a:off x="914400" y="4343400"/>
            <a:ext cx="5029200" cy="4114800"/>
          </a:xfrm>
          <a:extLst/>
        </p:spPr>
        <p:txBody>
          <a:bodyPr wrap="none" anchor="ctr"/>
          <a:lstStyle/>
          <a:p>
            <a:pPr>
              <a:buFont typeface="Times New Roman" charset="0"/>
              <a:buNone/>
              <a:defRPr/>
            </a:pPr>
            <a:endParaRPr lang="en-US" dirty="0" smtClean="0">
              <a:cs typeface="+mn-cs"/>
            </a:endParaRPr>
          </a:p>
        </p:txBody>
      </p:sp>
    </p:spTree>
    <p:extLst>
      <p:ext uri="{BB962C8B-B14F-4D97-AF65-F5344CB8AC3E}">
        <p14:creationId xmlns:p14="http://schemas.microsoft.com/office/powerpoint/2010/main" val="5627614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0834" name="Rectangle 7"/>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1pPr>
            <a:lvl2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2pPr>
            <a:lvl3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3pPr>
            <a:lvl4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4pPr>
            <a:lvl5pPr eaLnBrk="0" hangingPunct="0">
              <a:spcBef>
                <a:spcPct val="3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E647A331-A6FA-49E0-8532-F821215BD921}"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rPr>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t>65</a:t>
            </a:fld>
            <a:endPar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icrosoft YaHei" panose="020B0503020204020204" pitchFamily="34" charset="-122"/>
              <a:cs typeface="+mn-cs"/>
            </a:endParaRPr>
          </a:p>
        </p:txBody>
      </p:sp>
      <p:sp>
        <p:nvSpPr>
          <p:cNvPr id="120835" name="Text Box 1"/>
          <p:cNvSpPr>
            <a:spLocks noGrp="1" noRot="1" noChangeAspect="1" noChangeArrowheads="1" noTextEdit="1"/>
          </p:cNvSpPr>
          <p:nvPr>
            <p:ph type="sldImg"/>
          </p:nvPr>
        </p:nvSpPr>
        <p:spPr>
          <a:xfrm>
            <a:off x="1143000" y="685800"/>
            <a:ext cx="4572000" cy="3429000"/>
          </a:xfrm>
          <a:solidFill>
            <a:srgbClr val="FFFFFF"/>
          </a:solidFill>
          <a:ln/>
        </p:spPr>
      </p:sp>
      <p:sp>
        <p:nvSpPr>
          <p:cNvPr id="120836" name="Text Box 2"/>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smtClean="0">
              <a:latin typeface="Times New Roman" panose="02020603050405020304" pitchFamily="18" charset="0"/>
              <a:ea typeface="Microsoft YaHei" panose="020B0503020204020204" pitchFamily="34" charset="-122"/>
            </a:endParaRPr>
          </a:p>
        </p:txBody>
      </p:sp>
    </p:spTree>
    <p:extLst>
      <p:ext uri="{BB962C8B-B14F-4D97-AF65-F5344CB8AC3E}">
        <p14:creationId xmlns:p14="http://schemas.microsoft.com/office/powerpoint/2010/main" val="32915820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4C75379-1BB6-4E05-86E5-BB000C5F48A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sym typeface="Symbol" panose="05050102010706020507" pitchFamily="18" charset="2"/>
              </a:rPr>
              <a:pPr marL="0" marR="0" lvl="0" indent="0" algn="r" defTabSz="914400" rtl="0" eaLnBrk="0" fontAlgn="base" latinLnBrk="0" hangingPunct="0">
                <a:lnSpc>
                  <a:spcPct val="100000"/>
                </a:lnSpc>
                <a:spcBef>
                  <a:spcPct val="0"/>
                </a:spcBef>
                <a:spcAft>
                  <a:spcPct val="0"/>
                </a:spcAft>
                <a:buClrTx/>
                <a:buSzTx/>
                <a:buFontTx/>
                <a:buNone/>
                <a:tabLst/>
                <a:defRPr/>
              </a:pPr>
              <a:t>66</a:t>
            </a:fld>
            <a:endPar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sym typeface="Symbol" panose="05050102010706020507" pitchFamily="18" charset="2"/>
            </a:endParaRPr>
          </a:p>
        </p:txBody>
      </p:sp>
      <p:sp>
        <p:nvSpPr>
          <p:cNvPr id="1134594" name="Rectangle 2"/>
          <p:cNvSpPr>
            <a:spLocks noGrp="1" noRot="1" noChangeAspect="1" noChangeArrowheads="1"/>
          </p:cNvSpPr>
          <p:nvPr>
            <p:ph type="sldImg"/>
          </p:nvPr>
        </p:nvSpPr>
        <p:spPr>
          <a:ln/>
        </p:spPr>
      </p:sp>
      <p:sp>
        <p:nvSpPr>
          <p:cNvPr id="113459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953356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64C75379-1BB6-4E05-86E5-BB000C5F48A0}"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sym typeface="Symbol" panose="05050102010706020507" pitchFamily="18" charset="2"/>
              </a:rPr>
              <a:pPr marL="0" marR="0" lvl="0" indent="0" algn="r" defTabSz="914400" rtl="0" eaLnBrk="0" fontAlgn="base" latinLnBrk="0" hangingPunct="0">
                <a:lnSpc>
                  <a:spcPct val="100000"/>
                </a:lnSpc>
                <a:spcBef>
                  <a:spcPct val="0"/>
                </a:spcBef>
                <a:spcAft>
                  <a:spcPct val="0"/>
                </a:spcAft>
                <a:buClrTx/>
                <a:buSzTx/>
                <a:buFontTx/>
                <a:buNone/>
                <a:tabLst/>
                <a:defRPr/>
              </a:pPr>
              <a:t>67</a:t>
            </a:fld>
            <a:endPar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sym typeface="Symbol" panose="05050102010706020507" pitchFamily="18" charset="2"/>
            </a:endParaRPr>
          </a:p>
        </p:txBody>
      </p:sp>
      <p:sp>
        <p:nvSpPr>
          <p:cNvPr id="1134594" name="Rectangle 2"/>
          <p:cNvSpPr>
            <a:spLocks noGrp="1" noRot="1" noChangeAspect="1" noChangeArrowheads="1"/>
          </p:cNvSpPr>
          <p:nvPr>
            <p:ph type="sldImg"/>
          </p:nvPr>
        </p:nvSpPr>
        <p:spPr>
          <a:ln/>
        </p:spPr>
      </p:sp>
      <p:sp>
        <p:nvSpPr>
          <p:cNvPr id="113459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144456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Tree>
    <p:extLst>
      <p:ext uri="{BB962C8B-B14F-4D97-AF65-F5344CB8AC3E}">
        <p14:creationId xmlns:p14="http://schemas.microsoft.com/office/powerpoint/2010/main" val="2125492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325563"/>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629994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0"/>
            <a:ext cx="7886700" cy="2852737"/>
          </a:xfrm>
          <a:prstGeom prst="rect">
            <a:avLst/>
          </a:prstGeo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5"/>
            <a:ext cx="7886700" cy="1500187"/>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smtClean="0"/>
              <a:t>Edit Master text styles</a:t>
            </a:r>
          </a:p>
        </p:txBody>
      </p:sp>
    </p:spTree>
    <p:extLst>
      <p:ext uri="{BB962C8B-B14F-4D97-AF65-F5344CB8AC3E}">
        <p14:creationId xmlns:p14="http://schemas.microsoft.com/office/powerpoint/2010/main" val="1396785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325563"/>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5791202"/>
            <a:ext cx="4229100" cy="5191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5791202"/>
            <a:ext cx="4229100" cy="5191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18502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7"/>
            <a:ext cx="7886700" cy="1325563"/>
          </a:xfrm>
          <a:prstGeom prst="rect">
            <a:avLst/>
          </a:prstGeo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9" y="1681163"/>
            <a:ext cx="386873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30239" y="2505075"/>
            <a:ext cx="386873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17611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325563"/>
          </a:xfrm>
          <a:prstGeom prst="rect">
            <a:avLst/>
          </a:prstGeom>
        </p:spPr>
        <p:txBody>
          <a:bodyPr/>
          <a:lstStyle/>
          <a:p>
            <a:r>
              <a:rPr lang="en-US" smtClean="0"/>
              <a:t>Click to edit Master title style</a:t>
            </a:r>
            <a:endParaRPr lang="en-US"/>
          </a:p>
        </p:txBody>
      </p:sp>
    </p:spTree>
    <p:extLst>
      <p:ext uri="{BB962C8B-B14F-4D97-AF65-F5344CB8AC3E}">
        <p14:creationId xmlns:p14="http://schemas.microsoft.com/office/powerpoint/2010/main" val="3018980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2088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457200"/>
            <a:ext cx="2949575" cy="1600200"/>
          </a:xfrm>
          <a:prstGeom prst="rect">
            <a:avLst/>
          </a:prstGeo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788" y="987427"/>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9" y="2057400"/>
            <a:ext cx="2949575"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Tree>
    <p:extLst>
      <p:ext uri="{BB962C8B-B14F-4D97-AF65-F5344CB8AC3E}">
        <p14:creationId xmlns:p14="http://schemas.microsoft.com/office/powerpoint/2010/main" val="2472244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457200"/>
            <a:ext cx="2949575" cy="1600200"/>
          </a:xfrm>
          <a:prstGeom prst="rect">
            <a:avLst/>
          </a:prstGeo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7"/>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30239" y="2057400"/>
            <a:ext cx="2949575"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Tree>
    <p:extLst>
      <p:ext uri="{BB962C8B-B14F-4D97-AF65-F5344CB8AC3E}">
        <p14:creationId xmlns:p14="http://schemas.microsoft.com/office/powerpoint/2010/main" val="4168465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325563"/>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787160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365125"/>
            <a:ext cx="2152650" cy="5945188"/>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28600" y="365125"/>
            <a:ext cx="6305550" cy="594518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03944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smtClean="0"/>
              <a:t>Click to edit Master subtitle style</a:t>
            </a:r>
            <a:endParaRPr lang="en-US"/>
          </a:p>
        </p:txBody>
      </p:sp>
      <p:sp>
        <p:nvSpPr>
          <p:cNvPr id="4"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5"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6" name="Rectangle 8"/>
          <p:cNvSpPr>
            <a:spLocks noGrp="1" noChangeArrowheads="1"/>
          </p:cNvSpPr>
          <p:nvPr>
            <p:ph type="sldNum" idx="12"/>
          </p:nvPr>
        </p:nvSpPr>
        <p:spPr>
          <a:ln/>
        </p:spPr>
        <p:txBody>
          <a:bodyPr/>
          <a:lstStyle>
            <a:lvl1pPr>
              <a:defRPr/>
            </a:lvl1pPr>
          </a:lstStyle>
          <a:p>
            <a:pPr>
              <a:defRPr/>
            </a:pPr>
            <a:fld id="{4629624D-CA17-4180-BA07-D74C02363ED4}" type="slidenum">
              <a:rPr lang="en-US" smtClean="0"/>
              <a:pPr>
                <a:defRPr/>
              </a:pPr>
              <a:t>‹#›</a:t>
            </a:fld>
            <a:endParaRPr lang="en-US"/>
          </a:p>
        </p:txBody>
      </p:sp>
    </p:spTree>
    <p:extLst>
      <p:ext uri="{BB962C8B-B14F-4D97-AF65-F5344CB8AC3E}">
        <p14:creationId xmlns:p14="http://schemas.microsoft.com/office/powerpoint/2010/main" val="15058739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HwU">
    <p:bg>
      <p:bgRef idx="1001">
        <a:schemeClr val="bg1"/>
      </p:bgRef>
    </p:bg>
    <p:spTree>
      <p:nvGrpSpPr>
        <p:cNvPr id="1" name=""/>
        <p:cNvGrpSpPr/>
        <p:nvPr/>
      </p:nvGrpSpPr>
      <p:grpSpPr>
        <a:xfrm>
          <a:off x="0" y="0"/>
          <a:ext cx="0" cy="0"/>
          <a:chOff x="0" y="0"/>
          <a:chExt cx="0" cy="0"/>
        </a:xfrm>
      </p:grpSpPr>
      <p:sp>
        <p:nvSpPr>
          <p:cNvPr id="6" name="Rectangle 4"/>
          <p:cNvSpPr>
            <a:spLocks noChangeArrowheads="1"/>
          </p:cNvSpPr>
          <p:nvPr/>
        </p:nvSpPr>
        <p:spPr bwMode="auto">
          <a:xfrm>
            <a:off x="0" y="1001647"/>
            <a:ext cx="9144000" cy="73025"/>
          </a:xfrm>
          <a:prstGeom prst="rect">
            <a:avLst/>
          </a:prstGeom>
          <a:solidFill>
            <a:schemeClr val="accent1"/>
          </a:solidFill>
          <a:ln>
            <a:noFill/>
          </a:ln>
          <a:effectLst/>
          <a:extLst/>
        </p:spPr>
        <p:txBody>
          <a:bodyPr wrap="none" anchor="ctr"/>
          <a:lstStyle/>
          <a:p>
            <a:pPr eaLnBrk="1" hangingPunct="1">
              <a:buClr>
                <a:srgbClr val="000000"/>
              </a:buClr>
              <a:buSzPct val="100000"/>
              <a:buFont typeface="Times New Roman" panose="02020603050405020304" pitchFamily="18" charset="0"/>
              <a:buNone/>
            </a:pPr>
            <a:endParaRPr lang="en-US" altLang="en-US" sz="1350"/>
          </a:p>
        </p:txBody>
      </p:sp>
      <p:sp>
        <p:nvSpPr>
          <p:cNvPr id="8" name="Text Box 11"/>
          <p:cNvSpPr txBox="1">
            <a:spLocks noChangeArrowheads="1"/>
          </p:cNvSpPr>
          <p:nvPr/>
        </p:nvSpPr>
        <p:spPr bwMode="auto">
          <a:xfrm>
            <a:off x="1136651" y="384175"/>
            <a:ext cx="1792288"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sz="1350"/>
          </a:p>
        </p:txBody>
      </p:sp>
    </p:spTree>
    <p:extLst>
      <p:ext uri="{BB962C8B-B14F-4D97-AF65-F5344CB8AC3E}">
        <p14:creationId xmlns:p14="http://schemas.microsoft.com/office/powerpoint/2010/main" val="191963185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wU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idx="10"/>
          </p:nvPr>
        </p:nvSpPr>
        <p:spPr/>
        <p:txBody>
          <a:bodyPr/>
          <a:lstStyle/>
          <a:p>
            <a:pPr>
              <a:defRPr/>
            </a:pPr>
            <a:r>
              <a:rPr lang="en-US" smtClean="0"/>
              <a:t>www.hu.edu.et</a:t>
            </a:r>
            <a:endParaRPr lang="en-US"/>
          </a:p>
        </p:txBody>
      </p:sp>
      <p:sp>
        <p:nvSpPr>
          <p:cNvPr id="4" name="Footer Placeholder 3"/>
          <p:cNvSpPr>
            <a:spLocks noGrp="1"/>
          </p:cNvSpPr>
          <p:nvPr>
            <p:ph type="ftr" idx="11"/>
          </p:nvPr>
        </p:nvSpPr>
        <p:spPr/>
        <p:txBody>
          <a:bodyPr/>
          <a:lstStyle/>
          <a:p>
            <a:pPr>
              <a:defRPr/>
            </a:pPr>
            <a:r>
              <a:rPr lang="en-US" smtClean="0"/>
              <a:t>Ever to Excel!</a:t>
            </a:r>
            <a:endParaRPr lang="en-US"/>
          </a:p>
        </p:txBody>
      </p:sp>
      <p:sp>
        <p:nvSpPr>
          <p:cNvPr id="5" name="Slide Number Placeholder 4"/>
          <p:cNvSpPr>
            <a:spLocks noGrp="1"/>
          </p:cNvSpPr>
          <p:nvPr>
            <p:ph type="sldNum" idx="12"/>
          </p:nvPr>
        </p:nvSpPr>
        <p:spPr/>
        <p:txBody>
          <a:bodyPr/>
          <a:lstStyle/>
          <a:p>
            <a:pPr>
              <a:defRPr/>
            </a:pPr>
            <a:fld id="{36103455-AFDC-4BAB-8C3E-1CD269E48E71}" type="slidenum">
              <a:rPr lang="en-US" smtClean="0"/>
              <a:pPr>
                <a:defRPr/>
              </a:pPr>
              <a:t>‹#›</a:t>
            </a:fld>
            <a:endParaRPr lang="en-US"/>
          </a:p>
        </p:txBody>
      </p:sp>
    </p:spTree>
    <p:extLst>
      <p:ext uri="{BB962C8B-B14F-4D97-AF65-F5344CB8AC3E}">
        <p14:creationId xmlns:p14="http://schemas.microsoft.com/office/powerpoint/2010/main" val="3109778265"/>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4" name="Rectangle 6"/>
          <p:cNvSpPr>
            <a:spLocks noGrp="1" noChangeArrowheads="1"/>
          </p:cNvSpPr>
          <p:nvPr>
            <p:ph type="dt" idx="10"/>
          </p:nvPr>
        </p:nvSpPr>
        <p:spPr>
          <a:ln/>
        </p:spPr>
        <p:txBody>
          <a:bodyPr/>
          <a:lstStyle>
            <a:lvl1pPr>
              <a:defRPr i="1"/>
            </a:lvl1pPr>
          </a:lstStyle>
          <a:p>
            <a:pPr>
              <a:defRPr/>
            </a:pPr>
            <a:r>
              <a:rPr lang="en-US" smtClean="0"/>
              <a:t>www.hu.edu.et</a:t>
            </a:r>
            <a:endParaRPr lang="en-US"/>
          </a:p>
        </p:txBody>
      </p:sp>
      <p:sp>
        <p:nvSpPr>
          <p:cNvPr id="5" name="Rectangle 7"/>
          <p:cNvSpPr>
            <a:spLocks noGrp="1" noChangeArrowheads="1"/>
          </p:cNvSpPr>
          <p:nvPr>
            <p:ph type="ftr" idx="11"/>
          </p:nvPr>
        </p:nvSpPr>
        <p:spPr>
          <a:xfrm>
            <a:off x="7543801" y="6537326"/>
            <a:ext cx="1598613" cy="333375"/>
          </a:xfrm>
          <a:ln/>
        </p:spPr>
        <p:txBody>
          <a:bodyPr/>
          <a:lstStyle>
            <a:lvl1pPr>
              <a:defRPr b="1" i="1"/>
            </a:lvl1pPr>
          </a:lstStyle>
          <a:p>
            <a:pPr>
              <a:defRPr/>
            </a:pPr>
            <a:r>
              <a:rPr lang="en-US" smtClean="0"/>
              <a:t>Ever to Excel!</a:t>
            </a:r>
            <a:endParaRPr lang="en-US"/>
          </a:p>
        </p:txBody>
      </p:sp>
      <p:sp>
        <p:nvSpPr>
          <p:cNvPr id="6" name="Rectangle 8"/>
          <p:cNvSpPr>
            <a:spLocks noGrp="1" noChangeArrowheads="1"/>
          </p:cNvSpPr>
          <p:nvPr>
            <p:ph type="sldNum" idx="12"/>
          </p:nvPr>
        </p:nvSpPr>
        <p:spPr>
          <a:xfrm>
            <a:off x="4724401" y="6537324"/>
            <a:ext cx="2132013" cy="319088"/>
          </a:xfrm>
          <a:ln/>
        </p:spPr>
        <p:txBody>
          <a:bodyPr/>
          <a:lstStyle>
            <a:lvl1pPr>
              <a:defRPr/>
            </a:lvl1pPr>
          </a:lstStyle>
          <a:p>
            <a:pPr>
              <a:defRPr/>
            </a:pPr>
            <a:fld id="{36103455-AFDC-4BAB-8C3E-1CD269E48E71}" type="slidenum">
              <a:rPr lang="en-US" smtClean="0"/>
              <a:pPr>
                <a:defRPr/>
              </a:pPr>
              <a:t>‹#›</a:t>
            </a:fld>
            <a:endParaRPr lang="en-US"/>
          </a:p>
        </p:txBody>
      </p:sp>
    </p:spTree>
    <p:extLst>
      <p:ext uri="{BB962C8B-B14F-4D97-AF65-F5344CB8AC3E}">
        <p14:creationId xmlns:p14="http://schemas.microsoft.com/office/powerpoint/2010/main" val="2256995411"/>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1" y="900115"/>
            <a:ext cx="4037013" cy="5246687"/>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6613" y="900115"/>
            <a:ext cx="4038600" cy="5246687"/>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6"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7" name="Rectangle 8"/>
          <p:cNvSpPr>
            <a:spLocks noGrp="1" noChangeArrowheads="1"/>
          </p:cNvSpPr>
          <p:nvPr>
            <p:ph type="sldNum" idx="12"/>
          </p:nvPr>
        </p:nvSpPr>
        <p:spPr>
          <a:ln/>
        </p:spPr>
        <p:txBody>
          <a:bodyPr/>
          <a:lstStyle>
            <a:lvl1pPr>
              <a:defRPr/>
            </a:lvl1pPr>
          </a:lstStyle>
          <a:p>
            <a:pPr>
              <a:defRPr/>
            </a:pPr>
            <a:fld id="{831201F2-510A-4412-A5A7-27C7D2D838CA}" type="slidenum">
              <a:rPr lang="en-US" smtClean="0"/>
              <a:pPr>
                <a:defRPr/>
              </a:pPr>
              <a:t>‹#›</a:t>
            </a:fld>
            <a:endParaRPr lang="en-US"/>
          </a:p>
        </p:txBody>
      </p:sp>
    </p:spTree>
    <p:extLst>
      <p:ext uri="{BB962C8B-B14F-4D97-AF65-F5344CB8AC3E}">
        <p14:creationId xmlns:p14="http://schemas.microsoft.com/office/powerpoint/2010/main" val="30515688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8"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9" name="Rectangle 8"/>
          <p:cNvSpPr>
            <a:spLocks noGrp="1" noChangeArrowheads="1"/>
          </p:cNvSpPr>
          <p:nvPr>
            <p:ph type="sldNum" idx="12"/>
          </p:nvPr>
        </p:nvSpPr>
        <p:spPr>
          <a:ln/>
        </p:spPr>
        <p:txBody>
          <a:bodyPr/>
          <a:lstStyle>
            <a:lvl1pPr>
              <a:defRPr/>
            </a:lvl1pPr>
          </a:lstStyle>
          <a:p>
            <a:pPr>
              <a:defRPr/>
            </a:pPr>
            <a:fld id="{75E78970-D0E6-408C-8497-3D6C3F4BCAA3}" type="slidenum">
              <a:rPr lang="en-US" smtClean="0"/>
              <a:pPr>
                <a:defRPr/>
              </a:pPr>
              <a:t>‹#›</a:t>
            </a:fld>
            <a:endParaRPr lang="en-US"/>
          </a:p>
        </p:txBody>
      </p:sp>
    </p:spTree>
    <p:extLst>
      <p:ext uri="{BB962C8B-B14F-4D97-AF65-F5344CB8AC3E}">
        <p14:creationId xmlns:p14="http://schemas.microsoft.com/office/powerpoint/2010/main" val="883900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4"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5" name="Rectangle 8"/>
          <p:cNvSpPr>
            <a:spLocks noGrp="1" noChangeArrowheads="1"/>
          </p:cNvSpPr>
          <p:nvPr>
            <p:ph type="sldNum" idx="12"/>
          </p:nvPr>
        </p:nvSpPr>
        <p:spPr>
          <a:ln/>
        </p:spPr>
        <p:txBody>
          <a:bodyPr/>
          <a:lstStyle>
            <a:lvl1pPr>
              <a:defRPr/>
            </a:lvl1pPr>
          </a:lstStyle>
          <a:p>
            <a:pPr>
              <a:defRPr/>
            </a:pPr>
            <a:fld id="{ADAD0141-BAB5-41B8-9CBD-BA365ACD5873}" type="slidenum">
              <a:rPr lang="en-US" smtClean="0"/>
              <a:pPr>
                <a:defRPr/>
              </a:pPr>
              <a:t>‹#›</a:t>
            </a:fld>
            <a:endParaRPr lang="en-US"/>
          </a:p>
        </p:txBody>
      </p:sp>
    </p:spTree>
    <p:extLst>
      <p:ext uri="{BB962C8B-B14F-4D97-AF65-F5344CB8AC3E}">
        <p14:creationId xmlns:p14="http://schemas.microsoft.com/office/powerpoint/2010/main" val="5153431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3"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4" name="Rectangle 8"/>
          <p:cNvSpPr>
            <a:spLocks noGrp="1" noChangeArrowheads="1"/>
          </p:cNvSpPr>
          <p:nvPr>
            <p:ph type="sldNum" idx="12"/>
          </p:nvPr>
        </p:nvSpPr>
        <p:spPr>
          <a:ln/>
        </p:spPr>
        <p:txBody>
          <a:bodyPr/>
          <a:lstStyle>
            <a:lvl1pPr>
              <a:defRPr/>
            </a:lvl1pPr>
          </a:lstStyle>
          <a:p>
            <a:pPr>
              <a:defRPr/>
            </a:pPr>
            <a:fld id="{662CB6B0-DFB5-4A57-992B-6A9D766DFFF1}" type="slidenum">
              <a:rPr lang="en-US" smtClean="0"/>
              <a:pPr>
                <a:defRPr/>
              </a:pPr>
              <a:t>‹#›</a:t>
            </a:fld>
            <a:endParaRPr lang="en-US"/>
          </a:p>
        </p:txBody>
      </p:sp>
    </p:spTree>
    <p:extLst>
      <p:ext uri="{BB962C8B-B14F-4D97-AF65-F5344CB8AC3E}">
        <p14:creationId xmlns:p14="http://schemas.microsoft.com/office/powerpoint/2010/main" val="12164105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6"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7" name="Rectangle 8"/>
          <p:cNvSpPr>
            <a:spLocks noGrp="1" noChangeArrowheads="1"/>
          </p:cNvSpPr>
          <p:nvPr>
            <p:ph type="sldNum" idx="12"/>
          </p:nvPr>
        </p:nvSpPr>
        <p:spPr>
          <a:ln/>
        </p:spPr>
        <p:txBody>
          <a:bodyPr/>
          <a:lstStyle>
            <a:lvl1pPr>
              <a:defRPr/>
            </a:lvl1pPr>
          </a:lstStyle>
          <a:p>
            <a:pPr>
              <a:defRPr/>
            </a:pPr>
            <a:fld id="{8D3373E0-210D-42B4-A7A4-930C988116AE}" type="slidenum">
              <a:rPr lang="en-US" smtClean="0"/>
              <a:pPr>
                <a:defRPr/>
              </a:pPr>
              <a:t>‹#›</a:t>
            </a:fld>
            <a:endParaRPr lang="en-US"/>
          </a:p>
        </p:txBody>
      </p:sp>
    </p:spTree>
    <p:extLst>
      <p:ext uri="{BB962C8B-B14F-4D97-AF65-F5344CB8AC3E}">
        <p14:creationId xmlns:p14="http://schemas.microsoft.com/office/powerpoint/2010/main" val="19308793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6"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7" name="Rectangle 8"/>
          <p:cNvSpPr>
            <a:spLocks noGrp="1" noChangeArrowheads="1"/>
          </p:cNvSpPr>
          <p:nvPr>
            <p:ph type="sldNum" idx="12"/>
          </p:nvPr>
        </p:nvSpPr>
        <p:spPr>
          <a:ln/>
        </p:spPr>
        <p:txBody>
          <a:bodyPr/>
          <a:lstStyle>
            <a:lvl1pPr>
              <a:defRPr/>
            </a:lvl1pPr>
          </a:lstStyle>
          <a:p>
            <a:pPr>
              <a:defRPr/>
            </a:pPr>
            <a:fld id="{FBE84E08-3424-4CB5-A8FF-84BB80AFF98D}" type="slidenum">
              <a:rPr lang="en-US" smtClean="0"/>
              <a:pPr>
                <a:defRPr/>
              </a:pPr>
              <a:t>‹#›</a:t>
            </a:fld>
            <a:endParaRPr lang="en-US"/>
          </a:p>
        </p:txBody>
      </p:sp>
    </p:spTree>
    <p:extLst>
      <p:ext uri="{BB962C8B-B14F-4D97-AF65-F5344CB8AC3E}">
        <p14:creationId xmlns:p14="http://schemas.microsoft.com/office/powerpoint/2010/main" val="35294077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5"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6" name="Rectangle 8"/>
          <p:cNvSpPr>
            <a:spLocks noGrp="1" noChangeArrowheads="1"/>
          </p:cNvSpPr>
          <p:nvPr>
            <p:ph type="sldNum" idx="12"/>
          </p:nvPr>
        </p:nvSpPr>
        <p:spPr>
          <a:ln/>
        </p:spPr>
        <p:txBody>
          <a:bodyPr/>
          <a:lstStyle>
            <a:lvl1pPr>
              <a:defRPr/>
            </a:lvl1pPr>
          </a:lstStyle>
          <a:p>
            <a:pPr>
              <a:defRPr/>
            </a:pPr>
            <a:fld id="{95E30E00-D272-4B8D-8A3B-6704F5F0E9E6}" type="slidenum">
              <a:rPr lang="en-US" smtClean="0"/>
              <a:pPr>
                <a:defRPr/>
              </a:pPr>
              <a:t>‹#›</a:t>
            </a:fld>
            <a:endParaRPr lang="en-US"/>
          </a:p>
        </p:txBody>
      </p:sp>
    </p:spTree>
    <p:extLst>
      <p:ext uri="{BB962C8B-B14F-4D97-AF65-F5344CB8AC3E}">
        <p14:creationId xmlns:p14="http://schemas.microsoft.com/office/powerpoint/2010/main" val="2029090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1" y="150815"/>
            <a:ext cx="2055813" cy="59959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50815"/>
            <a:ext cx="6019800" cy="59959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5"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6" name="Rectangle 8"/>
          <p:cNvSpPr>
            <a:spLocks noGrp="1" noChangeArrowheads="1"/>
          </p:cNvSpPr>
          <p:nvPr>
            <p:ph type="sldNum" idx="12"/>
          </p:nvPr>
        </p:nvSpPr>
        <p:spPr>
          <a:ln/>
        </p:spPr>
        <p:txBody>
          <a:bodyPr/>
          <a:lstStyle>
            <a:lvl1pPr>
              <a:defRPr/>
            </a:lvl1pPr>
          </a:lstStyle>
          <a:p>
            <a:pPr>
              <a:defRPr/>
            </a:pPr>
            <a:fld id="{2B5FCC6E-F3A1-4D29-81B3-1CA6558447D9}" type="slidenum">
              <a:rPr lang="en-US" smtClean="0"/>
              <a:pPr>
                <a:defRPr/>
              </a:pPr>
              <a:t>‹#›</a:t>
            </a:fld>
            <a:endParaRPr lang="en-US"/>
          </a:p>
        </p:txBody>
      </p:sp>
    </p:spTree>
    <p:extLst>
      <p:ext uri="{BB962C8B-B14F-4D97-AF65-F5344CB8AC3E}">
        <p14:creationId xmlns:p14="http://schemas.microsoft.com/office/powerpoint/2010/main" val="28104126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8BA400-57D3-446F-8557-88AEC1AA584A}" type="datetimeFigureOut">
              <a:rPr lang="en-US" smtClean="0"/>
              <a:pPr/>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a:t>
            </a:fld>
            <a:endParaRPr lang="en-US"/>
          </a:p>
        </p:txBody>
      </p:sp>
    </p:spTree>
    <p:extLst>
      <p:ext uri="{BB962C8B-B14F-4D97-AF65-F5344CB8AC3E}">
        <p14:creationId xmlns:p14="http://schemas.microsoft.com/office/powerpoint/2010/main" val="428869029"/>
      </p:ext>
    </p:extLst>
  </p:cSld>
  <p:clrMapOvr>
    <a:masterClrMapping/>
  </p:clrMapOvr>
  <p:transition>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smtClean="0"/>
              <a:t>www.hu.edu.et</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Ever to Excel!</a:t>
            </a:r>
            <a:endParaRPr lang="en-US"/>
          </a:p>
        </p:txBody>
      </p:sp>
      <p:sp>
        <p:nvSpPr>
          <p:cNvPr id="6" name="Slide Number Placeholder 5"/>
          <p:cNvSpPr>
            <a:spLocks noGrp="1"/>
          </p:cNvSpPr>
          <p:nvPr>
            <p:ph type="sldNum" sz="quarter" idx="12"/>
          </p:nvPr>
        </p:nvSpPr>
        <p:spPr/>
        <p:txBody>
          <a:bodyPr/>
          <a:lstStyle>
            <a:lvl1pPr>
              <a:defRPr/>
            </a:lvl1pPr>
          </a:lstStyle>
          <a:p>
            <a:pPr>
              <a:defRPr/>
            </a:pPr>
            <a:fld id="{59715463-5F3E-40D4-9DB8-104449CDB205}" type="slidenum">
              <a:rPr lang="en-US"/>
              <a:pPr>
                <a:defRPr/>
              </a:pPr>
              <a:t>‹#›</a:t>
            </a:fld>
            <a:endParaRPr lang="en-US"/>
          </a:p>
        </p:txBody>
      </p:sp>
    </p:spTree>
    <p:extLst>
      <p:ext uri="{BB962C8B-B14F-4D97-AF65-F5344CB8AC3E}">
        <p14:creationId xmlns:p14="http://schemas.microsoft.com/office/powerpoint/2010/main" val="8277308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p>
            <a:fld id="{BE77B579-202D-4432-BA43-D04023B4CB83}" type="datetime4">
              <a:rPr lang="en-US" smtClean="0"/>
              <a:t>October 31, 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Picture Placeholder 8"/>
          <p:cNvSpPr>
            <a:spLocks noGrp="1"/>
          </p:cNvSpPr>
          <p:nvPr>
            <p:ph type="pic" sz="quarter" idx="13"/>
          </p:nvPr>
        </p:nvSpPr>
        <p:spPr>
          <a:xfrm>
            <a:off x="457199" y="1107618"/>
            <a:ext cx="4031619" cy="4607689"/>
          </a:xfrm>
        </p:spPr>
        <p:txBody>
          <a:bodyPr/>
          <a:lstStyle/>
          <a:p>
            <a:endParaRPr lang="en-US"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916339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a:xfrm>
            <a:off x="457200" y="6172201"/>
            <a:ext cx="3429000" cy="304800"/>
          </a:xfrm>
          <a:prstGeom prst="rect">
            <a:avLst/>
          </a:prstGeom>
        </p:spPr>
        <p:txBody>
          <a:bodyPr/>
          <a:lstStyle/>
          <a:p>
            <a:fld id="{AA6F98A2-93E5-4790-BE6A-D421FE2369D3}" type="datetime4">
              <a:rPr lang="en-US" smtClean="0"/>
              <a:t>October 31, 2023</a:t>
            </a:fld>
            <a:endParaRPr lang="en-US"/>
          </a:p>
        </p:txBody>
      </p:sp>
      <p:sp>
        <p:nvSpPr>
          <p:cNvPr id="6" name="Footer Placeholder 5"/>
          <p:cNvSpPr>
            <a:spLocks noGrp="1"/>
          </p:cNvSpPr>
          <p:nvPr>
            <p:ph type="ftr" sz="quarter" idx="11"/>
          </p:nvPr>
        </p:nvSpPr>
        <p:spPr>
          <a:xfrm>
            <a:off x="457200" y="6492875"/>
            <a:ext cx="3429000" cy="28384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172201"/>
            <a:ext cx="3429000" cy="304800"/>
          </a:xfrm>
          <a:prstGeom prst="rect">
            <a:avLst/>
          </a:prstGeom>
        </p:spPr>
        <p:txBody>
          <a:bodyPr/>
          <a:lstStyle/>
          <a:p>
            <a:fld id="{0509AE1A-C4AB-42D5-A65B-F7AEDA1CB18F}" type="datetime4">
              <a:rPr lang="en-US" smtClean="0"/>
              <a:t>October 31, 2023</a:t>
            </a:fld>
            <a:endParaRPr lang="en-US" dirty="0"/>
          </a:p>
        </p:txBody>
      </p:sp>
      <p:sp>
        <p:nvSpPr>
          <p:cNvPr id="5" name="Footer Placeholder 4"/>
          <p:cNvSpPr>
            <a:spLocks noGrp="1"/>
          </p:cNvSpPr>
          <p:nvPr>
            <p:ph type="ftr" sz="quarter" idx="11"/>
          </p:nvPr>
        </p:nvSpPr>
        <p:spPr>
          <a:xfrm>
            <a:off x="457200" y="6492875"/>
            <a:ext cx="3429000" cy="283845"/>
          </a:xfrm>
          <a:prstGeom prst="rect">
            <a:avLst/>
          </a:prstGeom>
        </p:spPr>
        <p:txBody>
          <a:bodyPr/>
          <a:lstStyle/>
          <a:p>
            <a:endParaRPr lang="en-US" dirty="0"/>
          </a:p>
        </p:txBody>
      </p:sp>
      <p:sp>
        <p:nvSpPr>
          <p:cNvPr id="8" name="Title 1"/>
          <p:cNvSpPr txBox="1">
            <a:spLocks/>
          </p:cNvSpPr>
          <p:nvPr userDrawn="1"/>
        </p:nvSpPr>
        <p:spPr>
          <a:xfrm>
            <a:off x="0" y="789677"/>
            <a:ext cx="9144000" cy="709154"/>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r>
              <a:rPr lang="en-US" sz="3500" dirty="0"/>
              <a:t>College Physics</a:t>
            </a:r>
          </a:p>
          <a:p>
            <a:pPr algn="ctr"/>
            <a:endParaRPr lang="en-US" sz="1800" cap="none" dirty="0">
              <a:solidFill>
                <a:schemeClr val="accent3">
                  <a:lumMod val="20000"/>
                  <a:lumOff val="80000"/>
                </a:schemeClr>
              </a:solidFill>
              <a:latin typeface="+mn-lt"/>
            </a:endParaRPr>
          </a:p>
          <a:p>
            <a:pPr algn="ctr"/>
            <a:r>
              <a:rPr lang="en-US" sz="2000" b="1" cap="none" dirty="0">
                <a:solidFill>
                  <a:srgbClr val="212F62"/>
                </a:solidFill>
                <a:latin typeface="+mn-lt"/>
              </a:rPr>
              <a:t>Chapter # Chapter Title</a:t>
            </a:r>
          </a:p>
          <a:p>
            <a:pPr algn="ctr"/>
            <a:r>
              <a:rPr lang="en-US" sz="1600" cap="none" dirty="0">
                <a:solidFill>
                  <a:schemeClr val="tx1"/>
                </a:solidFill>
                <a:latin typeface="+mn-lt"/>
              </a:rPr>
              <a:t>PowerPoint Image Slideshow</a:t>
            </a:r>
          </a:p>
        </p:txBody>
      </p:sp>
      <p:pic>
        <p:nvPicPr>
          <p:cNvPr id="9" name="Picture 8" descr="medium_covers_Page_2.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smtClean="0"/>
              <a:t>Click to edit Master subtitle style</a:t>
            </a:r>
            <a:endParaRPr lang="en-US"/>
          </a:p>
        </p:txBody>
      </p:sp>
      <p:sp>
        <p:nvSpPr>
          <p:cNvPr id="4"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5"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6" name="Rectangle 8"/>
          <p:cNvSpPr>
            <a:spLocks noGrp="1" noChangeArrowheads="1"/>
          </p:cNvSpPr>
          <p:nvPr>
            <p:ph type="sldNum" idx="12"/>
          </p:nvPr>
        </p:nvSpPr>
        <p:spPr>
          <a:ln/>
        </p:spPr>
        <p:txBody>
          <a:bodyPr/>
          <a:lstStyle>
            <a:lvl1pPr>
              <a:defRPr/>
            </a:lvl1pPr>
          </a:lstStyle>
          <a:p>
            <a:pPr>
              <a:defRPr/>
            </a:pPr>
            <a:fld id="{4629624D-CA17-4180-BA07-D74C02363ED4}" type="slidenum">
              <a:rPr lang="en-US" smtClean="0"/>
              <a:pPr>
                <a:defRPr/>
              </a:pPr>
              <a:t>‹#›</a:t>
            </a:fld>
            <a:endParaRPr lang="en-US"/>
          </a:p>
        </p:txBody>
      </p:sp>
    </p:spTree>
    <p:extLst>
      <p:ext uri="{BB962C8B-B14F-4D97-AF65-F5344CB8AC3E}">
        <p14:creationId xmlns:p14="http://schemas.microsoft.com/office/powerpoint/2010/main" val="9274675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HwU">
    <p:bg>
      <p:bgRef idx="1001">
        <a:schemeClr val="bg1"/>
      </p:bgRef>
    </p:bg>
    <p:spTree>
      <p:nvGrpSpPr>
        <p:cNvPr id="1" name=""/>
        <p:cNvGrpSpPr/>
        <p:nvPr/>
      </p:nvGrpSpPr>
      <p:grpSpPr>
        <a:xfrm>
          <a:off x="0" y="0"/>
          <a:ext cx="0" cy="0"/>
          <a:chOff x="0" y="0"/>
          <a:chExt cx="0" cy="0"/>
        </a:xfrm>
      </p:grpSpPr>
      <p:sp>
        <p:nvSpPr>
          <p:cNvPr id="6" name="Rectangle 4"/>
          <p:cNvSpPr>
            <a:spLocks noChangeArrowheads="1"/>
          </p:cNvSpPr>
          <p:nvPr/>
        </p:nvSpPr>
        <p:spPr bwMode="auto">
          <a:xfrm>
            <a:off x="0" y="1001647"/>
            <a:ext cx="9144000" cy="73025"/>
          </a:xfrm>
          <a:prstGeom prst="rect">
            <a:avLst/>
          </a:prstGeom>
          <a:solidFill>
            <a:schemeClr val="accent1"/>
          </a:solidFill>
          <a:ln>
            <a:noFill/>
          </a:ln>
          <a:effectLst/>
          <a:extLst/>
        </p:spPr>
        <p:txBody>
          <a:bodyPr wrap="none" anchor="ctr"/>
          <a:lstStyle/>
          <a:p>
            <a:pPr eaLnBrk="1" hangingPunct="1">
              <a:buClr>
                <a:srgbClr val="000000"/>
              </a:buClr>
              <a:buSzPct val="100000"/>
              <a:buFont typeface="Times New Roman" panose="02020603050405020304" pitchFamily="18" charset="0"/>
              <a:buNone/>
            </a:pPr>
            <a:endParaRPr lang="en-US" altLang="en-US" sz="1350"/>
          </a:p>
        </p:txBody>
      </p:sp>
      <p:sp>
        <p:nvSpPr>
          <p:cNvPr id="8" name="Text Box 11"/>
          <p:cNvSpPr txBox="1">
            <a:spLocks noChangeArrowheads="1"/>
          </p:cNvSpPr>
          <p:nvPr/>
        </p:nvSpPr>
        <p:spPr bwMode="auto">
          <a:xfrm>
            <a:off x="1136651" y="384175"/>
            <a:ext cx="1792288"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sz="1350"/>
          </a:p>
        </p:txBody>
      </p:sp>
    </p:spTree>
    <p:extLst>
      <p:ext uri="{BB962C8B-B14F-4D97-AF65-F5344CB8AC3E}">
        <p14:creationId xmlns:p14="http://schemas.microsoft.com/office/powerpoint/2010/main" val="105616039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HwU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idx="10"/>
          </p:nvPr>
        </p:nvSpPr>
        <p:spPr/>
        <p:txBody>
          <a:bodyPr/>
          <a:lstStyle/>
          <a:p>
            <a:pPr>
              <a:defRPr/>
            </a:pPr>
            <a:r>
              <a:rPr lang="en-US" smtClean="0"/>
              <a:t>www.hu.edu.et</a:t>
            </a:r>
            <a:endParaRPr lang="en-US"/>
          </a:p>
        </p:txBody>
      </p:sp>
      <p:sp>
        <p:nvSpPr>
          <p:cNvPr id="4" name="Footer Placeholder 3"/>
          <p:cNvSpPr>
            <a:spLocks noGrp="1"/>
          </p:cNvSpPr>
          <p:nvPr>
            <p:ph type="ftr" idx="11"/>
          </p:nvPr>
        </p:nvSpPr>
        <p:spPr/>
        <p:txBody>
          <a:bodyPr/>
          <a:lstStyle/>
          <a:p>
            <a:pPr>
              <a:defRPr/>
            </a:pPr>
            <a:r>
              <a:rPr lang="en-US" smtClean="0"/>
              <a:t>Ever to Excel!</a:t>
            </a:r>
            <a:endParaRPr lang="en-US"/>
          </a:p>
        </p:txBody>
      </p:sp>
      <p:sp>
        <p:nvSpPr>
          <p:cNvPr id="5" name="Slide Number Placeholder 4"/>
          <p:cNvSpPr>
            <a:spLocks noGrp="1"/>
          </p:cNvSpPr>
          <p:nvPr>
            <p:ph type="sldNum" idx="12"/>
          </p:nvPr>
        </p:nvSpPr>
        <p:spPr/>
        <p:txBody>
          <a:bodyPr/>
          <a:lstStyle/>
          <a:p>
            <a:pPr>
              <a:defRPr/>
            </a:pPr>
            <a:fld id="{36103455-AFDC-4BAB-8C3E-1CD269E48E71}" type="slidenum">
              <a:rPr lang="en-US" smtClean="0"/>
              <a:pPr>
                <a:defRPr/>
              </a:pPr>
              <a:t>‹#›</a:t>
            </a:fld>
            <a:endParaRPr lang="en-US"/>
          </a:p>
        </p:txBody>
      </p:sp>
    </p:spTree>
    <p:extLst>
      <p:ext uri="{BB962C8B-B14F-4D97-AF65-F5344CB8AC3E}">
        <p14:creationId xmlns:p14="http://schemas.microsoft.com/office/powerpoint/2010/main" val="265217081"/>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4" name="Rectangle 6"/>
          <p:cNvSpPr>
            <a:spLocks noGrp="1" noChangeArrowheads="1"/>
          </p:cNvSpPr>
          <p:nvPr>
            <p:ph type="dt" idx="10"/>
          </p:nvPr>
        </p:nvSpPr>
        <p:spPr>
          <a:ln/>
        </p:spPr>
        <p:txBody>
          <a:bodyPr/>
          <a:lstStyle>
            <a:lvl1pPr>
              <a:defRPr i="1"/>
            </a:lvl1pPr>
          </a:lstStyle>
          <a:p>
            <a:pPr>
              <a:defRPr/>
            </a:pPr>
            <a:r>
              <a:rPr lang="en-US" smtClean="0"/>
              <a:t>www.hu.edu.et</a:t>
            </a:r>
            <a:endParaRPr lang="en-US"/>
          </a:p>
        </p:txBody>
      </p:sp>
      <p:sp>
        <p:nvSpPr>
          <p:cNvPr id="5" name="Rectangle 7"/>
          <p:cNvSpPr>
            <a:spLocks noGrp="1" noChangeArrowheads="1"/>
          </p:cNvSpPr>
          <p:nvPr>
            <p:ph type="ftr" idx="11"/>
          </p:nvPr>
        </p:nvSpPr>
        <p:spPr>
          <a:xfrm>
            <a:off x="7543801" y="6537326"/>
            <a:ext cx="1598613" cy="333375"/>
          </a:xfrm>
          <a:ln/>
        </p:spPr>
        <p:txBody>
          <a:bodyPr/>
          <a:lstStyle>
            <a:lvl1pPr>
              <a:defRPr b="1" i="1"/>
            </a:lvl1pPr>
          </a:lstStyle>
          <a:p>
            <a:pPr>
              <a:defRPr/>
            </a:pPr>
            <a:r>
              <a:rPr lang="en-US" smtClean="0"/>
              <a:t>Ever to Excel!</a:t>
            </a:r>
            <a:endParaRPr lang="en-US"/>
          </a:p>
        </p:txBody>
      </p:sp>
      <p:sp>
        <p:nvSpPr>
          <p:cNvPr id="6" name="Rectangle 8"/>
          <p:cNvSpPr>
            <a:spLocks noGrp="1" noChangeArrowheads="1"/>
          </p:cNvSpPr>
          <p:nvPr>
            <p:ph type="sldNum" idx="12"/>
          </p:nvPr>
        </p:nvSpPr>
        <p:spPr>
          <a:xfrm>
            <a:off x="4724401" y="6537324"/>
            <a:ext cx="2132013" cy="319088"/>
          </a:xfrm>
          <a:ln/>
        </p:spPr>
        <p:txBody>
          <a:bodyPr/>
          <a:lstStyle>
            <a:lvl1pPr>
              <a:defRPr/>
            </a:lvl1pPr>
          </a:lstStyle>
          <a:p>
            <a:pPr>
              <a:defRPr/>
            </a:pPr>
            <a:fld id="{36103455-AFDC-4BAB-8C3E-1CD269E48E71}" type="slidenum">
              <a:rPr lang="en-US" smtClean="0"/>
              <a:pPr>
                <a:defRPr/>
              </a:pPr>
              <a:t>‹#›</a:t>
            </a:fld>
            <a:endParaRPr lang="en-US"/>
          </a:p>
        </p:txBody>
      </p:sp>
    </p:spTree>
    <p:extLst>
      <p:ext uri="{BB962C8B-B14F-4D97-AF65-F5344CB8AC3E}">
        <p14:creationId xmlns:p14="http://schemas.microsoft.com/office/powerpoint/2010/main" val="1383373559"/>
      </p:ext>
    </p:extLst>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1" y="900115"/>
            <a:ext cx="4037013" cy="5246687"/>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6613" y="900115"/>
            <a:ext cx="4038600" cy="5246687"/>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6"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7" name="Rectangle 8"/>
          <p:cNvSpPr>
            <a:spLocks noGrp="1" noChangeArrowheads="1"/>
          </p:cNvSpPr>
          <p:nvPr>
            <p:ph type="sldNum" idx="12"/>
          </p:nvPr>
        </p:nvSpPr>
        <p:spPr>
          <a:ln/>
        </p:spPr>
        <p:txBody>
          <a:bodyPr/>
          <a:lstStyle>
            <a:lvl1pPr>
              <a:defRPr/>
            </a:lvl1pPr>
          </a:lstStyle>
          <a:p>
            <a:pPr>
              <a:defRPr/>
            </a:pPr>
            <a:fld id="{831201F2-510A-4412-A5A7-27C7D2D838CA}" type="slidenum">
              <a:rPr lang="en-US" smtClean="0"/>
              <a:pPr>
                <a:defRPr/>
              </a:pPr>
              <a:t>‹#›</a:t>
            </a:fld>
            <a:endParaRPr lang="en-US"/>
          </a:p>
        </p:txBody>
      </p:sp>
    </p:spTree>
    <p:extLst>
      <p:ext uri="{BB962C8B-B14F-4D97-AF65-F5344CB8AC3E}">
        <p14:creationId xmlns:p14="http://schemas.microsoft.com/office/powerpoint/2010/main" val="16083523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8"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9" name="Rectangle 8"/>
          <p:cNvSpPr>
            <a:spLocks noGrp="1" noChangeArrowheads="1"/>
          </p:cNvSpPr>
          <p:nvPr>
            <p:ph type="sldNum" idx="12"/>
          </p:nvPr>
        </p:nvSpPr>
        <p:spPr>
          <a:ln/>
        </p:spPr>
        <p:txBody>
          <a:bodyPr/>
          <a:lstStyle>
            <a:lvl1pPr>
              <a:defRPr/>
            </a:lvl1pPr>
          </a:lstStyle>
          <a:p>
            <a:pPr>
              <a:defRPr/>
            </a:pPr>
            <a:fld id="{75E78970-D0E6-408C-8497-3D6C3F4BCAA3}" type="slidenum">
              <a:rPr lang="en-US" smtClean="0"/>
              <a:pPr>
                <a:defRPr/>
              </a:pPr>
              <a:t>‹#›</a:t>
            </a:fld>
            <a:endParaRPr lang="en-US"/>
          </a:p>
        </p:txBody>
      </p:sp>
    </p:spTree>
    <p:extLst>
      <p:ext uri="{BB962C8B-B14F-4D97-AF65-F5344CB8AC3E}">
        <p14:creationId xmlns:p14="http://schemas.microsoft.com/office/powerpoint/2010/main" val="17567389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4"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5" name="Rectangle 8"/>
          <p:cNvSpPr>
            <a:spLocks noGrp="1" noChangeArrowheads="1"/>
          </p:cNvSpPr>
          <p:nvPr>
            <p:ph type="sldNum" idx="12"/>
          </p:nvPr>
        </p:nvSpPr>
        <p:spPr>
          <a:ln/>
        </p:spPr>
        <p:txBody>
          <a:bodyPr/>
          <a:lstStyle>
            <a:lvl1pPr>
              <a:defRPr/>
            </a:lvl1pPr>
          </a:lstStyle>
          <a:p>
            <a:pPr>
              <a:defRPr/>
            </a:pPr>
            <a:fld id="{ADAD0141-BAB5-41B8-9CBD-BA365ACD5873}" type="slidenum">
              <a:rPr lang="en-US" smtClean="0"/>
              <a:pPr>
                <a:defRPr/>
              </a:pPr>
              <a:t>‹#›</a:t>
            </a:fld>
            <a:endParaRPr lang="en-US"/>
          </a:p>
        </p:txBody>
      </p:sp>
    </p:spTree>
    <p:extLst>
      <p:ext uri="{BB962C8B-B14F-4D97-AF65-F5344CB8AC3E}">
        <p14:creationId xmlns:p14="http://schemas.microsoft.com/office/powerpoint/2010/main" val="20556204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3"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4" name="Rectangle 8"/>
          <p:cNvSpPr>
            <a:spLocks noGrp="1" noChangeArrowheads="1"/>
          </p:cNvSpPr>
          <p:nvPr>
            <p:ph type="sldNum" idx="12"/>
          </p:nvPr>
        </p:nvSpPr>
        <p:spPr>
          <a:ln/>
        </p:spPr>
        <p:txBody>
          <a:bodyPr/>
          <a:lstStyle>
            <a:lvl1pPr>
              <a:defRPr/>
            </a:lvl1pPr>
          </a:lstStyle>
          <a:p>
            <a:pPr>
              <a:defRPr/>
            </a:pPr>
            <a:fld id="{662CB6B0-DFB5-4A57-992B-6A9D766DFFF1}" type="slidenum">
              <a:rPr lang="en-US" smtClean="0"/>
              <a:pPr>
                <a:defRPr/>
              </a:pPr>
              <a:t>‹#›</a:t>
            </a:fld>
            <a:endParaRPr lang="en-US"/>
          </a:p>
        </p:txBody>
      </p:sp>
    </p:spTree>
    <p:extLst>
      <p:ext uri="{BB962C8B-B14F-4D97-AF65-F5344CB8AC3E}">
        <p14:creationId xmlns:p14="http://schemas.microsoft.com/office/powerpoint/2010/main" val="34383937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6"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7" name="Rectangle 8"/>
          <p:cNvSpPr>
            <a:spLocks noGrp="1" noChangeArrowheads="1"/>
          </p:cNvSpPr>
          <p:nvPr>
            <p:ph type="sldNum" idx="12"/>
          </p:nvPr>
        </p:nvSpPr>
        <p:spPr>
          <a:ln/>
        </p:spPr>
        <p:txBody>
          <a:bodyPr/>
          <a:lstStyle>
            <a:lvl1pPr>
              <a:defRPr/>
            </a:lvl1pPr>
          </a:lstStyle>
          <a:p>
            <a:pPr>
              <a:defRPr/>
            </a:pPr>
            <a:fld id="{8D3373E0-210D-42B4-A7A4-930C988116AE}" type="slidenum">
              <a:rPr lang="en-US" smtClean="0"/>
              <a:pPr>
                <a:defRPr/>
              </a:pPr>
              <a:t>‹#›</a:t>
            </a:fld>
            <a:endParaRPr lang="en-US"/>
          </a:p>
        </p:txBody>
      </p:sp>
    </p:spTree>
    <p:extLst>
      <p:ext uri="{BB962C8B-B14F-4D97-AF65-F5344CB8AC3E}">
        <p14:creationId xmlns:p14="http://schemas.microsoft.com/office/powerpoint/2010/main" val="30090342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6"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7" name="Rectangle 8"/>
          <p:cNvSpPr>
            <a:spLocks noGrp="1" noChangeArrowheads="1"/>
          </p:cNvSpPr>
          <p:nvPr>
            <p:ph type="sldNum" idx="12"/>
          </p:nvPr>
        </p:nvSpPr>
        <p:spPr>
          <a:ln/>
        </p:spPr>
        <p:txBody>
          <a:bodyPr/>
          <a:lstStyle>
            <a:lvl1pPr>
              <a:defRPr/>
            </a:lvl1pPr>
          </a:lstStyle>
          <a:p>
            <a:pPr>
              <a:defRPr/>
            </a:pPr>
            <a:fld id="{FBE84E08-3424-4CB5-A8FF-84BB80AFF98D}" type="slidenum">
              <a:rPr lang="en-US" smtClean="0"/>
              <a:pPr>
                <a:defRPr/>
              </a:pPr>
              <a:t>‹#›</a:t>
            </a:fld>
            <a:endParaRPr lang="en-US"/>
          </a:p>
        </p:txBody>
      </p:sp>
    </p:spTree>
    <p:extLst>
      <p:ext uri="{BB962C8B-B14F-4D97-AF65-F5344CB8AC3E}">
        <p14:creationId xmlns:p14="http://schemas.microsoft.com/office/powerpoint/2010/main" val="7099618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5"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6" name="Rectangle 8"/>
          <p:cNvSpPr>
            <a:spLocks noGrp="1" noChangeArrowheads="1"/>
          </p:cNvSpPr>
          <p:nvPr>
            <p:ph type="sldNum" idx="12"/>
          </p:nvPr>
        </p:nvSpPr>
        <p:spPr>
          <a:ln/>
        </p:spPr>
        <p:txBody>
          <a:bodyPr/>
          <a:lstStyle>
            <a:lvl1pPr>
              <a:defRPr/>
            </a:lvl1pPr>
          </a:lstStyle>
          <a:p>
            <a:pPr>
              <a:defRPr/>
            </a:pPr>
            <a:fld id="{95E30E00-D272-4B8D-8A3B-6704F5F0E9E6}" type="slidenum">
              <a:rPr lang="en-US" smtClean="0"/>
              <a:pPr>
                <a:defRPr/>
              </a:pPr>
              <a:t>‹#›</a:t>
            </a:fld>
            <a:endParaRPr lang="en-US"/>
          </a:p>
        </p:txBody>
      </p:sp>
    </p:spTree>
    <p:extLst>
      <p:ext uri="{BB962C8B-B14F-4D97-AF65-F5344CB8AC3E}">
        <p14:creationId xmlns:p14="http://schemas.microsoft.com/office/powerpoint/2010/main" val="26421542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1" y="150815"/>
            <a:ext cx="2055813" cy="59959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50815"/>
            <a:ext cx="6019800" cy="59959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dt" idx="10"/>
          </p:nvPr>
        </p:nvSpPr>
        <p:spPr>
          <a:ln/>
        </p:spPr>
        <p:txBody>
          <a:bodyPr/>
          <a:lstStyle>
            <a:lvl1pPr>
              <a:defRPr/>
            </a:lvl1pPr>
          </a:lstStyle>
          <a:p>
            <a:pPr>
              <a:defRPr/>
            </a:pPr>
            <a:r>
              <a:rPr lang="en-US" smtClean="0"/>
              <a:t>www.hu.edu.et</a:t>
            </a:r>
            <a:endParaRPr lang="en-US"/>
          </a:p>
        </p:txBody>
      </p:sp>
      <p:sp>
        <p:nvSpPr>
          <p:cNvPr id="5" name="Rectangle 7"/>
          <p:cNvSpPr>
            <a:spLocks noGrp="1" noChangeArrowheads="1"/>
          </p:cNvSpPr>
          <p:nvPr>
            <p:ph type="ftr" idx="11"/>
          </p:nvPr>
        </p:nvSpPr>
        <p:spPr>
          <a:ln/>
        </p:spPr>
        <p:txBody>
          <a:bodyPr/>
          <a:lstStyle>
            <a:lvl1pPr>
              <a:defRPr/>
            </a:lvl1pPr>
          </a:lstStyle>
          <a:p>
            <a:pPr>
              <a:defRPr/>
            </a:pPr>
            <a:r>
              <a:rPr lang="en-US" smtClean="0"/>
              <a:t>Ever to Excel!</a:t>
            </a:r>
            <a:endParaRPr lang="en-US"/>
          </a:p>
        </p:txBody>
      </p:sp>
      <p:sp>
        <p:nvSpPr>
          <p:cNvPr id="6" name="Rectangle 8"/>
          <p:cNvSpPr>
            <a:spLocks noGrp="1" noChangeArrowheads="1"/>
          </p:cNvSpPr>
          <p:nvPr>
            <p:ph type="sldNum" idx="12"/>
          </p:nvPr>
        </p:nvSpPr>
        <p:spPr>
          <a:ln/>
        </p:spPr>
        <p:txBody>
          <a:bodyPr/>
          <a:lstStyle>
            <a:lvl1pPr>
              <a:defRPr/>
            </a:lvl1pPr>
          </a:lstStyle>
          <a:p>
            <a:pPr>
              <a:defRPr/>
            </a:pPr>
            <a:fld id="{2B5FCC6E-F3A1-4D29-81B3-1CA6558447D9}" type="slidenum">
              <a:rPr lang="en-US" smtClean="0"/>
              <a:pPr>
                <a:defRPr/>
              </a:pPr>
              <a:t>‹#›</a:t>
            </a:fld>
            <a:endParaRPr lang="en-US"/>
          </a:p>
        </p:txBody>
      </p:sp>
    </p:spTree>
    <p:extLst>
      <p:ext uri="{BB962C8B-B14F-4D97-AF65-F5344CB8AC3E}">
        <p14:creationId xmlns:p14="http://schemas.microsoft.com/office/powerpoint/2010/main" val="43413501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8BA400-57D3-446F-8557-88AEC1AA584A}" type="datetimeFigureOut">
              <a:rPr lang="en-US" smtClean="0"/>
              <a:pPr/>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a:t>
            </a:fld>
            <a:endParaRPr lang="en-US"/>
          </a:p>
        </p:txBody>
      </p:sp>
    </p:spTree>
    <p:extLst>
      <p:ext uri="{BB962C8B-B14F-4D97-AF65-F5344CB8AC3E}">
        <p14:creationId xmlns:p14="http://schemas.microsoft.com/office/powerpoint/2010/main" val="4134928821"/>
      </p:ext>
    </p:extLst>
  </p:cSld>
  <p:clrMapOvr>
    <a:masterClrMapping/>
  </p:clrMapOvr>
  <p:transition>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smtClean="0"/>
              <a:t>www.hu.edu.et</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Ever to Excel!</a:t>
            </a:r>
            <a:endParaRPr lang="en-US"/>
          </a:p>
        </p:txBody>
      </p:sp>
      <p:sp>
        <p:nvSpPr>
          <p:cNvPr id="6" name="Slide Number Placeholder 5"/>
          <p:cNvSpPr>
            <a:spLocks noGrp="1"/>
          </p:cNvSpPr>
          <p:nvPr>
            <p:ph type="sldNum" sz="quarter" idx="12"/>
          </p:nvPr>
        </p:nvSpPr>
        <p:spPr/>
        <p:txBody>
          <a:bodyPr/>
          <a:lstStyle>
            <a:lvl1pPr>
              <a:defRPr/>
            </a:lvl1pPr>
          </a:lstStyle>
          <a:p>
            <a:pPr>
              <a:defRPr/>
            </a:pPr>
            <a:fld id="{59715463-5F3E-40D4-9DB8-104449CDB205}" type="slidenum">
              <a:rPr lang="en-US"/>
              <a:pPr>
                <a:defRPr/>
              </a:pPr>
              <a:t>‹#›</a:t>
            </a:fld>
            <a:endParaRPr lang="en-US"/>
          </a:p>
        </p:txBody>
      </p:sp>
    </p:spTree>
    <p:extLst>
      <p:ext uri="{BB962C8B-B14F-4D97-AF65-F5344CB8AC3E}">
        <p14:creationId xmlns:p14="http://schemas.microsoft.com/office/powerpoint/2010/main" val="184825012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27189A3-3614-49A2-842B-76FE28984EE1}" type="datetime4">
              <a:rPr lang="en-US" smtClean="0"/>
              <a:t>October 31, 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a:lstStyle/>
          <a:p>
            <a:endParaRPr lang="en-US"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69746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p>
            <a:fld id="{BE77B579-202D-4432-BA43-D04023B4CB83}" type="datetime4">
              <a:rPr lang="en-US" smtClean="0"/>
              <a:t>October 31, 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Picture Placeholder 8"/>
          <p:cNvSpPr>
            <a:spLocks noGrp="1"/>
          </p:cNvSpPr>
          <p:nvPr>
            <p:ph type="pic" sz="quarter" idx="13"/>
          </p:nvPr>
        </p:nvSpPr>
        <p:spPr>
          <a:xfrm>
            <a:off x="457199" y="1107618"/>
            <a:ext cx="4031619" cy="4607689"/>
          </a:xfrm>
        </p:spPr>
        <p:txBody>
          <a:bodyPr/>
          <a:lstStyle/>
          <a:p>
            <a:endParaRPr lang="en-US"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838362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a:xfrm>
            <a:off x="457200" y="6172201"/>
            <a:ext cx="3429000" cy="304800"/>
          </a:xfrm>
          <a:prstGeom prst="rect">
            <a:avLst/>
          </a:prstGeom>
        </p:spPr>
        <p:txBody>
          <a:bodyPr/>
          <a:lstStyle/>
          <a:p>
            <a:fld id="{AA6F98A2-93E5-4790-BE6A-D421FE2369D3}" type="datetime4">
              <a:rPr lang="en-US" smtClean="0"/>
              <a:t>October 31, 2023</a:t>
            </a:fld>
            <a:endParaRPr lang="en-US"/>
          </a:p>
        </p:txBody>
      </p:sp>
      <p:sp>
        <p:nvSpPr>
          <p:cNvPr id="6" name="Footer Placeholder 5"/>
          <p:cNvSpPr>
            <a:spLocks noGrp="1"/>
          </p:cNvSpPr>
          <p:nvPr>
            <p:ph type="ftr" sz="quarter" idx="11"/>
          </p:nvPr>
        </p:nvSpPr>
        <p:spPr>
          <a:xfrm>
            <a:off x="457200" y="6492875"/>
            <a:ext cx="3429000" cy="28384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Tree>
    <p:extLst>
      <p:ext uri="{BB962C8B-B14F-4D97-AF65-F5344CB8AC3E}">
        <p14:creationId xmlns:p14="http://schemas.microsoft.com/office/powerpoint/2010/main" val="9339500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172201"/>
            <a:ext cx="3429000" cy="304800"/>
          </a:xfrm>
          <a:prstGeom prst="rect">
            <a:avLst/>
          </a:prstGeom>
        </p:spPr>
        <p:txBody>
          <a:bodyPr/>
          <a:lstStyle/>
          <a:p>
            <a:fld id="{0509AE1A-C4AB-42D5-A65B-F7AEDA1CB18F}" type="datetime4">
              <a:rPr lang="en-US" smtClean="0"/>
              <a:t>October 31, 2023</a:t>
            </a:fld>
            <a:endParaRPr lang="en-US" dirty="0"/>
          </a:p>
        </p:txBody>
      </p:sp>
      <p:sp>
        <p:nvSpPr>
          <p:cNvPr id="5" name="Footer Placeholder 4"/>
          <p:cNvSpPr>
            <a:spLocks noGrp="1"/>
          </p:cNvSpPr>
          <p:nvPr>
            <p:ph type="ftr" sz="quarter" idx="11"/>
          </p:nvPr>
        </p:nvSpPr>
        <p:spPr>
          <a:xfrm>
            <a:off x="457200" y="6492875"/>
            <a:ext cx="3429000" cy="283845"/>
          </a:xfrm>
          <a:prstGeom prst="rect">
            <a:avLst/>
          </a:prstGeom>
        </p:spPr>
        <p:txBody>
          <a:bodyPr/>
          <a:lstStyle/>
          <a:p>
            <a:endParaRPr lang="en-US" dirty="0"/>
          </a:p>
        </p:txBody>
      </p:sp>
      <p:sp>
        <p:nvSpPr>
          <p:cNvPr id="8" name="Title 1"/>
          <p:cNvSpPr txBox="1">
            <a:spLocks/>
          </p:cNvSpPr>
          <p:nvPr userDrawn="1"/>
        </p:nvSpPr>
        <p:spPr>
          <a:xfrm>
            <a:off x="0" y="789677"/>
            <a:ext cx="9144000" cy="709154"/>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r>
              <a:rPr lang="en-US" sz="3500" dirty="0"/>
              <a:t>College Physics</a:t>
            </a:r>
          </a:p>
          <a:p>
            <a:pPr algn="ctr"/>
            <a:endParaRPr lang="en-US" sz="1800" cap="none" dirty="0">
              <a:solidFill>
                <a:schemeClr val="accent3">
                  <a:lumMod val="20000"/>
                  <a:lumOff val="80000"/>
                </a:schemeClr>
              </a:solidFill>
              <a:latin typeface="+mn-lt"/>
            </a:endParaRPr>
          </a:p>
          <a:p>
            <a:pPr algn="ctr"/>
            <a:r>
              <a:rPr lang="en-US" sz="2000" b="1" cap="none" dirty="0">
                <a:solidFill>
                  <a:srgbClr val="212F62"/>
                </a:solidFill>
                <a:latin typeface="+mn-lt"/>
              </a:rPr>
              <a:t>Chapter # Chapter Title</a:t>
            </a:r>
          </a:p>
          <a:p>
            <a:pPr algn="ctr"/>
            <a:r>
              <a:rPr lang="en-US" sz="1600" cap="none" dirty="0">
                <a:solidFill>
                  <a:schemeClr val="tx1"/>
                </a:solidFill>
                <a:latin typeface="+mn-lt"/>
              </a:rPr>
              <a:t>PowerPoint Image Slideshow</a:t>
            </a:r>
          </a:p>
        </p:txBody>
      </p:sp>
      <p:pic>
        <p:nvPicPr>
          <p:cNvPr id="9" name="Picture 8" descr="medium_covers_Page_2.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Tree>
    <p:extLst>
      <p:ext uri="{BB962C8B-B14F-4D97-AF65-F5344CB8AC3E}">
        <p14:creationId xmlns:p14="http://schemas.microsoft.com/office/powerpoint/2010/main" val="3914119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21" Type="http://schemas.openxmlformats.org/officeDocument/2006/relationships/image" Target="../media/image1.png"/><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oleObject" Target="../embeddings/oleObject1.bin"/><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vmlDrawing" Target="../drawings/vmlDrawing1.v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3" Type="http://schemas.openxmlformats.org/officeDocument/2006/relationships/slideLayout" Target="../slideLayouts/slideLayout31.xml"/><Relationship Id="rId21" Type="http://schemas.openxmlformats.org/officeDocument/2006/relationships/oleObject" Target="../embeddings/oleObject2.bin"/><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vmlDrawing" Target="../drawings/vmlDrawing2.v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image" Target="../media/image2.png"/><Relationship Id="rId10" Type="http://schemas.openxmlformats.org/officeDocument/2006/relationships/slideLayout" Target="../slideLayouts/slideLayout38.xml"/><Relationship Id="rId19" Type="http://schemas.openxmlformats.org/officeDocument/2006/relationships/theme" Target="../theme/theme3.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30825" name="Rectangle 9"/>
          <p:cNvSpPr>
            <a:spLocks noGrp="1" noChangeArrowheads="1"/>
          </p:cNvSpPr>
          <p:nvPr>
            <p:ph type="body" idx="1"/>
          </p:nvPr>
        </p:nvSpPr>
        <p:spPr bwMode="auto">
          <a:xfrm>
            <a:off x="228600" y="5791202"/>
            <a:ext cx="861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Tree>
    <p:extLst>
      <p:ext uri="{BB962C8B-B14F-4D97-AF65-F5344CB8AC3E}">
        <p14:creationId xmlns:p14="http://schemas.microsoft.com/office/powerpoint/2010/main" val="1682638709"/>
      </p:ext>
    </p:extLst>
  </p:cSld>
  <p:clrMap bg1="lt1" tx1="dk1" bg2="lt2" tx2="dk2" accent1="accent1" accent2="accent2" accent3="accent3" accent4="accent4" accent5="accent5" accent6="accent6" hlink="hlink" folHlink="folHlink"/>
  <p:sldLayoutIdLst>
    <p:sldLayoutId id="2147483948" r:id="rId1"/>
    <p:sldLayoutId id="2147483949" r:id="rId2"/>
    <p:sldLayoutId id="2147483950" r:id="rId3"/>
    <p:sldLayoutId id="2147483951" r:id="rId4"/>
    <p:sldLayoutId id="2147483952" r:id="rId5"/>
    <p:sldLayoutId id="2147483953" r:id="rId6"/>
    <p:sldLayoutId id="2147483954" r:id="rId7"/>
    <p:sldLayoutId id="2147483955" r:id="rId8"/>
    <p:sldLayoutId id="2147483956" r:id="rId9"/>
    <p:sldLayoutId id="2147483957" r:id="rId10"/>
    <p:sldLayoutId id="2147483958" r:id="rId11"/>
  </p:sldLayoutIdLst>
  <p:hf hdr="0" ftr="0" dt="0"/>
  <p:txStyles>
    <p:titleStyle>
      <a:lvl1pPr algn="ctr" rtl="0" fontAlgn="base">
        <a:spcBef>
          <a:spcPct val="0"/>
        </a:spcBef>
        <a:spcAft>
          <a:spcPct val="0"/>
        </a:spcAft>
        <a:defRPr sz="3300" kern="1200">
          <a:solidFill>
            <a:schemeClr val="tx2"/>
          </a:solidFill>
          <a:latin typeface="+mj-lt"/>
          <a:ea typeface="+mj-ea"/>
          <a:cs typeface="+mj-cs"/>
        </a:defRPr>
      </a:lvl1pPr>
      <a:lvl2pPr algn="ctr" rtl="0" fontAlgn="base">
        <a:spcBef>
          <a:spcPct val="0"/>
        </a:spcBef>
        <a:spcAft>
          <a:spcPct val="0"/>
        </a:spcAft>
        <a:defRPr sz="3300">
          <a:solidFill>
            <a:schemeClr val="tx2"/>
          </a:solidFill>
          <a:latin typeface="Arial" panose="020B0604020202020204" pitchFamily="34" charset="0"/>
        </a:defRPr>
      </a:lvl2pPr>
      <a:lvl3pPr algn="ctr" rtl="0" fontAlgn="base">
        <a:spcBef>
          <a:spcPct val="0"/>
        </a:spcBef>
        <a:spcAft>
          <a:spcPct val="0"/>
        </a:spcAft>
        <a:defRPr sz="3300">
          <a:solidFill>
            <a:schemeClr val="tx2"/>
          </a:solidFill>
          <a:latin typeface="Arial" panose="020B0604020202020204" pitchFamily="34" charset="0"/>
        </a:defRPr>
      </a:lvl3pPr>
      <a:lvl4pPr algn="ctr" rtl="0" fontAlgn="base">
        <a:spcBef>
          <a:spcPct val="0"/>
        </a:spcBef>
        <a:spcAft>
          <a:spcPct val="0"/>
        </a:spcAft>
        <a:defRPr sz="3300">
          <a:solidFill>
            <a:schemeClr val="tx2"/>
          </a:solidFill>
          <a:latin typeface="Arial" panose="020B0604020202020204" pitchFamily="34" charset="0"/>
        </a:defRPr>
      </a:lvl4pPr>
      <a:lvl5pPr algn="ctr" rtl="0" fontAlgn="base">
        <a:spcBef>
          <a:spcPct val="0"/>
        </a:spcBef>
        <a:spcAft>
          <a:spcPct val="0"/>
        </a:spcAft>
        <a:defRPr sz="3300">
          <a:solidFill>
            <a:schemeClr val="tx2"/>
          </a:solidFill>
          <a:latin typeface="Arial" panose="020B0604020202020204" pitchFamily="34" charset="0"/>
        </a:defRPr>
      </a:lvl5pPr>
      <a:lvl6pPr marL="342900" algn="ctr" rtl="0" fontAlgn="base">
        <a:spcBef>
          <a:spcPct val="0"/>
        </a:spcBef>
        <a:spcAft>
          <a:spcPct val="0"/>
        </a:spcAft>
        <a:defRPr sz="3300">
          <a:solidFill>
            <a:schemeClr val="tx2"/>
          </a:solidFill>
          <a:latin typeface="Arial" panose="020B0604020202020204" pitchFamily="34" charset="0"/>
        </a:defRPr>
      </a:lvl6pPr>
      <a:lvl7pPr marL="685800" algn="ctr" rtl="0" fontAlgn="base">
        <a:spcBef>
          <a:spcPct val="0"/>
        </a:spcBef>
        <a:spcAft>
          <a:spcPct val="0"/>
        </a:spcAft>
        <a:defRPr sz="3300">
          <a:solidFill>
            <a:schemeClr val="tx2"/>
          </a:solidFill>
          <a:latin typeface="Arial" panose="020B0604020202020204" pitchFamily="34" charset="0"/>
        </a:defRPr>
      </a:lvl7pPr>
      <a:lvl8pPr marL="1028700" algn="ctr" rtl="0" fontAlgn="base">
        <a:spcBef>
          <a:spcPct val="0"/>
        </a:spcBef>
        <a:spcAft>
          <a:spcPct val="0"/>
        </a:spcAft>
        <a:defRPr sz="3300">
          <a:solidFill>
            <a:schemeClr val="tx2"/>
          </a:solidFill>
          <a:latin typeface="Arial" panose="020B0604020202020204" pitchFamily="34" charset="0"/>
        </a:defRPr>
      </a:lvl8pPr>
      <a:lvl9pPr marL="1371600" algn="ctr" rtl="0" fontAlgn="base">
        <a:spcBef>
          <a:spcPct val="0"/>
        </a:spcBef>
        <a:spcAft>
          <a:spcPct val="0"/>
        </a:spcAft>
        <a:defRPr sz="3300">
          <a:solidFill>
            <a:schemeClr val="tx2"/>
          </a:solidFill>
          <a:latin typeface="Arial" panose="020B0604020202020204" pitchFamily="34" charset="0"/>
        </a:defRPr>
      </a:lvl9pPr>
    </p:titleStyle>
    <p:bodyStyle>
      <a:lvl1pPr marL="257175" indent="-257175" algn="l" rtl="0" fontAlgn="base">
        <a:spcBef>
          <a:spcPct val="20000"/>
        </a:spcBef>
        <a:spcAft>
          <a:spcPct val="0"/>
        </a:spcAft>
        <a:defRPr sz="2400" kern="1200">
          <a:solidFill>
            <a:schemeClr val="accent2"/>
          </a:solidFill>
          <a:latin typeface="+mn-lt"/>
          <a:ea typeface="+mn-ea"/>
          <a:cs typeface="+mn-cs"/>
        </a:defRPr>
      </a:lvl1pPr>
      <a:lvl2pPr marL="557213" indent="-214313" algn="l" rtl="0" fontAlgn="base">
        <a:spcBef>
          <a:spcPct val="20000"/>
        </a:spcBef>
        <a:spcAft>
          <a:spcPct val="0"/>
        </a:spcAft>
        <a:buChar char="–"/>
        <a:defRPr sz="2100" kern="1200">
          <a:solidFill>
            <a:schemeClr val="tx1"/>
          </a:solidFill>
          <a:latin typeface="+mn-lt"/>
          <a:ea typeface="+mn-ea"/>
          <a:cs typeface="+mn-cs"/>
        </a:defRPr>
      </a:lvl2pPr>
      <a:lvl3pPr marL="857250" indent="-171450" algn="l" rtl="0" fontAlgn="base">
        <a:spcBef>
          <a:spcPct val="20000"/>
        </a:spcBef>
        <a:spcAft>
          <a:spcPct val="0"/>
        </a:spcAft>
        <a:buChar char="•"/>
        <a:defRPr sz="1800" kern="1200">
          <a:solidFill>
            <a:schemeClr val="tx1"/>
          </a:solidFill>
          <a:latin typeface="+mn-lt"/>
          <a:ea typeface="+mn-ea"/>
          <a:cs typeface="+mn-cs"/>
        </a:defRPr>
      </a:lvl3pPr>
      <a:lvl4pPr marL="1200150" indent="-171450" algn="l" rtl="0" fontAlgn="base">
        <a:spcBef>
          <a:spcPct val="20000"/>
        </a:spcBef>
        <a:spcAft>
          <a:spcPct val="0"/>
        </a:spcAft>
        <a:buChar char="–"/>
        <a:defRPr sz="1500" kern="1200">
          <a:solidFill>
            <a:schemeClr val="tx1"/>
          </a:solidFill>
          <a:latin typeface="+mn-lt"/>
          <a:ea typeface="+mn-ea"/>
          <a:cs typeface="+mn-cs"/>
        </a:defRPr>
      </a:lvl4pPr>
      <a:lvl5pPr marL="1543050" indent="-171450" algn="l" rtl="0" fontAlgn="base">
        <a:spcBef>
          <a:spcPct val="20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692150"/>
        </p:xfrm>
        <a:graphic>
          <a:graphicData uri="http://schemas.openxmlformats.org/presentationml/2006/ole">
            <mc:AlternateContent xmlns:mc="http://schemas.openxmlformats.org/markup-compatibility/2006">
              <mc:Choice xmlns:v="urn:schemas-microsoft-com:vml" Requires="v">
                <p:oleObj spid="_x0000_s1091" r:id="rId20" imgW="7390476" imgH="913963" progId="">
                  <p:embed/>
                </p:oleObj>
              </mc:Choice>
              <mc:Fallback>
                <p:oleObj r:id="rId20" imgW="7390476" imgH="913963" progId="">
                  <p:embed/>
                  <p:pic>
                    <p:nvPicPr>
                      <p:cNvPr id="1026" name="Object 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7" name="Rectangle 3"/>
          <p:cNvSpPr>
            <a:spLocks noChangeArrowheads="1"/>
          </p:cNvSpPr>
          <p:nvPr/>
        </p:nvSpPr>
        <p:spPr bwMode="auto">
          <a:xfrm>
            <a:off x="0" y="6538915"/>
            <a:ext cx="9144000" cy="333375"/>
          </a:xfrm>
          <a:prstGeom prst="rect">
            <a:avLst/>
          </a:prstGeom>
          <a:gradFill rotWithShape="0">
            <a:gsLst>
              <a:gs pos="0">
                <a:srgbClr val="48BDEC"/>
              </a:gs>
              <a:gs pos="100000">
                <a:srgbClr val="1640B6"/>
              </a:gs>
            </a:gsLst>
            <a:lin ang="10800000" scaled="1"/>
          </a:gra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sz="800"/>
          </a:p>
        </p:txBody>
      </p:sp>
      <p:sp>
        <p:nvSpPr>
          <p:cNvPr id="1028" name="Rectangle 4"/>
          <p:cNvSpPr>
            <a:spLocks noChangeArrowheads="1"/>
          </p:cNvSpPr>
          <p:nvPr/>
        </p:nvSpPr>
        <p:spPr bwMode="auto">
          <a:xfrm>
            <a:off x="0" y="692152"/>
            <a:ext cx="9144000" cy="73025"/>
          </a:xfrm>
          <a:prstGeom prst="rect">
            <a:avLst/>
          </a:prstGeom>
          <a:gradFill rotWithShape="0">
            <a:gsLst>
              <a:gs pos="0">
                <a:srgbClr val="48BDEC"/>
              </a:gs>
              <a:gs pos="50000">
                <a:srgbClr val="CDEDFA"/>
              </a:gs>
              <a:gs pos="100000">
                <a:srgbClr val="48BDEC"/>
              </a:gs>
            </a:gsLst>
            <a:lin ang="10800000" scaled="1"/>
          </a:gra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sz="1350"/>
          </a:p>
        </p:txBody>
      </p:sp>
      <p:sp>
        <p:nvSpPr>
          <p:cNvPr id="1029" name="Rectangle 5"/>
          <p:cNvSpPr>
            <a:spLocks noGrp="1" noChangeArrowheads="1"/>
          </p:cNvSpPr>
          <p:nvPr>
            <p:ph type="body" idx="1"/>
          </p:nvPr>
        </p:nvSpPr>
        <p:spPr bwMode="auto">
          <a:xfrm>
            <a:off x="457201" y="900115"/>
            <a:ext cx="8228013" cy="5246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US" smtClean="0"/>
              <a:t>Click to edit the outline text format</a:t>
            </a:r>
          </a:p>
          <a:p>
            <a:pPr lvl="1"/>
            <a:r>
              <a:rPr lang="en-GB" altLang="en-US" smtClean="0"/>
              <a:t>Second Outline Level</a:t>
            </a:r>
          </a:p>
          <a:p>
            <a:pPr lvl="2"/>
            <a:r>
              <a:rPr lang="en-GB" altLang="en-US" smtClean="0"/>
              <a:t>Third Outline Level</a:t>
            </a:r>
          </a:p>
          <a:p>
            <a:pPr lvl="3"/>
            <a:r>
              <a:rPr lang="en-GB" altLang="en-US" smtClean="0"/>
              <a:t>Fourth Outline Level</a:t>
            </a:r>
          </a:p>
          <a:p>
            <a:pPr lvl="4"/>
            <a:r>
              <a:rPr lang="en-GB" altLang="en-US" smtClean="0"/>
              <a:t>Fifth Outline Level</a:t>
            </a:r>
          </a:p>
          <a:p>
            <a:pPr lvl="4"/>
            <a:r>
              <a:rPr lang="en-GB" altLang="en-US" smtClean="0"/>
              <a:t>Sixth Outline Level</a:t>
            </a:r>
          </a:p>
          <a:p>
            <a:pPr lvl="4"/>
            <a:r>
              <a:rPr lang="en-GB" altLang="en-US" smtClean="0"/>
              <a:t>Seventh Outline Level</a:t>
            </a:r>
          </a:p>
          <a:p>
            <a:pPr lvl="4"/>
            <a:r>
              <a:rPr lang="en-GB" altLang="en-US" smtClean="0"/>
              <a:t>Eighth Outline Level</a:t>
            </a:r>
          </a:p>
          <a:p>
            <a:pPr lvl="4"/>
            <a:r>
              <a:rPr lang="en-GB" altLang="en-US" smtClean="0"/>
              <a:t>Ninth Outline Level</a:t>
            </a:r>
          </a:p>
        </p:txBody>
      </p:sp>
      <p:sp>
        <p:nvSpPr>
          <p:cNvPr id="2" name="Rectangle 6"/>
          <p:cNvSpPr>
            <a:spLocks noGrp="1" noChangeArrowheads="1"/>
          </p:cNvSpPr>
          <p:nvPr>
            <p:ph type="dt"/>
          </p:nvPr>
        </p:nvSpPr>
        <p:spPr bwMode="auto">
          <a:xfrm>
            <a:off x="427039" y="6551615"/>
            <a:ext cx="2132012" cy="319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eaLnBrk="1" hangingPunct="1">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i="1">
                <a:solidFill>
                  <a:srgbClr val="000000"/>
                </a:solidFill>
                <a:latin typeface="Arial" charset="0"/>
                <a:ea typeface="Microsoft YaHei" charset="-122"/>
                <a:cs typeface="Arial Unicode MS" charset="0"/>
              </a:defRPr>
            </a:lvl1pPr>
          </a:lstStyle>
          <a:p>
            <a:pPr>
              <a:defRPr/>
            </a:pPr>
            <a:r>
              <a:rPr lang="en-US" smtClean="0"/>
              <a:t>www.hu.edu.et</a:t>
            </a:r>
            <a:endParaRPr lang="en-US"/>
          </a:p>
        </p:txBody>
      </p:sp>
      <p:sp>
        <p:nvSpPr>
          <p:cNvPr id="1031" name="Rectangle 7"/>
          <p:cNvSpPr>
            <a:spLocks noGrp="1" noChangeArrowheads="1"/>
          </p:cNvSpPr>
          <p:nvPr>
            <p:ph type="ftr"/>
          </p:nvPr>
        </p:nvSpPr>
        <p:spPr bwMode="auto">
          <a:xfrm>
            <a:off x="5943601" y="6537325"/>
            <a:ext cx="3198813"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algn="r" eaLnBrk="1" hangingPunct="1">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sz="1800" i="1">
                <a:solidFill>
                  <a:srgbClr val="000000"/>
                </a:solidFill>
                <a:latin typeface="Arial" charset="0"/>
                <a:ea typeface="Microsoft YaHei" charset="-122"/>
                <a:cs typeface="+mj-cs"/>
              </a:defRPr>
            </a:lvl1pPr>
          </a:lstStyle>
          <a:p>
            <a:pPr>
              <a:defRPr/>
            </a:pPr>
            <a:r>
              <a:rPr lang="en-US" smtClean="0"/>
              <a:t>Ever to Excel!</a:t>
            </a:r>
            <a:endParaRPr lang="en-US"/>
          </a:p>
        </p:txBody>
      </p:sp>
      <p:sp>
        <p:nvSpPr>
          <p:cNvPr id="1032" name="Rectangle 8"/>
          <p:cNvSpPr>
            <a:spLocks noGrp="1" noChangeArrowheads="1"/>
          </p:cNvSpPr>
          <p:nvPr>
            <p:ph type="sldNum"/>
          </p:nvPr>
        </p:nvSpPr>
        <p:spPr bwMode="auto">
          <a:xfrm>
            <a:off x="3276601" y="6537325"/>
            <a:ext cx="2132013"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algn="ctr" eaLnBrk="1" hangingPunct="1">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solidFill>
                  <a:srgbClr val="000000"/>
                </a:solidFill>
                <a:ea typeface="Arial Unicode MS" panose="020B0604020202020204" pitchFamily="34" charset="-128"/>
                <a:cs typeface="Arial Unicode MS" panose="020B0604020202020204" pitchFamily="34" charset="-128"/>
              </a:defRPr>
            </a:lvl1pPr>
          </a:lstStyle>
          <a:p>
            <a:pPr>
              <a:defRPr/>
            </a:pPr>
            <a:fld id="{36103455-AFDC-4BAB-8C3E-1CD269E48E71}" type="slidenum">
              <a:rPr lang="en-US" smtClean="0"/>
              <a:pPr>
                <a:defRPr/>
              </a:pPr>
              <a:t>‹#›</a:t>
            </a:fld>
            <a:endParaRPr lang="en-US"/>
          </a:p>
        </p:txBody>
      </p:sp>
      <p:sp>
        <p:nvSpPr>
          <p:cNvPr id="1033" name="Rectangle 9"/>
          <p:cNvSpPr>
            <a:spLocks noGrp="1" noChangeArrowheads="1"/>
          </p:cNvSpPr>
          <p:nvPr>
            <p:ph type="title"/>
          </p:nvPr>
        </p:nvSpPr>
        <p:spPr bwMode="auto">
          <a:xfrm>
            <a:off x="1143001" y="150815"/>
            <a:ext cx="6323013"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en-US" smtClean="0"/>
              <a:t>Click to edit the title text format</a:t>
            </a:r>
          </a:p>
        </p:txBody>
      </p:sp>
      <p:pic>
        <p:nvPicPr>
          <p:cNvPr id="1034" name="Picture 10"/>
          <p:cNvPicPr>
            <a:picLocks noChangeAspect="1" noChangeArrowheads="1"/>
          </p:cNvPicPr>
          <p:nvPr/>
        </p:nvPicPr>
        <p:blipFill>
          <a:blip r:embed="rId22" cstate="email">
            <a:extLst>
              <a:ext uri="{28A0092B-C50C-407E-A947-70E740481C1C}">
                <a14:useLocalDpi xmlns:a14="http://schemas.microsoft.com/office/drawing/2010/main" val="0"/>
              </a:ext>
            </a:extLst>
          </a:blip>
          <a:srcRect/>
          <a:stretch>
            <a:fillRect/>
          </a:stretch>
        </p:blipFill>
        <p:spPr bwMode="auto">
          <a:xfrm>
            <a:off x="304800" y="0"/>
            <a:ext cx="838200" cy="8207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35" name="Text Box 11"/>
          <p:cNvSpPr txBox="1">
            <a:spLocks noChangeArrowheads="1"/>
          </p:cNvSpPr>
          <p:nvPr/>
        </p:nvSpPr>
        <p:spPr bwMode="auto">
          <a:xfrm>
            <a:off x="1136651" y="384175"/>
            <a:ext cx="1792288"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sz="1350"/>
          </a:p>
        </p:txBody>
      </p:sp>
    </p:spTree>
    <p:extLst>
      <p:ext uri="{BB962C8B-B14F-4D97-AF65-F5344CB8AC3E}">
        <p14:creationId xmlns:p14="http://schemas.microsoft.com/office/powerpoint/2010/main" val="895899329"/>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 id="2147483983" r:id="rId12"/>
    <p:sldLayoutId id="2147483984" r:id="rId13"/>
    <p:sldLayoutId id="2147483985" r:id="rId14"/>
    <p:sldLayoutId id="2147483934" r:id="rId15"/>
    <p:sldLayoutId id="2147483920" r:id="rId16"/>
    <p:sldLayoutId id="2147483913" r:id="rId17"/>
  </p:sldLayoutIdLst>
  <p:timing>
    <p:tnLst>
      <p:par>
        <p:cTn id="1" dur="indefinite" restart="never" nodeType="tmRoot"/>
      </p:par>
    </p:tnLst>
  </p:timing>
  <p:hf hdr="0"/>
  <p:txStyles>
    <p:titleStyle>
      <a:lvl1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mj-lt"/>
          <a:ea typeface="+mj-ea"/>
          <a:cs typeface="+mj-cs"/>
        </a:defRPr>
      </a:lvl1pPr>
      <a:lvl2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Times New Roman" panose="02020603050405020304" pitchFamily="18" charset="0"/>
          <a:cs typeface="Arial" charset="0"/>
        </a:defRPr>
      </a:lvl2pPr>
      <a:lvl3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Times New Roman" panose="02020603050405020304" pitchFamily="18" charset="0"/>
          <a:cs typeface="Arial" charset="0"/>
        </a:defRPr>
      </a:lvl3pPr>
      <a:lvl4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Times New Roman" panose="02020603050405020304" pitchFamily="18" charset="0"/>
          <a:cs typeface="Arial" charset="0"/>
        </a:defRPr>
      </a:lvl4pPr>
      <a:lvl5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Times New Roman" panose="02020603050405020304" pitchFamily="18" charset="0"/>
          <a:cs typeface="Arial" charset="0"/>
        </a:defRPr>
      </a:lvl5pPr>
      <a:lvl6pPr marL="1885950" indent="-171450" algn="ctr" defTabSz="342900" rtl="0" eaLnBrk="1" fontAlgn="base" hangingPunct="1">
        <a:spcBef>
          <a:spcPct val="0"/>
        </a:spcBef>
        <a:spcAft>
          <a:spcPct val="0"/>
        </a:spcAft>
        <a:buClr>
          <a:srgbClr val="000000"/>
        </a:buClr>
        <a:buSzPct val="100000"/>
        <a:buFont typeface="Times New Roman" pitchFamily="16" charset="0"/>
        <a:defRPr sz="2100" b="1">
          <a:solidFill>
            <a:srgbClr val="FFFFFF"/>
          </a:solidFill>
          <a:latin typeface="Arial" charset="0"/>
          <a:cs typeface="Arial" charset="0"/>
        </a:defRPr>
      </a:lvl6pPr>
      <a:lvl7pPr marL="2228850" indent="-171450" algn="ctr" defTabSz="342900" rtl="0" eaLnBrk="1" fontAlgn="base" hangingPunct="1">
        <a:spcBef>
          <a:spcPct val="0"/>
        </a:spcBef>
        <a:spcAft>
          <a:spcPct val="0"/>
        </a:spcAft>
        <a:buClr>
          <a:srgbClr val="000000"/>
        </a:buClr>
        <a:buSzPct val="100000"/>
        <a:buFont typeface="Times New Roman" pitchFamily="16" charset="0"/>
        <a:defRPr sz="2100" b="1">
          <a:solidFill>
            <a:srgbClr val="FFFFFF"/>
          </a:solidFill>
          <a:latin typeface="Arial" charset="0"/>
          <a:cs typeface="Arial" charset="0"/>
        </a:defRPr>
      </a:lvl7pPr>
      <a:lvl8pPr marL="2571750" indent="-171450" algn="ctr" defTabSz="342900" rtl="0" eaLnBrk="1" fontAlgn="base" hangingPunct="1">
        <a:spcBef>
          <a:spcPct val="0"/>
        </a:spcBef>
        <a:spcAft>
          <a:spcPct val="0"/>
        </a:spcAft>
        <a:buClr>
          <a:srgbClr val="000000"/>
        </a:buClr>
        <a:buSzPct val="100000"/>
        <a:buFont typeface="Times New Roman" pitchFamily="16" charset="0"/>
        <a:defRPr sz="2100" b="1">
          <a:solidFill>
            <a:srgbClr val="FFFFFF"/>
          </a:solidFill>
          <a:latin typeface="Arial" charset="0"/>
          <a:cs typeface="Arial" charset="0"/>
        </a:defRPr>
      </a:lvl8pPr>
      <a:lvl9pPr marL="2914650" indent="-171450" algn="ctr" defTabSz="342900" rtl="0" eaLnBrk="1" fontAlgn="base" hangingPunct="1">
        <a:spcBef>
          <a:spcPct val="0"/>
        </a:spcBef>
        <a:spcAft>
          <a:spcPct val="0"/>
        </a:spcAft>
        <a:buClr>
          <a:srgbClr val="000000"/>
        </a:buClr>
        <a:buSzPct val="100000"/>
        <a:buFont typeface="Times New Roman" pitchFamily="16" charset="0"/>
        <a:defRPr sz="2100" b="1">
          <a:solidFill>
            <a:srgbClr val="FFFFFF"/>
          </a:solidFill>
          <a:latin typeface="Arial" charset="0"/>
          <a:cs typeface="Arial" charset="0"/>
        </a:defRPr>
      </a:lvl9pPr>
    </p:titleStyle>
    <p:bodyStyle>
      <a:lvl1pPr marL="257175" indent="-257175" algn="l" defTabSz="342900" rtl="0" eaLnBrk="1" fontAlgn="base" hangingPunct="1">
        <a:spcBef>
          <a:spcPts val="525"/>
        </a:spcBef>
        <a:spcAft>
          <a:spcPct val="0"/>
        </a:spcAft>
        <a:buClr>
          <a:srgbClr val="000000"/>
        </a:buClr>
        <a:buSzPct val="100000"/>
        <a:buFont typeface="Times New Roman" panose="02020603050405020304" pitchFamily="18" charset="0"/>
        <a:defRPr sz="2100" b="1">
          <a:solidFill>
            <a:srgbClr val="2B166E"/>
          </a:solidFill>
          <a:latin typeface="+mn-lt"/>
          <a:ea typeface="+mn-ea"/>
          <a:cs typeface="+mn-cs"/>
        </a:defRPr>
      </a:lvl1pPr>
      <a:lvl2pPr marL="557213" indent="-214313" algn="l" defTabSz="342900" rtl="0" eaLnBrk="1" fontAlgn="base" hangingPunct="1">
        <a:spcBef>
          <a:spcPts val="525"/>
        </a:spcBef>
        <a:spcAft>
          <a:spcPct val="0"/>
        </a:spcAft>
        <a:buClr>
          <a:srgbClr val="000000"/>
        </a:buClr>
        <a:buSzPct val="100000"/>
        <a:buFont typeface="Times New Roman" panose="02020603050405020304" pitchFamily="18" charset="0"/>
        <a:defRPr sz="2100">
          <a:solidFill>
            <a:srgbClr val="2B166E"/>
          </a:solidFill>
          <a:latin typeface="+mj-lt"/>
          <a:ea typeface="+mn-ea"/>
        </a:defRPr>
      </a:lvl2pPr>
      <a:lvl3pPr marL="857250" indent="-171450" algn="l" defTabSz="342900" rtl="0" eaLnBrk="1" fontAlgn="base" hangingPunct="1">
        <a:spcBef>
          <a:spcPts val="450"/>
        </a:spcBef>
        <a:spcAft>
          <a:spcPct val="0"/>
        </a:spcAft>
        <a:buClr>
          <a:srgbClr val="000000"/>
        </a:buClr>
        <a:buSzPct val="100000"/>
        <a:buFont typeface="Times New Roman" panose="02020603050405020304" pitchFamily="18" charset="0"/>
        <a:defRPr sz="1800">
          <a:solidFill>
            <a:srgbClr val="2B166E"/>
          </a:solidFill>
          <a:latin typeface="+mj-lt"/>
          <a:ea typeface="+mn-ea"/>
        </a:defRPr>
      </a:lvl3pPr>
      <a:lvl4pPr marL="12001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4pPr>
      <a:lvl5pPr marL="15430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5pPr>
      <a:lvl6pPr marL="18859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6pPr>
      <a:lvl7pPr marL="22288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7pPr>
      <a:lvl8pPr marL="25717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8pPr>
      <a:lvl9pPr marL="29146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0"/>
          <a:ext cx="9144000" cy="692150"/>
        </p:xfrm>
        <a:graphic>
          <a:graphicData uri="http://schemas.openxmlformats.org/presentationml/2006/ole">
            <mc:AlternateContent xmlns:mc="http://schemas.openxmlformats.org/markup-compatibility/2006">
              <mc:Choice xmlns:v="urn:schemas-microsoft-com:vml" Requires="v">
                <p:oleObj spid="_x0000_s6192" r:id="rId21" imgW="7390476" imgH="913963" progId="">
                  <p:embed/>
                </p:oleObj>
              </mc:Choice>
              <mc:Fallback>
                <p:oleObj r:id="rId21" imgW="7390476" imgH="913963" progId="">
                  <p:embed/>
                  <p:pic>
                    <p:nvPicPr>
                      <p:cNvPr id="1026" name="Object 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7" name="Rectangle 3"/>
          <p:cNvSpPr>
            <a:spLocks noChangeArrowheads="1"/>
          </p:cNvSpPr>
          <p:nvPr/>
        </p:nvSpPr>
        <p:spPr bwMode="auto">
          <a:xfrm>
            <a:off x="0" y="6538915"/>
            <a:ext cx="9144000" cy="333375"/>
          </a:xfrm>
          <a:prstGeom prst="rect">
            <a:avLst/>
          </a:prstGeom>
          <a:gradFill rotWithShape="0">
            <a:gsLst>
              <a:gs pos="0">
                <a:srgbClr val="48BDEC"/>
              </a:gs>
              <a:gs pos="100000">
                <a:srgbClr val="1640B6"/>
              </a:gs>
            </a:gsLst>
            <a:lin ang="10800000" scaled="1"/>
          </a:gra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sz="800"/>
          </a:p>
        </p:txBody>
      </p:sp>
      <p:sp>
        <p:nvSpPr>
          <p:cNvPr id="1028" name="Rectangle 4"/>
          <p:cNvSpPr>
            <a:spLocks noChangeArrowheads="1"/>
          </p:cNvSpPr>
          <p:nvPr/>
        </p:nvSpPr>
        <p:spPr bwMode="auto">
          <a:xfrm>
            <a:off x="0" y="692152"/>
            <a:ext cx="9144000" cy="73025"/>
          </a:xfrm>
          <a:prstGeom prst="rect">
            <a:avLst/>
          </a:prstGeom>
          <a:gradFill rotWithShape="0">
            <a:gsLst>
              <a:gs pos="0">
                <a:srgbClr val="48BDEC"/>
              </a:gs>
              <a:gs pos="50000">
                <a:srgbClr val="CDEDFA"/>
              </a:gs>
              <a:gs pos="100000">
                <a:srgbClr val="48BDEC"/>
              </a:gs>
            </a:gsLst>
            <a:lin ang="10800000" scaled="1"/>
          </a:gra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sz="1350"/>
          </a:p>
        </p:txBody>
      </p:sp>
      <p:sp>
        <p:nvSpPr>
          <p:cNvPr id="1029" name="Rectangle 5"/>
          <p:cNvSpPr>
            <a:spLocks noGrp="1" noChangeArrowheads="1"/>
          </p:cNvSpPr>
          <p:nvPr>
            <p:ph type="body" idx="1"/>
          </p:nvPr>
        </p:nvSpPr>
        <p:spPr bwMode="auto">
          <a:xfrm>
            <a:off x="457201" y="900115"/>
            <a:ext cx="8228013" cy="5246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US" smtClean="0"/>
              <a:t>Click to edit the outline text format</a:t>
            </a:r>
          </a:p>
          <a:p>
            <a:pPr lvl="1"/>
            <a:r>
              <a:rPr lang="en-GB" altLang="en-US" smtClean="0"/>
              <a:t>Second Outline Level</a:t>
            </a:r>
          </a:p>
          <a:p>
            <a:pPr lvl="2"/>
            <a:r>
              <a:rPr lang="en-GB" altLang="en-US" smtClean="0"/>
              <a:t>Third Outline Level</a:t>
            </a:r>
          </a:p>
          <a:p>
            <a:pPr lvl="3"/>
            <a:r>
              <a:rPr lang="en-GB" altLang="en-US" smtClean="0"/>
              <a:t>Fourth Outline Level</a:t>
            </a:r>
          </a:p>
          <a:p>
            <a:pPr lvl="4"/>
            <a:r>
              <a:rPr lang="en-GB" altLang="en-US" smtClean="0"/>
              <a:t>Fifth Outline Level</a:t>
            </a:r>
          </a:p>
          <a:p>
            <a:pPr lvl="4"/>
            <a:r>
              <a:rPr lang="en-GB" altLang="en-US" smtClean="0"/>
              <a:t>Sixth Outline Level</a:t>
            </a:r>
          </a:p>
          <a:p>
            <a:pPr lvl="4"/>
            <a:r>
              <a:rPr lang="en-GB" altLang="en-US" smtClean="0"/>
              <a:t>Seventh Outline Level</a:t>
            </a:r>
          </a:p>
          <a:p>
            <a:pPr lvl="4"/>
            <a:r>
              <a:rPr lang="en-GB" altLang="en-US" smtClean="0"/>
              <a:t>Eighth Outline Level</a:t>
            </a:r>
          </a:p>
          <a:p>
            <a:pPr lvl="4"/>
            <a:r>
              <a:rPr lang="en-GB" altLang="en-US" smtClean="0"/>
              <a:t>Ninth Outline Level</a:t>
            </a:r>
          </a:p>
        </p:txBody>
      </p:sp>
      <p:sp>
        <p:nvSpPr>
          <p:cNvPr id="2" name="Rectangle 6"/>
          <p:cNvSpPr>
            <a:spLocks noGrp="1" noChangeArrowheads="1"/>
          </p:cNvSpPr>
          <p:nvPr>
            <p:ph type="dt"/>
          </p:nvPr>
        </p:nvSpPr>
        <p:spPr bwMode="auto">
          <a:xfrm>
            <a:off x="427039" y="6551615"/>
            <a:ext cx="2132012" cy="319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eaLnBrk="1" hangingPunct="1">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i="1">
                <a:solidFill>
                  <a:srgbClr val="000000"/>
                </a:solidFill>
                <a:latin typeface="Arial" charset="0"/>
                <a:ea typeface="Microsoft YaHei" charset="-122"/>
                <a:cs typeface="Arial Unicode MS" charset="0"/>
              </a:defRPr>
            </a:lvl1pPr>
          </a:lstStyle>
          <a:p>
            <a:pPr>
              <a:defRPr/>
            </a:pPr>
            <a:r>
              <a:rPr lang="en-US" smtClean="0"/>
              <a:t>www.hu.edu.et</a:t>
            </a:r>
            <a:endParaRPr lang="en-US"/>
          </a:p>
        </p:txBody>
      </p:sp>
      <p:sp>
        <p:nvSpPr>
          <p:cNvPr id="1031" name="Rectangle 7"/>
          <p:cNvSpPr>
            <a:spLocks noGrp="1" noChangeArrowheads="1"/>
          </p:cNvSpPr>
          <p:nvPr>
            <p:ph type="ftr"/>
          </p:nvPr>
        </p:nvSpPr>
        <p:spPr bwMode="auto">
          <a:xfrm>
            <a:off x="5943601" y="6537325"/>
            <a:ext cx="3198813"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algn="r" eaLnBrk="1" hangingPunct="1">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sz="1800" i="1">
                <a:solidFill>
                  <a:srgbClr val="000000"/>
                </a:solidFill>
                <a:latin typeface="Arial" charset="0"/>
                <a:ea typeface="Microsoft YaHei" charset="-122"/>
                <a:cs typeface="+mj-cs"/>
              </a:defRPr>
            </a:lvl1pPr>
          </a:lstStyle>
          <a:p>
            <a:pPr>
              <a:defRPr/>
            </a:pPr>
            <a:r>
              <a:rPr lang="en-US" smtClean="0"/>
              <a:t>Ever to Excel!</a:t>
            </a:r>
            <a:endParaRPr lang="en-US"/>
          </a:p>
        </p:txBody>
      </p:sp>
      <p:sp>
        <p:nvSpPr>
          <p:cNvPr id="1032" name="Rectangle 8"/>
          <p:cNvSpPr>
            <a:spLocks noGrp="1" noChangeArrowheads="1"/>
          </p:cNvSpPr>
          <p:nvPr>
            <p:ph type="sldNum"/>
          </p:nvPr>
        </p:nvSpPr>
        <p:spPr bwMode="auto">
          <a:xfrm>
            <a:off x="3276601" y="6537325"/>
            <a:ext cx="2132013"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algn="ctr" eaLnBrk="1" hangingPunct="1">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solidFill>
                  <a:srgbClr val="000000"/>
                </a:solidFill>
                <a:ea typeface="Arial Unicode MS" panose="020B0604020202020204" pitchFamily="34" charset="-128"/>
                <a:cs typeface="Arial Unicode MS" panose="020B0604020202020204" pitchFamily="34" charset="-128"/>
              </a:defRPr>
            </a:lvl1pPr>
          </a:lstStyle>
          <a:p>
            <a:pPr>
              <a:defRPr/>
            </a:pPr>
            <a:fld id="{36103455-AFDC-4BAB-8C3E-1CD269E48E71}" type="slidenum">
              <a:rPr lang="en-US" smtClean="0"/>
              <a:pPr>
                <a:defRPr/>
              </a:pPr>
              <a:t>‹#›</a:t>
            </a:fld>
            <a:endParaRPr lang="en-US"/>
          </a:p>
        </p:txBody>
      </p:sp>
      <p:sp>
        <p:nvSpPr>
          <p:cNvPr id="1033" name="Rectangle 9"/>
          <p:cNvSpPr>
            <a:spLocks noGrp="1" noChangeArrowheads="1"/>
          </p:cNvSpPr>
          <p:nvPr>
            <p:ph type="title"/>
          </p:nvPr>
        </p:nvSpPr>
        <p:spPr bwMode="auto">
          <a:xfrm>
            <a:off x="1143001" y="150815"/>
            <a:ext cx="6323013"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en-US" smtClean="0"/>
              <a:t>Click to edit the title text format</a:t>
            </a:r>
          </a:p>
        </p:txBody>
      </p:sp>
      <p:pic>
        <p:nvPicPr>
          <p:cNvPr id="1034" name="Picture 10"/>
          <p:cNvPicPr>
            <a:picLocks noChangeAspect="1" noChangeArrowheads="1"/>
          </p:cNvPicPr>
          <p:nvPr/>
        </p:nvPicPr>
        <p:blipFill>
          <a:blip r:embed="rId23" cstate="email">
            <a:extLst>
              <a:ext uri="{28A0092B-C50C-407E-A947-70E740481C1C}">
                <a14:useLocalDpi xmlns:a14="http://schemas.microsoft.com/office/drawing/2010/main" val="0"/>
              </a:ext>
            </a:extLst>
          </a:blip>
          <a:srcRect/>
          <a:stretch>
            <a:fillRect/>
          </a:stretch>
        </p:blipFill>
        <p:spPr bwMode="auto">
          <a:xfrm>
            <a:off x="304800" y="0"/>
            <a:ext cx="838200" cy="8207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35" name="Text Box 11"/>
          <p:cNvSpPr txBox="1">
            <a:spLocks noChangeArrowheads="1"/>
          </p:cNvSpPr>
          <p:nvPr/>
        </p:nvSpPr>
        <p:spPr bwMode="auto">
          <a:xfrm>
            <a:off x="1136651" y="384175"/>
            <a:ext cx="1792288" cy="306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sz="1350"/>
          </a:p>
        </p:txBody>
      </p:sp>
    </p:spTree>
    <p:extLst>
      <p:ext uri="{BB962C8B-B14F-4D97-AF65-F5344CB8AC3E}">
        <p14:creationId xmlns:p14="http://schemas.microsoft.com/office/powerpoint/2010/main" val="781609166"/>
      </p:ext>
    </p:extLst>
  </p:cSld>
  <p:clrMap bg1="lt1" tx1="dk1" bg2="lt2" tx2="dk2" accent1="accent1" accent2="accent2" accent3="accent3" accent4="accent4" accent5="accent5" accent6="accent6" hlink="hlink" folHlink="folHlink"/>
  <p:sldLayoutIdLst>
    <p:sldLayoutId id="2147483987" r:id="rId1"/>
    <p:sldLayoutId id="2147483988" r:id="rId2"/>
    <p:sldLayoutId id="2147483989" r:id="rId3"/>
    <p:sldLayoutId id="2147483990" r:id="rId4"/>
    <p:sldLayoutId id="2147483991" r:id="rId5"/>
    <p:sldLayoutId id="2147483992" r:id="rId6"/>
    <p:sldLayoutId id="2147483993" r:id="rId7"/>
    <p:sldLayoutId id="2147483994" r:id="rId8"/>
    <p:sldLayoutId id="2147483995" r:id="rId9"/>
    <p:sldLayoutId id="2147483996" r:id="rId10"/>
    <p:sldLayoutId id="2147483997" r:id="rId11"/>
    <p:sldLayoutId id="2147483998" r:id="rId12"/>
    <p:sldLayoutId id="2147483999" r:id="rId13"/>
    <p:sldLayoutId id="2147484000" r:id="rId14"/>
    <p:sldLayoutId id="2147484001" r:id="rId15"/>
    <p:sldLayoutId id="2147484002" r:id="rId16"/>
    <p:sldLayoutId id="2147484003" r:id="rId17"/>
    <p:sldLayoutId id="2147484004" r:id="rId18"/>
  </p:sldLayoutIdLst>
  <p:timing>
    <p:tnLst>
      <p:par>
        <p:cTn id="1" dur="indefinite" restart="never" nodeType="tmRoot"/>
      </p:par>
    </p:tnLst>
  </p:timing>
  <p:hf hdr="0"/>
  <p:txStyles>
    <p:titleStyle>
      <a:lvl1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mj-lt"/>
          <a:ea typeface="+mj-ea"/>
          <a:cs typeface="+mj-cs"/>
        </a:defRPr>
      </a:lvl1pPr>
      <a:lvl2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Times New Roman" panose="02020603050405020304" pitchFamily="18" charset="0"/>
          <a:cs typeface="Arial" charset="0"/>
        </a:defRPr>
      </a:lvl2pPr>
      <a:lvl3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Times New Roman" panose="02020603050405020304" pitchFamily="18" charset="0"/>
          <a:cs typeface="Arial" charset="0"/>
        </a:defRPr>
      </a:lvl3pPr>
      <a:lvl4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Times New Roman" panose="02020603050405020304" pitchFamily="18" charset="0"/>
          <a:cs typeface="Arial" charset="0"/>
        </a:defRPr>
      </a:lvl4pPr>
      <a:lvl5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Times New Roman" panose="02020603050405020304" pitchFamily="18" charset="0"/>
          <a:cs typeface="Arial" charset="0"/>
        </a:defRPr>
      </a:lvl5pPr>
      <a:lvl6pPr marL="1885950" indent="-171450" algn="ctr" defTabSz="342900" rtl="0" eaLnBrk="1" fontAlgn="base" hangingPunct="1">
        <a:spcBef>
          <a:spcPct val="0"/>
        </a:spcBef>
        <a:spcAft>
          <a:spcPct val="0"/>
        </a:spcAft>
        <a:buClr>
          <a:srgbClr val="000000"/>
        </a:buClr>
        <a:buSzPct val="100000"/>
        <a:buFont typeface="Times New Roman" pitchFamily="16" charset="0"/>
        <a:defRPr sz="2100" b="1">
          <a:solidFill>
            <a:srgbClr val="FFFFFF"/>
          </a:solidFill>
          <a:latin typeface="Arial" charset="0"/>
          <a:cs typeface="Arial" charset="0"/>
        </a:defRPr>
      </a:lvl6pPr>
      <a:lvl7pPr marL="2228850" indent="-171450" algn="ctr" defTabSz="342900" rtl="0" eaLnBrk="1" fontAlgn="base" hangingPunct="1">
        <a:spcBef>
          <a:spcPct val="0"/>
        </a:spcBef>
        <a:spcAft>
          <a:spcPct val="0"/>
        </a:spcAft>
        <a:buClr>
          <a:srgbClr val="000000"/>
        </a:buClr>
        <a:buSzPct val="100000"/>
        <a:buFont typeface="Times New Roman" pitchFamily="16" charset="0"/>
        <a:defRPr sz="2100" b="1">
          <a:solidFill>
            <a:srgbClr val="FFFFFF"/>
          </a:solidFill>
          <a:latin typeface="Arial" charset="0"/>
          <a:cs typeface="Arial" charset="0"/>
        </a:defRPr>
      </a:lvl7pPr>
      <a:lvl8pPr marL="2571750" indent="-171450" algn="ctr" defTabSz="342900" rtl="0" eaLnBrk="1" fontAlgn="base" hangingPunct="1">
        <a:spcBef>
          <a:spcPct val="0"/>
        </a:spcBef>
        <a:spcAft>
          <a:spcPct val="0"/>
        </a:spcAft>
        <a:buClr>
          <a:srgbClr val="000000"/>
        </a:buClr>
        <a:buSzPct val="100000"/>
        <a:buFont typeface="Times New Roman" pitchFamily="16" charset="0"/>
        <a:defRPr sz="2100" b="1">
          <a:solidFill>
            <a:srgbClr val="FFFFFF"/>
          </a:solidFill>
          <a:latin typeface="Arial" charset="0"/>
          <a:cs typeface="Arial" charset="0"/>
        </a:defRPr>
      </a:lvl8pPr>
      <a:lvl9pPr marL="2914650" indent="-171450" algn="ctr" defTabSz="342900" rtl="0" eaLnBrk="1" fontAlgn="base" hangingPunct="1">
        <a:spcBef>
          <a:spcPct val="0"/>
        </a:spcBef>
        <a:spcAft>
          <a:spcPct val="0"/>
        </a:spcAft>
        <a:buClr>
          <a:srgbClr val="000000"/>
        </a:buClr>
        <a:buSzPct val="100000"/>
        <a:buFont typeface="Times New Roman" pitchFamily="16" charset="0"/>
        <a:defRPr sz="2100" b="1">
          <a:solidFill>
            <a:srgbClr val="FFFFFF"/>
          </a:solidFill>
          <a:latin typeface="Arial" charset="0"/>
          <a:cs typeface="Arial" charset="0"/>
        </a:defRPr>
      </a:lvl9pPr>
    </p:titleStyle>
    <p:bodyStyle>
      <a:lvl1pPr marL="257175" indent="-257175" algn="l" defTabSz="342900" rtl="0" eaLnBrk="1" fontAlgn="base" hangingPunct="1">
        <a:spcBef>
          <a:spcPts val="525"/>
        </a:spcBef>
        <a:spcAft>
          <a:spcPct val="0"/>
        </a:spcAft>
        <a:buClr>
          <a:srgbClr val="000000"/>
        </a:buClr>
        <a:buSzPct val="100000"/>
        <a:buFont typeface="Times New Roman" panose="02020603050405020304" pitchFamily="18" charset="0"/>
        <a:defRPr sz="2100" b="1">
          <a:solidFill>
            <a:srgbClr val="2B166E"/>
          </a:solidFill>
          <a:latin typeface="+mn-lt"/>
          <a:ea typeface="+mn-ea"/>
          <a:cs typeface="+mn-cs"/>
        </a:defRPr>
      </a:lvl1pPr>
      <a:lvl2pPr marL="557213" indent="-214313" algn="l" defTabSz="342900" rtl="0" eaLnBrk="1" fontAlgn="base" hangingPunct="1">
        <a:spcBef>
          <a:spcPts val="525"/>
        </a:spcBef>
        <a:spcAft>
          <a:spcPct val="0"/>
        </a:spcAft>
        <a:buClr>
          <a:srgbClr val="000000"/>
        </a:buClr>
        <a:buSzPct val="100000"/>
        <a:buFont typeface="Times New Roman" panose="02020603050405020304" pitchFamily="18" charset="0"/>
        <a:defRPr sz="2100">
          <a:solidFill>
            <a:srgbClr val="2B166E"/>
          </a:solidFill>
          <a:latin typeface="+mj-lt"/>
          <a:ea typeface="+mn-ea"/>
        </a:defRPr>
      </a:lvl2pPr>
      <a:lvl3pPr marL="857250" indent="-171450" algn="l" defTabSz="342900" rtl="0" eaLnBrk="1" fontAlgn="base" hangingPunct="1">
        <a:spcBef>
          <a:spcPts val="450"/>
        </a:spcBef>
        <a:spcAft>
          <a:spcPct val="0"/>
        </a:spcAft>
        <a:buClr>
          <a:srgbClr val="000000"/>
        </a:buClr>
        <a:buSzPct val="100000"/>
        <a:buFont typeface="Times New Roman" panose="02020603050405020304" pitchFamily="18" charset="0"/>
        <a:defRPr sz="1800">
          <a:solidFill>
            <a:srgbClr val="2B166E"/>
          </a:solidFill>
          <a:latin typeface="+mj-lt"/>
          <a:ea typeface="+mn-ea"/>
        </a:defRPr>
      </a:lvl3pPr>
      <a:lvl4pPr marL="12001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4pPr>
      <a:lvl5pPr marL="15430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5pPr>
      <a:lvl6pPr marL="18859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6pPr>
      <a:lvl7pPr marL="22288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7pPr>
      <a:lvl8pPr marL="25717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8pPr>
      <a:lvl9pPr marL="29146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4.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44.png"/></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9.xml"/><Relationship Id="rId1" Type="http://schemas.openxmlformats.org/officeDocument/2006/relationships/slideLayout" Target="../slideLayouts/slideLayout1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6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6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43.xml"/></Relationships>
</file>

<file path=ppt/slides/_rels/slide65.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66.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67.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12.xml"/><Relationship Id="rId1" Type="http://schemas.openxmlformats.org/officeDocument/2006/relationships/slideLayout" Target="../slideLayouts/slideLayout41.xml"/><Relationship Id="rId4" Type="http://schemas.openxmlformats.org/officeDocument/2006/relationships/image" Target="../media/image6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1"/>
          <p:cNvSpPr txBox="1">
            <a:spLocks noChangeArrowheads="1"/>
          </p:cNvSpPr>
          <p:nvPr/>
        </p:nvSpPr>
        <p:spPr bwMode="auto">
          <a:xfrm>
            <a:off x="6515493" y="6513922"/>
            <a:ext cx="2133600" cy="157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a:spcBef>
                <a:spcPts val="8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a:spcBef>
                <a:spcPts val="7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a:spcBef>
                <a:spcPts val="6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a:spcBef>
                <a:spcPts val="5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r" defTabSz="914400" rtl="0" eaLnBrk="1" fontAlgn="auto" latinLnBrk="0" hangingPunct="1">
              <a:lnSpc>
                <a:spcPct val="100000"/>
              </a:lnSpc>
              <a:spcBef>
                <a:spcPct val="0"/>
              </a:spcBef>
              <a:spcAft>
                <a:spcPts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fld id="{50C94A2C-C5D9-4D43-B149-421FE0A38260}" type="slidenum">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rPr>
              <a:pPr marL="0" marR="0" lvl="0" indent="0" algn="r" defTabSz="914400" rtl="0" eaLnBrk="1" fontAlgn="auto" latinLnBrk="0" hangingPunct="1">
                <a:lnSpc>
                  <a:spcPct val="100000"/>
                </a:lnSpc>
                <a:spcBef>
                  <a:spcPct val="0"/>
                </a:spcBef>
                <a:spcAft>
                  <a:spcPts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t>1</a:t>
            </a:fld>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5124" name="Text Box 3"/>
          <p:cNvSpPr txBox="1">
            <a:spLocks noChangeArrowheads="1"/>
          </p:cNvSpPr>
          <p:nvPr/>
        </p:nvSpPr>
        <p:spPr bwMode="auto">
          <a:xfrm>
            <a:off x="216816" y="829558"/>
            <a:ext cx="8927184" cy="5400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800"/>
              </a:spcBef>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marL="914400" indent="-449263">
              <a:spcBef>
                <a:spcPts val="700"/>
              </a:spcBef>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a:spcBef>
                <a:spcPts val="600"/>
              </a:spcBef>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a:spcBef>
                <a:spcPts val="500"/>
              </a:spcBef>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a:spcBef>
                <a:spcPts val="500"/>
              </a:spcBef>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auto" latinLnBrk="0" hangingPunct="1">
              <a:lnSpc>
                <a:spcPct val="90000"/>
              </a:lnSpc>
              <a:spcBef>
                <a:spcPts val="800"/>
              </a:spcBef>
              <a:spcAft>
                <a:spcPts val="0"/>
              </a:spcAft>
              <a:buClrTx/>
              <a:buSzPct val="100000"/>
              <a:buFontTx/>
              <a:buNone/>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endParaRPr kumimoji="0" lang="en-US" altLang="en-US" sz="26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2" name="Rectangle 11"/>
          <p:cNvSpPr/>
          <p:nvPr/>
        </p:nvSpPr>
        <p:spPr>
          <a:xfrm>
            <a:off x="216816" y="1443603"/>
            <a:ext cx="8795209" cy="3139321"/>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nb-NO" altLang="en-US" sz="4400" b="1" i="0" u="none" strike="noStrike" kern="1200" cap="none" spc="0" normalizeH="0" baseline="0" noProof="0" dirty="0" smtClean="0">
                <a:ln>
                  <a:noFill/>
                </a:ln>
                <a:solidFill>
                  <a:srgbClr val="0066FF"/>
                </a:solidFill>
                <a:effectLst/>
                <a:uLnTx/>
                <a:uFillTx/>
                <a:latin typeface="Times New Roman" panose="02020603050405020304" pitchFamily="18" charset="0"/>
                <a:ea typeface="+mn-ea"/>
                <a:cs typeface="Times New Roman" panose="02020603050405020304" pitchFamily="18" charset="0"/>
              </a:rPr>
              <a:t>General Biology (Biol1012)</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nb-NO" altLang="en-US" sz="4400" b="1" i="0" u="none" strike="noStrike" kern="1200" cap="none" spc="0" normalizeH="0" baseline="0" noProof="0" dirty="0" smtClean="0">
                <a:ln>
                  <a:noFill/>
                </a:ln>
                <a:solidFill>
                  <a:srgbClr val="0066FF"/>
                </a:solidFill>
                <a:effectLst/>
                <a:uLnTx/>
                <a:uFillTx/>
                <a:latin typeface="Times New Roman" panose="02020603050405020304" pitchFamily="18" charset="0"/>
                <a:ea typeface="+mn-ea"/>
                <a:cs typeface="Times New Roman" panose="02020603050405020304" pitchFamily="18" charset="0"/>
              </a:rPr>
              <a:t>Lecture Slides</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nb-NO" altLang="en-US" sz="4400" b="1" i="0" u="none" strike="noStrike" kern="1200" cap="none" spc="0" normalizeH="0" baseline="0" noProof="0" dirty="0" smtClean="0">
                <a:ln>
                  <a:noFill/>
                </a:ln>
                <a:solidFill>
                  <a:srgbClr val="0066FF"/>
                </a:solidFill>
                <a:effectLst/>
                <a:uLnTx/>
                <a:uFillTx/>
                <a:latin typeface="Times New Roman" panose="02020603050405020304" pitchFamily="18" charset="0"/>
                <a:ea typeface="+mn-ea"/>
                <a:cs typeface="Times New Roman" panose="02020603050405020304" pitchFamily="18" charset="0"/>
              </a:rPr>
              <a:t>Chapter 2: Biomolecules</a:t>
            </a:r>
            <a:endParaRPr kumimoji="0" lang="en-US" altLang="en-US" sz="4400" b="1" i="0" u="none" strike="noStrike" kern="1200" cap="none" spc="0" normalizeH="0" baseline="0" noProof="0" dirty="0">
              <a:ln>
                <a:noFill/>
              </a:ln>
              <a:solidFill>
                <a:srgbClr val="0066FF"/>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427917884"/>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pPr>
              <a:defRPr/>
            </a:pPr>
            <a:r>
              <a:rPr lang="en-US" smtClean="0"/>
              <a:t>www.hu.edu.et</a:t>
            </a:r>
            <a:endParaRPr lang="en-US"/>
          </a:p>
        </p:txBody>
      </p:sp>
      <p:sp>
        <p:nvSpPr>
          <p:cNvPr id="3" name="Footer Placeholder 2"/>
          <p:cNvSpPr>
            <a:spLocks noGrp="1"/>
          </p:cNvSpPr>
          <p:nvPr>
            <p:ph type="ftr" idx="11"/>
          </p:nvPr>
        </p:nvSpPr>
        <p:spPr/>
        <p:txBody>
          <a:bodyPr/>
          <a:lstStyle/>
          <a:p>
            <a:pPr>
              <a:defRPr/>
            </a:pPr>
            <a:r>
              <a:rPr lang="en-US" smtClean="0"/>
              <a:t>Ever to Excel!</a:t>
            </a:r>
            <a:endParaRPr lang="en-US"/>
          </a:p>
        </p:txBody>
      </p:sp>
      <p:sp>
        <p:nvSpPr>
          <p:cNvPr id="4" name="Slide Number Placeholder 3"/>
          <p:cNvSpPr>
            <a:spLocks noGrp="1"/>
          </p:cNvSpPr>
          <p:nvPr>
            <p:ph type="sldNum" idx="12"/>
          </p:nvPr>
        </p:nvSpPr>
        <p:spPr/>
        <p:txBody>
          <a:bodyPr/>
          <a:lstStyle/>
          <a:p>
            <a:pPr>
              <a:defRPr/>
            </a:pPr>
            <a:fld id="{662CB6B0-DFB5-4A57-992B-6A9D766DFFF1}" type="slidenum">
              <a:rPr lang="en-US" smtClean="0"/>
              <a:pPr>
                <a:defRPr/>
              </a:pPr>
              <a:t>2</a:t>
            </a:fld>
            <a:endParaRPr lang="en-US"/>
          </a:p>
        </p:txBody>
      </p:sp>
      <p:sp>
        <p:nvSpPr>
          <p:cNvPr id="5" name="Rectangle 4"/>
          <p:cNvSpPr/>
          <p:nvPr/>
        </p:nvSpPr>
        <p:spPr>
          <a:xfrm>
            <a:off x="1561187" y="86585"/>
            <a:ext cx="7465162" cy="584775"/>
          </a:xfrm>
          <a:prstGeom prst="rect">
            <a:avLst/>
          </a:prstGeom>
        </p:spPr>
        <p:txBody>
          <a:bodyPr wrap="square">
            <a:spAutoFit/>
          </a:bodyPr>
          <a:lstStyle/>
          <a:p>
            <a:r>
              <a:rPr lang="en-US" sz="3200" b="1" kern="0" dirty="0">
                <a:solidFill>
                  <a:schemeClr val="bg1"/>
                </a:solidFill>
                <a:latin typeface="Times New Roman" panose="02020603050405020304" pitchFamily="18" charset="0"/>
                <a:ea typeface="+mj-ea"/>
                <a:cs typeface="Times New Roman" panose="02020603050405020304" pitchFamily="18" charset="0"/>
              </a:rPr>
              <a:t>Chapter 2: Biological Molecules</a:t>
            </a:r>
            <a:endParaRPr lang="en-US" sz="1400" dirty="0">
              <a:solidFill>
                <a:schemeClr val="bg1"/>
              </a:solidFill>
            </a:endParaRPr>
          </a:p>
        </p:txBody>
      </p:sp>
      <p:sp>
        <p:nvSpPr>
          <p:cNvPr id="6" name="Text Placeholder 3"/>
          <p:cNvSpPr txBox="1">
            <a:spLocks/>
          </p:cNvSpPr>
          <p:nvPr/>
        </p:nvSpPr>
        <p:spPr>
          <a:xfrm>
            <a:off x="251988" y="819303"/>
            <a:ext cx="8709132" cy="5732312"/>
          </a:xfrm>
          <a:prstGeom prst="rect">
            <a:avLst/>
          </a:prstGeom>
        </p:spPr>
        <p:txBody>
          <a:bodyPr>
            <a:normAutofit fontScale="92500" lnSpcReduction="10000"/>
          </a:bodyPr>
          <a:lstStyle>
            <a:lvl1pPr marL="257175" indent="-257175" algn="l" defTabSz="342900" rtl="0" eaLnBrk="1" fontAlgn="base" hangingPunct="1">
              <a:spcBef>
                <a:spcPts val="525"/>
              </a:spcBef>
              <a:spcAft>
                <a:spcPct val="0"/>
              </a:spcAft>
              <a:buClr>
                <a:srgbClr val="000000"/>
              </a:buClr>
              <a:buSzPct val="100000"/>
              <a:buFont typeface="Times New Roman" panose="02020603050405020304" pitchFamily="18" charset="0"/>
              <a:defRPr sz="2100" b="1">
                <a:solidFill>
                  <a:srgbClr val="2B166E"/>
                </a:solidFill>
                <a:latin typeface="+mn-lt"/>
                <a:ea typeface="+mn-ea"/>
                <a:cs typeface="+mn-cs"/>
              </a:defRPr>
            </a:lvl1pPr>
            <a:lvl2pPr marL="557213" indent="-214313" algn="l" defTabSz="342900" rtl="0" eaLnBrk="1" fontAlgn="base" hangingPunct="1">
              <a:spcBef>
                <a:spcPts val="525"/>
              </a:spcBef>
              <a:spcAft>
                <a:spcPct val="0"/>
              </a:spcAft>
              <a:buClr>
                <a:srgbClr val="000000"/>
              </a:buClr>
              <a:buSzPct val="100000"/>
              <a:buFont typeface="Times New Roman" panose="02020603050405020304" pitchFamily="18" charset="0"/>
              <a:defRPr sz="2100">
                <a:solidFill>
                  <a:srgbClr val="2B166E"/>
                </a:solidFill>
                <a:latin typeface="+mj-lt"/>
                <a:ea typeface="+mn-ea"/>
              </a:defRPr>
            </a:lvl2pPr>
            <a:lvl3pPr marL="857250" indent="-171450" algn="l" defTabSz="342900" rtl="0" eaLnBrk="1" fontAlgn="base" hangingPunct="1">
              <a:spcBef>
                <a:spcPts val="450"/>
              </a:spcBef>
              <a:spcAft>
                <a:spcPct val="0"/>
              </a:spcAft>
              <a:buClr>
                <a:srgbClr val="000000"/>
              </a:buClr>
              <a:buSzPct val="100000"/>
              <a:buFont typeface="Times New Roman" panose="02020603050405020304" pitchFamily="18" charset="0"/>
              <a:defRPr sz="1800">
                <a:solidFill>
                  <a:srgbClr val="2B166E"/>
                </a:solidFill>
                <a:latin typeface="+mj-lt"/>
                <a:ea typeface="+mn-ea"/>
              </a:defRPr>
            </a:lvl3pPr>
            <a:lvl4pPr marL="12001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4pPr>
            <a:lvl5pPr marL="15430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5pPr>
            <a:lvl6pPr marL="18859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6pPr>
            <a:lvl7pPr marL="22288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7pPr>
            <a:lvl8pPr marL="25717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8pPr>
            <a:lvl9pPr marL="29146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9pPr>
          </a:lstStyle>
          <a:p>
            <a:pPr marL="280988" indent="-280988">
              <a:buFont typeface="Arial" panose="020B0604020202020204" pitchFamily="34" charset="0"/>
              <a:buChar char="•"/>
            </a:pPr>
            <a:r>
              <a:rPr lang="en-US" sz="2400" b="0" kern="0" dirty="0">
                <a:latin typeface="Times New Roman" panose="02020603050405020304" pitchFamily="18" charset="0"/>
                <a:cs typeface="Times New Roman" panose="02020603050405020304" pitchFamily="18" charset="0"/>
              </a:rPr>
              <a:t>At its most fundamental level, </a:t>
            </a:r>
            <a:r>
              <a:rPr lang="en-US" sz="2400" kern="0" dirty="0">
                <a:latin typeface="Times New Roman" panose="02020603050405020304" pitchFamily="18" charset="0"/>
                <a:cs typeface="Times New Roman" panose="02020603050405020304" pitchFamily="18" charset="0"/>
              </a:rPr>
              <a:t>life is made up of </a:t>
            </a:r>
            <a:r>
              <a:rPr lang="en-US" sz="2400" kern="0" dirty="0" smtClean="0">
                <a:latin typeface="Times New Roman" panose="02020603050405020304" pitchFamily="18" charset="0"/>
                <a:cs typeface="Times New Roman" panose="02020603050405020304" pitchFamily="18" charset="0"/>
              </a:rPr>
              <a:t>matter</a:t>
            </a:r>
          </a:p>
          <a:p>
            <a:pPr marL="280988" indent="-280988">
              <a:buFont typeface="Arial" panose="020B0604020202020204" pitchFamily="34" charset="0"/>
              <a:buChar char="•"/>
            </a:pPr>
            <a:r>
              <a:rPr lang="en-US" sz="2400" kern="0" dirty="0" smtClean="0">
                <a:latin typeface="Times New Roman" panose="02020603050405020304" pitchFamily="18" charset="0"/>
                <a:cs typeface="Times New Roman" panose="02020603050405020304" pitchFamily="18" charset="0"/>
              </a:rPr>
              <a:t>Matter</a:t>
            </a:r>
            <a:r>
              <a:rPr lang="en-US" sz="2400" b="0" kern="0" dirty="0" smtClean="0">
                <a:latin typeface="Times New Roman" panose="02020603050405020304" pitchFamily="18" charset="0"/>
                <a:cs typeface="Times New Roman" panose="02020603050405020304" pitchFamily="18" charset="0"/>
              </a:rPr>
              <a:t> </a:t>
            </a:r>
            <a:r>
              <a:rPr lang="en-US" sz="2400" b="0" kern="0" dirty="0">
                <a:latin typeface="Times New Roman" panose="02020603050405020304" pitchFamily="18" charset="0"/>
                <a:cs typeface="Times New Roman" panose="02020603050405020304" pitchFamily="18" charset="0"/>
              </a:rPr>
              <a:t>is any substance that </a:t>
            </a:r>
            <a:r>
              <a:rPr lang="en-US" sz="2400" kern="0" dirty="0">
                <a:latin typeface="Times New Roman" panose="02020603050405020304" pitchFamily="18" charset="0"/>
                <a:cs typeface="Times New Roman" panose="02020603050405020304" pitchFamily="18" charset="0"/>
              </a:rPr>
              <a:t>occupies space and has mass</a:t>
            </a:r>
            <a:r>
              <a:rPr lang="en-US" sz="2400" b="0" kern="0" dirty="0" smtClean="0">
                <a:latin typeface="Times New Roman" panose="02020603050405020304" pitchFamily="18" charset="0"/>
                <a:cs typeface="Times New Roman" panose="02020603050405020304" pitchFamily="18" charset="0"/>
              </a:rPr>
              <a:t>.</a:t>
            </a:r>
          </a:p>
          <a:p>
            <a:pPr marL="280988" indent="-280988">
              <a:buFont typeface="Arial" panose="020B0604020202020204" pitchFamily="34" charset="0"/>
              <a:buChar char="•"/>
            </a:pPr>
            <a:r>
              <a:rPr lang="en-US" sz="2400" b="0" kern="0" dirty="0">
                <a:latin typeface="Times New Roman" panose="02020603050405020304" pitchFamily="18" charset="0"/>
                <a:cs typeface="Times New Roman" panose="02020603050405020304" pitchFamily="18" charset="0"/>
              </a:rPr>
              <a:t> </a:t>
            </a:r>
            <a:r>
              <a:rPr lang="en-US" sz="2400" kern="0" dirty="0">
                <a:latin typeface="Times New Roman" panose="02020603050405020304" pitchFamily="18" charset="0"/>
                <a:cs typeface="Times New Roman" panose="02020603050405020304" pitchFamily="18" charset="0"/>
              </a:rPr>
              <a:t>Elements</a:t>
            </a:r>
            <a:r>
              <a:rPr lang="en-US" sz="2400" b="0" kern="0" dirty="0">
                <a:latin typeface="Times New Roman" panose="02020603050405020304" pitchFamily="18" charset="0"/>
                <a:cs typeface="Times New Roman" panose="02020603050405020304" pitchFamily="18" charset="0"/>
              </a:rPr>
              <a:t> are </a:t>
            </a:r>
            <a:r>
              <a:rPr lang="en-US" sz="2400" b="0" u="sng" kern="0" dirty="0">
                <a:latin typeface="Times New Roman" panose="02020603050405020304" pitchFamily="18" charset="0"/>
                <a:cs typeface="Times New Roman" panose="02020603050405020304" pitchFamily="18" charset="0"/>
              </a:rPr>
              <a:t>unique forms of matter with specific chemical and physical properties </a:t>
            </a:r>
            <a:r>
              <a:rPr lang="en-US" sz="2400" b="0" kern="0" dirty="0">
                <a:latin typeface="Times New Roman" panose="02020603050405020304" pitchFamily="18" charset="0"/>
                <a:cs typeface="Times New Roman" panose="02020603050405020304" pitchFamily="18" charset="0"/>
              </a:rPr>
              <a:t>that cannot be broken down into smaller substances by ordinary chemical reactions. </a:t>
            </a:r>
            <a:endParaRPr lang="en-US" sz="2400" b="0" kern="0" dirty="0" smtClean="0">
              <a:latin typeface="Times New Roman" panose="02020603050405020304" pitchFamily="18" charset="0"/>
              <a:cs typeface="Times New Roman" panose="02020603050405020304" pitchFamily="18" charset="0"/>
            </a:endParaRPr>
          </a:p>
          <a:p>
            <a:pPr marL="280988" indent="-280988">
              <a:buFont typeface="Arial" panose="020B0604020202020204" pitchFamily="34" charset="0"/>
              <a:buChar char="•"/>
            </a:pPr>
            <a:r>
              <a:rPr lang="en-US" sz="2400" b="0" kern="0" dirty="0" smtClean="0">
                <a:latin typeface="Times New Roman" panose="02020603050405020304" pitchFamily="18" charset="0"/>
                <a:cs typeface="Times New Roman" panose="02020603050405020304" pitchFamily="18" charset="0"/>
              </a:rPr>
              <a:t>There </a:t>
            </a:r>
            <a:r>
              <a:rPr lang="en-US" sz="2400" b="0" kern="0" dirty="0">
                <a:latin typeface="Times New Roman" panose="02020603050405020304" pitchFamily="18" charset="0"/>
                <a:cs typeface="Times New Roman" panose="02020603050405020304" pitchFamily="18" charset="0"/>
              </a:rPr>
              <a:t>are </a:t>
            </a:r>
            <a:r>
              <a:rPr lang="en-US" sz="2400" kern="0" dirty="0">
                <a:latin typeface="Times New Roman" panose="02020603050405020304" pitchFamily="18" charset="0"/>
                <a:cs typeface="Times New Roman" panose="02020603050405020304" pitchFamily="18" charset="0"/>
              </a:rPr>
              <a:t>118</a:t>
            </a:r>
            <a:r>
              <a:rPr lang="en-US" sz="2400" b="0" kern="0" dirty="0">
                <a:latin typeface="Times New Roman" panose="02020603050405020304" pitchFamily="18" charset="0"/>
                <a:cs typeface="Times New Roman" panose="02020603050405020304" pitchFamily="18" charset="0"/>
              </a:rPr>
              <a:t> elements, but only </a:t>
            </a:r>
            <a:r>
              <a:rPr lang="en-US" sz="2400" kern="0" dirty="0">
                <a:latin typeface="Times New Roman" panose="02020603050405020304" pitchFamily="18" charset="0"/>
                <a:cs typeface="Times New Roman" panose="02020603050405020304" pitchFamily="18" charset="0"/>
              </a:rPr>
              <a:t>92</a:t>
            </a:r>
            <a:r>
              <a:rPr lang="en-US" sz="2400" b="0" kern="0" dirty="0">
                <a:latin typeface="Times New Roman" panose="02020603050405020304" pitchFamily="18" charset="0"/>
                <a:cs typeface="Times New Roman" panose="02020603050405020304" pitchFamily="18" charset="0"/>
              </a:rPr>
              <a:t> occur naturally. </a:t>
            </a:r>
            <a:endParaRPr lang="en-US" sz="2400" b="0" kern="0" dirty="0" smtClean="0">
              <a:latin typeface="Times New Roman" panose="02020603050405020304" pitchFamily="18" charset="0"/>
              <a:cs typeface="Times New Roman" panose="02020603050405020304" pitchFamily="18" charset="0"/>
            </a:endParaRPr>
          </a:p>
          <a:p>
            <a:pPr marL="0" indent="0"/>
            <a:endParaRPr lang="en-US" sz="2400" b="0" kern="0" dirty="0" smtClean="0">
              <a:latin typeface="Times New Roman" panose="02020603050405020304" pitchFamily="18" charset="0"/>
              <a:cs typeface="Times New Roman" panose="02020603050405020304" pitchFamily="18" charset="0"/>
            </a:endParaRPr>
          </a:p>
          <a:p>
            <a:pPr marL="0" indent="0"/>
            <a:r>
              <a:rPr lang="en-US" sz="2400" kern="0" dirty="0" smtClean="0">
                <a:solidFill>
                  <a:srgbClr val="FF0000"/>
                </a:solidFill>
                <a:latin typeface="Times New Roman" panose="02020603050405020304" pitchFamily="18" charset="0"/>
                <a:cs typeface="Times New Roman" panose="02020603050405020304" pitchFamily="18" charset="0"/>
              </a:rPr>
              <a:t>How many elements are represented in life?</a:t>
            </a:r>
          </a:p>
          <a:p>
            <a:pPr marL="342900" indent="-342900">
              <a:buFont typeface="Arial" panose="020B0604020202020204" pitchFamily="34" charset="0"/>
              <a:buChar char="•"/>
            </a:pPr>
            <a:r>
              <a:rPr lang="en-US" sz="2400" b="0" kern="0" dirty="0" smtClean="0">
                <a:latin typeface="Times New Roman" panose="02020603050405020304" pitchFamily="18" charset="0"/>
                <a:cs typeface="Times New Roman" panose="02020603050405020304" pitchFamily="18" charset="0"/>
              </a:rPr>
              <a:t>Of the 92 naturally occurring elements, only fewer than 30 are found in living cells</a:t>
            </a:r>
          </a:p>
          <a:p>
            <a:pPr marL="342900" indent="-342900">
              <a:buFont typeface="Arial" panose="020B0604020202020204" pitchFamily="34" charset="0"/>
              <a:buChar char="•"/>
            </a:pPr>
            <a:r>
              <a:rPr lang="en-US" sz="2400" b="0" kern="0" dirty="0">
                <a:latin typeface="Times New Roman" panose="02020603050405020304" pitchFamily="18" charset="0"/>
                <a:cs typeface="Times New Roman" panose="02020603050405020304" pitchFamily="18" charset="0"/>
              </a:rPr>
              <a:t>T</a:t>
            </a:r>
            <a:r>
              <a:rPr lang="en-US" sz="2400" b="0" kern="0" dirty="0" smtClean="0">
                <a:latin typeface="Times New Roman" panose="02020603050405020304" pitchFamily="18" charset="0"/>
                <a:cs typeface="Times New Roman" panose="02020603050405020304" pitchFamily="18" charset="0"/>
              </a:rPr>
              <a:t>he smallest component of an element that retains all of the chemical properties of that element is called an </a:t>
            </a:r>
            <a:r>
              <a:rPr lang="en-US" sz="2400" kern="0" dirty="0" smtClean="0">
                <a:latin typeface="Times New Roman" panose="02020603050405020304" pitchFamily="18" charset="0"/>
                <a:cs typeface="Times New Roman" panose="02020603050405020304" pitchFamily="18" charset="0"/>
              </a:rPr>
              <a:t>Atom</a:t>
            </a:r>
            <a:r>
              <a:rPr lang="en-US" sz="2400" b="0" kern="0" dirty="0" smtClean="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400" b="0" kern="0" dirty="0" smtClean="0">
                <a:latin typeface="Times New Roman" panose="02020603050405020304" pitchFamily="18" charset="0"/>
                <a:cs typeface="Times New Roman" panose="02020603050405020304" pitchFamily="18" charset="0"/>
              </a:rPr>
              <a:t>All atoms contain the subatomic particles: </a:t>
            </a:r>
          </a:p>
          <a:p>
            <a:pPr marL="845820" lvl="1">
              <a:buFont typeface="Wingdings" panose="05000000000000000000" pitchFamily="2" charset="2"/>
              <a:buChar char="ü"/>
            </a:pPr>
            <a:r>
              <a:rPr lang="en-US" sz="2400" kern="0" dirty="0" smtClean="0">
                <a:latin typeface="Times New Roman" panose="02020603050405020304" pitchFamily="18" charset="0"/>
                <a:cs typeface="Times New Roman" panose="02020603050405020304" pitchFamily="18" charset="0"/>
              </a:rPr>
              <a:t>protons </a:t>
            </a:r>
          </a:p>
          <a:p>
            <a:pPr marL="845820" lvl="1">
              <a:buFont typeface="Wingdings" panose="05000000000000000000" pitchFamily="2" charset="2"/>
              <a:buChar char="ü"/>
            </a:pPr>
            <a:r>
              <a:rPr lang="en-US" sz="2400" kern="0" dirty="0" smtClean="0">
                <a:latin typeface="Times New Roman" panose="02020603050405020304" pitchFamily="18" charset="0"/>
                <a:cs typeface="Times New Roman" panose="02020603050405020304" pitchFamily="18" charset="0"/>
              </a:rPr>
              <a:t>electrons, and </a:t>
            </a:r>
          </a:p>
          <a:p>
            <a:pPr marL="845820" lvl="1">
              <a:buFont typeface="Wingdings" panose="05000000000000000000" pitchFamily="2" charset="2"/>
              <a:buChar char="ü"/>
            </a:pPr>
            <a:r>
              <a:rPr lang="en-US" sz="2400" kern="0" dirty="0" smtClean="0">
                <a:latin typeface="Times New Roman" panose="02020603050405020304" pitchFamily="18" charset="0"/>
                <a:cs typeface="Times New Roman" panose="02020603050405020304" pitchFamily="18" charset="0"/>
              </a:rPr>
              <a:t>neutrons (H is the exception, lacking neutrons)</a:t>
            </a:r>
          </a:p>
          <a:p>
            <a:pPr marL="342900" indent="-342900">
              <a:buFont typeface="Arial" panose="020B0604020202020204" pitchFamily="34" charset="0"/>
              <a:buChar char="•"/>
            </a:pPr>
            <a:endParaRPr lang="en-US" sz="2400" b="0" kern="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b="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872825"/>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pPr>
              <a:defRPr/>
            </a:pPr>
            <a:r>
              <a:rPr lang="en-US" smtClean="0"/>
              <a:t>www.hu.edu.et</a:t>
            </a:r>
            <a:endParaRPr lang="en-US"/>
          </a:p>
        </p:txBody>
      </p:sp>
      <p:sp>
        <p:nvSpPr>
          <p:cNvPr id="3" name="Footer Placeholder 2"/>
          <p:cNvSpPr>
            <a:spLocks noGrp="1"/>
          </p:cNvSpPr>
          <p:nvPr>
            <p:ph type="ftr" idx="11"/>
          </p:nvPr>
        </p:nvSpPr>
        <p:spPr/>
        <p:txBody>
          <a:bodyPr/>
          <a:lstStyle/>
          <a:p>
            <a:pPr>
              <a:defRPr/>
            </a:pPr>
            <a:r>
              <a:rPr lang="en-US" smtClean="0"/>
              <a:t>Ever to Excel!</a:t>
            </a:r>
            <a:endParaRPr lang="en-US"/>
          </a:p>
        </p:txBody>
      </p:sp>
      <p:sp>
        <p:nvSpPr>
          <p:cNvPr id="4" name="Slide Number Placeholder 3"/>
          <p:cNvSpPr>
            <a:spLocks noGrp="1"/>
          </p:cNvSpPr>
          <p:nvPr>
            <p:ph type="sldNum" idx="12"/>
          </p:nvPr>
        </p:nvSpPr>
        <p:spPr/>
        <p:txBody>
          <a:bodyPr/>
          <a:lstStyle/>
          <a:p>
            <a:pPr>
              <a:defRPr/>
            </a:pPr>
            <a:fld id="{662CB6B0-DFB5-4A57-992B-6A9D766DFFF1}" type="slidenum">
              <a:rPr lang="en-US" smtClean="0"/>
              <a:pPr>
                <a:defRPr/>
              </a:pPr>
              <a:t>3</a:t>
            </a:fld>
            <a:endParaRPr lang="en-US"/>
          </a:p>
        </p:txBody>
      </p:sp>
      <p:sp>
        <p:nvSpPr>
          <p:cNvPr id="5" name="Text Placeholder 3"/>
          <p:cNvSpPr txBox="1">
            <a:spLocks/>
          </p:cNvSpPr>
          <p:nvPr/>
        </p:nvSpPr>
        <p:spPr>
          <a:xfrm>
            <a:off x="248717" y="848563"/>
            <a:ext cx="8793682" cy="5537607"/>
          </a:xfrm>
          <a:prstGeom prst="rect">
            <a:avLst/>
          </a:prstGeom>
        </p:spPr>
        <p:txBody>
          <a:bodyPr>
            <a:noAutofit/>
          </a:bodyPr>
          <a:lstStyle>
            <a:lvl1pPr marL="257175" indent="-257175" algn="l" defTabSz="342900" rtl="0" eaLnBrk="1" fontAlgn="base" hangingPunct="1">
              <a:spcBef>
                <a:spcPts val="525"/>
              </a:spcBef>
              <a:spcAft>
                <a:spcPct val="0"/>
              </a:spcAft>
              <a:buClr>
                <a:srgbClr val="000000"/>
              </a:buClr>
              <a:buSzPct val="100000"/>
              <a:buFont typeface="Times New Roman" panose="02020603050405020304" pitchFamily="18" charset="0"/>
              <a:defRPr sz="2100" b="1">
                <a:solidFill>
                  <a:srgbClr val="2B166E"/>
                </a:solidFill>
                <a:latin typeface="+mn-lt"/>
                <a:ea typeface="+mn-ea"/>
                <a:cs typeface="+mn-cs"/>
              </a:defRPr>
            </a:lvl1pPr>
            <a:lvl2pPr marL="557213" indent="-214313" algn="l" defTabSz="342900" rtl="0" eaLnBrk="1" fontAlgn="base" hangingPunct="1">
              <a:spcBef>
                <a:spcPts val="525"/>
              </a:spcBef>
              <a:spcAft>
                <a:spcPct val="0"/>
              </a:spcAft>
              <a:buClr>
                <a:srgbClr val="000000"/>
              </a:buClr>
              <a:buSzPct val="100000"/>
              <a:buFont typeface="Times New Roman" panose="02020603050405020304" pitchFamily="18" charset="0"/>
              <a:defRPr sz="2100">
                <a:solidFill>
                  <a:srgbClr val="2B166E"/>
                </a:solidFill>
                <a:latin typeface="+mj-lt"/>
                <a:ea typeface="+mn-ea"/>
              </a:defRPr>
            </a:lvl2pPr>
            <a:lvl3pPr marL="857250" indent="-171450" algn="l" defTabSz="342900" rtl="0" eaLnBrk="1" fontAlgn="base" hangingPunct="1">
              <a:spcBef>
                <a:spcPts val="450"/>
              </a:spcBef>
              <a:spcAft>
                <a:spcPct val="0"/>
              </a:spcAft>
              <a:buClr>
                <a:srgbClr val="000000"/>
              </a:buClr>
              <a:buSzPct val="100000"/>
              <a:buFont typeface="Times New Roman" panose="02020603050405020304" pitchFamily="18" charset="0"/>
              <a:defRPr sz="1800">
                <a:solidFill>
                  <a:srgbClr val="2B166E"/>
                </a:solidFill>
                <a:latin typeface="+mj-lt"/>
                <a:ea typeface="+mn-ea"/>
              </a:defRPr>
            </a:lvl3pPr>
            <a:lvl4pPr marL="12001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4pPr>
            <a:lvl5pPr marL="15430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5pPr>
            <a:lvl6pPr marL="18859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6pPr>
            <a:lvl7pPr marL="22288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7pPr>
            <a:lvl8pPr marL="25717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8pPr>
            <a:lvl9pPr marL="29146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9pPr>
          </a:lstStyle>
          <a:p>
            <a:pPr marL="342900" indent="-342900">
              <a:buFont typeface="Arial" panose="020B0604020202020204" pitchFamily="34" charset="0"/>
              <a:buChar char="•"/>
            </a:pPr>
            <a:r>
              <a:rPr lang="en-US" sz="2400" kern="0" dirty="0" smtClean="0">
                <a:latin typeface="Times New Roman" panose="02020603050405020304" pitchFamily="18" charset="0"/>
                <a:cs typeface="Times New Roman" panose="02020603050405020304" pitchFamily="18" charset="0"/>
              </a:rPr>
              <a:t>A </a:t>
            </a:r>
            <a:r>
              <a:rPr lang="en-US" sz="2400" kern="0" dirty="0" smtClean="0">
                <a:solidFill>
                  <a:srgbClr val="FF0000"/>
                </a:solidFill>
                <a:latin typeface="Times New Roman" panose="02020603050405020304" pitchFamily="18" charset="0"/>
                <a:cs typeface="Times New Roman" panose="02020603050405020304" pitchFamily="18" charset="0"/>
              </a:rPr>
              <a:t>proton</a:t>
            </a:r>
            <a:r>
              <a:rPr lang="en-US" sz="2400" kern="0" dirty="0" smtClean="0">
                <a:latin typeface="Times New Roman" panose="02020603050405020304" pitchFamily="18" charset="0"/>
                <a:cs typeface="Times New Roman" panose="02020603050405020304" pitchFamily="18" charset="0"/>
              </a:rPr>
              <a:t>:</a:t>
            </a:r>
          </a:p>
          <a:p>
            <a:pPr marL="1074420" lvl="1" indent="-342900">
              <a:buFont typeface="Wingdings" panose="05000000000000000000" pitchFamily="2" charset="2"/>
              <a:buChar char="ü"/>
            </a:pPr>
            <a:r>
              <a:rPr lang="en-US" sz="2400" kern="0" dirty="0" smtClean="0">
                <a:latin typeface="Times New Roman" panose="02020603050405020304" pitchFamily="18" charset="0"/>
                <a:cs typeface="Times New Roman" panose="02020603050405020304" pitchFamily="18" charset="0"/>
              </a:rPr>
              <a:t>is a positively charged particle (+1)</a:t>
            </a:r>
          </a:p>
          <a:p>
            <a:pPr marL="1074420" lvl="1" indent="-342900">
              <a:buFont typeface="Wingdings" panose="05000000000000000000" pitchFamily="2" charset="2"/>
              <a:buChar char="ü"/>
            </a:pPr>
            <a:r>
              <a:rPr lang="en-US" sz="2400" kern="0" dirty="0" smtClean="0">
                <a:latin typeface="Times New Roman" panose="02020603050405020304" pitchFamily="18" charset="0"/>
                <a:cs typeface="Times New Roman" panose="02020603050405020304" pitchFamily="18" charset="0"/>
              </a:rPr>
              <a:t>located in the nucleus (core) of the atom</a:t>
            </a:r>
          </a:p>
          <a:p>
            <a:pPr marL="1074420" lvl="1" indent="-342900">
              <a:buFont typeface="Wingdings" panose="05000000000000000000" pitchFamily="2" charset="2"/>
              <a:buChar char="ü"/>
            </a:pPr>
            <a:r>
              <a:rPr lang="en-US" sz="2400" kern="0" dirty="0" smtClean="0">
                <a:latin typeface="Times New Roman" panose="02020603050405020304" pitchFamily="18" charset="0"/>
                <a:cs typeface="Times New Roman" panose="02020603050405020304" pitchFamily="18" charset="0"/>
              </a:rPr>
              <a:t>has a mass of 1 </a:t>
            </a:r>
            <a:r>
              <a:rPr lang="en-US" sz="2400" kern="0" dirty="0" err="1" smtClean="0">
                <a:latin typeface="Times New Roman" panose="02020603050405020304" pitchFamily="18" charset="0"/>
                <a:cs typeface="Times New Roman" panose="02020603050405020304" pitchFamily="18" charset="0"/>
              </a:rPr>
              <a:t>dalton</a:t>
            </a:r>
            <a:endParaRPr lang="en-US" sz="2400" kern="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kern="0" dirty="0" smtClean="0">
                <a:latin typeface="Times New Roman" panose="02020603050405020304" pitchFamily="18" charset="0"/>
                <a:cs typeface="Times New Roman" panose="02020603050405020304" pitchFamily="18" charset="0"/>
              </a:rPr>
              <a:t>An </a:t>
            </a:r>
            <a:r>
              <a:rPr lang="en-US" sz="2400" kern="0" dirty="0" smtClean="0">
                <a:solidFill>
                  <a:srgbClr val="FF0000"/>
                </a:solidFill>
                <a:latin typeface="Times New Roman" panose="02020603050405020304" pitchFamily="18" charset="0"/>
                <a:cs typeface="Times New Roman" panose="02020603050405020304" pitchFamily="18" charset="0"/>
              </a:rPr>
              <a:t>electron</a:t>
            </a:r>
            <a:r>
              <a:rPr lang="en-US" sz="2400" kern="0" dirty="0" smtClean="0">
                <a:latin typeface="Times New Roman" panose="02020603050405020304" pitchFamily="18" charset="0"/>
                <a:cs typeface="Times New Roman" panose="02020603050405020304" pitchFamily="18" charset="0"/>
              </a:rPr>
              <a:t>:</a:t>
            </a:r>
          </a:p>
          <a:p>
            <a:pPr marL="1074420" lvl="1" indent="-342900">
              <a:buFont typeface="Wingdings" panose="05000000000000000000" pitchFamily="2" charset="2"/>
              <a:buChar char="ü"/>
            </a:pPr>
            <a:r>
              <a:rPr lang="en-US" sz="2400" kern="0" dirty="0" smtClean="0">
                <a:latin typeface="Times New Roman" panose="02020603050405020304" pitchFamily="18" charset="0"/>
                <a:cs typeface="Times New Roman" panose="02020603050405020304" pitchFamily="18" charset="0"/>
              </a:rPr>
              <a:t>is a negatively charged particle (-1)</a:t>
            </a:r>
          </a:p>
          <a:p>
            <a:pPr marL="1074420" lvl="1" indent="-342900">
              <a:buFont typeface="Wingdings" panose="05000000000000000000" pitchFamily="2" charset="2"/>
              <a:buChar char="ü"/>
            </a:pPr>
            <a:r>
              <a:rPr lang="en-US" sz="2400" kern="0" dirty="0" smtClean="0">
                <a:latin typeface="Times New Roman" panose="02020603050405020304" pitchFamily="18" charset="0"/>
                <a:cs typeface="Times New Roman" panose="02020603050405020304" pitchFamily="18" charset="0"/>
              </a:rPr>
              <a:t>travels in the space around the nucleus</a:t>
            </a:r>
          </a:p>
          <a:p>
            <a:pPr marL="1074420" lvl="1" indent="-342900">
              <a:buFont typeface="Wingdings" panose="05000000000000000000" pitchFamily="2" charset="2"/>
              <a:buChar char="ü"/>
            </a:pPr>
            <a:r>
              <a:rPr lang="en-US" sz="2400" kern="0" dirty="0" smtClean="0">
                <a:latin typeface="Times New Roman" panose="02020603050405020304" pitchFamily="18" charset="0"/>
                <a:cs typeface="Times New Roman" panose="02020603050405020304" pitchFamily="18" charset="0"/>
              </a:rPr>
              <a:t>has a negligible mass</a:t>
            </a:r>
          </a:p>
          <a:p>
            <a:pPr marL="342900" indent="-342900">
              <a:buFont typeface="Arial" panose="020B0604020202020204" pitchFamily="34" charset="0"/>
              <a:buChar char="•"/>
            </a:pPr>
            <a:r>
              <a:rPr lang="en-US" sz="2400" kern="0" dirty="0" smtClean="0">
                <a:latin typeface="Times New Roman" panose="02020603050405020304" pitchFamily="18" charset="0"/>
                <a:cs typeface="Times New Roman" panose="02020603050405020304" pitchFamily="18" charset="0"/>
              </a:rPr>
              <a:t>A </a:t>
            </a:r>
            <a:r>
              <a:rPr lang="en-US" sz="2400" kern="0" dirty="0" smtClean="0">
                <a:solidFill>
                  <a:srgbClr val="FF0000"/>
                </a:solidFill>
                <a:latin typeface="Times New Roman" panose="02020603050405020304" pitchFamily="18" charset="0"/>
                <a:cs typeface="Times New Roman" panose="02020603050405020304" pitchFamily="18" charset="0"/>
              </a:rPr>
              <a:t>neutron</a:t>
            </a:r>
            <a:r>
              <a:rPr lang="en-US" sz="2400" kern="0" dirty="0" smtClean="0">
                <a:latin typeface="Times New Roman" panose="02020603050405020304" pitchFamily="18" charset="0"/>
                <a:cs typeface="Times New Roman" panose="02020603050405020304" pitchFamily="18" charset="0"/>
              </a:rPr>
              <a:t>:</a:t>
            </a:r>
          </a:p>
          <a:p>
            <a:pPr marL="1074420" lvl="1" indent="-342900">
              <a:buFont typeface="Wingdings" panose="05000000000000000000" pitchFamily="2" charset="2"/>
              <a:buChar char="ü"/>
            </a:pPr>
            <a:r>
              <a:rPr lang="en-US" sz="2400" kern="0" dirty="0" smtClean="0">
                <a:latin typeface="Times New Roman" panose="02020603050405020304" pitchFamily="18" charset="0"/>
                <a:cs typeface="Times New Roman" panose="02020603050405020304" pitchFamily="18" charset="0"/>
              </a:rPr>
              <a:t>does not have a charge (0)</a:t>
            </a:r>
          </a:p>
          <a:p>
            <a:pPr marL="1074420" lvl="1" indent="-342900">
              <a:buFont typeface="Wingdings" panose="05000000000000000000" pitchFamily="2" charset="2"/>
              <a:buChar char="ü"/>
            </a:pPr>
            <a:r>
              <a:rPr lang="en-US" sz="2400" kern="0" dirty="0" smtClean="0">
                <a:latin typeface="Times New Roman" panose="02020603050405020304" pitchFamily="18" charset="0"/>
                <a:cs typeface="Times New Roman" panose="02020603050405020304" pitchFamily="18" charset="0"/>
              </a:rPr>
              <a:t>located in the nucleus (core) of the atom</a:t>
            </a:r>
          </a:p>
          <a:p>
            <a:pPr marL="1074420" lvl="1" indent="-342900">
              <a:buFont typeface="Wingdings" panose="05000000000000000000" pitchFamily="2" charset="2"/>
              <a:buChar char="ü"/>
            </a:pPr>
            <a:r>
              <a:rPr lang="en-US" sz="2400" kern="0" dirty="0" smtClean="0">
                <a:latin typeface="Times New Roman" panose="02020603050405020304" pitchFamily="18" charset="0"/>
                <a:cs typeface="Times New Roman" panose="02020603050405020304" pitchFamily="18" charset="0"/>
              </a:rPr>
              <a:t>has a mass of 1 </a:t>
            </a:r>
            <a:r>
              <a:rPr lang="en-US" sz="2400" kern="0" dirty="0" err="1" smtClean="0">
                <a:latin typeface="Times New Roman" panose="02020603050405020304" pitchFamily="18" charset="0"/>
                <a:cs typeface="Times New Roman" panose="02020603050405020304" pitchFamily="18" charset="0"/>
              </a:rPr>
              <a:t>dalton</a:t>
            </a:r>
            <a:endParaRPr lang="en-US" sz="2400" kern="0" dirty="0" smtClean="0">
              <a:latin typeface="Times New Roman" panose="02020603050405020304" pitchFamily="18" charset="0"/>
              <a:cs typeface="Times New Roman" panose="02020603050405020304" pitchFamily="18" charset="0"/>
            </a:endParaRPr>
          </a:p>
          <a:p>
            <a:endParaRPr lang="en-US" sz="24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5341494"/>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pPr>
              <a:defRPr/>
            </a:pPr>
            <a:r>
              <a:rPr lang="en-US" smtClean="0"/>
              <a:t>www.hu.edu.et</a:t>
            </a:r>
            <a:endParaRPr lang="en-US"/>
          </a:p>
        </p:txBody>
      </p:sp>
      <p:sp>
        <p:nvSpPr>
          <p:cNvPr id="3" name="Footer Placeholder 2"/>
          <p:cNvSpPr>
            <a:spLocks noGrp="1"/>
          </p:cNvSpPr>
          <p:nvPr>
            <p:ph type="ftr" idx="11"/>
          </p:nvPr>
        </p:nvSpPr>
        <p:spPr/>
        <p:txBody>
          <a:bodyPr/>
          <a:lstStyle/>
          <a:p>
            <a:pPr>
              <a:defRPr/>
            </a:pPr>
            <a:r>
              <a:rPr lang="en-US" smtClean="0"/>
              <a:t>Ever to Excel!</a:t>
            </a:r>
            <a:endParaRPr lang="en-US"/>
          </a:p>
        </p:txBody>
      </p:sp>
      <p:sp>
        <p:nvSpPr>
          <p:cNvPr id="4" name="Slide Number Placeholder 3"/>
          <p:cNvSpPr>
            <a:spLocks noGrp="1"/>
          </p:cNvSpPr>
          <p:nvPr>
            <p:ph type="sldNum" idx="12"/>
          </p:nvPr>
        </p:nvSpPr>
        <p:spPr/>
        <p:txBody>
          <a:bodyPr/>
          <a:lstStyle/>
          <a:p>
            <a:pPr>
              <a:defRPr/>
            </a:pPr>
            <a:fld id="{662CB6B0-DFB5-4A57-992B-6A9D766DFFF1}" type="slidenum">
              <a:rPr lang="en-US" smtClean="0"/>
              <a:pPr>
                <a:defRPr/>
              </a:pPr>
              <a:t>4</a:t>
            </a:fld>
            <a:endParaRPr lang="en-US"/>
          </a:p>
        </p:txBody>
      </p:sp>
      <p:pic>
        <p:nvPicPr>
          <p:cNvPr id="5" name="Figure" descr="Illustration of an atom showing two neutrons and two protons in the center, with a circle labeled as the nucleus around them. Another circle shows an orbit with two electrons outside of the nucleus"/>
          <p:cNvPicPr>
            <a:picLocks noChangeAspect="1"/>
          </p:cNvPicPr>
          <p:nvPr/>
        </p:nvPicPr>
        <p:blipFill rotWithShape="1">
          <a:blip r:embed="rId2" cstate="email">
            <a:extLst>
              <a:ext uri="{28A0092B-C50C-407E-A947-70E740481C1C}">
                <a14:useLocalDpi xmlns:a14="http://schemas.microsoft.com/office/drawing/2010/main" val="0"/>
              </a:ext>
            </a:extLst>
          </a:blip>
          <a:srcRect t="-2224" b="-1118"/>
          <a:stretch/>
        </p:blipFill>
        <p:spPr>
          <a:xfrm>
            <a:off x="716889" y="2985746"/>
            <a:ext cx="3301305" cy="2113251"/>
          </a:xfrm>
          <a:prstGeom prst="rect">
            <a:avLst/>
          </a:prstGeom>
        </p:spPr>
      </p:pic>
      <p:sp>
        <p:nvSpPr>
          <p:cNvPr id="6" name="Figure Legend"/>
          <p:cNvSpPr txBox="1">
            <a:spLocks/>
          </p:cNvSpPr>
          <p:nvPr/>
        </p:nvSpPr>
        <p:spPr>
          <a:xfrm>
            <a:off x="200268" y="941713"/>
            <a:ext cx="8943732" cy="2971917"/>
          </a:xfrm>
          <a:prstGeom prst="rect">
            <a:avLst/>
          </a:prstGeom>
        </p:spPr>
        <p:txBody>
          <a:bodyPr>
            <a:noAutofit/>
          </a:bodyPr>
          <a:lstStyle>
            <a:lvl1pPr marL="257175" indent="-257175" algn="l" defTabSz="342900" rtl="0" eaLnBrk="1" fontAlgn="base" hangingPunct="1">
              <a:spcBef>
                <a:spcPts val="525"/>
              </a:spcBef>
              <a:spcAft>
                <a:spcPct val="0"/>
              </a:spcAft>
              <a:buClr>
                <a:srgbClr val="000000"/>
              </a:buClr>
              <a:buSzPct val="100000"/>
              <a:buFont typeface="Times New Roman" panose="02020603050405020304" pitchFamily="18" charset="0"/>
              <a:defRPr sz="2100" b="1">
                <a:solidFill>
                  <a:srgbClr val="2B166E"/>
                </a:solidFill>
                <a:latin typeface="+mn-lt"/>
                <a:ea typeface="+mn-ea"/>
                <a:cs typeface="+mn-cs"/>
              </a:defRPr>
            </a:lvl1pPr>
            <a:lvl2pPr marL="557213" indent="-214313" algn="l" defTabSz="342900" rtl="0" eaLnBrk="1" fontAlgn="base" hangingPunct="1">
              <a:spcBef>
                <a:spcPts val="525"/>
              </a:spcBef>
              <a:spcAft>
                <a:spcPct val="0"/>
              </a:spcAft>
              <a:buClr>
                <a:srgbClr val="000000"/>
              </a:buClr>
              <a:buSzPct val="100000"/>
              <a:buFont typeface="Times New Roman" panose="02020603050405020304" pitchFamily="18" charset="0"/>
              <a:defRPr sz="2100">
                <a:solidFill>
                  <a:srgbClr val="2B166E"/>
                </a:solidFill>
                <a:latin typeface="+mj-lt"/>
                <a:ea typeface="+mn-ea"/>
              </a:defRPr>
            </a:lvl2pPr>
            <a:lvl3pPr marL="857250" indent="-171450" algn="l" defTabSz="342900" rtl="0" eaLnBrk="1" fontAlgn="base" hangingPunct="1">
              <a:spcBef>
                <a:spcPts val="450"/>
              </a:spcBef>
              <a:spcAft>
                <a:spcPct val="0"/>
              </a:spcAft>
              <a:buClr>
                <a:srgbClr val="000000"/>
              </a:buClr>
              <a:buSzPct val="100000"/>
              <a:buFont typeface="Times New Roman" panose="02020603050405020304" pitchFamily="18" charset="0"/>
              <a:defRPr sz="1800">
                <a:solidFill>
                  <a:srgbClr val="2B166E"/>
                </a:solidFill>
                <a:latin typeface="+mj-lt"/>
                <a:ea typeface="+mn-ea"/>
              </a:defRPr>
            </a:lvl3pPr>
            <a:lvl4pPr marL="12001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4pPr>
            <a:lvl5pPr marL="15430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5pPr>
            <a:lvl6pPr marL="18859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6pPr>
            <a:lvl7pPr marL="22288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7pPr>
            <a:lvl8pPr marL="25717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8pPr>
            <a:lvl9pPr marL="29146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9pPr>
          </a:lstStyle>
          <a:p>
            <a:pPr marL="280988" indent="-280988">
              <a:buFont typeface="Arial" panose="020B0604020202020204" pitchFamily="34" charset="0"/>
              <a:buChar char="•"/>
            </a:pPr>
            <a:r>
              <a:rPr lang="en-US" sz="2400" i="1" kern="0" dirty="0" smtClean="0">
                <a:latin typeface="Times New Roman" panose="02020603050405020304" pitchFamily="18" charset="0"/>
                <a:cs typeface="Times New Roman" panose="02020603050405020304" pitchFamily="18" charset="0"/>
              </a:rPr>
              <a:t>Atoms</a:t>
            </a:r>
            <a:r>
              <a:rPr lang="en-US" sz="2400" b="0" i="1" kern="0" dirty="0" smtClean="0">
                <a:latin typeface="Times New Roman" panose="02020603050405020304" pitchFamily="18" charset="0"/>
                <a:cs typeface="Times New Roman" panose="02020603050405020304" pitchFamily="18" charset="0"/>
              </a:rPr>
              <a:t> are made up of </a:t>
            </a:r>
            <a:r>
              <a:rPr lang="en-US" sz="2400" i="1" u="sng" kern="0" dirty="0" smtClean="0">
                <a:latin typeface="Times New Roman" panose="02020603050405020304" pitchFamily="18" charset="0"/>
                <a:cs typeface="Times New Roman" panose="02020603050405020304" pitchFamily="18" charset="0"/>
              </a:rPr>
              <a:t>protons </a:t>
            </a:r>
            <a:r>
              <a:rPr lang="en-US" sz="2400" b="0" i="1" u="sng" kern="0" dirty="0" smtClean="0">
                <a:latin typeface="Times New Roman" panose="02020603050405020304" pitchFamily="18" charset="0"/>
                <a:cs typeface="Times New Roman" panose="02020603050405020304" pitchFamily="18" charset="0"/>
              </a:rPr>
              <a:t>and</a:t>
            </a:r>
            <a:r>
              <a:rPr lang="en-US" sz="2400" i="1" u="sng" kern="0" dirty="0" smtClean="0">
                <a:latin typeface="Times New Roman" panose="02020603050405020304" pitchFamily="18" charset="0"/>
                <a:cs typeface="Times New Roman" panose="02020603050405020304" pitchFamily="18" charset="0"/>
              </a:rPr>
              <a:t> neutrons </a:t>
            </a:r>
            <a:r>
              <a:rPr lang="en-US" sz="2400" b="0" i="1" kern="0" dirty="0" smtClean="0">
                <a:latin typeface="Times New Roman" panose="02020603050405020304" pitchFamily="18" charset="0"/>
                <a:cs typeface="Times New Roman" panose="02020603050405020304" pitchFamily="18" charset="0"/>
              </a:rPr>
              <a:t>located within the nucleus, and </a:t>
            </a:r>
            <a:r>
              <a:rPr lang="en-US" sz="2400" i="1" u="sng" kern="0" dirty="0" smtClean="0">
                <a:latin typeface="Times New Roman" panose="02020603050405020304" pitchFamily="18" charset="0"/>
                <a:cs typeface="Times New Roman" panose="02020603050405020304" pitchFamily="18" charset="0"/>
              </a:rPr>
              <a:t>electrons</a:t>
            </a:r>
            <a:r>
              <a:rPr lang="en-US" sz="2400" b="0" i="1" kern="0" dirty="0" smtClean="0">
                <a:latin typeface="Times New Roman" panose="02020603050405020304" pitchFamily="18" charset="0"/>
                <a:cs typeface="Times New Roman" panose="02020603050405020304" pitchFamily="18" charset="0"/>
              </a:rPr>
              <a:t> surrounding the nucleus.</a:t>
            </a:r>
          </a:p>
          <a:p>
            <a:pPr marL="280988" indent="-280988">
              <a:buFont typeface="Arial" panose="020B0604020202020204" pitchFamily="34" charset="0"/>
              <a:buChar char="•"/>
            </a:pPr>
            <a:r>
              <a:rPr lang="en-US" sz="2400" b="0" i="1" kern="0" dirty="0">
                <a:latin typeface="Times New Roman" panose="02020603050405020304" pitchFamily="18" charset="0"/>
                <a:cs typeface="Times New Roman" panose="02020603050405020304" pitchFamily="18" charset="0"/>
              </a:rPr>
              <a:t>Atoms of each element contain a characteristic number of protons and electrons. The number of protons determines an element’s atomic number and is used to distinguish one element from another. </a:t>
            </a:r>
          </a:p>
        </p:txBody>
      </p:sp>
      <p:sp>
        <p:nvSpPr>
          <p:cNvPr id="8" name="Rectangle 7"/>
          <p:cNvSpPr/>
          <p:nvPr/>
        </p:nvSpPr>
        <p:spPr>
          <a:xfrm>
            <a:off x="4659781" y="3167322"/>
            <a:ext cx="4367175" cy="1938992"/>
          </a:xfrm>
          <a:prstGeom prst="rect">
            <a:avLst/>
          </a:prstGeom>
        </p:spPr>
        <p:txBody>
          <a:bodyPr wrap="square">
            <a:spAutoFit/>
          </a:bodyPr>
          <a:lstStyle/>
          <a:p>
            <a:r>
              <a:rPr lang="en-US" sz="2400" dirty="0">
                <a:latin typeface="+mj-lt"/>
              </a:rPr>
              <a:t>The differences in chemical reactivity between the elements are based on the number and spatial distribution of an atom’s electrons. </a:t>
            </a:r>
          </a:p>
        </p:txBody>
      </p:sp>
      <p:sp>
        <p:nvSpPr>
          <p:cNvPr id="9" name="Rectangle 8"/>
          <p:cNvSpPr/>
          <p:nvPr/>
        </p:nvSpPr>
        <p:spPr>
          <a:xfrm>
            <a:off x="252373" y="5265326"/>
            <a:ext cx="8657539" cy="1200329"/>
          </a:xfrm>
          <a:prstGeom prst="rect">
            <a:avLst/>
          </a:prstGeom>
        </p:spPr>
        <p:txBody>
          <a:bodyPr wrap="square">
            <a:spAutoFit/>
          </a:bodyPr>
          <a:lstStyle/>
          <a:p>
            <a:pPr algn="just"/>
            <a:r>
              <a:rPr lang="en-US" i="1" dirty="0"/>
              <a:t>Atoms that chemically react and bond to each other form </a:t>
            </a:r>
            <a:r>
              <a:rPr lang="en-US" b="1" i="1" dirty="0">
                <a:solidFill>
                  <a:srgbClr val="FF0000"/>
                </a:solidFill>
              </a:rPr>
              <a:t>molecules. </a:t>
            </a:r>
            <a:r>
              <a:rPr lang="en-US" i="1" dirty="0"/>
              <a:t>Molecules are simply two or more atoms chemically bonded together. Logically, when two atoms chemically bond to form a molecule, their electrons, which form the outermost region of each atom, come together first as the atoms form a </a:t>
            </a:r>
            <a:r>
              <a:rPr lang="en-US" b="1" i="1" dirty="0">
                <a:solidFill>
                  <a:srgbClr val="FF0000"/>
                </a:solidFill>
              </a:rPr>
              <a:t>chemical bond.</a:t>
            </a:r>
          </a:p>
        </p:txBody>
      </p:sp>
    </p:spTree>
    <p:extLst>
      <p:ext uri="{BB962C8B-B14F-4D97-AF65-F5344CB8AC3E}">
        <p14:creationId xmlns:p14="http://schemas.microsoft.com/office/powerpoint/2010/main" val="1625355494"/>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pPr>
              <a:defRPr/>
            </a:pPr>
            <a:r>
              <a:rPr lang="en-US" smtClean="0"/>
              <a:t>www.hu.edu.et</a:t>
            </a:r>
            <a:endParaRPr lang="en-US"/>
          </a:p>
        </p:txBody>
      </p:sp>
      <p:sp>
        <p:nvSpPr>
          <p:cNvPr id="3" name="Footer Placeholder 2"/>
          <p:cNvSpPr>
            <a:spLocks noGrp="1"/>
          </p:cNvSpPr>
          <p:nvPr>
            <p:ph type="ftr" idx="11"/>
          </p:nvPr>
        </p:nvSpPr>
        <p:spPr/>
        <p:txBody>
          <a:bodyPr/>
          <a:lstStyle/>
          <a:p>
            <a:pPr>
              <a:defRPr/>
            </a:pPr>
            <a:r>
              <a:rPr lang="en-US" smtClean="0"/>
              <a:t>Ever to Excel!</a:t>
            </a:r>
            <a:endParaRPr lang="en-US"/>
          </a:p>
        </p:txBody>
      </p:sp>
      <p:sp>
        <p:nvSpPr>
          <p:cNvPr id="4" name="Slide Number Placeholder 3"/>
          <p:cNvSpPr>
            <a:spLocks noGrp="1"/>
          </p:cNvSpPr>
          <p:nvPr>
            <p:ph type="sldNum" idx="12"/>
          </p:nvPr>
        </p:nvSpPr>
        <p:spPr/>
        <p:txBody>
          <a:bodyPr/>
          <a:lstStyle/>
          <a:p>
            <a:pPr>
              <a:defRPr/>
            </a:pPr>
            <a:fld id="{662CB6B0-DFB5-4A57-992B-6A9D766DFFF1}" type="slidenum">
              <a:rPr lang="en-US" smtClean="0"/>
              <a:pPr>
                <a:defRPr/>
              </a:pPr>
              <a:t>5</a:t>
            </a:fld>
            <a:endParaRPr lang="en-US"/>
          </a:p>
        </p:txBody>
      </p:sp>
      <p:sp>
        <p:nvSpPr>
          <p:cNvPr id="5" name="Text Placeholder 3"/>
          <p:cNvSpPr txBox="1">
            <a:spLocks/>
          </p:cNvSpPr>
          <p:nvPr/>
        </p:nvSpPr>
        <p:spPr>
          <a:xfrm>
            <a:off x="172720" y="950976"/>
            <a:ext cx="8773770" cy="5313389"/>
          </a:xfrm>
          <a:prstGeom prst="rect">
            <a:avLst/>
          </a:prstGeom>
        </p:spPr>
        <p:txBody>
          <a:bodyPr>
            <a:normAutofit/>
          </a:bodyPr>
          <a:lstStyle>
            <a:lvl1pPr marL="257175" indent="-257175" algn="l" defTabSz="342900" rtl="0" eaLnBrk="1" fontAlgn="base" hangingPunct="1">
              <a:spcBef>
                <a:spcPts val="525"/>
              </a:spcBef>
              <a:spcAft>
                <a:spcPct val="0"/>
              </a:spcAft>
              <a:buClr>
                <a:srgbClr val="000000"/>
              </a:buClr>
              <a:buSzPct val="100000"/>
              <a:buFont typeface="Times New Roman" panose="02020603050405020304" pitchFamily="18" charset="0"/>
              <a:defRPr sz="2100" b="1">
                <a:solidFill>
                  <a:srgbClr val="2B166E"/>
                </a:solidFill>
                <a:latin typeface="+mn-lt"/>
                <a:ea typeface="+mn-ea"/>
                <a:cs typeface="+mn-cs"/>
              </a:defRPr>
            </a:lvl1pPr>
            <a:lvl2pPr marL="557213" indent="-214313" algn="l" defTabSz="342900" rtl="0" eaLnBrk="1" fontAlgn="base" hangingPunct="1">
              <a:spcBef>
                <a:spcPts val="525"/>
              </a:spcBef>
              <a:spcAft>
                <a:spcPct val="0"/>
              </a:spcAft>
              <a:buClr>
                <a:srgbClr val="000000"/>
              </a:buClr>
              <a:buSzPct val="100000"/>
              <a:buFont typeface="Times New Roman" panose="02020603050405020304" pitchFamily="18" charset="0"/>
              <a:defRPr sz="2100">
                <a:solidFill>
                  <a:srgbClr val="2B166E"/>
                </a:solidFill>
                <a:latin typeface="+mj-lt"/>
                <a:ea typeface="+mn-ea"/>
              </a:defRPr>
            </a:lvl2pPr>
            <a:lvl3pPr marL="857250" indent="-171450" algn="l" defTabSz="342900" rtl="0" eaLnBrk="1" fontAlgn="base" hangingPunct="1">
              <a:spcBef>
                <a:spcPts val="450"/>
              </a:spcBef>
              <a:spcAft>
                <a:spcPct val="0"/>
              </a:spcAft>
              <a:buClr>
                <a:srgbClr val="000000"/>
              </a:buClr>
              <a:buSzPct val="100000"/>
              <a:buFont typeface="Times New Roman" panose="02020603050405020304" pitchFamily="18" charset="0"/>
              <a:defRPr sz="1800">
                <a:solidFill>
                  <a:srgbClr val="2B166E"/>
                </a:solidFill>
                <a:latin typeface="+mj-lt"/>
                <a:ea typeface="+mn-ea"/>
              </a:defRPr>
            </a:lvl3pPr>
            <a:lvl4pPr marL="12001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4pPr>
            <a:lvl5pPr marL="15430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5pPr>
            <a:lvl6pPr marL="18859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6pPr>
            <a:lvl7pPr marL="22288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7pPr>
            <a:lvl8pPr marL="25717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8pPr>
            <a:lvl9pPr marL="29146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9pPr>
          </a:lstStyle>
          <a:p>
            <a:pPr>
              <a:buFont typeface="Arial" panose="020B0604020202020204" pitchFamily="34" charset="0"/>
              <a:buChar char="•"/>
            </a:pPr>
            <a:r>
              <a:rPr lang="nb-NO" sz="2400" kern="0" dirty="0" smtClean="0">
                <a:solidFill>
                  <a:srgbClr val="FF0000"/>
                </a:solidFill>
                <a:latin typeface="Times New Roman" panose="02020603050405020304" pitchFamily="18" charset="0"/>
                <a:cs typeface="Times New Roman" panose="02020603050405020304" pitchFamily="18" charset="0"/>
              </a:rPr>
              <a:t>Chemical bonds </a:t>
            </a:r>
            <a:r>
              <a:rPr lang="nb-NO" sz="2400" b="0" kern="0" dirty="0" smtClean="0">
                <a:latin typeface="Times New Roman" panose="02020603050405020304" pitchFamily="18" charset="0"/>
                <a:cs typeface="Times New Roman" panose="02020603050405020304" pitchFamily="18" charset="0"/>
              </a:rPr>
              <a:t>are interactions</a:t>
            </a:r>
            <a:r>
              <a:rPr lang="en-US" sz="2400" b="0" kern="0" dirty="0" smtClean="0">
                <a:latin typeface="Times New Roman" panose="02020603050405020304" pitchFamily="18" charset="0"/>
                <a:cs typeface="Times New Roman" panose="02020603050405020304" pitchFamily="18" charset="0"/>
              </a:rPr>
              <a:t> between atoms, ions or molecules that enable the formation of molecules (a force that holds them together).</a:t>
            </a:r>
          </a:p>
          <a:p>
            <a:pPr marL="0" indent="0"/>
            <a:r>
              <a:rPr lang="en-US" sz="2400" kern="0" dirty="0" smtClean="0">
                <a:solidFill>
                  <a:srgbClr val="FF0000"/>
                </a:solidFill>
                <a:latin typeface="Times New Roman" panose="02020603050405020304" pitchFamily="18" charset="0"/>
                <a:cs typeface="Times New Roman" panose="02020603050405020304" pitchFamily="18" charset="0"/>
              </a:rPr>
              <a:t>Major types of bonds or interactions:</a:t>
            </a:r>
          </a:p>
          <a:p>
            <a:pPr marL="457200" indent="-457200">
              <a:buFont typeface="+mj-lt"/>
              <a:buAutoNum type="arabicPeriod"/>
            </a:pPr>
            <a:r>
              <a:rPr lang="en-US" sz="2400" kern="0" dirty="0" smtClean="0">
                <a:solidFill>
                  <a:schemeClr val="accent2"/>
                </a:solidFill>
                <a:latin typeface="Times New Roman" panose="02020603050405020304" pitchFamily="18" charset="0"/>
                <a:cs typeface="Times New Roman" panose="02020603050405020304" pitchFamily="18" charset="0"/>
              </a:rPr>
              <a:t>Ionic bond: </a:t>
            </a:r>
            <a:r>
              <a:rPr lang="en-US" sz="2400" b="0" kern="0" dirty="0">
                <a:solidFill>
                  <a:prstClr val="black"/>
                </a:solidFill>
                <a:latin typeface="Times New Roman" panose="02020603050405020304" pitchFamily="18" charset="0"/>
                <a:cs typeface="Times New Roman" panose="02020603050405020304" pitchFamily="18" charset="0"/>
              </a:rPr>
              <a:t>formed from the electrostatic attraction between oppositely charged ions in a chemical </a:t>
            </a:r>
            <a:r>
              <a:rPr lang="en-US" sz="2400" b="0" kern="0" dirty="0" smtClean="0">
                <a:solidFill>
                  <a:prstClr val="black"/>
                </a:solidFill>
                <a:latin typeface="Times New Roman" panose="02020603050405020304" pitchFamily="18" charset="0"/>
                <a:cs typeface="Times New Roman" panose="02020603050405020304" pitchFamily="18" charset="0"/>
              </a:rPr>
              <a:t>compound.</a:t>
            </a:r>
          </a:p>
          <a:p>
            <a:pPr marL="888682">
              <a:buFont typeface="Wingdings" panose="05000000000000000000" pitchFamily="2" charset="2"/>
              <a:buChar char="ü"/>
            </a:pPr>
            <a:r>
              <a:rPr lang="en-US" sz="2400" b="0" kern="0" dirty="0">
                <a:solidFill>
                  <a:prstClr val="black"/>
                </a:solidFill>
                <a:latin typeface="Times New Roman" panose="02020603050405020304" pitchFamily="18" charset="0"/>
                <a:cs typeface="Times New Roman" panose="02020603050405020304" pitchFamily="18" charset="0"/>
              </a:rPr>
              <a:t>Because the number of electrons does not equal the number of protons, each ion has a net charge. </a:t>
            </a:r>
            <a:endParaRPr lang="en-US" sz="2400" b="0" kern="0" dirty="0" smtClean="0">
              <a:solidFill>
                <a:prstClr val="black"/>
              </a:solidFill>
              <a:latin typeface="Times New Roman" panose="02020603050405020304" pitchFamily="18" charset="0"/>
              <a:cs typeface="Times New Roman" panose="02020603050405020304" pitchFamily="18" charset="0"/>
            </a:endParaRPr>
          </a:p>
          <a:p>
            <a:pPr marL="888682">
              <a:buFont typeface="Wingdings" panose="05000000000000000000" pitchFamily="2" charset="2"/>
              <a:buChar char="ü"/>
            </a:pPr>
            <a:r>
              <a:rPr lang="en-US" sz="2400" kern="0" dirty="0" smtClean="0">
                <a:solidFill>
                  <a:srgbClr val="FF0000"/>
                </a:solidFill>
                <a:latin typeface="Times New Roman" panose="02020603050405020304" pitchFamily="18" charset="0"/>
                <a:cs typeface="Times New Roman" panose="02020603050405020304" pitchFamily="18" charset="0"/>
              </a:rPr>
              <a:t>Cations</a:t>
            </a:r>
            <a:r>
              <a:rPr lang="en-US" sz="2400" b="0" kern="0" dirty="0" smtClean="0">
                <a:solidFill>
                  <a:prstClr val="black"/>
                </a:solidFill>
                <a:latin typeface="Times New Roman" panose="02020603050405020304" pitchFamily="18" charset="0"/>
                <a:cs typeface="Times New Roman" panose="02020603050405020304" pitchFamily="18" charset="0"/>
              </a:rPr>
              <a:t> </a:t>
            </a:r>
            <a:r>
              <a:rPr lang="en-US" sz="2400" b="0" kern="0" dirty="0">
                <a:solidFill>
                  <a:prstClr val="black"/>
                </a:solidFill>
                <a:latin typeface="Times New Roman" panose="02020603050405020304" pitchFamily="18" charset="0"/>
                <a:cs typeface="Times New Roman" panose="02020603050405020304" pitchFamily="18" charset="0"/>
              </a:rPr>
              <a:t>are positive ions that are formed by losing electrons. </a:t>
            </a:r>
            <a:endParaRPr lang="en-US" sz="2400" b="0" kern="0" dirty="0" smtClean="0">
              <a:solidFill>
                <a:prstClr val="black"/>
              </a:solidFill>
              <a:latin typeface="Times New Roman" panose="02020603050405020304" pitchFamily="18" charset="0"/>
              <a:cs typeface="Times New Roman" panose="02020603050405020304" pitchFamily="18" charset="0"/>
            </a:endParaRPr>
          </a:p>
          <a:p>
            <a:pPr marL="888682">
              <a:buFont typeface="Wingdings" panose="05000000000000000000" pitchFamily="2" charset="2"/>
              <a:buChar char="ü"/>
            </a:pPr>
            <a:r>
              <a:rPr lang="en-US" sz="2400" b="0" kern="0" dirty="0" smtClean="0">
                <a:solidFill>
                  <a:prstClr val="black"/>
                </a:solidFill>
                <a:latin typeface="Times New Roman" panose="02020603050405020304" pitchFamily="18" charset="0"/>
                <a:cs typeface="Times New Roman" panose="02020603050405020304" pitchFamily="18" charset="0"/>
              </a:rPr>
              <a:t>Negative </a:t>
            </a:r>
            <a:r>
              <a:rPr lang="en-US" sz="2400" b="0" kern="0" dirty="0">
                <a:solidFill>
                  <a:prstClr val="black"/>
                </a:solidFill>
                <a:latin typeface="Times New Roman" panose="02020603050405020304" pitchFamily="18" charset="0"/>
                <a:cs typeface="Times New Roman" panose="02020603050405020304" pitchFamily="18" charset="0"/>
              </a:rPr>
              <a:t>ions are formed by gaining electrons and are called </a:t>
            </a:r>
            <a:r>
              <a:rPr lang="en-US" sz="2400" kern="0" dirty="0">
                <a:solidFill>
                  <a:srgbClr val="FF0000"/>
                </a:solidFill>
                <a:latin typeface="Times New Roman" panose="02020603050405020304" pitchFamily="18" charset="0"/>
                <a:cs typeface="Times New Roman" panose="02020603050405020304" pitchFamily="18" charset="0"/>
              </a:rPr>
              <a:t>anions</a:t>
            </a:r>
            <a:r>
              <a:rPr lang="en-US" sz="2400" b="0" kern="0" dirty="0">
                <a:solidFill>
                  <a:prstClr val="black"/>
                </a:solidFill>
                <a:latin typeface="Times New Roman" panose="02020603050405020304" pitchFamily="18" charset="0"/>
                <a:cs typeface="Times New Roman" panose="02020603050405020304" pitchFamily="18" charset="0"/>
              </a:rPr>
              <a:t>.</a:t>
            </a:r>
          </a:p>
          <a:p>
            <a:pPr marL="631507" indent="0"/>
            <a:r>
              <a:rPr lang="en-US" sz="2400" b="0" i="1" kern="0" dirty="0" smtClean="0">
                <a:solidFill>
                  <a:prstClr val="black"/>
                </a:solidFill>
                <a:latin typeface="Times New Roman" panose="02020603050405020304" pitchFamily="18" charset="0"/>
                <a:cs typeface="Times New Roman" panose="02020603050405020304" pitchFamily="18" charset="0"/>
              </a:rPr>
              <a:t>Movement </a:t>
            </a:r>
            <a:r>
              <a:rPr lang="en-US" sz="2400" b="0" i="1" kern="0" dirty="0">
                <a:solidFill>
                  <a:prstClr val="black"/>
                </a:solidFill>
                <a:latin typeface="Times New Roman" panose="02020603050405020304" pitchFamily="18" charset="0"/>
                <a:cs typeface="Times New Roman" panose="02020603050405020304" pitchFamily="18" charset="0"/>
              </a:rPr>
              <a:t>of electrons from one element to another is referred to as electron transfer</a:t>
            </a:r>
            <a:endParaRPr lang="en-US" sz="2400" b="0" i="1" kern="0" dirty="0" smtClean="0">
              <a:solidFill>
                <a:prstClr val="black"/>
              </a:solidFill>
              <a:latin typeface="Times New Roman" panose="02020603050405020304" pitchFamily="18" charset="0"/>
              <a:cs typeface="Times New Roman" panose="02020603050405020304" pitchFamily="18" charset="0"/>
            </a:endParaRPr>
          </a:p>
          <a:p>
            <a:endParaRPr lang="en-US" sz="2400" b="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5649032"/>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pPr>
              <a:defRPr/>
            </a:pPr>
            <a:r>
              <a:rPr lang="en-US" smtClean="0"/>
              <a:t>www.hu.edu.et</a:t>
            </a:r>
            <a:endParaRPr lang="en-US"/>
          </a:p>
        </p:txBody>
      </p:sp>
      <p:sp>
        <p:nvSpPr>
          <p:cNvPr id="3" name="Footer Placeholder 2"/>
          <p:cNvSpPr>
            <a:spLocks noGrp="1"/>
          </p:cNvSpPr>
          <p:nvPr>
            <p:ph type="ftr" idx="11"/>
          </p:nvPr>
        </p:nvSpPr>
        <p:spPr/>
        <p:txBody>
          <a:bodyPr/>
          <a:lstStyle/>
          <a:p>
            <a:pPr>
              <a:defRPr/>
            </a:pPr>
            <a:r>
              <a:rPr lang="en-US" smtClean="0"/>
              <a:t>Ever to Excel!</a:t>
            </a:r>
            <a:endParaRPr lang="en-US"/>
          </a:p>
        </p:txBody>
      </p:sp>
      <p:sp>
        <p:nvSpPr>
          <p:cNvPr id="4" name="Slide Number Placeholder 3"/>
          <p:cNvSpPr>
            <a:spLocks noGrp="1"/>
          </p:cNvSpPr>
          <p:nvPr>
            <p:ph type="sldNum" idx="12"/>
          </p:nvPr>
        </p:nvSpPr>
        <p:spPr/>
        <p:txBody>
          <a:bodyPr/>
          <a:lstStyle/>
          <a:p>
            <a:pPr>
              <a:defRPr/>
            </a:pPr>
            <a:fld id="{662CB6B0-DFB5-4A57-992B-6A9D766DFFF1}" type="slidenum">
              <a:rPr lang="en-US" smtClean="0"/>
              <a:pPr>
                <a:defRPr/>
              </a:pPr>
              <a:t>6</a:t>
            </a:fld>
            <a:endParaRPr lang="en-US"/>
          </a:p>
        </p:txBody>
      </p:sp>
      <p:sp>
        <p:nvSpPr>
          <p:cNvPr id="5" name="Text Placeholder 3"/>
          <p:cNvSpPr txBox="1">
            <a:spLocks/>
          </p:cNvSpPr>
          <p:nvPr/>
        </p:nvSpPr>
        <p:spPr>
          <a:xfrm>
            <a:off x="254000" y="923544"/>
            <a:ext cx="8888414" cy="5513832"/>
          </a:xfrm>
          <a:prstGeom prst="rect">
            <a:avLst/>
          </a:prstGeom>
        </p:spPr>
        <p:txBody>
          <a:bodyPr>
            <a:normAutofit/>
          </a:bodyPr>
          <a:lstStyle>
            <a:lvl1pPr marL="257175" indent="-257175" algn="l" defTabSz="342900" rtl="0" eaLnBrk="1" fontAlgn="base" hangingPunct="1">
              <a:spcBef>
                <a:spcPts val="525"/>
              </a:spcBef>
              <a:spcAft>
                <a:spcPct val="0"/>
              </a:spcAft>
              <a:buClr>
                <a:srgbClr val="000000"/>
              </a:buClr>
              <a:buSzPct val="100000"/>
              <a:buFont typeface="Times New Roman" panose="02020603050405020304" pitchFamily="18" charset="0"/>
              <a:defRPr sz="2100" b="1">
                <a:solidFill>
                  <a:srgbClr val="2B166E"/>
                </a:solidFill>
                <a:latin typeface="+mn-lt"/>
                <a:ea typeface="+mn-ea"/>
                <a:cs typeface="+mn-cs"/>
              </a:defRPr>
            </a:lvl1pPr>
            <a:lvl2pPr marL="557213" indent="-214313" algn="l" defTabSz="342900" rtl="0" eaLnBrk="1" fontAlgn="base" hangingPunct="1">
              <a:spcBef>
                <a:spcPts val="525"/>
              </a:spcBef>
              <a:spcAft>
                <a:spcPct val="0"/>
              </a:spcAft>
              <a:buClr>
                <a:srgbClr val="000000"/>
              </a:buClr>
              <a:buSzPct val="100000"/>
              <a:buFont typeface="Times New Roman" panose="02020603050405020304" pitchFamily="18" charset="0"/>
              <a:defRPr sz="2100">
                <a:solidFill>
                  <a:srgbClr val="2B166E"/>
                </a:solidFill>
                <a:latin typeface="+mj-lt"/>
                <a:ea typeface="+mn-ea"/>
              </a:defRPr>
            </a:lvl2pPr>
            <a:lvl3pPr marL="857250" indent="-171450" algn="l" defTabSz="342900" rtl="0" eaLnBrk="1" fontAlgn="base" hangingPunct="1">
              <a:spcBef>
                <a:spcPts val="450"/>
              </a:spcBef>
              <a:spcAft>
                <a:spcPct val="0"/>
              </a:spcAft>
              <a:buClr>
                <a:srgbClr val="000000"/>
              </a:buClr>
              <a:buSzPct val="100000"/>
              <a:buFont typeface="Times New Roman" panose="02020603050405020304" pitchFamily="18" charset="0"/>
              <a:defRPr sz="1800">
                <a:solidFill>
                  <a:srgbClr val="2B166E"/>
                </a:solidFill>
                <a:latin typeface="+mj-lt"/>
                <a:ea typeface="+mn-ea"/>
              </a:defRPr>
            </a:lvl3pPr>
            <a:lvl4pPr marL="12001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4pPr>
            <a:lvl5pPr marL="15430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5pPr>
            <a:lvl6pPr marL="18859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6pPr>
            <a:lvl7pPr marL="22288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7pPr>
            <a:lvl8pPr marL="25717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8pPr>
            <a:lvl9pPr marL="29146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9pPr>
          </a:lstStyle>
          <a:p>
            <a:pPr marL="0" indent="0">
              <a:lnSpc>
                <a:spcPct val="150000"/>
              </a:lnSpc>
            </a:pPr>
            <a:r>
              <a:rPr lang="en-US" sz="2400" kern="0" dirty="0" smtClean="0">
                <a:solidFill>
                  <a:schemeClr val="accent2"/>
                </a:solidFill>
                <a:latin typeface="Times New Roman" panose="02020603050405020304" pitchFamily="18" charset="0"/>
                <a:cs typeface="Times New Roman" panose="02020603050405020304" pitchFamily="18" charset="0"/>
              </a:rPr>
              <a:t>2. Covalent bond </a:t>
            </a:r>
            <a:r>
              <a:rPr lang="en-US" sz="2400" b="0" kern="0" dirty="0" smtClean="0">
                <a:solidFill>
                  <a:schemeClr val="tx1"/>
                </a:solidFill>
                <a:latin typeface="Times New Roman" panose="02020603050405020304" pitchFamily="18" charset="0"/>
                <a:cs typeface="Times New Roman" panose="02020603050405020304" pitchFamily="18" charset="0"/>
              </a:rPr>
              <a:t>- </a:t>
            </a:r>
            <a:r>
              <a:rPr lang="en-US" sz="2400" b="0" kern="0" dirty="0" smtClean="0">
                <a:latin typeface="Times New Roman" panose="02020603050405020304" pitchFamily="18" charset="0"/>
                <a:cs typeface="Times New Roman" panose="02020603050405020304" pitchFamily="18" charset="0"/>
              </a:rPr>
              <a:t>form when an electron is shared between two atoms </a:t>
            </a:r>
          </a:p>
          <a:p>
            <a:pPr marL="342900" indent="-342900">
              <a:lnSpc>
                <a:spcPct val="150000"/>
              </a:lnSpc>
              <a:buFont typeface="Arial" panose="020B0604020202020204" pitchFamily="34" charset="0"/>
              <a:buChar char="•"/>
            </a:pPr>
            <a:r>
              <a:rPr lang="en-US" sz="2400" b="0" kern="0" dirty="0" smtClean="0">
                <a:latin typeface="Times New Roman" panose="02020603050405020304" pitchFamily="18" charset="0"/>
                <a:cs typeface="Times New Roman" panose="02020603050405020304" pitchFamily="18" charset="0"/>
              </a:rPr>
              <a:t>Covalent bonds are the </a:t>
            </a:r>
            <a:r>
              <a:rPr lang="en-US" sz="2400" b="0" kern="0" dirty="0" smtClean="0">
                <a:solidFill>
                  <a:schemeClr val="accent2"/>
                </a:solidFill>
                <a:latin typeface="Times New Roman" panose="02020603050405020304" pitchFamily="18" charset="0"/>
                <a:cs typeface="Times New Roman" panose="02020603050405020304" pitchFamily="18" charset="0"/>
              </a:rPr>
              <a:t>strongest</a:t>
            </a:r>
            <a:r>
              <a:rPr lang="en-US" sz="2400" b="0" kern="0" dirty="0" smtClean="0">
                <a:latin typeface="Times New Roman" panose="02020603050405020304" pitchFamily="18" charset="0"/>
                <a:cs typeface="Times New Roman" panose="02020603050405020304" pitchFamily="18" charset="0"/>
              </a:rPr>
              <a:t> and most common form of chemical bond in living organisms</a:t>
            </a:r>
          </a:p>
          <a:p>
            <a:pPr marL="342900" indent="-342900">
              <a:lnSpc>
                <a:spcPct val="150000"/>
              </a:lnSpc>
              <a:buFont typeface="Wingdings" panose="05000000000000000000" pitchFamily="2" charset="2"/>
              <a:buChar char="ü"/>
            </a:pPr>
            <a:r>
              <a:rPr lang="en-US" sz="2400" b="0" kern="0" dirty="0" smtClean="0">
                <a:latin typeface="Times New Roman" panose="02020603050405020304" pitchFamily="18" charset="0"/>
                <a:cs typeface="Times New Roman" panose="02020603050405020304" pitchFamily="18" charset="0"/>
              </a:rPr>
              <a:t>When one pair of electrons are shared, it forms a single bond</a:t>
            </a:r>
          </a:p>
          <a:p>
            <a:pPr marL="342900" indent="-342900">
              <a:lnSpc>
                <a:spcPct val="150000"/>
              </a:lnSpc>
              <a:buFont typeface="Wingdings" panose="05000000000000000000" pitchFamily="2" charset="2"/>
              <a:buChar char="ü"/>
            </a:pPr>
            <a:r>
              <a:rPr lang="en-US" sz="2400" b="0" kern="0" dirty="0" smtClean="0">
                <a:latin typeface="Times New Roman" panose="02020603050405020304" pitchFamily="18" charset="0"/>
                <a:cs typeface="Times New Roman" panose="02020603050405020304" pitchFamily="18" charset="0"/>
              </a:rPr>
              <a:t>When two pairs of electrons are shared, it forms a double bond</a:t>
            </a:r>
          </a:p>
          <a:p>
            <a:pPr marL="342900" indent="-342900">
              <a:lnSpc>
                <a:spcPct val="150000"/>
              </a:lnSpc>
              <a:buFont typeface="Wingdings" panose="05000000000000000000" pitchFamily="2" charset="2"/>
              <a:buChar char="ü"/>
            </a:pPr>
            <a:r>
              <a:rPr lang="en-US" sz="2400" b="0" kern="0" dirty="0" smtClean="0">
                <a:latin typeface="Times New Roman" panose="02020603050405020304" pitchFamily="18" charset="0"/>
                <a:cs typeface="Times New Roman" panose="02020603050405020304" pitchFamily="18" charset="0"/>
              </a:rPr>
              <a:t>When three pairs of electrons are shared, it forms a triple bond</a:t>
            </a:r>
            <a:endParaRPr lang="en-US" sz="2400" b="0" kern="0" dirty="0">
              <a:latin typeface="Times New Roman" panose="02020603050405020304" pitchFamily="18" charset="0"/>
              <a:cs typeface="Times New Roman" panose="02020603050405020304" pitchFamily="18" charset="0"/>
            </a:endParaRPr>
          </a:p>
        </p:txBody>
      </p:sp>
      <p:pic>
        <p:nvPicPr>
          <p:cNvPr id="6" name="Picture 5" descr="Picture depicts the strengths of covalent bonds.  Single covalent bonds are strong, double covalent bonds are stronger, and triple covalent are even stronger"/>
          <p:cNvPicPr>
            <a:picLocks noChangeAspect="1"/>
          </p:cNvPicPr>
          <p:nvPr/>
        </p:nvPicPr>
        <p:blipFill>
          <a:blip r:embed="rId2"/>
          <a:stretch>
            <a:fillRect/>
          </a:stretch>
        </p:blipFill>
        <p:spPr>
          <a:xfrm>
            <a:off x="2434694" y="5255405"/>
            <a:ext cx="2788360" cy="684375"/>
          </a:xfrm>
          <a:prstGeom prst="rect">
            <a:avLst/>
          </a:prstGeom>
        </p:spPr>
      </p:pic>
    </p:spTree>
    <p:extLst>
      <p:ext uri="{BB962C8B-B14F-4D97-AF65-F5344CB8AC3E}">
        <p14:creationId xmlns:p14="http://schemas.microsoft.com/office/powerpoint/2010/main" val="3050595861"/>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pPr>
              <a:defRPr/>
            </a:pPr>
            <a:r>
              <a:rPr lang="en-US" smtClean="0"/>
              <a:t>www.hu.edu.et</a:t>
            </a:r>
            <a:endParaRPr lang="en-US"/>
          </a:p>
        </p:txBody>
      </p:sp>
      <p:sp>
        <p:nvSpPr>
          <p:cNvPr id="3" name="Footer Placeholder 2"/>
          <p:cNvSpPr>
            <a:spLocks noGrp="1"/>
          </p:cNvSpPr>
          <p:nvPr>
            <p:ph type="ftr" idx="11"/>
          </p:nvPr>
        </p:nvSpPr>
        <p:spPr/>
        <p:txBody>
          <a:bodyPr/>
          <a:lstStyle/>
          <a:p>
            <a:pPr>
              <a:defRPr/>
            </a:pPr>
            <a:r>
              <a:rPr lang="en-US" smtClean="0"/>
              <a:t>Ever to Excel!</a:t>
            </a:r>
            <a:endParaRPr lang="en-US"/>
          </a:p>
        </p:txBody>
      </p:sp>
      <p:sp>
        <p:nvSpPr>
          <p:cNvPr id="4" name="Slide Number Placeholder 3"/>
          <p:cNvSpPr>
            <a:spLocks noGrp="1"/>
          </p:cNvSpPr>
          <p:nvPr>
            <p:ph type="sldNum" idx="12"/>
          </p:nvPr>
        </p:nvSpPr>
        <p:spPr/>
        <p:txBody>
          <a:bodyPr/>
          <a:lstStyle/>
          <a:p>
            <a:pPr>
              <a:defRPr/>
            </a:pPr>
            <a:fld id="{662CB6B0-DFB5-4A57-992B-6A9D766DFFF1}" type="slidenum">
              <a:rPr lang="en-US" smtClean="0"/>
              <a:pPr>
                <a:defRPr/>
              </a:pPr>
              <a:t>7</a:t>
            </a:fld>
            <a:endParaRPr lang="en-US"/>
          </a:p>
        </p:txBody>
      </p:sp>
      <p:sp>
        <p:nvSpPr>
          <p:cNvPr id="5" name="Text Placeholder 3"/>
          <p:cNvSpPr txBox="1">
            <a:spLocks/>
          </p:cNvSpPr>
          <p:nvPr/>
        </p:nvSpPr>
        <p:spPr>
          <a:xfrm>
            <a:off x="212953" y="881201"/>
            <a:ext cx="8747760" cy="4814610"/>
          </a:xfrm>
          <a:prstGeom prst="rect">
            <a:avLst/>
          </a:prstGeom>
        </p:spPr>
        <p:txBody>
          <a:bodyPr>
            <a:normAutofit/>
          </a:bodyPr>
          <a:lstStyle>
            <a:lvl1pPr marL="257175" indent="-257175" algn="l" defTabSz="342900" rtl="0" eaLnBrk="1" fontAlgn="base" hangingPunct="1">
              <a:spcBef>
                <a:spcPts val="525"/>
              </a:spcBef>
              <a:spcAft>
                <a:spcPct val="0"/>
              </a:spcAft>
              <a:buClr>
                <a:srgbClr val="000000"/>
              </a:buClr>
              <a:buSzPct val="100000"/>
              <a:buFont typeface="Times New Roman" panose="02020603050405020304" pitchFamily="18" charset="0"/>
              <a:defRPr sz="2100" b="1">
                <a:solidFill>
                  <a:srgbClr val="2B166E"/>
                </a:solidFill>
                <a:latin typeface="+mn-lt"/>
                <a:ea typeface="+mn-ea"/>
                <a:cs typeface="+mn-cs"/>
              </a:defRPr>
            </a:lvl1pPr>
            <a:lvl2pPr marL="557213" indent="-214313" algn="l" defTabSz="342900" rtl="0" eaLnBrk="1" fontAlgn="base" hangingPunct="1">
              <a:spcBef>
                <a:spcPts val="525"/>
              </a:spcBef>
              <a:spcAft>
                <a:spcPct val="0"/>
              </a:spcAft>
              <a:buClr>
                <a:srgbClr val="000000"/>
              </a:buClr>
              <a:buSzPct val="100000"/>
              <a:buFont typeface="Times New Roman" panose="02020603050405020304" pitchFamily="18" charset="0"/>
              <a:defRPr sz="2100">
                <a:solidFill>
                  <a:srgbClr val="2B166E"/>
                </a:solidFill>
                <a:latin typeface="+mj-lt"/>
                <a:ea typeface="+mn-ea"/>
              </a:defRPr>
            </a:lvl2pPr>
            <a:lvl3pPr marL="857250" indent="-171450" algn="l" defTabSz="342900" rtl="0" eaLnBrk="1" fontAlgn="base" hangingPunct="1">
              <a:spcBef>
                <a:spcPts val="450"/>
              </a:spcBef>
              <a:spcAft>
                <a:spcPct val="0"/>
              </a:spcAft>
              <a:buClr>
                <a:srgbClr val="000000"/>
              </a:buClr>
              <a:buSzPct val="100000"/>
              <a:buFont typeface="Times New Roman" panose="02020603050405020304" pitchFamily="18" charset="0"/>
              <a:defRPr sz="1800">
                <a:solidFill>
                  <a:srgbClr val="2B166E"/>
                </a:solidFill>
                <a:latin typeface="+mj-lt"/>
                <a:ea typeface="+mn-ea"/>
              </a:defRPr>
            </a:lvl3pPr>
            <a:lvl4pPr marL="12001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4pPr>
            <a:lvl5pPr marL="15430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5pPr>
            <a:lvl6pPr marL="18859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6pPr>
            <a:lvl7pPr marL="22288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7pPr>
            <a:lvl8pPr marL="25717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8pPr>
            <a:lvl9pPr marL="29146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9pPr>
          </a:lstStyle>
          <a:p>
            <a:pPr marL="342900" indent="-342900">
              <a:buFont typeface="Wingdings" panose="05000000000000000000" pitchFamily="2" charset="2"/>
              <a:buChar char="q"/>
            </a:pPr>
            <a:r>
              <a:rPr lang="en-US" sz="2400" kern="0" dirty="0" smtClean="0">
                <a:latin typeface="Times New Roman" panose="02020603050405020304" pitchFamily="18" charset="0"/>
                <a:cs typeface="Times New Roman" panose="02020603050405020304" pitchFamily="18" charset="0"/>
              </a:rPr>
              <a:t>There are two types of covalent bonds: nonpolar covalent bonds and polar covalent bonds</a:t>
            </a:r>
          </a:p>
          <a:p>
            <a:pPr marL="342900" indent="-342900" algn="just">
              <a:buFont typeface="Arial" panose="020B0604020202020204" pitchFamily="34" charset="0"/>
              <a:buChar char="•"/>
            </a:pPr>
            <a:r>
              <a:rPr lang="en-US" sz="2400" kern="0" dirty="0" smtClean="0">
                <a:solidFill>
                  <a:schemeClr val="accent2"/>
                </a:solidFill>
                <a:latin typeface="Times New Roman" panose="02020603050405020304" pitchFamily="18" charset="0"/>
                <a:cs typeface="Times New Roman" panose="02020603050405020304" pitchFamily="18" charset="0"/>
              </a:rPr>
              <a:t>Nonpolar covalent bonds </a:t>
            </a:r>
            <a:r>
              <a:rPr lang="en-US" sz="2400" b="0" kern="0" dirty="0" smtClean="0">
                <a:latin typeface="Times New Roman" panose="02020603050405020304" pitchFamily="18" charset="0"/>
                <a:cs typeface="Times New Roman" panose="02020603050405020304" pitchFamily="18" charset="0"/>
              </a:rPr>
              <a:t>are formed when the electrons are shared equally</a:t>
            </a:r>
          </a:p>
          <a:p>
            <a:pPr marL="342900" indent="-342900" algn="just">
              <a:buFont typeface="Arial" panose="020B0604020202020204" pitchFamily="34" charset="0"/>
              <a:buChar char="•"/>
            </a:pPr>
            <a:r>
              <a:rPr lang="en-US" sz="2400" kern="0" dirty="0" smtClean="0">
                <a:solidFill>
                  <a:schemeClr val="accent2"/>
                </a:solidFill>
                <a:latin typeface="Times New Roman" panose="02020603050405020304" pitchFamily="18" charset="0"/>
                <a:cs typeface="Times New Roman" panose="02020603050405020304" pitchFamily="18" charset="0"/>
              </a:rPr>
              <a:t>Polar covalent bonds </a:t>
            </a:r>
            <a:r>
              <a:rPr lang="en-US" sz="2400" b="0" kern="0" dirty="0" smtClean="0">
                <a:latin typeface="Times New Roman" panose="02020603050405020304" pitchFamily="18" charset="0"/>
                <a:cs typeface="Times New Roman" panose="02020603050405020304" pitchFamily="18" charset="0"/>
              </a:rPr>
              <a:t>are formed when the electrons are not shared equally, they spend more time closer to one nucleus than to the other nucleus.  This gives the atom where the electron spends more time a small negative charge, and the atom missing the electron more a small positive charge</a:t>
            </a:r>
            <a:endParaRPr lang="en-US" sz="2400" b="0" kern="0" dirty="0">
              <a:latin typeface="Times New Roman" panose="02020603050405020304" pitchFamily="18" charset="0"/>
              <a:cs typeface="Times New Roman" panose="02020603050405020304" pitchFamily="18" charset="0"/>
            </a:endParaRPr>
          </a:p>
        </p:txBody>
      </p:sp>
      <p:pic>
        <p:nvPicPr>
          <p:cNvPr id="6" name="Figure" descr="Diagram depicting polar and nonpolar covalent bonds"/>
          <p:cNvPicPr>
            <a:picLocks noChangeAspect="1"/>
          </p:cNvPicPr>
          <p:nvPr/>
        </p:nvPicPr>
        <p:blipFill rotWithShape="1">
          <a:blip r:embed="rId2" cstate="email">
            <a:extLst>
              <a:ext uri="{28A0092B-C50C-407E-A947-70E740481C1C}">
                <a14:useLocalDpi xmlns:a14="http://schemas.microsoft.com/office/drawing/2010/main" val="0"/>
              </a:ext>
            </a:extLst>
          </a:blip>
          <a:srcRect t="-2609" b="-2196"/>
          <a:stretch/>
        </p:blipFill>
        <p:spPr>
          <a:xfrm>
            <a:off x="1569109" y="4505823"/>
            <a:ext cx="5805269" cy="2045792"/>
          </a:xfrm>
          <a:prstGeom prst="rect">
            <a:avLst/>
          </a:prstGeom>
        </p:spPr>
      </p:pic>
    </p:spTree>
    <p:extLst>
      <p:ext uri="{BB962C8B-B14F-4D97-AF65-F5344CB8AC3E}">
        <p14:creationId xmlns:p14="http://schemas.microsoft.com/office/powerpoint/2010/main" val="405360015"/>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pPr>
              <a:defRPr/>
            </a:pPr>
            <a:r>
              <a:rPr lang="en-US" smtClean="0"/>
              <a:t>www.hu.edu.et</a:t>
            </a:r>
            <a:endParaRPr lang="en-US"/>
          </a:p>
        </p:txBody>
      </p:sp>
      <p:sp>
        <p:nvSpPr>
          <p:cNvPr id="3" name="Footer Placeholder 2"/>
          <p:cNvSpPr>
            <a:spLocks noGrp="1"/>
          </p:cNvSpPr>
          <p:nvPr>
            <p:ph type="ftr" idx="11"/>
          </p:nvPr>
        </p:nvSpPr>
        <p:spPr/>
        <p:txBody>
          <a:bodyPr/>
          <a:lstStyle/>
          <a:p>
            <a:pPr>
              <a:defRPr/>
            </a:pPr>
            <a:r>
              <a:rPr lang="en-US" smtClean="0"/>
              <a:t>Ever to Excel!</a:t>
            </a:r>
            <a:endParaRPr lang="en-US"/>
          </a:p>
        </p:txBody>
      </p:sp>
      <p:sp>
        <p:nvSpPr>
          <p:cNvPr id="4" name="Slide Number Placeholder 3"/>
          <p:cNvSpPr>
            <a:spLocks noGrp="1"/>
          </p:cNvSpPr>
          <p:nvPr>
            <p:ph type="sldNum" idx="12"/>
          </p:nvPr>
        </p:nvSpPr>
        <p:spPr/>
        <p:txBody>
          <a:bodyPr/>
          <a:lstStyle/>
          <a:p>
            <a:pPr>
              <a:defRPr/>
            </a:pPr>
            <a:fld id="{662CB6B0-DFB5-4A57-992B-6A9D766DFFF1}" type="slidenum">
              <a:rPr lang="en-US" smtClean="0"/>
              <a:pPr>
                <a:defRPr/>
              </a:pPr>
              <a:t>8</a:t>
            </a:fld>
            <a:endParaRPr lang="en-US"/>
          </a:p>
        </p:txBody>
      </p:sp>
      <p:sp>
        <p:nvSpPr>
          <p:cNvPr id="6" name="Text Placeholder 3"/>
          <p:cNvSpPr txBox="1">
            <a:spLocks/>
          </p:cNvSpPr>
          <p:nvPr/>
        </p:nvSpPr>
        <p:spPr>
          <a:xfrm>
            <a:off x="128588" y="822098"/>
            <a:ext cx="6403886" cy="5502746"/>
          </a:xfrm>
          <a:prstGeom prst="rect">
            <a:avLst/>
          </a:prstGeom>
        </p:spPr>
        <p:txBody>
          <a:bodyPr>
            <a:noAutofit/>
          </a:bodyPr>
          <a:lstStyle>
            <a:lvl1pPr marL="257175" indent="-257175" algn="l" defTabSz="342900" rtl="0" eaLnBrk="1" fontAlgn="base" hangingPunct="1">
              <a:spcBef>
                <a:spcPts val="525"/>
              </a:spcBef>
              <a:spcAft>
                <a:spcPct val="0"/>
              </a:spcAft>
              <a:buClr>
                <a:srgbClr val="000000"/>
              </a:buClr>
              <a:buSzPct val="100000"/>
              <a:buFont typeface="Times New Roman" panose="02020603050405020304" pitchFamily="18" charset="0"/>
              <a:defRPr sz="2100" b="1">
                <a:solidFill>
                  <a:srgbClr val="2B166E"/>
                </a:solidFill>
                <a:latin typeface="+mn-lt"/>
                <a:ea typeface="+mn-ea"/>
                <a:cs typeface="+mn-cs"/>
              </a:defRPr>
            </a:lvl1pPr>
            <a:lvl2pPr marL="557213" indent="-214313" algn="l" defTabSz="342900" rtl="0" eaLnBrk="1" fontAlgn="base" hangingPunct="1">
              <a:spcBef>
                <a:spcPts val="525"/>
              </a:spcBef>
              <a:spcAft>
                <a:spcPct val="0"/>
              </a:spcAft>
              <a:buClr>
                <a:srgbClr val="000000"/>
              </a:buClr>
              <a:buSzPct val="100000"/>
              <a:buFont typeface="Times New Roman" panose="02020603050405020304" pitchFamily="18" charset="0"/>
              <a:defRPr sz="2100">
                <a:solidFill>
                  <a:srgbClr val="2B166E"/>
                </a:solidFill>
                <a:latin typeface="+mj-lt"/>
                <a:ea typeface="+mn-ea"/>
              </a:defRPr>
            </a:lvl2pPr>
            <a:lvl3pPr marL="857250" indent="-171450" algn="l" defTabSz="342900" rtl="0" eaLnBrk="1" fontAlgn="base" hangingPunct="1">
              <a:spcBef>
                <a:spcPts val="450"/>
              </a:spcBef>
              <a:spcAft>
                <a:spcPct val="0"/>
              </a:spcAft>
              <a:buClr>
                <a:srgbClr val="000000"/>
              </a:buClr>
              <a:buSzPct val="100000"/>
              <a:buFont typeface="Times New Roman" panose="02020603050405020304" pitchFamily="18" charset="0"/>
              <a:defRPr sz="1800">
                <a:solidFill>
                  <a:srgbClr val="2B166E"/>
                </a:solidFill>
                <a:latin typeface="+mj-lt"/>
                <a:ea typeface="+mn-ea"/>
              </a:defRPr>
            </a:lvl3pPr>
            <a:lvl4pPr marL="12001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4pPr>
            <a:lvl5pPr marL="15430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5pPr>
            <a:lvl6pPr marL="18859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6pPr>
            <a:lvl7pPr marL="22288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7pPr>
            <a:lvl8pPr marL="25717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8pPr>
            <a:lvl9pPr marL="29146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9pPr>
          </a:lstStyle>
          <a:p>
            <a:pPr marL="0" lvl="0" indent="0" algn="just" defTabSz="914400" fontAlgn="auto">
              <a:spcBef>
                <a:spcPts val="0"/>
              </a:spcBef>
              <a:spcAft>
                <a:spcPts val="0"/>
              </a:spcAft>
              <a:buClrTx/>
              <a:buSzTx/>
            </a:pPr>
            <a:r>
              <a:rPr lang="en-US" sz="2400" b="0" dirty="0" smtClean="0">
                <a:solidFill>
                  <a:srgbClr val="FF0000"/>
                </a:solidFill>
                <a:latin typeface="+mj-lt"/>
              </a:rPr>
              <a:t>Hydrogen Bond: </a:t>
            </a:r>
          </a:p>
          <a:p>
            <a:pPr marL="285750" lvl="0" indent="-285750" algn="just" defTabSz="914400" fontAlgn="auto">
              <a:spcBef>
                <a:spcPts val="0"/>
              </a:spcBef>
              <a:spcAft>
                <a:spcPts val="0"/>
              </a:spcAft>
              <a:buClrTx/>
              <a:buSzTx/>
              <a:buFont typeface="Arial" panose="020B0604020202020204" pitchFamily="34" charset="0"/>
              <a:buChar char="•"/>
            </a:pPr>
            <a:r>
              <a:rPr lang="en-US" sz="2400" b="0" dirty="0" smtClean="0">
                <a:latin typeface="+mj-lt"/>
              </a:rPr>
              <a:t>When </a:t>
            </a:r>
            <a:r>
              <a:rPr lang="en-US" sz="2400" b="0" dirty="0">
                <a:latin typeface="+mj-lt"/>
              </a:rPr>
              <a:t>polar covalent bonds containing hydrogen form, the hydrogen in that bond has a slightly positive charge because hydrogen’s electron is pulled more strongly toward the other element and away from the hydrogen. </a:t>
            </a:r>
            <a:endParaRPr lang="en-US" sz="2400" b="0" dirty="0" smtClean="0">
              <a:latin typeface="+mj-lt"/>
            </a:endParaRPr>
          </a:p>
          <a:p>
            <a:pPr marL="285750" lvl="0" indent="-285750" algn="just" defTabSz="914400" fontAlgn="auto">
              <a:spcBef>
                <a:spcPts val="0"/>
              </a:spcBef>
              <a:spcAft>
                <a:spcPts val="0"/>
              </a:spcAft>
              <a:buClrTx/>
              <a:buSzTx/>
              <a:buFont typeface="Arial" panose="020B0604020202020204" pitchFamily="34" charset="0"/>
              <a:buChar char="•"/>
            </a:pPr>
            <a:r>
              <a:rPr lang="en-US" sz="2400" b="0" dirty="0" smtClean="0">
                <a:latin typeface="+mj-lt"/>
              </a:rPr>
              <a:t>Because </a:t>
            </a:r>
            <a:r>
              <a:rPr lang="en-US" sz="2400" b="0" dirty="0">
                <a:latin typeface="+mj-lt"/>
              </a:rPr>
              <a:t>the hydrogen is slightly positive, it will be attracted to neighboring negative charges. When this happens, a weak interaction occurs between the δ+ of the hydrogen from one molecule and the δ– charge on the more electronegative atoms of another molecule, usually oxygen or nitrogen, or within the same molecule. This interaction is called a </a:t>
            </a:r>
            <a:r>
              <a:rPr lang="en-US" sz="2400" dirty="0">
                <a:solidFill>
                  <a:schemeClr val="accent2"/>
                </a:solidFill>
                <a:latin typeface="+mj-lt"/>
              </a:rPr>
              <a:t>hydrogen bond</a:t>
            </a:r>
          </a:p>
          <a:p>
            <a:pPr marL="342900" indent="-342900" algn="just">
              <a:buFont typeface="Arial"/>
              <a:buChar char="•"/>
            </a:pPr>
            <a:endParaRPr lang="en-US" sz="2400" b="0" kern="0" dirty="0" smtClean="0">
              <a:latin typeface="+mj-lt"/>
              <a:cs typeface="Times New Roman" panose="02020603050405020304" pitchFamily="18" charset="0"/>
            </a:endParaRPr>
          </a:p>
          <a:p>
            <a:pPr marL="342900" indent="-342900" algn="just">
              <a:buFont typeface="Arial"/>
              <a:buChar char="•"/>
            </a:pPr>
            <a:endParaRPr lang="en-US" sz="2400" b="0" kern="0" dirty="0">
              <a:solidFill>
                <a:srgbClr val="6CB255"/>
              </a:solidFill>
              <a:latin typeface="+mj-lt"/>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6590996" y="1690787"/>
            <a:ext cx="2446573" cy="2550209"/>
          </a:xfrm>
          <a:prstGeom prst="rect">
            <a:avLst/>
          </a:prstGeom>
        </p:spPr>
      </p:pic>
    </p:spTree>
    <p:extLst>
      <p:ext uri="{BB962C8B-B14F-4D97-AF65-F5344CB8AC3E}">
        <p14:creationId xmlns:p14="http://schemas.microsoft.com/office/powerpoint/2010/main" val="2153477165"/>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pPr>
              <a:defRPr/>
            </a:pPr>
            <a:r>
              <a:rPr lang="en-US" smtClean="0"/>
              <a:t>www.hu.edu.et</a:t>
            </a:r>
            <a:endParaRPr lang="en-US"/>
          </a:p>
        </p:txBody>
      </p:sp>
      <p:sp>
        <p:nvSpPr>
          <p:cNvPr id="3" name="Footer Placeholder 2"/>
          <p:cNvSpPr>
            <a:spLocks noGrp="1"/>
          </p:cNvSpPr>
          <p:nvPr>
            <p:ph type="ftr" idx="11"/>
          </p:nvPr>
        </p:nvSpPr>
        <p:spPr/>
        <p:txBody>
          <a:bodyPr/>
          <a:lstStyle/>
          <a:p>
            <a:pPr>
              <a:defRPr/>
            </a:pPr>
            <a:r>
              <a:rPr lang="en-US" smtClean="0"/>
              <a:t>Ever to Excel!</a:t>
            </a:r>
            <a:endParaRPr lang="en-US"/>
          </a:p>
        </p:txBody>
      </p:sp>
      <p:sp>
        <p:nvSpPr>
          <p:cNvPr id="4" name="Slide Number Placeholder 3"/>
          <p:cNvSpPr>
            <a:spLocks noGrp="1"/>
          </p:cNvSpPr>
          <p:nvPr>
            <p:ph type="sldNum" idx="12"/>
          </p:nvPr>
        </p:nvSpPr>
        <p:spPr/>
        <p:txBody>
          <a:bodyPr/>
          <a:lstStyle/>
          <a:p>
            <a:pPr>
              <a:defRPr/>
            </a:pPr>
            <a:fld id="{662CB6B0-DFB5-4A57-992B-6A9D766DFFF1}" type="slidenum">
              <a:rPr lang="en-US" smtClean="0"/>
              <a:pPr>
                <a:defRPr/>
              </a:pPr>
              <a:t>9</a:t>
            </a:fld>
            <a:endParaRPr lang="en-US"/>
          </a:p>
        </p:txBody>
      </p:sp>
      <p:sp>
        <p:nvSpPr>
          <p:cNvPr id="5" name="Content Placeholder 4"/>
          <p:cNvSpPr txBox="1">
            <a:spLocks/>
          </p:cNvSpPr>
          <p:nvPr/>
        </p:nvSpPr>
        <p:spPr>
          <a:xfrm>
            <a:off x="508407" y="1062078"/>
            <a:ext cx="7809683" cy="5193589"/>
          </a:xfrm>
          <a:prstGeom prst="rect">
            <a:avLst/>
          </a:prstGeom>
        </p:spPr>
        <p:txBody>
          <a:bodyPr/>
          <a:lstStyle>
            <a:lvl1pPr marL="257175" indent="-257175" algn="l" defTabSz="342900" rtl="0" eaLnBrk="1" fontAlgn="base" hangingPunct="1">
              <a:spcBef>
                <a:spcPts val="525"/>
              </a:spcBef>
              <a:spcAft>
                <a:spcPct val="0"/>
              </a:spcAft>
              <a:buClr>
                <a:srgbClr val="000000"/>
              </a:buClr>
              <a:buSzPct val="100000"/>
              <a:buFont typeface="Times New Roman" panose="02020603050405020304" pitchFamily="18" charset="0"/>
              <a:defRPr sz="2100" b="1">
                <a:solidFill>
                  <a:srgbClr val="2B166E"/>
                </a:solidFill>
                <a:latin typeface="+mn-lt"/>
                <a:ea typeface="+mn-ea"/>
                <a:cs typeface="+mn-cs"/>
              </a:defRPr>
            </a:lvl1pPr>
            <a:lvl2pPr marL="557213" indent="-214313" algn="l" defTabSz="342900" rtl="0" eaLnBrk="1" fontAlgn="base" hangingPunct="1">
              <a:spcBef>
                <a:spcPts val="525"/>
              </a:spcBef>
              <a:spcAft>
                <a:spcPct val="0"/>
              </a:spcAft>
              <a:buClr>
                <a:srgbClr val="000000"/>
              </a:buClr>
              <a:buSzPct val="100000"/>
              <a:buFont typeface="Times New Roman" panose="02020603050405020304" pitchFamily="18" charset="0"/>
              <a:defRPr sz="2100">
                <a:solidFill>
                  <a:srgbClr val="2B166E"/>
                </a:solidFill>
                <a:latin typeface="+mj-lt"/>
                <a:ea typeface="+mn-ea"/>
              </a:defRPr>
            </a:lvl2pPr>
            <a:lvl3pPr marL="857250" indent="-171450" algn="l" defTabSz="342900" rtl="0" eaLnBrk="1" fontAlgn="base" hangingPunct="1">
              <a:spcBef>
                <a:spcPts val="450"/>
              </a:spcBef>
              <a:spcAft>
                <a:spcPct val="0"/>
              </a:spcAft>
              <a:buClr>
                <a:srgbClr val="000000"/>
              </a:buClr>
              <a:buSzPct val="100000"/>
              <a:buFont typeface="Times New Roman" panose="02020603050405020304" pitchFamily="18" charset="0"/>
              <a:defRPr sz="1800">
                <a:solidFill>
                  <a:srgbClr val="2B166E"/>
                </a:solidFill>
                <a:latin typeface="+mj-lt"/>
                <a:ea typeface="+mn-ea"/>
              </a:defRPr>
            </a:lvl3pPr>
            <a:lvl4pPr marL="12001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4pPr>
            <a:lvl5pPr marL="15430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5pPr>
            <a:lvl6pPr marL="18859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6pPr>
            <a:lvl7pPr marL="22288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7pPr>
            <a:lvl8pPr marL="25717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8pPr>
            <a:lvl9pPr marL="29146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9pPr>
          </a:lstStyle>
          <a:p>
            <a:pPr marL="0" indent="0"/>
            <a:r>
              <a:rPr lang="en-US" sz="2400" kern="0" dirty="0" smtClean="0">
                <a:solidFill>
                  <a:schemeClr val="accent2"/>
                </a:solidFill>
                <a:latin typeface="Times New Roman" panose="02020603050405020304" pitchFamily="18" charset="0"/>
                <a:cs typeface="Times New Roman" panose="02020603050405020304" pitchFamily="18" charset="0"/>
              </a:rPr>
              <a:t>Organic molecules:-</a:t>
            </a:r>
          </a:p>
          <a:p>
            <a:pPr marL="280988" indent="-280988">
              <a:buFont typeface="Arial" panose="020B0604020202020204" pitchFamily="34" charset="0"/>
              <a:buChar char="•"/>
            </a:pPr>
            <a:r>
              <a:rPr lang="en-US" sz="2400" b="0" kern="0" dirty="0" smtClean="0">
                <a:latin typeface="Times New Roman" panose="02020603050405020304" pitchFamily="18" charset="0"/>
                <a:cs typeface="Times New Roman" panose="02020603050405020304" pitchFamily="18" charset="0"/>
              </a:rPr>
              <a:t>carbohydrates </a:t>
            </a:r>
          </a:p>
          <a:p>
            <a:pPr marL="280988" indent="-280988">
              <a:buFont typeface="Arial" panose="020B0604020202020204" pitchFamily="34" charset="0"/>
              <a:buChar char="•"/>
            </a:pPr>
            <a:r>
              <a:rPr lang="en-US" sz="2400" b="0" kern="0" dirty="0" smtClean="0">
                <a:latin typeface="Times New Roman" panose="02020603050405020304" pitchFamily="18" charset="0"/>
                <a:cs typeface="Times New Roman" panose="02020603050405020304" pitchFamily="18" charset="0"/>
              </a:rPr>
              <a:t>lipids </a:t>
            </a:r>
          </a:p>
          <a:p>
            <a:pPr marL="280988" indent="-280988">
              <a:buFont typeface="Arial" panose="020B0604020202020204" pitchFamily="34" charset="0"/>
              <a:buChar char="•"/>
            </a:pPr>
            <a:r>
              <a:rPr lang="en-US" sz="2400" b="0" kern="0" dirty="0" smtClean="0">
                <a:latin typeface="Times New Roman" panose="02020603050405020304" pitchFamily="18" charset="0"/>
                <a:cs typeface="Times New Roman" panose="02020603050405020304" pitchFamily="18" charset="0"/>
              </a:rPr>
              <a:t>Proteins</a:t>
            </a:r>
          </a:p>
          <a:p>
            <a:pPr marL="280988" indent="-280988">
              <a:buFont typeface="Arial" panose="020B0604020202020204" pitchFamily="34" charset="0"/>
              <a:buChar char="•"/>
            </a:pPr>
            <a:r>
              <a:rPr lang="en-US" sz="2400" b="0" kern="0" dirty="0" smtClean="0">
                <a:latin typeface="Times New Roman" panose="02020603050405020304" pitchFamily="18" charset="0"/>
                <a:cs typeface="Times New Roman" panose="02020603050405020304" pitchFamily="18" charset="0"/>
              </a:rPr>
              <a:t>nucleic acids (DNA, RNA)</a:t>
            </a:r>
          </a:p>
          <a:p>
            <a:pPr marL="280988" indent="-280988">
              <a:buFont typeface="Arial" panose="020B0604020202020204" pitchFamily="34" charset="0"/>
              <a:buChar char="•"/>
            </a:pPr>
            <a:r>
              <a:rPr lang="nb-NO" sz="2400" b="0" kern="0" dirty="0" smtClean="0">
                <a:latin typeface="Times New Roman" panose="02020603050405020304" pitchFamily="18" charset="0"/>
                <a:cs typeface="Times New Roman" panose="02020603050405020304" pitchFamily="18" charset="0"/>
              </a:rPr>
              <a:t>Vitamins</a:t>
            </a:r>
          </a:p>
          <a:p>
            <a:pPr marL="0" indent="0"/>
            <a:endParaRPr lang="nb-NO" sz="2400" b="0" kern="0" dirty="0" smtClean="0">
              <a:latin typeface="Times New Roman" panose="02020603050405020304" pitchFamily="18" charset="0"/>
              <a:cs typeface="Times New Roman" panose="02020603050405020304" pitchFamily="18" charset="0"/>
            </a:endParaRPr>
          </a:p>
          <a:p>
            <a:r>
              <a:rPr lang="en-US" sz="2400" kern="0" dirty="0" smtClean="0">
                <a:solidFill>
                  <a:schemeClr val="accent2"/>
                </a:solidFill>
                <a:latin typeface="Times New Roman" panose="02020603050405020304" pitchFamily="18" charset="0"/>
                <a:cs typeface="Times New Roman" panose="02020603050405020304" pitchFamily="18" charset="0"/>
              </a:rPr>
              <a:t>Inorganic molecules:</a:t>
            </a:r>
          </a:p>
          <a:p>
            <a:pPr marL="280988" indent="-280988">
              <a:buFontTx/>
              <a:buChar char="-"/>
            </a:pPr>
            <a:r>
              <a:rPr lang="en-US" sz="2400" b="0" kern="0" dirty="0" smtClean="0">
                <a:latin typeface="Times New Roman" panose="02020603050405020304" pitchFamily="18" charset="0"/>
                <a:cs typeface="Times New Roman" panose="02020603050405020304" pitchFamily="18" charset="0"/>
              </a:rPr>
              <a:t>water </a:t>
            </a:r>
          </a:p>
          <a:p>
            <a:pPr marL="280988" indent="-280988">
              <a:buFontTx/>
              <a:buChar char="-"/>
            </a:pPr>
            <a:r>
              <a:rPr lang="en-US" sz="2400" b="0" kern="0" dirty="0" smtClean="0">
                <a:latin typeface="Times New Roman" panose="02020603050405020304" pitchFamily="18" charset="0"/>
                <a:cs typeface="Times New Roman" panose="02020603050405020304" pitchFamily="18" charset="0"/>
              </a:rPr>
              <a:t>oxygen </a:t>
            </a:r>
          </a:p>
          <a:p>
            <a:pPr marL="280988" indent="-280988">
              <a:buFontTx/>
              <a:buChar char="-"/>
            </a:pPr>
            <a:r>
              <a:rPr lang="en-US" sz="2400" b="0" kern="0" dirty="0" smtClean="0">
                <a:latin typeface="Times New Roman" panose="02020603050405020304" pitchFamily="18" charset="0"/>
                <a:cs typeface="Times New Roman" panose="02020603050405020304" pitchFamily="18" charset="0"/>
              </a:rPr>
              <a:t>carbon dioxide  </a:t>
            </a:r>
          </a:p>
          <a:p>
            <a:pPr marL="280988" indent="-280988">
              <a:buFontTx/>
              <a:buChar char="-"/>
            </a:pPr>
            <a:r>
              <a:rPr lang="en-US" sz="2400" b="0" kern="0" dirty="0" smtClean="0">
                <a:latin typeface="Times New Roman" panose="02020603050405020304" pitchFamily="18" charset="0"/>
                <a:cs typeface="Times New Roman" panose="02020603050405020304" pitchFamily="18" charset="0"/>
              </a:rPr>
              <a:t>mineral salts </a:t>
            </a:r>
            <a:endParaRPr lang="en-US" sz="2400" b="0" kern="0" dirty="0">
              <a:latin typeface="Times New Roman" panose="02020603050405020304" pitchFamily="18" charset="0"/>
              <a:cs typeface="Times New Roman" panose="02020603050405020304" pitchFamily="18" charset="0"/>
            </a:endParaRPr>
          </a:p>
        </p:txBody>
      </p:sp>
      <p:sp>
        <p:nvSpPr>
          <p:cNvPr id="6" name="Title 1"/>
          <p:cNvSpPr txBox="1">
            <a:spLocks/>
          </p:cNvSpPr>
          <p:nvPr/>
        </p:nvSpPr>
        <p:spPr>
          <a:xfrm>
            <a:off x="508407" y="-17970"/>
            <a:ext cx="8228013" cy="863282"/>
          </a:xfrm>
          <a:prstGeom prst="rect">
            <a:avLst/>
          </a:prstGeom>
        </p:spPr>
        <p:txBody>
          <a:bodyPr/>
          <a:lstStyle>
            <a:lvl1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mj-lt"/>
                <a:ea typeface="+mj-ea"/>
                <a:cs typeface="+mj-cs"/>
              </a:defRPr>
            </a:lvl1pPr>
            <a:lvl2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Times New Roman" panose="02020603050405020304" pitchFamily="18" charset="0"/>
                <a:cs typeface="Arial" charset="0"/>
              </a:defRPr>
            </a:lvl2pPr>
            <a:lvl3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Times New Roman" panose="02020603050405020304" pitchFamily="18" charset="0"/>
                <a:cs typeface="Arial" charset="0"/>
              </a:defRPr>
            </a:lvl3pPr>
            <a:lvl4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Times New Roman" panose="02020603050405020304" pitchFamily="18" charset="0"/>
                <a:cs typeface="Arial" charset="0"/>
              </a:defRPr>
            </a:lvl4pPr>
            <a:lvl5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Times New Roman" panose="02020603050405020304" pitchFamily="18" charset="0"/>
                <a:cs typeface="Arial" charset="0"/>
              </a:defRPr>
            </a:lvl5pPr>
            <a:lvl6pPr marL="1885950" indent="-171450" algn="ctr" defTabSz="342900" rtl="0" eaLnBrk="1" fontAlgn="base" hangingPunct="1">
              <a:spcBef>
                <a:spcPct val="0"/>
              </a:spcBef>
              <a:spcAft>
                <a:spcPct val="0"/>
              </a:spcAft>
              <a:buClr>
                <a:srgbClr val="000000"/>
              </a:buClr>
              <a:buSzPct val="100000"/>
              <a:buFont typeface="Times New Roman" pitchFamily="16" charset="0"/>
              <a:defRPr sz="2100" b="1">
                <a:solidFill>
                  <a:srgbClr val="FFFFFF"/>
                </a:solidFill>
                <a:latin typeface="Arial" charset="0"/>
                <a:cs typeface="Arial" charset="0"/>
              </a:defRPr>
            </a:lvl6pPr>
            <a:lvl7pPr marL="2228850" indent="-171450" algn="ctr" defTabSz="342900" rtl="0" eaLnBrk="1" fontAlgn="base" hangingPunct="1">
              <a:spcBef>
                <a:spcPct val="0"/>
              </a:spcBef>
              <a:spcAft>
                <a:spcPct val="0"/>
              </a:spcAft>
              <a:buClr>
                <a:srgbClr val="000000"/>
              </a:buClr>
              <a:buSzPct val="100000"/>
              <a:buFont typeface="Times New Roman" pitchFamily="16" charset="0"/>
              <a:defRPr sz="2100" b="1">
                <a:solidFill>
                  <a:srgbClr val="FFFFFF"/>
                </a:solidFill>
                <a:latin typeface="Arial" charset="0"/>
                <a:cs typeface="Arial" charset="0"/>
              </a:defRPr>
            </a:lvl7pPr>
            <a:lvl8pPr marL="2571750" indent="-171450" algn="ctr" defTabSz="342900" rtl="0" eaLnBrk="1" fontAlgn="base" hangingPunct="1">
              <a:spcBef>
                <a:spcPct val="0"/>
              </a:spcBef>
              <a:spcAft>
                <a:spcPct val="0"/>
              </a:spcAft>
              <a:buClr>
                <a:srgbClr val="000000"/>
              </a:buClr>
              <a:buSzPct val="100000"/>
              <a:buFont typeface="Times New Roman" pitchFamily="16" charset="0"/>
              <a:defRPr sz="2100" b="1">
                <a:solidFill>
                  <a:srgbClr val="FFFFFF"/>
                </a:solidFill>
                <a:latin typeface="Arial" charset="0"/>
                <a:cs typeface="Arial" charset="0"/>
              </a:defRPr>
            </a:lvl8pPr>
            <a:lvl9pPr marL="2914650" indent="-171450" algn="ctr" defTabSz="342900" rtl="0" eaLnBrk="1" fontAlgn="base" hangingPunct="1">
              <a:spcBef>
                <a:spcPct val="0"/>
              </a:spcBef>
              <a:spcAft>
                <a:spcPct val="0"/>
              </a:spcAft>
              <a:buClr>
                <a:srgbClr val="000000"/>
              </a:buClr>
              <a:buSzPct val="100000"/>
              <a:buFont typeface="Times New Roman" pitchFamily="16" charset="0"/>
              <a:defRPr sz="2100" b="1">
                <a:solidFill>
                  <a:srgbClr val="FFFFFF"/>
                </a:solidFill>
                <a:latin typeface="Arial" charset="0"/>
                <a:cs typeface="Arial" charset="0"/>
              </a:defRPr>
            </a:lvl9pPr>
          </a:lstStyle>
          <a:p>
            <a:r>
              <a:rPr lang="nb-NO" sz="3600" kern="0" smtClean="0">
                <a:solidFill>
                  <a:schemeClr val="bg1"/>
                </a:solidFill>
                <a:latin typeface="Times New Roman" panose="02020603050405020304" pitchFamily="18" charset="0"/>
                <a:cs typeface="Times New Roman" panose="02020603050405020304" pitchFamily="18" charset="0"/>
              </a:rPr>
              <a:t>Important Molecules of life</a:t>
            </a:r>
            <a:endParaRPr lang="en-US" sz="3600" kern="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3481509"/>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011988" y="6245225"/>
            <a:ext cx="2132012" cy="474663"/>
          </a:xfrm>
        </p:spPr>
        <p:txBody>
          <a:bodyPr/>
          <a:lstStyle/>
          <a:p>
            <a:fld id="{53317C95-79B3-47B2-BCE4-777D56DEFB80}" type="slidenum">
              <a:rPr lang="en-US" altLang="en-US" smtClean="0"/>
              <a:pPr/>
              <a:t>10</a:t>
            </a:fld>
            <a:endParaRPr lang="en-US" altLang="en-US"/>
          </a:p>
        </p:txBody>
      </p:sp>
      <p:sp>
        <p:nvSpPr>
          <p:cNvPr id="7" name="Text Box 3"/>
          <p:cNvSpPr txBox="1">
            <a:spLocks noChangeArrowheads="1"/>
          </p:cNvSpPr>
          <p:nvPr/>
        </p:nvSpPr>
        <p:spPr bwMode="auto">
          <a:xfrm>
            <a:off x="294640" y="985520"/>
            <a:ext cx="8849360" cy="5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1313" indent="-341313" eaLnBrk="0" hangingPunct="0">
              <a:spcBef>
                <a:spcPts val="800"/>
              </a:spcBef>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Arial" charset="0"/>
                <a:ea typeface="ＭＳ Ｐゴシック" pitchFamily="34" charset="-128"/>
                <a:cs typeface="Microsoft YaHei" pitchFamily="34" charset="-122"/>
              </a:defRPr>
            </a:lvl1pPr>
            <a:lvl2pPr eaLnBrk="0" hangingPunct="0">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Arial" charset="0"/>
                <a:ea typeface="ＭＳ Ｐゴシック" pitchFamily="34" charset="-128"/>
                <a:cs typeface="Microsoft YaHei" pitchFamily="34" charset="-122"/>
              </a:defRPr>
            </a:lvl2pPr>
            <a:lvl3pPr eaLnBrk="0" hangingPunct="0">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charset="0"/>
                <a:ea typeface="ＭＳ Ｐゴシック" pitchFamily="34" charset="-128"/>
                <a:cs typeface="Microsoft YaHei" pitchFamily="34" charset="-122"/>
              </a:defRPr>
            </a:lvl3pPr>
            <a:lvl4pPr eaLnBrk="0" hangingPunct="0">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charset="0"/>
                <a:ea typeface="ＭＳ Ｐゴシック" pitchFamily="34" charset="-128"/>
                <a:cs typeface="Microsoft YaHei" pitchFamily="34" charset="-122"/>
              </a:defRPr>
            </a:lvl4pPr>
            <a:lvl5pPr eaLnBrk="0" hangingPunct="0">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charset="0"/>
                <a:ea typeface="ＭＳ Ｐゴシック" pitchFamily="34" charset="-128"/>
                <a:cs typeface="Microsoft YaHei" pitchFamily="34" charset="-122"/>
              </a:defRPr>
            </a:lvl5pPr>
            <a:lvl6pPr marL="2514600" indent="-228600" defTabSz="457200" eaLnBrk="0" fontAlgn="base" hangingPunct="0">
              <a:spcBef>
                <a:spcPts val="500"/>
              </a:spcBef>
              <a:spcAft>
                <a:spcPct val="0"/>
              </a:spcAft>
              <a:buClr>
                <a:srgbClr val="000000"/>
              </a:buClr>
              <a:buSzPct val="100000"/>
              <a:buFont typeface="Times New Roman"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charset="0"/>
                <a:ea typeface="ＭＳ Ｐゴシック" pitchFamily="34" charset="-128"/>
                <a:cs typeface="Microsoft YaHei" pitchFamily="34" charset="-122"/>
              </a:defRPr>
            </a:lvl6pPr>
            <a:lvl7pPr marL="2971800" indent="-228600" defTabSz="457200" eaLnBrk="0" fontAlgn="base" hangingPunct="0">
              <a:spcBef>
                <a:spcPts val="500"/>
              </a:spcBef>
              <a:spcAft>
                <a:spcPct val="0"/>
              </a:spcAft>
              <a:buClr>
                <a:srgbClr val="000000"/>
              </a:buClr>
              <a:buSzPct val="100000"/>
              <a:buFont typeface="Times New Roman"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charset="0"/>
                <a:ea typeface="ＭＳ Ｐゴシック" pitchFamily="34" charset="-128"/>
                <a:cs typeface="Microsoft YaHei" pitchFamily="34" charset="-122"/>
              </a:defRPr>
            </a:lvl7pPr>
            <a:lvl8pPr marL="3429000" indent="-228600" defTabSz="457200" eaLnBrk="0" fontAlgn="base" hangingPunct="0">
              <a:spcBef>
                <a:spcPts val="500"/>
              </a:spcBef>
              <a:spcAft>
                <a:spcPct val="0"/>
              </a:spcAft>
              <a:buClr>
                <a:srgbClr val="000000"/>
              </a:buClr>
              <a:buSzPct val="100000"/>
              <a:buFont typeface="Times New Roman"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charset="0"/>
                <a:ea typeface="ＭＳ Ｐゴシック" pitchFamily="34" charset="-128"/>
                <a:cs typeface="Microsoft YaHei" pitchFamily="34" charset="-122"/>
              </a:defRPr>
            </a:lvl8pPr>
            <a:lvl9pPr marL="3886200" indent="-228600" defTabSz="457200" eaLnBrk="0" fontAlgn="base" hangingPunct="0">
              <a:spcBef>
                <a:spcPts val="500"/>
              </a:spcBef>
              <a:spcAft>
                <a:spcPct val="0"/>
              </a:spcAft>
              <a:buClr>
                <a:srgbClr val="000000"/>
              </a:buClr>
              <a:buSzPct val="100000"/>
              <a:buFont typeface="Times New Roman"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charset="0"/>
                <a:ea typeface="ＭＳ Ｐゴシック" pitchFamily="34" charset="-128"/>
                <a:cs typeface="Microsoft YaHei" pitchFamily="34" charset="-122"/>
              </a:defRPr>
            </a:lvl9pPr>
          </a:lstStyle>
          <a:p>
            <a:pPr marL="0" lvl="0" indent="0" defTabSz="457200" eaLnBrk="1" fontAlgn="base" hangingPunct="1">
              <a:spcBef>
                <a:spcPts val="700"/>
              </a:spcBef>
              <a:spcAft>
                <a:spcPct val="0"/>
              </a:spcAft>
              <a:buClr>
                <a:srgbClr val="000000"/>
              </a:buClr>
              <a:buSzPct val="100000"/>
              <a:defRPr/>
            </a:pPr>
            <a:r>
              <a:rPr lang="en-US" altLang="en-US" sz="2400" dirty="0">
                <a:latin typeface="Times New Roman" panose="02020603050405020304" pitchFamily="18" charset="0"/>
                <a:cs typeface="Times New Roman" panose="02020603050405020304" pitchFamily="18" charset="0"/>
              </a:rPr>
              <a:t>Large molecules necessary for life are built from smaller organic molecules and are called biological </a:t>
            </a:r>
            <a:r>
              <a:rPr lang="en-US" altLang="en-US" sz="2400" dirty="0" smtClean="0">
                <a:latin typeface="Times New Roman" panose="02020603050405020304" pitchFamily="18" charset="0"/>
                <a:cs typeface="Times New Roman" panose="02020603050405020304" pitchFamily="18" charset="0"/>
              </a:rPr>
              <a:t>macromolecules</a:t>
            </a:r>
          </a:p>
          <a:p>
            <a:pPr marL="0" lvl="0" indent="0" defTabSz="457200" eaLnBrk="1" fontAlgn="base" hangingPunct="1">
              <a:spcBef>
                <a:spcPts val="700"/>
              </a:spcBef>
              <a:spcAft>
                <a:spcPct val="0"/>
              </a:spcAft>
              <a:buClr>
                <a:srgbClr val="000000"/>
              </a:buClr>
              <a:buSzPct val="100000"/>
              <a:defRPr/>
            </a:pPr>
            <a:r>
              <a:rPr lang="en-US" sz="2400" dirty="0" smtClean="0">
                <a:solidFill>
                  <a:schemeClr val="tx1"/>
                </a:solidFill>
                <a:latin typeface="Times New Roman" panose="02020603050405020304" pitchFamily="18" charset="0"/>
                <a:cs typeface="Times New Roman" panose="02020603050405020304" pitchFamily="18" charset="0"/>
              </a:rPr>
              <a:t>There </a:t>
            </a:r>
            <a:r>
              <a:rPr lang="en-US" sz="2400" dirty="0">
                <a:solidFill>
                  <a:schemeClr val="tx1"/>
                </a:solidFill>
                <a:latin typeface="Times New Roman" panose="02020603050405020304" pitchFamily="18" charset="0"/>
                <a:cs typeface="Times New Roman" panose="02020603050405020304" pitchFamily="18" charset="0"/>
              </a:rPr>
              <a:t>are four major classes of biological macromolecules: </a:t>
            </a:r>
            <a:endParaRPr lang="en-US" sz="2400" dirty="0" smtClean="0">
              <a:solidFill>
                <a:schemeClr val="tx1"/>
              </a:solidFill>
              <a:latin typeface="Times New Roman" panose="02020603050405020304" pitchFamily="18" charset="0"/>
              <a:cs typeface="Times New Roman" panose="02020603050405020304" pitchFamily="18" charset="0"/>
            </a:endParaRPr>
          </a:p>
          <a:p>
            <a:pPr marL="457200" lvl="0" indent="-457200" defTabSz="457200" eaLnBrk="1" fontAlgn="base" hangingPunct="1">
              <a:spcBef>
                <a:spcPts val="700"/>
              </a:spcBef>
              <a:spcAft>
                <a:spcPct val="0"/>
              </a:spcAft>
              <a:buClr>
                <a:srgbClr val="000000"/>
              </a:buClr>
              <a:buSzPct val="100000"/>
              <a:buFont typeface="+mj-lt"/>
              <a:buAutoNum type="arabicPeriod"/>
              <a:defRPr/>
            </a:pPr>
            <a:r>
              <a:rPr lang="en-US" sz="2400" dirty="0" smtClean="0">
                <a:solidFill>
                  <a:srgbClr val="3333CC">
                    <a:lumMod val="50000"/>
                  </a:srgbClr>
                </a:solidFill>
                <a:latin typeface="Times New Roman" panose="02020603050405020304" pitchFamily="18" charset="0"/>
                <a:cs typeface="Times New Roman" panose="02020603050405020304" pitchFamily="18" charset="0"/>
              </a:rPr>
              <a:t>Carbohydrates</a:t>
            </a:r>
          </a:p>
          <a:p>
            <a:pPr marL="457200" lvl="0" indent="-457200" defTabSz="457200" eaLnBrk="1" fontAlgn="base" hangingPunct="1">
              <a:spcBef>
                <a:spcPts val="700"/>
              </a:spcBef>
              <a:spcAft>
                <a:spcPct val="0"/>
              </a:spcAft>
              <a:buClr>
                <a:srgbClr val="000000"/>
              </a:buClr>
              <a:buSzPct val="100000"/>
              <a:buFont typeface="+mj-lt"/>
              <a:buAutoNum type="arabicPeriod"/>
              <a:defRPr/>
            </a:pPr>
            <a:r>
              <a:rPr lang="en-US" sz="2400" dirty="0">
                <a:solidFill>
                  <a:srgbClr val="3333CC">
                    <a:lumMod val="50000"/>
                  </a:srgbClr>
                </a:solidFill>
                <a:latin typeface="Times New Roman" panose="02020603050405020304" pitchFamily="18" charset="0"/>
                <a:cs typeface="Times New Roman" panose="02020603050405020304" pitchFamily="18" charset="0"/>
              </a:rPr>
              <a:t>L</a:t>
            </a:r>
            <a:r>
              <a:rPr lang="en-US" sz="2400" dirty="0" smtClean="0">
                <a:solidFill>
                  <a:srgbClr val="3333CC">
                    <a:lumMod val="50000"/>
                  </a:srgbClr>
                </a:solidFill>
                <a:latin typeface="Times New Roman" panose="02020603050405020304" pitchFamily="18" charset="0"/>
                <a:cs typeface="Times New Roman" panose="02020603050405020304" pitchFamily="18" charset="0"/>
              </a:rPr>
              <a:t>ipids</a:t>
            </a:r>
            <a:r>
              <a:rPr lang="en-US" sz="2400" dirty="0">
                <a:solidFill>
                  <a:srgbClr val="3333CC">
                    <a:lumMod val="50000"/>
                  </a:srgbClr>
                </a:solidFill>
                <a:latin typeface="Times New Roman" panose="02020603050405020304" pitchFamily="18" charset="0"/>
                <a:cs typeface="Times New Roman" panose="02020603050405020304" pitchFamily="18" charset="0"/>
              </a:rPr>
              <a:t>, </a:t>
            </a:r>
            <a:endParaRPr lang="en-US" sz="2400" dirty="0" smtClean="0">
              <a:solidFill>
                <a:srgbClr val="3333CC">
                  <a:lumMod val="50000"/>
                </a:srgbClr>
              </a:solidFill>
              <a:latin typeface="Times New Roman" panose="02020603050405020304" pitchFamily="18" charset="0"/>
              <a:cs typeface="Times New Roman" panose="02020603050405020304" pitchFamily="18" charset="0"/>
            </a:endParaRPr>
          </a:p>
          <a:p>
            <a:pPr marL="457200" lvl="0" indent="-457200" defTabSz="457200" eaLnBrk="1" fontAlgn="base" hangingPunct="1">
              <a:spcBef>
                <a:spcPts val="700"/>
              </a:spcBef>
              <a:spcAft>
                <a:spcPct val="0"/>
              </a:spcAft>
              <a:buClr>
                <a:srgbClr val="000000"/>
              </a:buClr>
              <a:buSzPct val="100000"/>
              <a:buFont typeface="+mj-lt"/>
              <a:buAutoNum type="arabicPeriod"/>
              <a:defRPr/>
            </a:pPr>
            <a:r>
              <a:rPr lang="en-US" sz="2400" dirty="0">
                <a:solidFill>
                  <a:srgbClr val="3333CC">
                    <a:lumMod val="50000"/>
                  </a:srgbClr>
                </a:solidFill>
                <a:latin typeface="Times New Roman" panose="02020603050405020304" pitchFamily="18" charset="0"/>
                <a:cs typeface="Times New Roman" panose="02020603050405020304" pitchFamily="18" charset="0"/>
              </a:rPr>
              <a:t>P</a:t>
            </a:r>
            <a:r>
              <a:rPr lang="en-US" sz="2400" dirty="0" smtClean="0">
                <a:solidFill>
                  <a:srgbClr val="3333CC">
                    <a:lumMod val="50000"/>
                  </a:srgbClr>
                </a:solidFill>
                <a:latin typeface="Times New Roman" panose="02020603050405020304" pitchFamily="18" charset="0"/>
                <a:cs typeface="Times New Roman" panose="02020603050405020304" pitchFamily="18" charset="0"/>
              </a:rPr>
              <a:t>roteins</a:t>
            </a:r>
            <a:r>
              <a:rPr lang="en-US" sz="2400" dirty="0">
                <a:solidFill>
                  <a:srgbClr val="3333CC">
                    <a:lumMod val="50000"/>
                  </a:srgbClr>
                </a:solidFill>
                <a:latin typeface="Times New Roman" panose="02020603050405020304" pitchFamily="18" charset="0"/>
                <a:cs typeface="Times New Roman" panose="02020603050405020304" pitchFamily="18" charset="0"/>
              </a:rPr>
              <a:t>, and </a:t>
            </a:r>
            <a:endParaRPr lang="en-US" sz="2400" dirty="0" smtClean="0">
              <a:solidFill>
                <a:srgbClr val="3333CC">
                  <a:lumMod val="50000"/>
                </a:srgbClr>
              </a:solidFill>
              <a:latin typeface="Times New Roman" panose="02020603050405020304" pitchFamily="18" charset="0"/>
              <a:cs typeface="Times New Roman" panose="02020603050405020304" pitchFamily="18" charset="0"/>
            </a:endParaRPr>
          </a:p>
          <a:p>
            <a:pPr marL="457200" lvl="0" indent="-457200" defTabSz="457200" eaLnBrk="1" fontAlgn="base" hangingPunct="1">
              <a:spcBef>
                <a:spcPts val="700"/>
              </a:spcBef>
              <a:spcAft>
                <a:spcPct val="0"/>
              </a:spcAft>
              <a:buClr>
                <a:srgbClr val="000000"/>
              </a:buClr>
              <a:buSzPct val="100000"/>
              <a:buFont typeface="+mj-lt"/>
              <a:buAutoNum type="arabicPeriod"/>
              <a:defRPr/>
            </a:pPr>
            <a:r>
              <a:rPr lang="en-US" sz="2400" dirty="0" smtClean="0">
                <a:solidFill>
                  <a:srgbClr val="3333CC">
                    <a:lumMod val="50000"/>
                  </a:srgbClr>
                </a:solidFill>
                <a:latin typeface="Times New Roman" panose="02020603050405020304" pitchFamily="18" charset="0"/>
                <a:cs typeface="Times New Roman" panose="02020603050405020304" pitchFamily="18" charset="0"/>
              </a:rPr>
              <a:t>Nucleic </a:t>
            </a:r>
            <a:r>
              <a:rPr lang="en-US" sz="2400" dirty="0">
                <a:solidFill>
                  <a:srgbClr val="3333CC">
                    <a:lumMod val="50000"/>
                  </a:srgbClr>
                </a:solidFill>
                <a:latin typeface="Times New Roman" panose="02020603050405020304" pitchFamily="18" charset="0"/>
                <a:cs typeface="Times New Roman" panose="02020603050405020304" pitchFamily="18" charset="0"/>
              </a:rPr>
              <a:t>acids </a:t>
            </a:r>
            <a:r>
              <a:rPr lang="en-US" sz="2400" dirty="0" smtClean="0">
                <a:solidFill>
                  <a:srgbClr val="3333CC">
                    <a:lumMod val="50000"/>
                  </a:srgbClr>
                </a:solidFill>
                <a:latin typeface="Times New Roman" panose="02020603050405020304" pitchFamily="18" charset="0"/>
                <a:cs typeface="Times New Roman" panose="02020603050405020304" pitchFamily="18" charset="0"/>
              </a:rPr>
              <a:t>(DNA </a:t>
            </a:r>
            <a:r>
              <a:rPr lang="en-US" sz="2400" dirty="0">
                <a:solidFill>
                  <a:srgbClr val="3333CC">
                    <a:lumMod val="50000"/>
                  </a:srgbClr>
                </a:solidFill>
                <a:latin typeface="Times New Roman" panose="02020603050405020304" pitchFamily="18" charset="0"/>
                <a:cs typeface="Times New Roman" panose="02020603050405020304" pitchFamily="18" charset="0"/>
              </a:rPr>
              <a:t>and RNA). </a:t>
            </a:r>
            <a:endParaRPr kumimoji="0" lang="en-US" altLang="en-US" sz="240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9" name="Text Box 2"/>
          <p:cNvSpPr txBox="1">
            <a:spLocks noChangeArrowheads="1"/>
          </p:cNvSpPr>
          <p:nvPr/>
        </p:nvSpPr>
        <p:spPr bwMode="auto">
          <a:xfrm>
            <a:off x="1664208" y="141767"/>
            <a:ext cx="7413955" cy="609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altLang="en-US" sz="4000" b="1" i="0" u="none" strike="noStrike" kern="1200" cap="none" spc="0" normalizeH="0" baseline="0" noProof="0" dirty="0" smtClean="0">
                <a:ln>
                  <a:noFill/>
                </a:ln>
                <a:solidFill>
                  <a:schemeClr val="bg1"/>
                </a:solidFill>
                <a:effectLst/>
                <a:uLnTx/>
                <a:uFillTx/>
                <a:latin typeface="Times New Roman" panose="02020603050405020304" pitchFamily="18" charset="0"/>
                <a:cs typeface="Times New Roman" panose="02020603050405020304" pitchFamily="18" charset="0"/>
              </a:rPr>
              <a:t>Macromolecules</a:t>
            </a:r>
          </a:p>
        </p:txBody>
      </p:sp>
    </p:spTree>
    <p:extLst>
      <p:ext uri="{BB962C8B-B14F-4D97-AF65-F5344CB8AC3E}">
        <p14:creationId xmlns:p14="http://schemas.microsoft.com/office/powerpoint/2010/main" val="1552447510"/>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5A95146-4789-4080-8D19-77F7C61026DF}"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11</a:t>
            </a:fld>
            <a:endParaRPr lang="en-US"/>
          </a:p>
        </p:txBody>
      </p:sp>
      <p:sp>
        <p:nvSpPr>
          <p:cNvPr id="7" name="Text Placeholder 3"/>
          <p:cNvSpPr txBox="1">
            <a:spLocks/>
          </p:cNvSpPr>
          <p:nvPr/>
        </p:nvSpPr>
        <p:spPr>
          <a:xfrm>
            <a:off x="264160" y="788782"/>
            <a:ext cx="8778240" cy="5534963"/>
          </a:xfrm>
          <a:prstGeom prst="rect">
            <a:avLst/>
          </a:prstGeom>
        </p:spPr>
        <p:txBody>
          <a:bodyPr>
            <a:noAutofit/>
          </a:bodyPr>
          <a:lstStyle>
            <a:lvl1pPr marL="257175" indent="-257175" algn="l" defTabSz="342900" rtl="0" eaLnBrk="1" fontAlgn="base" hangingPunct="1">
              <a:spcBef>
                <a:spcPts val="525"/>
              </a:spcBef>
              <a:spcAft>
                <a:spcPct val="0"/>
              </a:spcAft>
              <a:buClr>
                <a:srgbClr val="000000"/>
              </a:buClr>
              <a:buSzPct val="100000"/>
              <a:buFont typeface="Times New Roman" panose="02020603050405020304" pitchFamily="18" charset="0"/>
              <a:defRPr sz="2100" b="1">
                <a:solidFill>
                  <a:srgbClr val="2B166E"/>
                </a:solidFill>
                <a:latin typeface="+mn-lt"/>
                <a:ea typeface="+mn-ea"/>
                <a:cs typeface="+mn-cs"/>
              </a:defRPr>
            </a:lvl1pPr>
            <a:lvl2pPr marL="557213" indent="-214313" algn="l" defTabSz="342900" rtl="0" eaLnBrk="1" fontAlgn="base" hangingPunct="1">
              <a:spcBef>
                <a:spcPts val="525"/>
              </a:spcBef>
              <a:spcAft>
                <a:spcPct val="0"/>
              </a:spcAft>
              <a:buClr>
                <a:srgbClr val="000000"/>
              </a:buClr>
              <a:buSzPct val="100000"/>
              <a:buFont typeface="Times New Roman" panose="02020603050405020304" pitchFamily="18" charset="0"/>
              <a:defRPr sz="2100">
                <a:solidFill>
                  <a:srgbClr val="2B166E"/>
                </a:solidFill>
                <a:latin typeface="+mj-lt"/>
                <a:ea typeface="+mn-ea"/>
              </a:defRPr>
            </a:lvl2pPr>
            <a:lvl3pPr marL="857250" indent="-171450" algn="l" defTabSz="342900" rtl="0" eaLnBrk="1" fontAlgn="base" hangingPunct="1">
              <a:spcBef>
                <a:spcPts val="450"/>
              </a:spcBef>
              <a:spcAft>
                <a:spcPct val="0"/>
              </a:spcAft>
              <a:buClr>
                <a:srgbClr val="000000"/>
              </a:buClr>
              <a:buSzPct val="100000"/>
              <a:buFont typeface="Times New Roman" panose="02020603050405020304" pitchFamily="18" charset="0"/>
              <a:defRPr sz="1800">
                <a:solidFill>
                  <a:srgbClr val="2B166E"/>
                </a:solidFill>
                <a:latin typeface="+mj-lt"/>
                <a:ea typeface="+mn-ea"/>
              </a:defRPr>
            </a:lvl3pPr>
            <a:lvl4pPr marL="12001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4pPr>
            <a:lvl5pPr marL="15430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5pPr>
            <a:lvl6pPr marL="18859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6pPr>
            <a:lvl7pPr marL="22288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7pPr>
            <a:lvl8pPr marL="25717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8pPr>
            <a:lvl9pPr marL="29146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9pPr>
          </a:lstStyle>
          <a:p>
            <a:pPr>
              <a:buFont typeface="Arial"/>
              <a:buChar char="•"/>
            </a:pPr>
            <a:r>
              <a:rPr lang="en-US" sz="2400" b="0" kern="0" dirty="0" smtClean="0">
                <a:solidFill>
                  <a:schemeClr val="tx1"/>
                </a:solidFill>
                <a:latin typeface="Times New Roman" panose="02020603050405020304" pitchFamily="18" charset="0"/>
                <a:cs typeface="Times New Roman" panose="02020603050405020304" pitchFamily="18" charset="0"/>
              </a:rPr>
              <a:t>Also called saccharides</a:t>
            </a:r>
          </a:p>
          <a:p>
            <a:pPr>
              <a:buFont typeface="Arial"/>
              <a:buChar char="•"/>
            </a:pPr>
            <a:r>
              <a:rPr lang="en-US" sz="2400" kern="0" dirty="0" smtClean="0">
                <a:solidFill>
                  <a:schemeClr val="tx1"/>
                </a:solidFill>
                <a:latin typeface="Times New Roman" panose="02020603050405020304" pitchFamily="18" charset="0"/>
                <a:cs typeface="Times New Roman" panose="02020603050405020304" pitchFamily="18" charset="0"/>
              </a:rPr>
              <a:t>most abundant organic </a:t>
            </a:r>
            <a:r>
              <a:rPr lang="en-US" sz="2400" b="0" kern="0" dirty="0" smtClean="0">
                <a:solidFill>
                  <a:schemeClr val="tx1"/>
                </a:solidFill>
                <a:latin typeface="Times New Roman" panose="02020603050405020304" pitchFamily="18" charset="0"/>
                <a:cs typeface="Times New Roman" panose="02020603050405020304" pitchFamily="18" charset="0"/>
              </a:rPr>
              <a:t>molecules in our biosphere</a:t>
            </a:r>
          </a:p>
          <a:p>
            <a:pPr>
              <a:buFont typeface="Arial"/>
              <a:buChar char="•"/>
            </a:pPr>
            <a:r>
              <a:rPr lang="en-US" sz="2400" b="0" kern="0" dirty="0" smtClean="0">
                <a:solidFill>
                  <a:schemeClr val="tx1"/>
                </a:solidFill>
                <a:latin typeface="Times New Roman" panose="02020603050405020304" pitchFamily="18" charset="0"/>
                <a:cs typeface="Times New Roman" panose="02020603050405020304" pitchFamily="18" charset="0"/>
              </a:rPr>
              <a:t>composed of carbon, hydrogen and oxygen </a:t>
            </a:r>
          </a:p>
          <a:p>
            <a:pPr>
              <a:buFont typeface="Arial"/>
              <a:buChar char="•"/>
            </a:pPr>
            <a:r>
              <a:rPr lang="en-US" sz="2400" b="0" kern="0" dirty="0" smtClean="0">
                <a:solidFill>
                  <a:schemeClr val="tx1"/>
                </a:solidFill>
                <a:latin typeface="Times New Roman" panose="02020603050405020304" pitchFamily="18" charset="0"/>
                <a:cs typeface="Times New Roman" panose="02020603050405020304" pitchFamily="18" charset="0"/>
              </a:rPr>
              <a:t>General formula </a:t>
            </a:r>
            <a:r>
              <a:rPr lang="en-US" sz="2400" kern="0" dirty="0" smtClean="0">
                <a:solidFill>
                  <a:schemeClr val="tx1"/>
                </a:solidFill>
                <a:latin typeface="Times New Roman" panose="02020603050405020304" pitchFamily="18" charset="0"/>
                <a:cs typeface="Times New Roman" panose="02020603050405020304" pitchFamily="18" charset="0"/>
              </a:rPr>
              <a:t>Cn(H</a:t>
            </a:r>
            <a:r>
              <a:rPr lang="en-US" sz="2400" kern="0" baseline="-25000" dirty="0" smtClean="0">
                <a:solidFill>
                  <a:schemeClr val="tx1"/>
                </a:solidFill>
                <a:latin typeface="Times New Roman" panose="02020603050405020304" pitchFamily="18" charset="0"/>
                <a:cs typeface="Times New Roman" panose="02020603050405020304" pitchFamily="18" charset="0"/>
              </a:rPr>
              <a:t>2</a:t>
            </a:r>
            <a:r>
              <a:rPr lang="en-US" sz="2400" kern="0" dirty="0" smtClean="0">
                <a:solidFill>
                  <a:schemeClr val="tx1"/>
                </a:solidFill>
                <a:latin typeface="Times New Roman" panose="02020603050405020304" pitchFamily="18" charset="0"/>
                <a:cs typeface="Times New Roman" panose="02020603050405020304" pitchFamily="18" charset="0"/>
              </a:rPr>
              <a:t>0)n</a:t>
            </a:r>
            <a:r>
              <a:rPr lang="en-US" sz="2400" b="0" kern="0" dirty="0" smtClean="0">
                <a:solidFill>
                  <a:schemeClr val="tx1"/>
                </a:solidFill>
                <a:latin typeface="Times New Roman" panose="02020603050405020304" pitchFamily="18" charset="0"/>
                <a:cs typeface="Times New Roman" panose="02020603050405020304" pitchFamily="18" charset="0"/>
              </a:rPr>
              <a:t>, where n is the number of carbon atoms in the molecule</a:t>
            </a:r>
          </a:p>
          <a:p>
            <a:pPr marL="0" indent="0"/>
            <a:r>
              <a:rPr lang="en-US" sz="2400" kern="0" dirty="0" smtClean="0">
                <a:solidFill>
                  <a:schemeClr val="accent2"/>
                </a:solidFill>
                <a:latin typeface="Times New Roman" panose="02020603050405020304" pitchFamily="18" charset="0"/>
                <a:cs typeface="Times New Roman" panose="02020603050405020304" pitchFamily="18" charset="0"/>
              </a:rPr>
              <a:t>Functions </a:t>
            </a:r>
          </a:p>
          <a:p>
            <a:pPr>
              <a:buFont typeface="Arial"/>
              <a:buChar char="•"/>
            </a:pPr>
            <a:r>
              <a:rPr lang="en-US" sz="2400" b="0" kern="0" dirty="0" smtClean="0">
                <a:solidFill>
                  <a:schemeClr val="tx1"/>
                </a:solidFill>
                <a:latin typeface="Times New Roman" panose="02020603050405020304" pitchFamily="18" charset="0"/>
                <a:cs typeface="Times New Roman" panose="02020603050405020304" pitchFamily="18" charset="0"/>
              </a:rPr>
              <a:t>Primary source of energy (glucose)</a:t>
            </a:r>
          </a:p>
          <a:p>
            <a:pPr>
              <a:buFont typeface="Arial"/>
              <a:buChar char="•"/>
            </a:pPr>
            <a:r>
              <a:rPr lang="en-US" sz="2400" b="0" kern="0" dirty="0" smtClean="0">
                <a:solidFill>
                  <a:schemeClr val="tx1"/>
                </a:solidFill>
                <a:latin typeface="Times New Roman" panose="02020603050405020304" pitchFamily="18" charset="0"/>
                <a:cs typeface="Times New Roman" panose="02020603050405020304" pitchFamily="18" charset="0"/>
              </a:rPr>
              <a:t>Energy storage (glycogen, starch) </a:t>
            </a:r>
          </a:p>
          <a:p>
            <a:pPr>
              <a:buFont typeface="Arial"/>
              <a:buChar char="•"/>
            </a:pPr>
            <a:r>
              <a:rPr lang="en-US" sz="2400" b="0" kern="0" dirty="0" smtClean="0">
                <a:solidFill>
                  <a:schemeClr val="tx1"/>
                </a:solidFill>
                <a:latin typeface="Times New Roman" panose="02020603050405020304" pitchFamily="18" charset="0"/>
                <a:cs typeface="Times New Roman" panose="02020603050405020304" pitchFamily="18" charset="0"/>
              </a:rPr>
              <a:t>Structural component of </a:t>
            </a:r>
          </a:p>
          <a:p>
            <a:pPr marL="942975" lvl="2" indent="-342900">
              <a:buFont typeface="Wingdings" panose="05000000000000000000" pitchFamily="2" charset="2"/>
              <a:buChar char="ü"/>
            </a:pPr>
            <a:r>
              <a:rPr lang="en-US" sz="2100" b="0" i="1" kern="0" dirty="0" smtClean="0">
                <a:solidFill>
                  <a:schemeClr val="tx1"/>
                </a:solidFill>
                <a:latin typeface="Times New Roman" panose="02020603050405020304" pitchFamily="18" charset="0"/>
                <a:cs typeface="Times New Roman" panose="02020603050405020304" pitchFamily="18" charset="0"/>
              </a:rPr>
              <a:t>cell membrane (Glycoproteins and Glycolipids</a:t>
            </a:r>
            <a:r>
              <a:rPr lang="en-US" sz="2100" i="1" kern="0" dirty="0" smtClean="0">
                <a:solidFill>
                  <a:schemeClr val="tx1"/>
                </a:solidFill>
                <a:latin typeface="Times New Roman" panose="02020603050405020304" pitchFamily="18" charset="0"/>
                <a:cs typeface="Times New Roman" panose="02020603050405020304" pitchFamily="18" charset="0"/>
              </a:rPr>
              <a:t>)</a:t>
            </a:r>
            <a:r>
              <a:rPr lang="en-US" sz="2100" b="0" i="1" kern="0" dirty="0" smtClean="0">
                <a:solidFill>
                  <a:schemeClr val="tx1"/>
                </a:solidFill>
                <a:latin typeface="Times New Roman" panose="02020603050405020304" pitchFamily="18" charset="0"/>
                <a:cs typeface="Times New Roman" panose="02020603050405020304" pitchFamily="18" charset="0"/>
              </a:rPr>
              <a:t>, </a:t>
            </a:r>
          </a:p>
          <a:p>
            <a:pPr marL="942975" lvl="2" indent="-342900">
              <a:buFont typeface="Wingdings" panose="05000000000000000000" pitchFamily="2" charset="2"/>
              <a:buChar char="ü"/>
            </a:pPr>
            <a:r>
              <a:rPr lang="en-US" sz="2100" i="1" kern="0" dirty="0" smtClean="0">
                <a:solidFill>
                  <a:schemeClr val="tx1"/>
                </a:solidFill>
                <a:latin typeface="Times New Roman" panose="02020603050405020304" pitchFamily="18" charset="0"/>
                <a:cs typeface="Times New Roman" panose="02020603050405020304" pitchFamily="18" charset="0"/>
              </a:rPr>
              <a:t>Cell wall of plants (cellulose</a:t>
            </a:r>
            <a:r>
              <a:rPr lang="en-US" sz="2100" i="1" kern="0" dirty="0">
                <a:solidFill>
                  <a:schemeClr val="tx1"/>
                </a:solidFill>
                <a:latin typeface="Times New Roman" panose="02020603050405020304" pitchFamily="18" charset="0"/>
                <a:cs typeface="Times New Roman" panose="02020603050405020304" pitchFamily="18" charset="0"/>
              </a:rPr>
              <a:t>).</a:t>
            </a:r>
          </a:p>
          <a:p>
            <a:pPr marL="942975" lvl="2" indent="-342900">
              <a:buFont typeface="Wingdings" panose="05000000000000000000" pitchFamily="2" charset="2"/>
              <a:buChar char="ü"/>
            </a:pPr>
            <a:r>
              <a:rPr lang="en-US" sz="2100" b="0" i="1" kern="0" dirty="0" smtClean="0">
                <a:solidFill>
                  <a:schemeClr val="tx1"/>
                </a:solidFill>
                <a:latin typeface="Times New Roman" panose="02020603050405020304" pitchFamily="18" charset="0"/>
                <a:cs typeface="Times New Roman" panose="02020603050405020304" pitchFamily="18" charset="0"/>
              </a:rPr>
              <a:t>cell wall of bacteria (Peptidoglycan), </a:t>
            </a:r>
          </a:p>
          <a:p>
            <a:pPr marL="942975" lvl="2" indent="-342900">
              <a:buFont typeface="Wingdings" panose="05000000000000000000" pitchFamily="2" charset="2"/>
              <a:buChar char="ü"/>
            </a:pPr>
            <a:r>
              <a:rPr lang="en-US" sz="2100" i="1" kern="0" dirty="0" smtClean="0">
                <a:solidFill>
                  <a:schemeClr val="tx1"/>
                </a:solidFill>
                <a:latin typeface="Times New Roman" panose="02020603050405020304" pitchFamily="18" charset="0"/>
                <a:cs typeface="Times New Roman" panose="02020603050405020304" pitchFamily="18" charset="0"/>
              </a:rPr>
              <a:t>cell </a:t>
            </a:r>
            <a:r>
              <a:rPr lang="en-US" sz="2100" i="1" kern="0" dirty="0">
                <a:solidFill>
                  <a:schemeClr val="tx1"/>
                </a:solidFill>
                <a:latin typeface="Times New Roman" panose="02020603050405020304" pitchFamily="18" charset="0"/>
                <a:cs typeface="Times New Roman" panose="02020603050405020304" pitchFamily="18" charset="0"/>
              </a:rPr>
              <a:t>wall of fungi (Chitin), </a:t>
            </a:r>
            <a:endParaRPr lang="en-US" sz="2100" b="0" i="1" kern="0" dirty="0" smtClean="0">
              <a:solidFill>
                <a:schemeClr val="tx1"/>
              </a:solidFill>
              <a:latin typeface="Times New Roman" panose="02020603050405020304" pitchFamily="18" charset="0"/>
              <a:cs typeface="Times New Roman" panose="02020603050405020304" pitchFamily="18" charset="0"/>
            </a:endParaRPr>
          </a:p>
          <a:p>
            <a:pPr marL="942975" lvl="2" indent="-342900">
              <a:buFont typeface="Wingdings" panose="05000000000000000000" pitchFamily="2" charset="2"/>
              <a:buChar char="ü"/>
            </a:pPr>
            <a:r>
              <a:rPr lang="en-US" sz="2100" b="0" i="1" kern="0" dirty="0" smtClean="0">
                <a:solidFill>
                  <a:schemeClr val="tx1"/>
                </a:solidFill>
                <a:latin typeface="Times New Roman" panose="02020603050405020304" pitchFamily="18" charset="0"/>
                <a:cs typeface="Times New Roman" panose="02020603050405020304" pitchFamily="18" charset="0"/>
              </a:rPr>
              <a:t>exoskeleton of many insects are made up of carbohydrates</a:t>
            </a:r>
            <a:r>
              <a:rPr lang="en-US" sz="2100" b="0" kern="0" dirty="0" smtClean="0">
                <a:solidFill>
                  <a:schemeClr val="tx1"/>
                </a:solidFill>
                <a:latin typeface="Times New Roman" panose="02020603050405020304" pitchFamily="18" charset="0"/>
                <a:cs typeface="Times New Roman" panose="02020603050405020304" pitchFamily="18" charset="0"/>
              </a:rPr>
              <a:t> </a:t>
            </a:r>
            <a:endParaRPr lang="en-US" sz="1400" kern="0" dirty="0">
              <a:solidFill>
                <a:schemeClr val="tx1"/>
              </a:solidFill>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rotWithShape="1">
          <a:blip r:embed="rId2"/>
          <a:srcRect l="7906" t="13238" r="5047"/>
          <a:stretch/>
        </p:blipFill>
        <p:spPr>
          <a:xfrm>
            <a:off x="6302894" y="-15795"/>
            <a:ext cx="2841106" cy="1415890"/>
          </a:xfrm>
          <a:prstGeom prst="rect">
            <a:avLst/>
          </a:prstGeom>
        </p:spPr>
      </p:pic>
      <p:sp>
        <p:nvSpPr>
          <p:cNvPr id="9" name="TextBox 8"/>
          <p:cNvSpPr txBox="1"/>
          <p:nvPr/>
        </p:nvSpPr>
        <p:spPr>
          <a:xfrm>
            <a:off x="1398016" y="-15795"/>
            <a:ext cx="3441968" cy="646331"/>
          </a:xfrm>
          <a:prstGeom prst="rect">
            <a:avLst/>
          </a:prstGeom>
          <a:noFill/>
        </p:spPr>
        <p:txBody>
          <a:bodyPr wrap="none" rtlCol="0">
            <a:spAutoFit/>
          </a:bodyPr>
          <a:lstStyle/>
          <a:p>
            <a:r>
              <a:rPr lang="en-US" sz="3600" b="1" dirty="0" smtClean="0">
                <a:solidFill>
                  <a:schemeClr val="bg1"/>
                </a:solidFill>
              </a:rPr>
              <a:t>Carbohydrates</a:t>
            </a:r>
          </a:p>
        </p:txBody>
      </p:sp>
    </p:spTree>
    <p:extLst>
      <p:ext uri="{BB962C8B-B14F-4D97-AF65-F5344CB8AC3E}">
        <p14:creationId xmlns:p14="http://schemas.microsoft.com/office/powerpoint/2010/main" val="3819887777"/>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Date Placeholder 3"/>
          <p:cNvSpPr>
            <a:spLocks noGrp="1"/>
          </p:cNvSpPr>
          <p:nvPr>
            <p:ph type="dt" sz="half" idx="10"/>
          </p:nvPr>
        </p:nvSpPr>
        <p:spPr/>
        <p:txBody>
          <a:bodyPr/>
          <a:lstStyle/>
          <a:p>
            <a:fld id="{026730F3-BE19-47B1-9E1F-15886525A676}"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12</a:t>
            </a:fld>
            <a:endParaRPr lang="en-US"/>
          </a:p>
        </p:txBody>
      </p:sp>
      <p:sp>
        <p:nvSpPr>
          <p:cNvPr id="7" name="Text Placeholder 3"/>
          <p:cNvSpPr>
            <a:spLocks noGrp="1"/>
          </p:cNvSpPr>
          <p:nvPr>
            <p:ph idx="1"/>
          </p:nvPr>
        </p:nvSpPr>
        <p:spPr>
          <a:xfrm>
            <a:off x="228600" y="1207008"/>
            <a:ext cx="8739835" cy="5344607"/>
          </a:xfrm>
        </p:spPr>
        <p:txBody>
          <a:bodyPr>
            <a:normAutofit/>
          </a:bodyPr>
          <a:lstStyle/>
          <a:p>
            <a:pPr indent="0"/>
            <a:endParaRPr lang="en-US" sz="2400" b="0" dirty="0" smtClean="0">
              <a:latin typeface="Times New Roman" panose="02020603050405020304" pitchFamily="18" charset="0"/>
              <a:cs typeface="Times New Roman" panose="02020603050405020304" pitchFamily="18" charset="0"/>
            </a:endParaRPr>
          </a:p>
          <a:p>
            <a:pPr indent="0"/>
            <a:r>
              <a:rPr lang="en-US" sz="2400" dirty="0" smtClean="0">
                <a:latin typeface="Times New Roman" panose="02020603050405020304" pitchFamily="18" charset="0"/>
                <a:cs typeface="Times New Roman" panose="02020603050405020304" pitchFamily="18" charset="0"/>
              </a:rPr>
              <a:t>Based </a:t>
            </a:r>
            <a:r>
              <a:rPr lang="en-US" sz="2400" dirty="0">
                <a:latin typeface="Times New Roman" panose="02020603050405020304" pitchFamily="18" charset="0"/>
                <a:cs typeface="Times New Roman" panose="02020603050405020304" pitchFamily="18" charset="0"/>
              </a:rPr>
              <a:t>on the number of sugar units carbohydrates can be classified as:  </a:t>
            </a:r>
            <a:endParaRPr lang="en-US" sz="2400" dirty="0" smtClean="0">
              <a:latin typeface="Times New Roman" panose="02020603050405020304" pitchFamily="18" charset="0"/>
              <a:cs typeface="Times New Roman" panose="02020603050405020304" pitchFamily="18" charset="0"/>
            </a:endParaRPr>
          </a:p>
          <a:p>
            <a:pPr marL="685800">
              <a:buFont typeface="Arial"/>
              <a:buChar char="•"/>
            </a:pPr>
            <a:r>
              <a:rPr lang="en-US" sz="2400" dirty="0" smtClean="0">
                <a:solidFill>
                  <a:schemeClr val="accent2"/>
                </a:solidFill>
                <a:latin typeface="Times New Roman" panose="02020603050405020304" pitchFamily="18" charset="0"/>
                <a:cs typeface="Times New Roman" panose="02020603050405020304" pitchFamily="18" charset="0"/>
              </a:rPr>
              <a:t>Monosaccharides</a:t>
            </a:r>
            <a:r>
              <a:rPr lang="en-US" sz="2400" b="0" dirty="0" smtClean="0">
                <a:latin typeface="Times New Roman" panose="02020603050405020304" pitchFamily="18" charset="0"/>
                <a:cs typeface="Times New Roman" panose="02020603050405020304" pitchFamily="18" charset="0"/>
              </a:rPr>
              <a:t> </a:t>
            </a:r>
            <a:r>
              <a:rPr lang="en-US" sz="2400" b="0" dirty="0">
                <a:latin typeface="Times New Roman" panose="02020603050405020304" pitchFamily="18" charset="0"/>
                <a:cs typeface="Times New Roman" panose="02020603050405020304" pitchFamily="18" charset="0"/>
              </a:rPr>
              <a:t>– composed of one sugar </a:t>
            </a:r>
            <a:r>
              <a:rPr lang="en-US" sz="2400" b="0" dirty="0" smtClean="0">
                <a:latin typeface="Times New Roman" panose="02020603050405020304" pitchFamily="18" charset="0"/>
                <a:cs typeface="Times New Roman" panose="02020603050405020304" pitchFamily="18" charset="0"/>
              </a:rPr>
              <a:t>unit</a:t>
            </a:r>
          </a:p>
          <a:p>
            <a:pPr marL="685800">
              <a:buFont typeface="Arial"/>
              <a:buChar char="•"/>
            </a:pPr>
            <a:r>
              <a:rPr lang="en-US" sz="2400" dirty="0" smtClean="0">
                <a:solidFill>
                  <a:schemeClr val="accent2"/>
                </a:solidFill>
                <a:latin typeface="Times New Roman" panose="02020603050405020304" pitchFamily="18" charset="0"/>
                <a:cs typeface="Times New Roman" panose="02020603050405020304" pitchFamily="18" charset="0"/>
              </a:rPr>
              <a:t>Oligosaccharides</a:t>
            </a:r>
            <a:r>
              <a:rPr lang="en-US" sz="2400" b="0" dirty="0">
                <a:solidFill>
                  <a:schemeClr val="accent2"/>
                </a:solidFill>
                <a:latin typeface="Times New Roman" panose="02020603050405020304" pitchFamily="18" charset="0"/>
                <a:cs typeface="Times New Roman" panose="02020603050405020304" pitchFamily="18" charset="0"/>
              </a:rPr>
              <a:t>: </a:t>
            </a:r>
            <a:r>
              <a:rPr lang="en-US" sz="2400" b="0" dirty="0">
                <a:latin typeface="Times New Roman" panose="02020603050405020304" pitchFamily="18" charset="0"/>
                <a:cs typeface="Times New Roman" panose="02020603050405020304" pitchFamily="18" charset="0"/>
              </a:rPr>
              <a:t>Composed of 2 to 20 sugar units and includes</a:t>
            </a:r>
          </a:p>
          <a:p>
            <a:pPr marL="1188720" lvl="1">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Disaccharides (composed of two sugar subunits), </a:t>
            </a:r>
            <a:r>
              <a:rPr lang="en-US" sz="2400" dirty="0" err="1">
                <a:latin typeface="Times New Roman" panose="02020603050405020304" pitchFamily="18" charset="0"/>
                <a:cs typeface="Times New Roman" panose="02020603050405020304" pitchFamily="18" charset="0"/>
              </a:rPr>
              <a:t>Trisaccharides</a:t>
            </a:r>
            <a:r>
              <a:rPr lang="en-US" sz="2400" dirty="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etc</a:t>
            </a:r>
            <a:endParaRPr lang="en-US" sz="2400" dirty="0" smtClean="0">
              <a:latin typeface="Times New Roman" panose="02020603050405020304" pitchFamily="18" charset="0"/>
              <a:cs typeface="Times New Roman" panose="02020603050405020304" pitchFamily="18" charset="0"/>
            </a:endParaRPr>
          </a:p>
          <a:p>
            <a:pPr marL="685800">
              <a:buFont typeface="Arial"/>
              <a:buChar char="•"/>
            </a:pPr>
            <a:r>
              <a:rPr lang="en-US" sz="2400" dirty="0" smtClean="0">
                <a:solidFill>
                  <a:schemeClr val="accent2"/>
                </a:solidFill>
                <a:latin typeface="Times New Roman" panose="02020603050405020304" pitchFamily="18" charset="0"/>
                <a:cs typeface="Times New Roman" panose="02020603050405020304" pitchFamily="18" charset="0"/>
              </a:rPr>
              <a:t>Polysaccharides</a:t>
            </a:r>
            <a:r>
              <a:rPr lang="en-US" sz="2400" b="0" dirty="0" smtClean="0">
                <a:solidFill>
                  <a:schemeClr val="accent2"/>
                </a:solidFill>
                <a:latin typeface="Times New Roman" panose="02020603050405020304" pitchFamily="18" charset="0"/>
                <a:cs typeface="Times New Roman" panose="02020603050405020304" pitchFamily="18" charset="0"/>
              </a:rPr>
              <a:t> </a:t>
            </a:r>
            <a:r>
              <a:rPr lang="en-US" sz="2400" b="0" dirty="0">
                <a:latin typeface="Times New Roman" panose="02020603050405020304" pitchFamily="18" charset="0"/>
                <a:cs typeface="Times New Roman" panose="02020603050405020304" pitchFamily="18" charset="0"/>
              </a:rPr>
              <a:t>– Composed of more than 20 sugar units </a:t>
            </a:r>
          </a:p>
          <a:p>
            <a:pPr marL="1074420" lvl="1" indent="-342900">
              <a:buFont typeface="Arial"/>
              <a:buChar char="•"/>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1124653" y="976175"/>
            <a:ext cx="4818948" cy="461665"/>
          </a:xfrm>
          <a:prstGeom prst="rect">
            <a:avLst/>
          </a:prstGeom>
          <a:noFill/>
        </p:spPr>
        <p:txBody>
          <a:bodyPr wrap="none" rtlCol="0">
            <a:spAutoFit/>
          </a:bodyPr>
          <a:lstStyle/>
          <a:p>
            <a:r>
              <a:rPr lang="en-US" sz="2400" b="1" dirty="0">
                <a:solidFill>
                  <a:srgbClr val="FF0000"/>
                </a:solidFill>
              </a:rPr>
              <a:t>Classification of Carbohydrates</a:t>
            </a:r>
            <a:endParaRPr lang="en-US" sz="2400" b="1" dirty="0" smtClean="0">
              <a:solidFill>
                <a:srgbClr val="FF0000"/>
              </a:solidFill>
            </a:endParaRPr>
          </a:p>
        </p:txBody>
      </p:sp>
    </p:spTree>
    <p:extLst>
      <p:ext uri="{BB962C8B-B14F-4D97-AF65-F5344CB8AC3E}">
        <p14:creationId xmlns:p14="http://schemas.microsoft.com/office/powerpoint/2010/main" val="3850409982"/>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Date Placeholder 3"/>
          <p:cNvSpPr>
            <a:spLocks noGrp="1"/>
          </p:cNvSpPr>
          <p:nvPr>
            <p:ph type="dt" sz="half" idx="10"/>
          </p:nvPr>
        </p:nvSpPr>
        <p:spPr/>
        <p:txBody>
          <a:bodyPr/>
          <a:lstStyle/>
          <a:p>
            <a:fld id="{E0427C73-B999-4DF2-BA28-319E34CDA473}"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13</a:t>
            </a:fld>
            <a:endParaRPr lang="en-US"/>
          </a:p>
        </p:txBody>
      </p:sp>
      <p:sp>
        <p:nvSpPr>
          <p:cNvPr id="7" name="Text Placeholder 3"/>
          <p:cNvSpPr>
            <a:spLocks noGrp="1"/>
          </p:cNvSpPr>
          <p:nvPr>
            <p:ph idx="1"/>
          </p:nvPr>
        </p:nvSpPr>
        <p:spPr>
          <a:xfrm>
            <a:off x="138989" y="900115"/>
            <a:ext cx="8909913" cy="5566522"/>
          </a:xfrm>
        </p:spPr>
        <p:txBody>
          <a:bodyPr>
            <a:normAutofit/>
          </a:bodyPr>
          <a:lstStyle/>
          <a:p>
            <a:pPr marL="0" indent="0"/>
            <a:r>
              <a:rPr lang="en-US" sz="3200" kern="1200" dirty="0">
                <a:solidFill>
                  <a:srgbClr val="3333CC"/>
                </a:solidFill>
              </a:rPr>
              <a:t>Monosaccharides </a:t>
            </a:r>
            <a:endParaRPr lang="en-US" sz="3200" kern="1200" dirty="0" smtClean="0">
              <a:solidFill>
                <a:srgbClr val="3333CC"/>
              </a:solidFill>
            </a:endParaRPr>
          </a:p>
          <a:p>
            <a:pPr>
              <a:buFont typeface="Arial"/>
              <a:buChar char="•"/>
            </a:pPr>
            <a:r>
              <a:rPr lang="en-US" sz="2400" b="0" dirty="0">
                <a:solidFill>
                  <a:schemeClr val="tx1"/>
                </a:solidFill>
                <a:latin typeface="Times New Roman" panose="02020603050405020304" pitchFamily="18" charset="0"/>
                <a:cs typeface="Times New Roman" panose="02020603050405020304" pitchFamily="18" charset="0"/>
              </a:rPr>
              <a:t>(mono– = “one”; </a:t>
            </a:r>
            <a:r>
              <a:rPr lang="en-US" sz="2400" b="0" dirty="0" err="1">
                <a:solidFill>
                  <a:schemeClr val="tx1"/>
                </a:solidFill>
                <a:latin typeface="Times New Roman" panose="02020603050405020304" pitchFamily="18" charset="0"/>
                <a:cs typeface="Times New Roman" panose="02020603050405020304" pitchFamily="18" charset="0"/>
              </a:rPr>
              <a:t>sacchar</a:t>
            </a:r>
            <a:r>
              <a:rPr lang="en-US" sz="2400" b="0" dirty="0">
                <a:solidFill>
                  <a:schemeClr val="tx1"/>
                </a:solidFill>
                <a:latin typeface="Times New Roman" panose="02020603050405020304" pitchFamily="18" charset="0"/>
                <a:cs typeface="Times New Roman" panose="02020603050405020304" pitchFamily="18" charset="0"/>
              </a:rPr>
              <a:t>– = “sweet”) are simple sugars the most common of which is </a:t>
            </a:r>
            <a:r>
              <a:rPr lang="en-US" sz="2400" b="0" dirty="0" smtClean="0">
                <a:solidFill>
                  <a:schemeClr val="tx1"/>
                </a:solidFill>
                <a:latin typeface="Times New Roman" panose="02020603050405020304" pitchFamily="18" charset="0"/>
                <a:cs typeface="Times New Roman" panose="02020603050405020304" pitchFamily="18" charset="0"/>
              </a:rPr>
              <a:t>glucose</a:t>
            </a:r>
          </a:p>
          <a:p>
            <a:pPr>
              <a:buFont typeface="Arial"/>
              <a:buChar char="•"/>
            </a:pPr>
            <a:r>
              <a:rPr lang="en-US" sz="2400" b="0" dirty="0" smtClean="0">
                <a:solidFill>
                  <a:schemeClr val="tx1"/>
                </a:solidFill>
                <a:latin typeface="Times New Roman" panose="02020603050405020304" pitchFamily="18" charset="0"/>
                <a:cs typeface="Times New Roman" panose="02020603050405020304" pitchFamily="18" charset="0"/>
              </a:rPr>
              <a:t>Represented by the general </a:t>
            </a:r>
            <a:r>
              <a:rPr lang="en-US" sz="2400" b="0" dirty="0">
                <a:solidFill>
                  <a:schemeClr val="tx1"/>
                </a:solidFill>
                <a:latin typeface="Times New Roman" panose="02020603050405020304" pitchFamily="18" charset="0"/>
                <a:cs typeface="Times New Roman" panose="02020603050405020304" pitchFamily="18" charset="0"/>
              </a:rPr>
              <a:t>formula </a:t>
            </a:r>
            <a:r>
              <a:rPr lang="en-US" sz="2400" dirty="0">
                <a:solidFill>
                  <a:schemeClr val="tx1"/>
                </a:solidFill>
                <a:latin typeface="Times New Roman" panose="02020603050405020304" pitchFamily="18" charset="0"/>
                <a:cs typeface="Times New Roman" panose="02020603050405020304" pitchFamily="18" charset="0"/>
              </a:rPr>
              <a:t>(CH</a:t>
            </a:r>
            <a:r>
              <a:rPr lang="en-US" sz="2400" baseline="-25000" dirty="0">
                <a:solidFill>
                  <a:schemeClr val="tx1"/>
                </a:solidFill>
                <a:latin typeface="Times New Roman" panose="02020603050405020304" pitchFamily="18" charset="0"/>
                <a:cs typeface="Times New Roman" panose="02020603050405020304" pitchFamily="18" charset="0"/>
              </a:rPr>
              <a:t>2</a:t>
            </a:r>
            <a:r>
              <a:rPr lang="en-US" sz="2400" dirty="0">
                <a:solidFill>
                  <a:schemeClr val="tx1"/>
                </a:solidFill>
                <a:latin typeface="Times New Roman" panose="02020603050405020304" pitchFamily="18" charset="0"/>
                <a:cs typeface="Times New Roman" panose="02020603050405020304" pitchFamily="18" charset="0"/>
              </a:rPr>
              <a:t>O)n  </a:t>
            </a:r>
            <a:r>
              <a:rPr lang="en-US" sz="2400" b="0" dirty="0">
                <a:solidFill>
                  <a:schemeClr val="tx1"/>
                </a:solidFill>
                <a:latin typeface="Times New Roman" panose="02020603050405020304" pitchFamily="18" charset="0"/>
                <a:cs typeface="Times New Roman" panose="02020603050405020304" pitchFamily="18" charset="0"/>
              </a:rPr>
              <a:t>where n is 3 -7</a:t>
            </a:r>
          </a:p>
          <a:p>
            <a:pPr>
              <a:buFont typeface="Arial"/>
              <a:buChar char="•"/>
            </a:pPr>
            <a:r>
              <a:rPr lang="en-US" sz="2400" b="0" dirty="0">
                <a:solidFill>
                  <a:schemeClr val="tx1"/>
                </a:solidFill>
                <a:latin typeface="Times New Roman" panose="02020603050405020304" pitchFamily="18" charset="0"/>
                <a:cs typeface="Times New Roman" panose="02020603050405020304" pitchFamily="18" charset="0"/>
              </a:rPr>
              <a:t>Most monosaccharide names end with the suffix –</a:t>
            </a:r>
            <a:r>
              <a:rPr lang="en-US" sz="2400" b="0" dirty="0" err="1">
                <a:solidFill>
                  <a:schemeClr val="tx1"/>
                </a:solidFill>
                <a:latin typeface="Times New Roman" panose="02020603050405020304" pitchFamily="18" charset="0"/>
                <a:cs typeface="Times New Roman" panose="02020603050405020304" pitchFamily="18" charset="0"/>
              </a:rPr>
              <a:t>ose</a:t>
            </a:r>
            <a:endParaRPr lang="en-US" sz="2400" b="0" dirty="0">
              <a:solidFill>
                <a:schemeClr val="tx1"/>
              </a:solidFill>
              <a:latin typeface="Times New Roman" panose="02020603050405020304" pitchFamily="18" charset="0"/>
              <a:cs typeface="Times New Roman" panose="02020603050405020304" pitchFamily="18" charset="0"/>
            </a:endParaRPr>
          </a:p>
          <a:p>
            <a:pPr>
              <a:buFont typeface="Arial"/>
              <a:buChar char="•"/>
            </a:pPr>
            <a:r>
              <a:rPr lang="en-US" sz="2400" b="0" dirty="0" smtClean="0">
                <a:solidFill>
                  <a:schemeClr val="tx1"/>
                </a:solidFill>
                <a:latin typeface="Times New Roman" panose="02020603050405020304" pitchFamily="18" charset="0"/>
                <a:cs typeface="Times New Roman" panose="02020603050405020304" pitchFamily="18" charset="0"/>
              </a:rPr>
              <a:t>consists </a:t>
            </a:r>
            <a:r>
              <a:rPr lang="en-US" sz="2400" b="0" dirty="0">
                <a:solidFill>
                  <a:schemeClr val="tx1"/>
                </a:solidFill>
                <a:latin typeface="Times New Roman" panose="02020603050405020304" pitchFamily="18" charset="0"/>
                <a:cs typeface="Times New Roman" panose="02020603050405020304" pitchFamily="18" charset="0"/>
              </a:rPr>
              <a:t>of a carbon chain with a number of hydroxyl (OH) groups and either </a:t>
            </a:r>
            <a:r>
              <a:rPr lang="en-US" sz="2400" b="0" dirty="0" smtClean="0">
                <a:solidFill>
                  <a:schemeClr val="tx1"/>
                </a:solidFill>
                <a:latin typeface="Times New Roman" panose="02020603050405020304" pitchFamily="18" charset="0"/>
                <a:cs typeface="Times New Roman" panose="02020603050405020304" pitchFamily="18" charset="0"/>
              </a:rPr>
              <a:t>an aldehyde </a:t>
            </a:r>
            <a:r>
              <a:rPr lang="en-US" sz="2400" b="0" dirty="0">
                <a:solidFill>
                  <a:schemeClr val="tx1"/>
                </a:solidFill>
                <a:latin typeface="Times New Roman" panose="02020603050405020304" pitchFamily="18" charset="0"/>
                <a:cs typeface="Times New Roman" panose="02020603050405020304" pitchFamily="18" charset="0"/>
              </a:rPr>
              <a:t>group </a:t>
            </a:r>
            <a:r>
              <a:rPr lang="en-US" sz="2400" b="0" dirty="0" smtClean="0">
                <a:solidFill>
                  <a:schemeClr val="tx1"/>
                </a:solidFill>
                <a:latin typeface="Times New Roman" panose="02020603050405020304" pitchFamily="18" charset="0"/>
                <a:cs typeface="Times New Roman" panose="02020603050405020304" pitchFamily="18" charset="0"/>
              </a:rPr>
              <a:t>or a ketone functional group</a:t>
            </a:r>
          </a:p>
          <a:p>
            <a:pPr>
              <a:buFont typeface="Arial"/>
              <a:buChar char="•"/>
            </a:pPr>
            <a:endParaRPr lang="en-US" sz="2400" b="0" dirty="0" smtClean="0">
              <a:solidFill>
                <a:schemeClr val="tx1"/>
              </a:solidFill>
              <a:latin typeface="Times New Roman" panose="02020603050405020304" pitchFamily="18" charset="0"/>
              <a:cs typeface="Times New Roman" panose="02020603050405020304" pitchFamily="18" charset="0"/>
            </a:endParaRPr>
          </a:p>
        </p:txBody>
      </p:sp>
      <p:pic>
        <p:nvPicPr>
          <p:cNvPr id="9" name="Picture 1"/>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87960" y="4023360"/>
            <a:ext cx="3060260" cy="2382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p:cNvPicPr>
            <a:picLocks noChangeAspect="1"/>
          </p:cNvPicPr>
          <p:nvPr/>
        </p:nvPicPr>
        <p:blipFill rotWithShape="1">
          <a:blip r:embed="rId3"/>
          <a:srcRect l="2144" t="-5930" r="-2144" b="17835"/>
          <a:stretch/>
        </p:blipFill>
        <p:spPr>
          <a:xfrm>
            <a:off x="4254751" y="4023360"/>
            <a:ext cx="3752850" cy="2282342"/>
          </a:xfrm>
          <a:prstGeom prst="rect">
            <a:avLst/>
          </a:prstGeom>
        </p:spPr>
      </p:pic>
    </p:spTree>
    <p:extLst>
      <p:ext uri="{BB962C8B-B14F-4D97-AF65-F5344CB8AC3E}">
        <p14:creationId xmlns:p14="http://schemas.microsoft.com/office/powerpoint/2010/main" val="3095263406"/>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Date Placeholder 3"/>
          <p:cNvSpPr>
            <a:spLocks noGrp="1"/>
          </p:cNvSpPr>
          <p:nvPr>
            <p:ph type="dt" sz="half" idx="10"/>
          </p:nvPr>
        </p:nvSpPr>
        <p:spPr/>
        <p:txBody>
          <a:bodyPr/>
          <a:lstStyle/>
          <a:p>
            <a:fld id="{DBACEDBB-125A-4CBA-B03D-A02B77B22CC6}"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14</a:t>
            </a:fld>
            <a:endParaRPr lang="en-US"/>
          </a:p>
        </p:txBody>
      </p:sp>
      <p:sp>
        <p:nvSpPr>
          <p:cNvPr id="7" name="Text Placeholder 3"/>
          <p:cNvSpPr>
            <a:spLocks noGrp="1"/>
          </p:cNvSpPr>
          <p:nvPr>
            <p:ph idx="1"/>
          </p:nvPr>
        </p:nvSpPr>
        <p:spPr>
          <a:xfrm>
            <a:off x="241402" y="900115"/>
            <a:ext cx="8792869" cy="5246687"/>
          </a:xfrm>
        </p:spPr>
        <p:txBody>
          <a:bodyPr>
            <a:normAutofit/>
          </a:bodyPr>
          <a:lstStyle/>
          <a:p>
            <a:pPr>
              <a:buFont typeface="Arial"/>
              <a:buChar char="•"/>
            </a:pPr>
            <a:r>
              <a:rPr lang="en-US" sz="2400" b="0" dirty="0" smtClean="0">
                <a:solidFill>
                  <a:schemeClr val="tx1"/>
                </a:solidFill>
                <a:latin typeface="Times New Roman" panose="02020603050405020304" pitchFamily="18" charset="0"/>
                <a:cs typeface="Times New Roman" panose="02020603050405020304" pitchFamily="18" charset="0"/>
              </a:rPr>
              <a:t>Monosaccharides have </a:t>
            </a:r>
            <a:r>
              <a:rPr lang="en-US" sz="2400" b="0" dirty="0">
                <a:solidFill>
                  <a:schemeClr val="tx1"/>
                </a:solidFill>
                <a:latin typeface="Times New Roman" panose="02020603050405020304" pitchFamily="18" charset="0"/>
                <a:cs typeface="Times New Roman" panose="02020603050405020304" pitchFamily="18" charset="0"/>
              </a:rPr>
              <a:t>common (trivial) names and systematic names. </a:t>
            </a:r>
          </a:p>
          <a:p>
            <a:pPr marL="942975" lvl="2" indent="-342900">
              <a:buFont typeface="Wingdings" panose="05000000000000000000" pitchFamily="2" charset="2"/>
              <a:buChar char="ü"/>
            </a:pPr>
            <a:r>
              <a:rPr lang="en-US" sz="2400" b="1" dirty="0">
                <a:solidFill>
                  <a:schemeClr val="tx1"/>
                </a:solidFill>
                <a:latin typeface="Times New Roman" panose="02020603050405020304" pitchFamily="18" charset="0"/>
                <a:cs typeface="Times New Roman" panose="02020603050405020304" pitchFamily="18" charset="0"/>
              </a:rPr>
              <a:t>Systematic name </a:t>
            </a:r>
            <a:r>
              <a:rPr lang="en-US" sz="2400" b="0" dirty="0" smtClean="0">
                <a:solidFill>
                  <a:schemeClr val="tx1"/>
                </a:solidFill>
                <a:latin typeface="Times New Roman" panose="02020603050405020304" pitchFamily="18" charset="0"/>
                <a:cs typeface="Times New Roman" panose="02020603050405020304" pitchFamily="18" charset="0"/>
              </a:rPr>
              <a:t>indicates </a:t>
            </a:r>
            <a:r>
              <a:rPr lang="en-US" sz="2400" b="0" dirty="0">
                <a:solidFill>
                  <a:schemeClr val="tx1"/>
                </a:solidFill>
                <a:latin typeface="Times New Roman" panose="02020603050405020304" pitchFamily="18" charset="0"/>
                <a:cs typeface="Times New Roman" panose="02020603050405020304" pitchFamily="18" charset="0"/>
              </a:rPr>
              <a:t>both the </a:t>
            </a:r>
            <a:r>
              <a:rPr lang="en-US" sz="2400" b="0" u="sng" dirty="0">
                <a:solidFill>
                  <a:schemeClr val="tx1"/>
                </a:solidFill>
                <a:latin typeface="Times New Roman" panose="02020603050405020304" pitchFamily="18" charset="0"/>
                <a:cs typeface="Times New Roman" panose="02020603050405020304" pitchFamily="18" charset="0"/>
              </a:rPr>
              <a:t>number of carbon atoms present</a:t>
            </a:r>
            <a:r>
              <a:rPr lang="en-US" sz="2400" b="0" dirty="0">
                <a:solidFill>
                  <a:schemeClr val="tx1"/>
                </a:solidFill>
                <a:latin typeface="Times New Roman" panose="02020603050405020304" pitchFamily="18" charset="0"/>
                <a:cs typeface="Times New Roman" panose="02020603050405020304" pitchFamily="18" charset="0"/>
              </a:rPr>
              <a:t> and </a:t>
            </a:r>
            <a:r>
              <a:rPr lang="en-US" sz="2400" b="0" u="sng" dirty="0" smtClean="0">
                <a:solidFill>
                  <a:schemeClr val="tx1"/>
                </a:solidFill>
                <a:latin typeface="Times New Roman" panose="02020603050405020304" pitchFamily="18" charset="0"/>
                <a:cs typeface="Times New Roman" panose="02020603050405020304" pitchFamily="18" charset="0"/>
              </a:rPr>
              <a:t>functional group </a:t>
            </a:r>
            <a:r>
              <a:rPr lang="en-US" sz="2400" b="0" dirty="0" smtClean="0">
                <a:solidFill>
                  <a:schemeClr val="tx1"/>
                </a:solidFill>
                <a:latin typeface="Times New Roman" panose="02020603050405020304" pitchFamily="18" charset="0"/>
                <a:cs typeface="Times New Roman" panose="02020603050405020304" pitchFamily="18" charset="0"/>
              </a:rPr>
              <a:t>(</a:t>
            </a:r>
            <a:r>
              <a:rPr lang="en-US" sz="2400" b="0" dirty="0">
                <a:solidFill>
                  <a:schemeClr val="tx1"/>
                </a:solidFill>
                <a:latin typeface="Times New Roman" panose="02020603050405020304" pitchFamily="18" charset="0"/>
                <a:cs typeface="Times New Roman" panose="02020603050405020304" pitchFamily="18" charset="0"/>
              </a:rPr>
              <a:t>aldehyde or ketone). </a:t>
            </a:r>
            <a:endParaRPr lang="en-US" sz="2400" b="0" dirty="0" smtClean="0">
              <a:solidFill>
                <a:schemeClr val="tx1"/>
              </a:solidFill>
              <a:latin typeface="Times New Roman" panose="02020603050405020304" pitchFamily="18" charset="0"/>
              <a:cs typeface="Times New Roman" panose="02020603050405020304" pitchFamily="18" charset="0"/>
            </a:endParaRPr>
          </a:p>
          <a:p>
            <a:pPr marL="942975" lvl="2" indent="-342900">
              <a:buFont typeface="Wingdings" panose="05000000000000000000" pitchFamily="2" charset="2"/>
              <a:buChar char="ü"/>
            </a:pPr>
            <a:r>
              <a:rPr lang="en-US" sz="2400" b="0" dirty="0" smtClean="0">
                <a:solidFill>
                  <a:schemeClr val="tx1"/>
                </a:solidFill>
                <a:latin typeface="Times New Roman" panose="02020603050405020304" pitchFamily="18" charset="0"/>
                <a:cs typeface="Times New Roman" panose="02020603050405020304" pitchFamily="18" charset="0"/>
              </a:rPr>
              <a:t>A </a:t>
            </a:r>
            <a:r>
              <a:rPr lang="en-US" sz="2400" b="0" dirty="0">
                <a:solidFill>
                  <a:schemeClr val="tx1"/>
                </a:solidFill>
                <a:latin typeface="Times New Roman" panose="02020603050405020304" pitchFamily="18" charset="0"/>
                <a:cs typeface="Times New Roman" panose="02020603050405020304" pitchFamily="18" charset="0"/>
              </a:rPr>
              <a:t>sugar that bears an aldehyde group is called an aldose where as a sugar with a ketone group is a </a:t>
            </a:r>
            <a:r>
              <a:rPr lang="en-US" sz="2400" b="0" dirty="0" smtClean="0">
                <a:solidFill>
                  <a:schemeClr val="tx1"/>
                </a:solidFill>
                <a:latin typeface="Times New Roman" panose="02020603050405020304" pitchFamily="18" charset="0"/>
                <a:cs typeface="Times New Roman" panose="02020603050405020304" pitchFamily="18" charset="0"/>
              </a:rPr>
              <a:t>ketose.</a:t>
            </a:r>
          </a:p>
          <a:p>
            <a:pPr marL="942975" lvl="2" indent="-342900">
              <a:buFont typeface="Wingdings" panose="05000000000000000000" pitchFamily="2" charset="2"/>
              <a:buChar char="ü"/>
            </a:pPr>
            <a:r>
              <a:rPr lang="en-US" sz="2400" b="0" dirty="0" smtClean="0">
                <a:solidFill>
                  <a:schemeClr val="tx1"/>
                </a:solidFill>
                <a:latin typeface="Times New Roman" panose="02020603050405020304" pitchFamily="18" charset="0"/>
                <a:cs typeface="Times New Roman" panose="02020603050405020304" pitchFamily="18" charset="0"/>
              </a:rPr>
              <a:t>For </a:t>
            </a:r>
            <a:r>
              <a:rPr lang="en-US" sz="2400" b="0" dirty="0">
                <a:solidFill>
                  <a:schemeClr val="tx1"/>
                </a:solidFill>
                <a:latin typeface="Times New Roman" panose="02020603050405020304" pitchFamily="18" charset="0"/>
                <a:cs typeface="Times New Roman" panose="02020603050405020304" pitchFamily="18" charset="0"/>
              </a:rPr>
              <a:t>example, glyceraldehyde is </a:t>
            </a:r>
            <a:r>
              <a:rPr lang="en-US" sz="2400" b="0" dirty="0" err="1">
                <a:solidFill>
                  <a:schemeClr val="tx1"/>
                </a:solidFill>
                <a:latin typeface="Times New Roman" panose="02020603050405020304" pitchFamily="18" charset="0"/>
                <a:cs typeface="Times New Roman" panose="02020603050405020304" pitchFamily="18" charset="0"/>
              </a:rPr>
              <a:t>aldotriose</a:t>
            </a:r>
            <a:r>
              <a:rPr lang="en-US" sz="2400" b="0" dirty="0">
                <a:solidFill>
                  <a:schemeClr val="tx1"/>
                </a:solidFill>
                <a:latin typeface="Times New Roman" panose="02020603050405020304" pitchFamily="18" charset="0"/>
                <a:cs typeface="Times New Roman" panose="02020603050405020304" pitchFamily="18" charset="0"/>
              </a:rPr>
              <a:t> and dihydroxyacetone is </a:t>
            </a:r>
            <a:r>
              <a:rPr lang="en-US" sz="2400" b="0" dirty="0" err="1">
                <a:solidFill>
                  <a:schemeClr val="tx1"/>
                </a:solidFill>
                <a:latin typeface="Times New Roman" panose="02020603050405020304" pitchFamily="18" charset="0"/>
                <a:cs typeface="Times New Roman" panose="02020603050405020304" pitchFamily="18" charset="0"/>
              </a:rPr>
              <a:t>ketotriose</a:t>
            </a:r>
            <a:endParaRPr lang="en-US" sz="2400" b="0" dirty="0">
              <a:solidFill>
                <a:schemeClr val="tx1"/>
              </a:solidFill>
              <a:latin typeface="Times New Roman" panose="02020603050405020304" pitchFamily="18" charset="0"/>
              <a:cs typeface="Times New Roman" panose="02020603050405020304" pitchFamily="18" charset="0"/>
            </a:endParaRPr>
          </a:p>
          <a:p>
            <a:pPr>
              <a:buFont typeface="Arial"/>
              <a:buChar char="•"/>
            </a:pPr>
            <a:endParaRPr lang="en-US" sz="2400" b="0" dirty="0" smtClean="0">
              <a:solidFill>
                <a:schemeClr val="tx1"/>
              </a:solidFill>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241402" y="4053177"/>
            <a:ext cx="3512565" cy="2280950"/>
          </a:xfrm>
          <a:prstGeom prst="rect">
            <a:avLst/>
          </a:prstGeom>
        </p:spPr>
      </p:pic>
      <p:pic>
        <p:nvPicPr>
          <p:cNvPr id="3" name="Picture 2"/>
          <p:cNvPicPr>
            <a:picLocks noChangeAspect="1"/>
          </p:cNvPicPr>
          <p:nvPr/>
        </p:nvPicPr>
        <p:blipFill>
          <a:blip r:embed="rId3"/>
          <a:stretch>
            <a:fillRect/>
          </a:stretch>
        </p:blipFill>
        <p:spPr>
          <a:xfrm>
            <a:off x="4538015" y="4188993"/>
            <a:ext cx="2373975" cy="2246733"/>
          </a:xfrm>
          <a:prstGeom prst="rect">
            <a:avLst/>
          </a:prstGeom>
        </p:spPr>
      </p:pic>
      <p:pic>
        <p:nvPicPr>
          <p:cNvPr id="9" name="Picture 8"/>
          <p:cNvPicPr>
            <a:picLocks noChangeAspect="1"/>
          </p:cNvPicPr>
          <p:nvPr/>
        </p:nvPicPr>
        <p:blipFill>
          <a:blip r:embed="rId4"/>
          <a:stretch>
            <a:fillRect/>
          </a:stretch>
        </p:blipFill>
        <p:spPr>
          <a:xfrm>
            <a:off x="6769755" y="4173652"/>
            <a:ext cx="2122281" cy="2262074"/>
          </a:xfrm>
          <a:prstGeom prst="rect">
            <a:avLst/>
          </a:prstGeom>
        </p:spPr>
      </p:pic>
    </p:spTree>
    <p:extLst>
      <p:ext uri="{BB962C8B-B14F-4D97-AF65-F5344CB8AC3E}">
        <p14:creationId xmlns:p14="http://schemas.microsoft.com/office/powerpoint/2010/main" val="3666296011"/>
      </p:ext>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160935" y="900115"/>
            <a:ext cx="8524280" cy="5246687"/>
          </a:xfrm>
        </p:spPr>
        <p:txBody>
          <a:bodyPr/>
          <a:lstStyle/>
          <a:p>
            <a:r>
              <a:rPr lang="en-US" b="0" dirty="0">
                <a:solidFill>
                  <a:srgbClr val="373D3F"/>
                </a:solidFill>
                <a:latin typeface="proxima-nova"/>
              </a:rPr>
              <a:t> Depending on the number of carbons in the sugar, they also may be known as </a:t>
            </a:r>
            <a:endParaRPr lang="en-US" b="0" dirty="0" smtClean="0">
              <a:solidFill>
                <a:srgbClr val="373D3F"/>
              </a:solidFill>
              <a:latin typeface="proxima-nova"/>
            </a:endParaRPr>
          </a:p>
          <a:p>
            <a:pPr marL="0" indent="0"/>
            <a:endParaRPr lang="en-US" dirty="0"/>
          </a:p>
        </p:txBody>
      </p:sp>
      <p:sp>
        <p:nvSpPr>
          <p:cNvPr id="4" name="Date Placeholder 3"/>
          <p:cNvSpPr>
            <a:spLocks noGrp="1"/>
          </p:cNvSpPr>
          <p:nvPr>
            <p:ph type="dt" sz="half" idx="10"/>
          </p:nvPr>
        </p:nvSpPr>
        <p:spPr/>
        <p:txBody>
          <a:bodyPr/>
          <a:lstStyle/>
          <a:p>
            <a:fld id="{90E4B983-54A7-4DCA-967E-A731A85FD634}"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15</a:t>
            </a:fld>
            <a:endParaRPr lang="en-US"/>
          </a:p>
        </p:txBody>
      </p:sp>
      <p:pic>
        <p:nvPicPr>
          <p:cNvPr id="10" name="Picture 9"/>
          <p:cNvPicPr>
            <a:picLocks noChangeAspect="1"/>
          </p:cNvPicPr>
          <p:nvPr/>
        </p:nvPicPr>
        <p:blipFill>
          <a:blip r:embed="rId2"/>
          <a:stretch>
            <a:fillRect/>
          </a:stretch>
        </p:blipFill>
        <p:spPr>
          <a:xfrm>
            <a:off x="358881" y="1686314"/>
            <a:ext cx="7967452" cy="4596607"/>
          </a:xfrm>
          <a:prstGeom prst="rect">
            <a:avLst/>
          </a:prstGeom>
        </p:spPr>
      </p:pic>
    </p:spTree>
    <p:extLst>
      <p:ext uri="{BB962C8B-B14F-4D97-AF65-F5344CB8AC3E}">
        <p14:creationId xmlns:p14="http://schemas.microsoft.com/office/powerpoint/2010/main" val="414554997"/>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1"/>
          <p:cNvSpPr txBox="1">
            <a:spLocks noChangeArrowheads="1"/>
          </p:cNvSpPr>
          <p:nvPr/>
        </p:nvSpPr>
        <p:spPr bwMode="auto">
          <a:xfrm>
            <a:off x="117042" y="1228467"/>
            <a:ext cx="8905037" cy="544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lvl="0" indent="-220663" defTabSz="457200" fontAlgn="base">
              <a:spcBef>
                <a:spcPts val="800"/>
              </a:spcBef>
              <a:spcAft>
                <a:spcPct val="0"/>
              </a:spcAft>
              <a:buClr>
                <a:srgbClr val="000000"/>
              </a:buClr>
              <a:buSzPct val="100000"/>
              <a:buFont typeface="Arial" panose="020B0604020202020204" pitchFamily="34" charset="0"/>
              <a:buChar char="•"/>
              <a:defRPr/>
            </a:pPr>
            <a:r>
              <a:rPr lang="en-US" altLang="en-US" sz="2200" b="1" dirty="0" smtClean="0">
                <a:solidFill>
                  <a:srgbClr val="000000"/>
                </a:solidFill>
                <a:latin typeface="Times New Roman" panose="02020603050405020304" pitchFamily="18" charset="0"/>
                <a:ea typeface="ＭＳ Ｐゴシック" pitchFamily="34" charset="-128"/>
                <a:cs typeface="Times New Roman" panose="02020603050405020304" pitchFamily="18" charset="0"/>
              </a:rPr>
              <a:t>Glucose: </a:t>
            </a:r>
            <a:r>
              <a:rPr lang="en-US" altLang="en-US" sz="2200" dirty="0" smtClean="0">
                <a:solidFill>
                  <a:srgbClr val="000000"/>
                </a:solidFill>
                <a:latin typeface="Times New Roman" panose="02020603050405020304" pitchFamily="18" charset="0"/>
                <a:ea typeface="ＭＳ Ｐゴシック" pitchFamily="34" charset="-128"/>
                <a:cs typeface="Times New Roman" panose="02020603050405020304" pitchFamily="18" charset="0"/>
              </a:rPr>
              <a:t>the </a:t>
            </a:r>
            <a:r>
              <a:rPr lang="en-US" altLang="en-US" sz="2200" dirty="0">
                <a:solidFill>
                  <a:srgbClr val="000000"/>
                </a:solidFill>
                <a:latin typeface="Times New Roman" panose="02020603050405020304" pitchFamily="18" charset="0"/>
                <a:ea typeface="ＭＳ Ｐゴシック" pitchFamily="34" charset="-128"/>
                <a:cs typeface="Times New Roman" panose="02020603050405020304" pitchFamily="18" charset="0"/>
              </a:rPr>
              <a:t>most predominant sugar in human body. </a:t>
            </a:r>
            <a:r>
              <a:rPr lang="en-US" altLang="en-US" sz="2200" dirty="0" smtClean="0">
                <a:solidFill>
                  <a:srgbClr val="000000"/>
                </a:solidFill>
                <a:latin typeface="Times New Roman" panose="02020603050405020304" pitchFamily="18" charset="0"/>
                <a:ea typeface="ＭＳ Ｐゴシック" pitchFamily="34" charset="-128"/>
                <a:cs typeface="Times New Roman" panose="02020603050405020304" pitchFamily="18" charset="0"/>
              </a:rPr>
              <a:t>It </a:t>
            </a:r>
            <a:r>
              <a:rPr lang="en-US" altLang="en-US" sz="2200" dirty="0">
                <a:solidFill>
                  <a:srgbClr val="000000"/>
                </a:solidFill>
                <a:latin typeface="Times New Roman" panose="02020603050405020304" pitchFamily="18" charset="0"/>
                <a:ea typeface="ＭＳ Ｐゴシック" pitchFamily="34" charset="-128"/>
                <a:cs typeface="Times New Roman" panose="02020603050405020304" pitchFamily="18" charset="0"/>
              </a:rPr>
              <a:t>is the major source of energy</a:t>
            </a:r>
            <a:endParaRPr kumimoji="0" lang="en-US" altLang="en-US" sz="220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itchFamily="34" charset="-128"/>
              <a:cs typeface="Times New Roman" panose="02020603050405020304" pitchFamily="18" charset="0"/>
            </a:endParaRPr>
          </a:p>
          <a:p>
            <a:pPr marL="457200" indent="-220663" defTabSz="457200" fontAlgn="base">
              <a:spcBef>
                <a:spcPts val="800"/>
              </a:spcBef>
              <a:spcAft>
                <a:spcPct val="0"/>
              </a:spcAft>
              <a:buClr>
                <a:srgbClr val="000000"/>
              </a:buClr>
              <a:buSzPct val="100000"/>
              <a:buFont typeface="Arial" panose="020B0604020202020204" pitchFamily="34" charset="0"/>
              <a:buChar char="•"/>
              <a:defRPr/>
            </a:pPr>
            <a:r>
              <a:rPr lang="en-US" altLang="en-US" sz="2200" b="1" dirty="0">
                <a:solidFill>
                  <a:srgbClr val="000000"/>
                </a:solidFill>
                <a:latin typeface="Times New Roman" panose="02020603050405020304" pitchFamily="18" charset="0"/>
                <a:ea typeface="ＭＳ Ｐゴシック" pitchFamily="34" charset="-128"/>
                <a:cs typeface="Times New Roman" panose="02020603050405020304" pitchFamily="18" charset="0"/>
              </a:rPr>
              <a:t>Galactose</a:t>
            </a:r>
            <a:r>
              <a:rPr lang="en-US" altLang="en-US" sz="2200" dirty="0">
                <a:solidFill>
                  <a:srgbClr val="000000"/>
                </a:solidFill>
                <a:latin typeface="Times New Roman" panose="02020603050405020304" pitchFamily="18" charset="0"/>
                <a:ea typeface="ＭＳ Ｐゴシック" pitchFamily="34" charset="-128"/>
                <a:cs typeface="Times New Roman" panose="02020603050405020304" pitchFamily="18" charset="0"/>
              </a:rPr>
              <a:t>  is a constituent of lactose (milk sugar) </a:t>
            </a:r>
            <a:r>
              <a:rPr lang="en-US" altLang="en-US" sz="2200" dirty="0" smtClean="0">
                <a:solidFill>
                  <a:srgbClr val="000000"/>
                </a:solidFill>
                <a:latin typeface="Times New Roman" panose="02020603050405020304" pitchFamily="18" charset="0"/>
                <a:ea typeface="ＭＳ Ｐゴシック" pitchFamily="34" charset="-128"/>
                <a:cs typeface="Times New Roman" panose="02020603050405020304" pitchFamily="18" charset="0"/>
              </a:rPr>
              <a:t>and glycoproteins</a:t>
            </a:r>
          </a:p>
          <a:p>
            <a:pPr marL="457200" indent="-220663" defTabSz="457200" fontAlgn="base">
              <a:spcBef>
                <a:spcPts val="800"/>
              </a:spcBef>
              <a:spcAft>
                <a:spcPct val="0"/>
              </a:spcAft>
              <a:buClr>
                <a:srgbClr val="000000"/>
              </a:buClr>
              <a:buSzPct val="100000"/>
              <a:buFont typeface="Arial" panose="020B0604020202020204" pitchFamily="34" charset="0"/>
              <a:buChar char="•"/>
              <a:defRPr/>
            </a:pPr>
            <a:r>
              <a:rPr kumimoji="0" lang="en-US" altLang="en-US" sz="2200" b="1" i="0" u="none" strike="noStrike" kern="1200" cap="none" spc="0" normalizeH="0" baseline="0" noProof="0" dirty="0" smtClean="0">
                <a:ln>
                  <a:noFill/>
                </a:ln>
                <a:solidFill>
                  <a:srgbClr val="000000"/>
                </a:solidFill>
                <a:effectLst/>
                <a:uLnTx/>
                <a:uFillTx/>
                <a:latin typeface="Times New Roman" panose="02020603050405020304" pitchFamily="18" charset="0"/>
                <a:ea typeface="ＭＳ Ｐゴシック" pitchFamily="34" charset="-128"/>
                <a:cs typeface="Times New Roman" panose="02020603050405020304" pitchFamily="18" charset="0"/>
              </a:rPr>
              <a:t>Fructose</a:t>
            </a:r>
            <a:r>
              <a:rPr lang="en-US" altLang="en-US" sz="2200" dirty="0">
                <a:solidFill>
                  <a:srgbClr val="000000"/>
                </a:solidFill>
                <a:latin typeface="Times New Roman" panose="02020603050405020304" pitchFamily="18" charset="0"/>
                <a:ea typeface="ＭＳ Ｐゴシック" pitchFamily="34" charset="-128"/>
                <a:cs typeface="Times New Roman" panose="02020603050405020304" pitchFamily="18" charset="0"/>
              </a:rPr>
              <a:t> </a:t>
            </a:r>
            <a:r>
              <a:rPr lang="en-US" altLang="en-US" sz="2200" dirty="0" smtClean="0">
                <a:solidFill>
                  <a:srgbClr val="000000"/>
                </a:solidFill>
                <a:latin typeface="Times New Roman" panose="02020603050405020304" pitchFamily="18" charset="0"/>
                <a:ea typeface="ＭＳ Ｐゴシック" pitchFamily="34" charset="-128"/>
                <a:cs typeface="Times New Roman" panose="02020603050405020304" pitchFamily="18" charset="0"/>
              </a:rPr>
              <a:t>is the constituent </a:t>
            </a:r>
            <a:r>
              <a:rPr lang="en-US" altLang="en-US" sz="2200" dirty="0">
                <a:solidFill>
                  <a:srgbClr val="000000"/>
                </a:solidFill>
                <a:latin typeface="Times New Roman" panose="02020603050405020304" pitchFamily="18" charset="0"/>
                <a:ea typeface="ＭＳ Ｐゴシック" pitchFamily="34" charset="-128"/>
                <a:cs typeface="Times New Roman" panose="02020603050405020304" pitchFamily="18" charset="0"/>
              </a:rPr>
              <a:t>of sucrose, the common </a:t>
            </a:r>
            <a:r>
              <a:rPr lang="en-US" altLang="en-US" sz="2200" dirty="0" smtClean="0">
                <a:solidFill>
                  <a:srgbClr val="000000"/>
                </a:solidFill>
                <a:latin typeface="Times New Roman" panose="02020603050405020304" pitchFamily="18" charset="0"/>
                <a:ea typeface="ＭＳ Ｐゴシック" pitchFamily="34" charset="-128"/>
                <a:cs typeface="Times New Roman" panose="02020603050405020304" pitchFamily="18" charset="0"/>
              </a:rPr>
              <a:t>sugar</a:t>
            </a:r>
          </a:p>
          <a:p>
            <a:pPr marL="457200" indent="-220663" defTabSz="457200" fontAlgn="base">
              <a:spcBef>
                <a:spcPts val="800"/>
              </a:spcBef>
              <a:spcAft>
                <a:spcPct val="0"/>
              </a:spcAft>
              <a:buClr>
                <a:srgbClr val="000000"/>
              </a:buClr>
              <a:buSzPct val="100000"/>
              <a:buFont typeface="Arial" panose="020B0604020202020204" pitchFamily="34" charset="0"/>
              <a:buChar char="•"/>
              <a:defRPr/>
            </a:pPr>
            <a:r>
              <a:rPr lang="en-US" altLang="en-US" sz="2200" dirty="0" smtClean="0">
                <a:solidFill>
                  <a:srgbClr val="000000"/>
                </a:solidFill>
                <a:latin typeface="Times New Roman" panose="02020603050405020304" pitchFamily="18" charset="0"/>
                <a:ea typeface="ＭＳ Ｐゴシック" pitchFamily="34" charset="-128"/>
                <a:cs typeface="Times New Roman" panose="02020603050405020304" pitchFamily="18" charset="0"/>
              </a:rPr>
              <a:t>Although </a:t>
            </a:r>
            <a:r>
              <a:rPr lang="en-US" altLang="en-US" sz="2200" b="1" dirty="0" smtClean="0">
                <a:solidFill>
                  <a:schemeClr val="accent2"/>
                </a:solidFill>
                <a:latin typeface="Times New Roman" panose="02020603050405020304" pitchFamily="18" charset="0"/>
                <a:ea typeface="ＭＳ Ｐゴシック" pitchFamily="34" charset="-128"/>
                <a:cs typeface="Times New Roman" panose="02020603050405020304" pitchFamily="18" charset="0"/>
              </a:rPr>
              <a:t>glucose</a:t>
            </a:r>
            <a:r>
              <a:rPr lang="en-US" altLang="en-US" sz="2200" dirty="0">
                <a:solidFill>
                  <a:srgbClr val="000000"/>
                </a:solidFill>
                <a:latin typeface="Times New Roman" panose="02020603050405020304" pitchFamily="18" charset="0"/>
                <a:ea typeface="ＭＳ Ｐゴシック" pitchFamily="34" charset="-128"/>
                <a:cs typeface="Times New Roman" panose="02020603050405020304" pitchFamily="18" charset="0"/>
              </a:rPr>
              <a:t>, </a:t>
            </a:r>
            <a:r>
              <a:rPr lang="en-US" altLang="en-US" sz="2200" b="1" dirty="0">
                <a:solidFill>
                  <a:schemeClr val="accent2"/>
                </a:solidFill>
                <a:latin typeface="Times New Roman" panose="02020603050405020304" pitchFamily="18" charset="0"/>
                <a:ea typeface="ＭＳ Ｐゴシック" pitchFamily="34" charset="-128"/>
                <a:cs typeface="Times New Roman" panose="02020603050405020304" pitchFamily="18" charset="0"/>
              </a:rPr>
              <a:t>galactose</a:t>
            </a:r>
            <a:r>
              <a:rPr lang="en-US" altLang="en-US" sz="2200" dirty="0">
                <a:solidFill>
                  <a:srgbClr val="000000"/>
                </a:solidFill>
                <a:latin typeface="Times New Roman" panose="02020603050405020304" pitchFamily="18" charset="0"/>
                <a:ea typeface="ＭＳ Ｐゴシック" pitchFamily="34" charset="-128"/>
                <a:cs typeface="Times New Roman" panose="02020603050405020304" pitchFamily="18" charset="0"/>
              </a:rPr>
              <a:t>, and </a:t>
            </a:r>
            <a:r>
              <a:rPr lang="en-US" altLang="en-US" sz="2200" b="1" dirty="0">
                <a:solidFill>
                  <a:schemeClr val="accent2"/>
                </a:solidFill>
                <a:latin typeface="Times New Roman" panose="02020603050405020304" pitchFamily="18" charset="0"/>
                <a:ea typeface="ＭＳ Ｐゴシック" pitchFamily="34" charset="-128"/>
                <a:cs typeface="Times New Roman" panose="02020603050405020304" pitchFamily="18" charset="0"/>
              </a:rPr>
              <a:t>fructose</a:t>
            </a:r>
            <a:r>
              <a:rPr lang="en-US" altLang="en-US" sz="2200" dirty="0">
                <a:solidFill>
                  <a:srgbClr val="000000"/>
                </a:solidFill>
                <a:latin typeface="Times New Roman" panose="02020603050405020304" pitchFamily="18" charset="0"/>
                <a:ea typeface="ＭＳ Ｐゴシック" pitchFamily="34" charset="-128"/>
                <a:cs typeface="Times New Roman" panose="02020603050405020304" pitchFamily="18" charset="0"/>
              </a:rPr>
              <a:t> all have the </a:t>
            </a:r>
            <a:r>
              <a:rPr lang="en-US" altLang="en-US" sz="2200" b="1" dirty="0">
                <a:solidFill>
                  <a:schemeClr val="accent2"/>
                </a:solidFill>
                <a:latin typeface="Times New Roman" panose="02020603050405020304" pitchFamily="18" charset="0"/>
                <a:ea typeface="ＭＳ Ｐゴシック" pitchFamily="34" charset="-128"/>
                <a:cs typeface="Times New Roman" panose="02020603050405020304" pitchFamily="18" charset="0"/>
              </a:rPr>
              <a:t>same chemical formula </a:t>
            </a:r>
            <a:r>
              <a:rPr lang="en-US" altLang="en-US" sz="2200" b="1" dirty="0">
                <a:solidFill>
                  <a:srgbClr val="000000"/>
                </a:solidFill>
                <a:latin typeface="Times New Roman" panose="02020603050405020304" pitchFamily="18" charset="0"/>
                <a:ea typeface="ＭＳ Ｐゴシック" pitchFamily="34" charset="-128"/>
                <a:cs typeface="Times New Roman" panose="02020603050405020304" pitchFamily="18" charset="0"/>
              </a:rPr>
              <a:t>(C</a:t>
            </a:r>
            <a:r>
              <a:rPr lang="en-US" altLang="en-US" sz="2200" b="1" baseline="-25000" dirty="0">
                <a:solidFill>
                  <a:srgbClr val="000000"/>
                </a:solidFill>
                <a:latin typeface="Times New Roman" panose="02020603050405020304" pitchFamily="18" charset="0"/>
                <a:ea typeface="ＭＳ Ｐゴシック" pitchFamily="34" charset="-128"/>
                <a:cs typeface="Times New Roman" panose="02020603050405020304" pitchFamily="18" charset="0"/>
              </a:rPr>
              <a:t>6</a:t>
            </a:r>
            <a:r>
              <a:rPr lang="en-US" altLang="en-US" sz="2200" b="1" dirty="0">
                <a:solidFill>
                  <a:srgbClr val="000000"/>
                </a:solidFill>
                <a:latin typeface="Times New Roman" panose="02020603050405020304" pitchFamily="18" charset="0"/>
                <a:ea typeface="ＭＳ Ｐゴシック" pitchFamily="34" charset="-128"/>
                <a:cs typeface="Times New Roman" panose="02020603050405020304" pitchFamily="18" charset="0"/>
              </a:rPr>
              <a:t>H</a:t>
            </a:r>
            <a:r>
              <a:rPr lang="en-US" altLang="en-US" sz="2200" b="1" baseline="-25000" dirty="0">
                <a:solidFill>
                  <a:srgbClr val="000000"/>
                </a:solidFill>
                <a:latin typeface="Times New Roman" panose="02020603050405020304" pitchFamily="18" charset="0"/>
                <a:ea typeface="ＭＳ Ｐゴシック" pitchFamily="34" charset="-128"/>
                <a:cs typeface="Times New Roman" panose="02020603050405020304" pitchFamily="18" charset="0"/>
              </a:rPr>
              <a:t>12</a:t>
            </a:r>
            <a:r>
              <a:rPr lang="en-US" altLang="en-US" sz="2200" b="1" dirty="0">
                <a:solidFill>
                  <a:srgbClr val="000000"/>
                </a:solidFill>
                <a:latin typeface="Times New Roman" panose="02020603050405020304" pitchFamily="18" charset="0"/>
                <a:ea typeface="ＭＳ Ｐゴシック" pitchFamily="34" charset="-128"/>
                <a:cs typeface="Times New Roman" panose="02020603050405020304" pitchFamily="18" charset="0"/>
              </a:rPr>
              <a:t>O</a:t>
            </a:r>
            <a:r>
              <a:rPr lang="en-US" altLang="en-US" sz="2200" b="1" baseline="-25000" dirty="0">
                <a:solidFill>
                  <a:srgbClr val="000000"/>
                </a:solidFill>
                <a:latin typeface="Times New Roman" panose="02020603050405020304" pitchFamily="18" charset="0"/>
                <a:ea typeface="ＭＳ Ｐゴシック" pitchFamily="34" charset="-128"/>
                <a:cs typeface="Times New Roman" panose="02020603050405020304" pitchFamily="18" charset="0"/>
              </a:rPr>
              <a:t>6</a:t>
            </a:r>
            <a:r>
              <a:rPr lang="en-US" altLang="en-US" sz="2200" b="1" dirty="0">
                <a:solidFill>
                  <a:srgbClr val="000000"/>
                </a:solidFill>
                <a:latin typeface="Times New Roman" panose="02020603050405020304" pitchFamily="18" charset="0"/>
                <a:ea typeface="ＭＳ Ｐゴシック" pitchFamily="34" charset="-128"/>
                <a:cs typeface="Times New Roman" panose="02020603050405020304" pitchFamily="18" charset="0"/>
              </a:rPr>
              <a:t>)</a:t>
            </a:r>
            <a:r>
              <a:rPr lang="en-US" altLang="en-US" sz="2200" dirty="0">
                <a:solidFill>
                  <a:srgbClr val="000000"/>
                </a:solidFill>
                <a:latin typeface="Times New Roman" panose="02020603050405020304" pitchFamily="18" charset="0"/>
                <a:ea typeface="ＭＳ Ｐゴシック" pitchFamily="34" charset="-128"/>
                <a:cs typeface="Times New Roman" panose="02020603050405020304" pitchFamily="18" charset="0"/>
              </a:rPr>
              <a:t>,</a:t>
            </a:r>
            <a:r>
              <a:rPr lang="en-US" altLang="en-US" sz="2200" b="1" dirty="0">
                <a:solidFill>
                  <a:srgbClr val="000000"/>
                </a:solidFill>
                <a:latin typeface="Times New Roman" panose="02020603050405020304" pitchFamily="18" charset="0"/>
                <a:ea typeface="ＭＳ Ｐゴシック" pitchFamily="34" charset="-128"/>
                <a:cs typeface="Times New Roman" panose="02020603050405020304" pitchFamily="18" charset="0"/>
              </a:rPr>
              <a:t> </a:t>
            </a:r>
            <a:r>
              <a:rPr lang="en-US" altLang="en-US" sz="2200" b="1" dirty="0">
                <a:solidFill>
                  <a:schemeClr val="accent2"/>
                </a:solidFill>
                <a:latin typeface="Times New Roman" panose="02020603050405020304" pitchFamily="18" charset="0"/>
                <a:ea typeface="ＭＳ Ｐゴシック" pitchFamily="34" charset="-128"/>
                <a:cs typeface="Times New Roman" panose="02020603050405020304" pitchFamily="18" charset="0"/>
              </a:rPr>
              <a:t>they differ structurally </a:t>
            </a:r>
            <a:r>
              <a:rPr lang="en-US" altLang="en-US" sz="2200" b="1" dirty="0" smtClean="0">
                <a:solidFill>
                  <a:schemeClr val="accent2"/>
                </a:solidFill>
                <a:latin typeface="Times New Roman" panose="02020603050405020304" pitchFamily="18" charset="0"/>
                <a:ea typeface="ＭＳ Ｐゴシック" pitchFamily="34" charset="-128"/>
                <a:cs typeface="Times New Roman" panose="02020603050405020304" pitchFamily="18" charset="0"/>
              </a:rPr>
              <a:t>and chemically </a:t>
            </a:r>
            <a:r>
              <a:rPr lang="en-US" altLang="en-US" sz="2200" dirty="0">
                <a:solidFill>
                  <a:srgbClr val="000000"/>
                </a:solidFill>
                <a:latin typeface="Times New Roman" panose="02020603050405020304" pitchFamily="18" charset="0"/>
                <a:ea typeface="ＭＳ Ｐゴシック" pitchFamily="34" charset="-128"/>
                <a:cs typeface="Times New Roman" panose="02020603050405020304" pitchFamily="18" charset="0"/>
              </a:rPr>
              <a:t>(and </a:t>
            </a:r>
            <a:r>
              <a:rPr lang="en-US" altLang="en-US" sz="2200" dirty="0" smtClean="0">
                <a:solidFill>
                  <a:srgbClr val="000000"/>
                </a:solidFill>
                <a:latin typeface="Times New Roman" panose="02020603050405020304" pitchFamily="18" charset="0"/>
                <a:ea typeface="ＭＳ Ｐゴシック" pitchFamily="34" charset="-128"/>
                <a:cs typeface="Times New Roman" panose="02020603050405020304" pitchFamily="18" charset="0"/>
              </a:rPr>
              <a:t>are </a:t>
            </a:r>
            <a:r>
              <a:rPr lang="en-US" altLang="en-US" sz="2200" b="1" dirty="0" smtClean="0">
                <a:solidFill>
                  <a:schemeClr val="accent2"/>
                </a:solidFill>
                <a:latin typeface="Times New Roman" panose="02020603050405020304" pitchFamily="18" charset="0"/>
                <a:ea typeface="ＭＳ Ｐゴシック" pitchFamily="34" charset="-128"/>
                <a:cs typeface="Times New Roman" panose="02020603050405020304" pitchFamily="18" charset="0"/>
              </a:rPr>
              <a:t>isomers</a:t>
            </a:r>
            <a:r>
              <a:rPr lang="en-US" altLang="en-US" sz="2200" dirty="0">
                <a:solidFill>
                  <a:srgbClr val="000000"/>
                </a:solidFill>
                <a:latin typeface="Times New Roman" panose="02020603050405020304" pitchFamily="18" charset="0"/>
                <a:ea typeface="ＭＳ Ｐゴシック" pitchFamily="34" charset="-128"/>
                <a:cs typeface="Times New Roman" panose="02020603050405020304" pitchFamily="18" charset="0"/>
              </a:rPr>
              <a:t>) </a:t>
            </a:r>
            <a:endParaRPr lang="en-US" altLang="en-US" sz="2200" dirty="0" smtClean="0">
              <a:solidFill>
                <a:srgbClr val="000000"/>
              </a:solidFill>
              <a:latin typeface="Times New Roman" panose="02020603050405020304" pitchFamily="18" charset="0"/>
              <a:ea typeface="ＭＳ Ｐゴシック" pitchFamily="34" charset="-128"/>
              <a:cs typeface="Times New Roman" panose="02020603050405020304" pitchFamily="18" charset="0"/>
            </a:endParaRPr>
          </a:p>
          <a:p>
            <a:pPr defTabSz="457200" fontAlgn="base">
              <a:spcBef>
                <a:spcPts val="800"/>
              </a:spcBef>
              <a:spcAft>
                <a:spcPct val="0"/>
              </a:spcAft>
              <a:buClr>
                <a:srgbClr val="000000"/>
              </a:buClr>
              <a:buSzPct val="100000"/>
              <a:defRPr/>
            </a:pPr>
            <a:r>
              <a:rPr lang="en-US" altLang="en-US" sz="2200" b="1" dirty="0" smtClean="0">
                <a:solidFill>
                  <a:srgbClr val="FF0000"/>
                </a:solidFill>
                <a:latin typeface="Times New Roman" panose="02020603050405020304" pitchFamily="18" charset="0"/>
                <a:ea typeface="ＭＳ Ｐゴシック" pitchFamily="34" charset="-128"/>
                <a:cs typeface="Times New Roman" panose="02020603050405020304" pitchFamily="18" charset="0"/>
              </a:rPr>
              <a:t>Isomers</a:t>
            </a:r>
            <a:r>
              <a:rPr lang="en-US" altLang="en-US" sz="2200" dirty="0" smtClean="0">
                <a:solidFill>
                  <a:srgbClr val="000000"/>
                </a:solidFill>
                <a:latin typeface="Times New Roman" panose="02020603050405020304" pitchFamily="18" charset="0"/>
                <a:ea typeface="ＭＳ Ｐゴシック" pitchFamily="34" charset="-128"/>
                <a:cs typeface="Times New Roman" panose="02020603050405020304" pitchFamily="18" charset="0"/>
              </a:rPr>
              <a:t> are compounds </a:t>
            </a:r>
            <a:r>
              <a:rPr lang="en-US" altLang="en-US" sz="2200" dirty="0">
                <a:solidFill>
                  <a:srgbClr val="000000"/>
                </a:solidFill>
                <a:latin typeface="Times New Roman" panose="02020603050405020304" pitchFamily="18" charset="0"/>
                <a:ea typeface="ＭＳ Ｐゴシック" pitchFamily="34" charset="-128"/>
                <a:cs typeface="Times New Roman" panose="02020603050405020304" pitchFamily="18" charset="0"/>
              </a:rPr>
              <a:t>that have the same chemical formula but </a:t>
            </a:r>
            <a:r>
              <a:rPr lang="en-US" altLang="en-US" sz="2200" dirty="0" smtClean="0">
                <a:solidFill>
                  <a:srgbClr val="000000"/>
                </a:solidFill>
                <a:latin typeface="Times New Roman" panose="02020603050405020304" pitchFamily="18" charset="0"/>
                <a:ea typeface="ＭＳ Ｐゴシック" pitchFamily="34" charset="-128"/>
                <a:cs typeface="Times New Roman" panose="02020603050405020304" pitchFamily="18" charset="0"/>
              </a:rPr>
              <a:t>different </a:t>
            </a:r>
            <a:r>
              <a:rPr lang="en-US" altLang="en-US" sz="2200" dirty="0">
                <a:solidFill>
                  <a:srgbClr val="000000"/>
                </a:solidFill>
                <a:latin typeface="Times New Roman" panose="02020603050405020304" pitchFamily="18" charset="0"/>
                <a:ea typeface="ＭＳ Ｐゴシック" pitchFamily="34" charset="-128"/>
                <a:cs typeface="Times New Roman" panose="02020603050405020304" pitchFamily="18" charset="0"/>
              </a:rPr>
              <a:t>structures </a:t>
            </a:r>
            <a:endParaRPr lang="en-US" altLang="en-US" sz="2200" dirty="0" smtClean="0">
              <a:solidFill>
                <a:srgbClr val="000000"/>
              </a:solidFill>
              <a:latin typeface="Times New Roman" panose="02020603050405020304" pitchFamily="18" charset="0"/>
              <a:ea typeface="ＭＳ Ｐゴシック" pitchFamily="34" charset="-128"/>
              <a:cs typeface="Times New Roman" panose="02020603050405020304" pitchFamily="18" charset="0"/>
            </a:endParaRPr>
          </a:p>
          <a:p>
            <a:pPr defTabSz="457200" fontAlgn="base">
              <a:spcBef>
                <a:spcPts val="800"/>
              </a:spcBef>
              <a:spcAft>
                <a:spcPct val="0"/>
              </a:spcAft>
              <a:buClr>
                <a:srgbClr val="000000"/>
              </a:buClr>
              <a:buSzPct val="100000"/>
              <a:defRPr/>
            </a:pPr>
            <a:r>
              <a:rPr lang="en-US" altLang="en-US" sz="2200" b="1" dirty="0" smtClean="0">
                <a:solidFill>
                  <a:srgbClr val="FF0000"/>
                </a:solidFill>
                <a:latin typeface="Times New Roman" panose="02020603050405020304" pitchFamily="18" charset="0"/>
                <a:ea typeface="ＭＳ Ｐゴシック" pitchFamily="34" charset="-128"/>
                <a:cs typeface="Times New Roman" panose="02020603050405020304" pitchFamily="18" charset="0"/>
              </a:rPr>
              <a:t>Stereoisomers</a:t>
            </a:r>
            <a:r>
              <a:rPr lang="en-US" altLang="en-US" sz="2200" dirty="0" smtClean="0">
                <a:solidFill>
                  <a:srgbClr val="000000"/>
                </a:solidFill>
                <a:latin typeface="Times New Roman" panose="02020603050405020304" pitchFamily="18" charset="0"/>
                <a:ea typeface="ＭＳ Ｐゴシック" pitchFamily="34" charset="-128"/>
                <a:cs typeface="Times New Roman" panose="02020603050405020304" pitchFamily="18" charset="0"/>
              </a:rPr>
              <a:t> </a:t>
            </a:r>
            <a:r>
              <a:rPr lang="en-US" altLang="en-US" sz="2200" dirty="0">
                <a:solidFill>
                  <a:srgbClr val="000000"/>
                </a:solidFill>
                <a:latin typeface="Times New Roman" panose="02020603050405020304" pitchFamily="18" charset="0"/>
                <a:ea typeface="ＭＳ Ｐゴシック" pitchFamily="34" charset="-128"/>
                <a:cs typeface="Times New Roman" panose="02020603050405020304" pitchFamily="18" charset="0"/>
              </a:rPr>
              <a:t>have the same chemical </a:t>
            </a:r>
            <a:r>
              <a:rPr lang="en-US" altLang="en-US" sz="2200" dirty="0" smtClean="0">
                <a:solidFill>
                  <a:srgbClr val="000000"/>
                </a:solidFill>
                <a:latin typeface="Times New Roman" panose="02020603050405020304" pitchFamily="18" charset="0"/>
                <a:ea typeface="ＭＳ Ｐゴシック" pitchFamily="34" charset="-128"/>
                <a:cs typeface="Times New Roman" panose="02020603050405020304" pitchFamily="18" charset="0"/>
              </a:rPr>
              <a:t>formula </a:t>
            </a:r>
            <a:r>
              <a:rPr lang="en-US" altLang="en-US" sz="2200" dirty="0">
                <a:solidFill>
                  <a:srgbClr val="000000"/>
                </a:solidFill>
                <a:latin typeface="Times New Roman" panose="02020603050405020304" pitchFamily="18" charset="0"/>
                <a:ea typeface="ＭＳ Ｐゴシック" pitchFamily="34" charset="-128"/>
                <a:cs typeface="Times New Roman" panose="02020603050405020304" pitchFamily="18" charset="0"/>
              </a:rPr>
              <a:t>but differ in the position of the hydroxyl </a:t>
            </a:r>
            <a:r>
              <a:rPr lang="en-US" altLang="en-US" sz="2200" dirty="0" smtClean="0">
                <a:solidFill>
                  <a:srgbClr val="000000"/>
                </a:solidFill>
                <a:latin typeface="Times New Roman" panose="02020603050405020304" pitchFamily="18" charset="0"/>
                <a:ea typeface="ＭＳ Ｐゴシック" pitchFamily="34" charset="-128"/>
                <a:cs typeface="Times New Roman" panose="02020603050405020304" pitchFamily="18" charset="0"/>
              </a:rPr>
              <a:t>groups </a:t>
            </a:r>
            <a:r>
              <a:rPr lang="en-US" altLang="en-US" sz="2200" dirty="0">
                <a:solidFill>
                  <a:srgbClr val="000000"/>
                </a:solidFill>
                <a:latin typeface="Times New Roman" panose="02020603050405020304" pitchFamily="18" charset="0"/>
                <a:ea typeface="ＭＳ Ｐゴシック" pitchFamily="34" charset="-128"/>
                <a:cs typeface="Times New Roman" panose="02020603050405020304" pitchFamily="18" charset="0"/>
              </a:rPr>
              <a:t>on one or more </a:t>
            </a:r>
            <a:r>
              <a:rPr lang="en-US" altLang="en-US" sz="2200" dirty="0" smtClean="0">
                <a:solidFill>
                  <a:srgbClr val="000000"/>
                </a:solidFill>
                <a:latin typeface="Times New Roman" panose="02020603050405020304" pitchFamily="18" charset="0"/>
                <a:ea typeface="ＭＳ Ｐゴシック" pitchFamily="34" charset="-128"/>
                <a:cs typeface="Times New Roman" panose="02020603050405020304" pitchFamily="18" charset="0"/>
              </a:rPr>
              <a:t>of their </a:t>
            </a:r>
            <a:r>
              <a:rPr lang="en-US" altLang="en-US" sz="2200" dirty="0">
                <a:solidFill>
                  <a:srgbClr val="000000"/>
                </a:solidFill>
                <a:latin typeface="Times New Roman" panose="02020603050405020304" pitchFamily="18" charset="0"/>
                <a:ea typeface="ＭＳ Ｐゴシック" pitchFamily="34" charset="-128"/>
                <a:cs typeface="Times New Roman" panose="02020603050405020304" pitchFamily="18" charset="0"/>
              </a:rPr>
              <a:t>asymmetric carbons. </a:t>
            </a:r>
            <a:endParaRPr lang="en-US" altLang="en-US" sz="2200" dirty="0" smtClean="0">
              <a:solidFill>
                <a:srgbClr val="000000"/>
              </a:solidFill>
              <a:latin typeface="Times New Roman" panose="02020603050405020304" pitchFamily="18" charset="0"/>
              <a:ea typeface="ＭＳ Ｐゴシック" pitchFamily="34" charset="-128"/>
              <a:cs typeface="Times New Roman" panose="02020603050405020304" pitchFamily="18" charset="0"/>
            </a:endParaRPr>
          </a:p>
          <a:p>
            <a:pPr marL="457200" lvl="0" indent="-457200" defTabSz="457200" fontAlgn="base">
              <a:spcBef>
                <a:spcPts val="800"/>
              </a:spcBef>
              <a:spcAft>
                <a:spcPct val="0"/>
              </a:spcAft>
              <a:buClr>
                <a:srgbClr val="000000"/>
              </a:buClr>
              <a:buSzPct val="100000"/>
              <a:buFont typeface="Wingdings" panose="05000000000000000000" pitchFamily="2" charset="2"/>
              <a:buChar char="ü"/>
              <a:defRPr/>
            </a:pPr>
            <a:r>
              <a:rPr lang="en-US" altLang="en-US" sz="2200" dirty="0">
                <a:solidFill>
                  <a:srgbClr val="FFFFFF"/>
                </a:solidFill>
                <a:latin typeface="Times New Roman" panose="02020603050405020304" pitchFamily="18" charset="0"/>
                <a:ea typeface="Microsoft YaHei" panose="020B0503020204020204" pitchFamily="34" charset="-122"/>
                <a:cs typeface="Times New Roman" panose="02020603050405020304" pitchFamily="18" charset="0"/>
              </a:rPr>
              <a:t> </a:t>
            </a:r>
            <a:r>
              <a:rPr lang="en-US" altLang="en-US" sz="2200" b="1" dirty="0" err="1" smtClean="0">
                <a:solidFill>
                  <a:srgbClr val="FF0000"/>
                </a:solidFill>
                <a:latin typeface="Times New Roman" panose="02020603050405020304" pitchFamily="18" charset="0"/>
                <a:ea typeface="Microsoft YaHei" panose="020B0503020204020204" pitchFamily="34" charset="-122"/>
                <a:cs typeface="Times New Roman" panose="02020603050405020304" pitchFamily="18" charset="0"/>
              </a:rPr>
              <a:t>Epimers</a:t>
            </a:r>
            <a:r>
              <a:rPr lang="en-US" altLang="en-US" sz="2200" dirty="0" smtClean="0">
                <a:latin typeface="Times New Roman" panose="02020603050405020304" pitchFamily="18" charset="0"/>
                <a:ea typeface="Microsoft YaHei" panose="020B0503020204020204" pitchFamily="34" charset="-122"/>
                <a:cs typeface="Times New Roman" panose="02020603050405020304" pitchFamily="18" charset="0"/>
              </a:rPr>
              <a:t> </a:t>
            </a:r>
            <a:r>
              <a:rPr lang="en-US" altLang="en-US" sz="2200" dirty="0">
                <a:latin typeface="Times New Roman" panose="02020603050405020304" pitchFamily="18" charset="0"/>
                <a:ea typeface="Microsoft YaHei" panose="020B0503020204020204" pitchFamily="34" charset="-122"/>
                <a:cs typeface="Times New Roman" panose="02020603050405020304" pitchFamily="18" charset="0"/>
              </a:rPr>
              <a:t>are </a:t>
            </a:r>
            <a:r>
              <a:rPr lang="en-US" altLang="en-US" sz="2200" dirty="0" smtClean="0">
                <a:latin typeface="Times New Roman" panose="02020603050405020304" pitchFamily="18" charset="0"/>
                <a:ea typeface="Microsoft YaHei" panose="020B0503020204020204" pitchFamily="34" charset="-122"/>
                <a:cs typeface="Times New Roman" panose="02020603050405020304" pitchFamily="18" charset="0"/>
              </a:rPr>
              <a:t>stereoisomers </a:t>
            </a:r>
            <a:r>
              <a:rPr lang="en-US" altLang="en-US" sz="2200" dirty="0">
                <a:latin typeface="Times New Roman" panose="02020603050405020304" pitchFamily="18" charset="0"/>
                <a:ea typeface="Microsoft YaHei" panose="020B0503020204020204" pitchFamily="34" charset="-122"/>
                <a:cs typeface="Times New Roman" panose="02020603050405020304" pitchFamily="18" charset="0"/>
              </a:rPr>
              <a:t>that differ </a:t>
            </a:r>
            <a:r>
              <a:rPr lang="en-US" altLang="en-US" sz="2200" dirty="0" smtClean="0">
                <a:latin typeface="Times New Roman" panose="02020603050405020304" pitchFamily="18" charset="0"/>
                <a:ea typeface="Microsoft YaHei" panose="020B0503020204020204" pitchFamily="34" charset="-122"/>
                <a:cs typeface="Times New Roman" panose="02020603050405020304" pitchFamily="18" charset="0"/>
              </a:rPr>
              <a:t>in </a:t>
            </a:r>
            <a:r>
              <a:rPr lang="en-US" altLang="en-US" sz="2200" dirty="0">
                <a:latin typeface="Times New Roman" panose="02020603050405020304" pitchFamily="18" charset="0"/>
                <a:ea typeface="Microsoft YaHei" panose="020B0503020204020204" pitchFamily="34" charset="-122"/>
                <a:cs typeface="Times New Roman" panose="02020603050405020304" pitchFamily="18" charset="0"/>
              </a:rPr>
              <a:t>the position of the </a:t>
            </a:r>
            <a:r>
              <a:rPr lang="en-US" altLang="en-US" sz="2200" dirty="0" smtClean="0">
                <a:latin typeface="Times New Roman" panose="02020603050405020304" pitchFamily="18" charset="0"/>
                <a:ea typeface="Microsoft YaHei" panose="020B0503020204020204" pitchFamily="34" charset="-122"/>
                <a:cs typeface="Times New Roman" panose="02020603050405020304" pitchFamily="18" charset="0"/>
              </a:rPr>
              <a:t>hydroxyl </a:t>
            </a:r>
            <a:r>
              <a:rPr lang="en-US" altLang="en-US" sz="2200" dirty="0">
                <a:latin typeface="Times New Roman" panose="02020603050405020304" pitchFamily="18" charset="0"/>
                <a:ea typeface="Microsoft YaHei" panose="020B0503020204020204" pitchFamily="34" charset="-122"/>
                <a:cs typeface="Times New Roman" panose="02020603050405020304" pitchFamily="18" charset="0"/>
              </a:rPr>
              <a:t>group at only one asymmetric </a:t>
            </a:r>
            <a:r>
              <a:rPr lang="en-US" altLang="en-US" sz="2200" dirty="0" smtClean="0">
                <a:latin typeface="Times New Roman" panose="02020603050405020304" pitchFamily="18" charset="0"/>
                <a:ea typeface="Microsoft YaHei" panose="020B0503020204020204" pitchFamily="34" charset="-122"/>
                <a:cs typeface="Times New Roman" panose="02020603050405020304" pitchFamily="18" charset="0"/>
              </a:rPr>
              <a:t>carbon</a:t>
            </a:r>
            <a:r>
              <a:rPr lang="en-US" altLang="en-US" sz="2200" dirty="0">
                <a:latin typeface="Times New Roman" panose="02020603050405020304" pitchFamily="18" charset="0"/>
                <a:ea typeface="Microsoft YaHei" panose="020B0503020204020204" pitchFamily="34" charset="-122"/>
                <a:cs typeface="Times New Roman" panose="02020603050405020304" pitchFamily="18" charset="0"/>
              </a:rPr>
              <a:t>. For example, </a:t>
            </a:r>
            <a:r>
              <a:rPr lang="en-US" altLang="en-US" sz="2200" dirty="0" smtClean="0">
                <a:latin typeface="Times New Roman" panose="02020603050405020304" pitchFamily="18" charset="0"/>
                <a:ea typeface="Microsoft YaHei" panose="020B0503020204020204" pitchFamily="34" charset="-122"/>
                <a:cs typeface="Times New Roman" panose="02020603050405020304" pitchFamily="18" charset="0"/>
              </a:rPr>
              <a:t>glucose </a:t>
            </a:r>
            <a:r>
              <a:rPr lang="en-US" altLang="en-US" sz="2200" dirty="0">
                <a:latin typeface="Times New Roman" panose="02020603050405020304" pitchFamily="18" charset="0"/>
                <a:ea typeface="Microsoft YaHei" panose="020B0503020204020204" pitchFamily="34" charset="-122"/>
                <a:cs typeface="Times New Roman" panose="02020603050405020304" pitchFamily="18" charset="0"/>
              </a:rPr>
              <a:t>and </a:t>
            </a:r>
            <a:r>
              <a:rPr lang="en-US" altLang="en-US" sz="2200" dirty="0" smtClean="0">
                <a:latin typeface="Times New Roman" panose="02020603050405020304" pitchFamily="18" charset="0"/>
                <a:ea typeface="Microsoft YaHei" panose="020B0503020204020204" pitchFamily="34" charset="-122"/>
                <a:cs typeface="Times New Roman" panose="02020603050405020304" pitchFamily="18" charset="0"/>
              </a:rPr>
              <a:t>galactose </a:t>
            </a:r>
            <a:r>
              <a:rPr lang="en-US" altLang="en-US" sz="2200" dirty="0">
                <a:latin typeface="Times New Roman" panose="02020603050405020304" pitchFamily="18" charset="0"/>
                <a:ea typeface="Microsoft YaHei" panose="020B0503020204020204" pitchFamily="34" charset="-122"/>
                <a:cs typeface="Times New Roman" panose="02020603050405020304" pitchFamily="18" charset="0"/>
              </a:rPr>
              <a:t>are </a:t>
            </a:r>
            <a:r>
              <a:rPr lang="en-US" altLang="en-US" sz="2200" dirty="0" err="1" smtClean="0">
                <a:latin typeface="Times New Roman" panose="02020603050405020304" pitchFamily="18" charset="0"/>
                <a:ea typeface="Microsoft YaHei" panose="020B0503020204020204" pitchFamily="34" charset="-122"/>
                <a:cs typeface="Times New Roman" panose="02020603050405020304" pitchFamily="18" charset="0"/>
              </a:rPr>
              <a:t>epimers</a:t>
            </a:r>
            <a:r>
              <a:rPr lang="en-US" altLang="en-US" sz="2200" dirty="0" smtClean="0">
                <a:latin typeface="Times New Roman" panose="02020603050405020304" pitchFamily="18" charset="0"/>
                <a:ea typeface="Microsoft YaHei" panose="020B0503020204020204" pitchFamily="34" charset="-122"/>
                <a:cs typeface="Times New Roman" panose="02020603050405020304" pitchFamily="18" charset="0"/>
              </a:rPr>
              <a:t> </a:t>
            </a:r>
            <a:r>
              <a:rPr lang="en-US" altLang="en-US" sz="2200" dirty="0">
                <a:latin typeface="Times New Roman" panose="02020603050405020304" pitchFamily="18" charset="0"/>
                <a:ea typeface="Microsoft YaHei" panose="020B0503020204020204" pitchFamily="34" charset="-122"/>
                <a:cs typeface="Times New Roman" panose="02020603050405020304" pitchFamily="18" charset="0"/>
              </a:rPr>
              <a:t>that </a:t>
            </a:r>
            <a:r>
              <a:rPr lang="en-US" altLang="en-US" sz="2200" dirty="0" smtClean="0">
                <a:latin typeface="Times New Roman" panose="02020603050405020304" pitchFamily="18" charset="0"/>
                <a:ea typeface="Microsoft YaHei" panose="020B0503020204020204" pitchFamily="34" charset="-122"/>
                <a:cs typeface="Times New Roman" panose="02020603050405020304" pitchFamily="18" charset="0"/>
              </a:rPr>
              <a:t>differ </a:t>
            </a:r>
            <a:r>
              <a:rPr lang="en-US" altLang="en-US" sz="2200" dirty="0">
                <a:latin typeface="Times New Roman" panose="02020603050405020304" pitchFamily="18" charset="0"/>
                <a:ea typeface="Microsoft YaHei" panose="020B0503020204020204" pitchFamily="34" charset="-122"/>
                <a:cs typeface="Times New Roman" panose="02020603050405020304" pitchFamily="18" charset="0"/>
              </a:rPr>
              <a:t>at carbon </a:t>
            </a:r>
            <a:r>
              <a:rPr lang="en-US" altLang="en-US" sz="2200" dirty="0" smtClean="0">
                <a:latin typeface="Times New Roman" panose="02020603050405020304" pitchFamily="18" charset="0"/>
                <a:ea typeface="Microsoft YaHei" panose="020B0503020204020204" pitchFamily="34" charset="-122"/>
                <a:cs typeface="Times New Roman" panose="02020603050405020304" pitchFamily="18" charset="0"/>
              </a:rPr>
              <a:t>4.  </a:t>
            </a:r>
            <a:endParaRPr kumimoji="0" lang="en-US" altLang="en-US" sz="2200" b="0" i="0" u="none" strike="noStrike" kern="1200" cap="none" spc="0" normalizeH="0" baseline="0" noProof="0" dirty="0">
              <a:ln>
                <a:noFill/>
              </a:ln>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1507" name="Title 1"/>
          <p:cNvSpPr>
            <a:spLocks noGrp="1"/>
          </p:cNvSpPr>
          <p:nvPr>
            <p:ph type="title"/>
          </p:nvPr>
        </p:nvSpPr>
        <p:spPr>
          <a:xfrm>
            <a:off x="304800" y="750697"/>
            <a:ext cx="6107825" cy="561975"/>
          </a:xfrm>
        </p:spPr>
        <p:txBody>
          <a:bodyPr/>
          <a:lstStyle/>
          <a:p>
            <a:pPr algn="l"/>
            <a:r>
              <a:rPr lang="en-US" altLang="en-US" kern="1200" dirty="0">
                <a:solidFill>
                  <a:schemeClr val="accent2"/>
                </a:solidFill>
                <a:latin typeface="Arial" charset="0"/>
                <a:ea typeface="ＭＳ Ｐゴシック" pitchFamily="34" charset="-128"/>
              </a:rPr>
              <a:t>Examples of </a:t>
            </a:r>
            <a:r>
              <a:rPr lang="en-US" altLang="en-US" kern="1200" dirty="0" smtClean="0">
                <a:solidFill>
                  <a:schemeClr val="accent2"/>
                </a:solidFill>
                <a:latin typeface="Arial" charset="0"/>
                <a:ea typeface="ＭＳ Ｐゴシック" pitchFamily="34" charset="-128"/>
              </a:rPr>
              <a:t>Monosaccharides</a:t>
            </a:r>
            <a:endParaRPr lang="en-US" altLang="en-US" dirty="0" smtClean="0">
              <a:solidFill>
                <a:schemeClr val="accent2"/>
              </a:solidFill>
            </a:endParaRPr>
          </a:p>
        </p:txBody>
      </p:sp>
      <p:sp>
        <p:nvSpPr>
          <p:cNvPr id="2" name="Slide Number Placeholder 1"/>
          <p:cNvSpPr>
            <a:spLocks noGrp="1"/>
          </p:cNvSpPr>
          <p:nvPr>
            <p:ph type="sldNum" idx="12"/>
          </p:nvPr>
        </p:nvSpPr>
        <p:spPr>
          <a:xfrm>
            <a:off x="7011988" y="6245225"/>
            <a:ext cx="2132012" cy="474663"/>
          </a:xfrm>
        </p:spPr>
        <p:txBody>
          <a:bodyPr/>
          <a:lstStyle/>
          <a:p>
            <a:fld id="{5E9C531F-C9E3-424E-BE3F-79B8EA3D097C}" type="slidenum">
              <a:rPr lang="en-US" altLang="en-US" smtClean="0"/>
              <a:pPr/>
              <a:t>16</a:t>
            </a:fld>
            <a:endParaRPr lang="en-US" altLang="en-US"/>
          </a:p>
        </p:txBody>
      </p:sp>
    </p:spTree>
    <p:extLst>
      <p:ext uri="{BB962C8B-B14F-4D97-AF65-F5344CB8AC3E}">
        <p14:creationId xmlns:p14="http://schemas.microsoft.com/office/powerpoint/2010/main" val="3335027716"/>
      </p:ext>
    </p:extLst>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1"/>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547BA86B-13A0-44A3-BD89-76FE67A1EC35}" type="slidenum">
              <a:rPr kumimoji="0" lang="en-US" altLang="en-US" sz="24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t>17</a:t>
            </a:fld>
            <a:endParaRPr kumimoji="0" lang="en-US" altLang="en-US" sz="2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9699" name="Freeform 280"/>
          <p:cNvSpPr>
            <a:spLocks/>
          </p:cNvSpPr>
          <p:nvPr/>
        </p:nvSpPr>
        <p:spPr bwMode="auto">
          <a:xfrm>
            <a:off x="6721475" y="925513"/>
            <a:ext cx="2057400" cy="5029200"/>
          </a:xfrm>
          <a:custGeom>
            <a:avLst/>
            <a:gdLst>
              <a:gd name="T0" fmla="*/ 0 w 1296"/>
              <a:gd name="T1" fmla="*/ 2147483647 h 3168"/>
              <a:gd name="T2" fmla="*/ 0 w 1296"/>
              <a:gd name="T3" fmla="*/ 2147483647 h 3168"/>
              <a:gd name="T4" fmla="*/ 0 w 1296"/>
              <a:gd name="T5" fmla="*/ 0 h 3168"/>
              <a:gd name="T6" fmla="*/ 2147483647 w 1296"/>
              <a:gd name="T7" fmla="*/ 0 h 3168"/>
              <a:gd name="T8" fmla="*/ 2147483647 w 1296"/>
              <a:gd name="T9" fmla="*/ 2147483647 h 3168"/>
              <a:gd name="T10" fmla="*/ 0 w 1296"/>
              <a:gd name="T11" fmla="*/ 2147483647 h 31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96" h="3168">
                <a:moveTo>
                  <a:pt x="0" y="3168"/>
                </a:moveTo>
                <a:lnTo>
                  <a:pt x="0" y="1646"/>
                </a:lnTo>
                <a:lnTo>
                  <a:pt x="0" y="0"/>
                </a:lnTo>
                <a:lnTo>
                  <a:pt x="1296" y="0"/>
                </a:lnTo>
                <a:lnTo>
                  <a:pt x="1296" y="3168"/>
                </a:lnTo>
                <a:lnTo>
                  <a:pt x="0" y="3168"/>
                </a:lnTo>
                <a:close/>
              </a:path>
            </a:pathLst>
          </a:custGeom>
          <a:solidFill>
            <a:srgbClr val="EBDFD3"/>
          </a:solidFill>
          <a:ln w="9525">
            <a:noFill/>
            <a:round/>
            <a:headEnd/>
            <a:tailEnd/>
          </a:ln>
          <a:effectLst>
            <a:outerShdw dist="45791" dir="2021404" algn="ctr" rotWithShape="0">
              <a:srgbClr val="808080">
                <a:alpha val="50000"/>
              </a:srgbClr>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itchFamily="18" charset="0"/>
              <a:ea typeface="ＭＳ Ｐゴシック"/>
            </a:endParaRPr>
          </a:p>
        </p:txBody>
      </p:sp>
      <p:sp>
        <p:nvSpPr>
          <p:cNvPr id="22532" name="Rectangle 281"/>
          <p:cNvSpPr>
            <a:spLocks noChangeArrowheads="1"/>
          </p:cNvSpPr>
          <p:nvPr/>
        </p:nvSpPr>
        <p:spPr bwMode="auto">
          <a:xfrm>
            <a:off x="3673475" y="919163"/>
            <a:ext cx="1974850" cy="4997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9701" name="Freeform 282"/>
          <p:cNvSpPr>
            <a:spLocks/>
          </p:cNvSpPr>
          <p:nvPr/>
        </p:nvSpPr>
        <p:spPr bwMode="auto">
          <a:xfrm>
            <a:off x="3536950" y="919163"/>
            <a:ext cx="2016125" cy="5029200"/>
          </a:xfrm>
          <a:custGeom>
            <a:avLst/>
            <a:gdLst>
              <a:gd name="T0" fmla="*/ 0 w 1270"/>
              <a:gd name="T1" fmla="*/ 2147483647 h 3168"/>
              <a:gd name="T2" fmla="*/ 0 w 1270"/>
              <a:gd name="T3" fmla="*/ 2147483647 h 3168"/>
              <a:gd name="T4" fmla="*/ 0 w 1270"/>
              <a:gd name="T5" fmla="*/ 0 h 3168"/>
              <a:gd name="T6" fmla="*/ 2147483647 w 1270"/>
              <a:gd name="T7" fmla="*/ 0 h 3168"/>
              <a:gd name="T8" fmla="*/ 2147483647 w 1270"/>
              <a:gd name="T9" fmla="*/ 2147483647 h 3168"/>
              <a:gd name="T10" fmla="*/ 0 w 1270"/>
              <a:gd name="T11" fmla="*/ 2147483647 h 31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70" h="3168">
                <a:moveTo>
                  <a:pt x="0" y="3168"/>
                </a:moveTo>
                <a:lnTo>
                  <a:pt x="0" y="1644"/>
                </a:lnTo>
                <a:lnTo>
                  <a:pt x="0" y="0"/>
                </a:lnTo>
                <a:lnTo>
                  <a:pt x="1270" y="0"/>
                </a:lnTo>
                <a:lnTo>
                  <a:pt x="1270" y="3168"/>
                </a:lnTo>
                <a:lnTo>
                  <a:pt x="0" y="3168"/>
                </a:lnTo>
                <a:close/>
              </a:path>
            </a:pathLst>
          </a:custGeom>
          <a:solidFill>
            <a:srgbClr val="EBDFD3"/>
          </a:solidFill>
          <a:ln w="9525">
            <a:noFill/>
            <a:round/>
            <a:headEnd/>
            <a:tailEnd/>
          </a:ln>
          <a:effectLst>
            <a:outerShdw dist="45791" dir="2021404" algn="ctr" rotWithShape="0">
              <a:srgbClr val="808080">
                <a:alpha val="50000"/>
              </a:srgbClr>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itchFamily="18" charset="0"/>
              <a:ea typeface="ＭＳ Ｐゴシック"/>
            </a:endParaRPr>
          </a:p>
        </p:txBody>
      </p:sp>
      <p:sp>
        <p:nvSpPr>
          <p:cNvPr id="22534" name="Rectangle 283"/>
          <p:cNvSpPr>
            <a:spLocks noChangeArrowheads="1"/>
          </p:cNvSpPr>
          <p:nvPr/>
        </p:nvSpPr>
        <p:spPr bwMode="auto">
          <a:xfrm>
            <a:off x="228600" y="903288"/>
            <a:ext cx="1974850" cy="4997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1"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9703" name="Freeform 284"/>
          <p:cNvSpPr>
            <a:spLocks/>
          </p:cNvSpPr>
          <p:nvPr/>
        </p:nvSpPr>
        <p:spPr bwMode="auto">
          <a:xfrm>
            <a:off x="228600" y="903288"/>
            <a:ext cx="2022475" cy="5029200"/>
          </a:xfrm>
          <a:custGeom>
            <a:avLst/>
            <a:gdLst>
              <a:gd name="T0" fmla="*/ 0 w 1274"/>
              <a:gd name="T1" fmla="*/ 2147483647 h 3168"/>
              <a:gd name="T2" fmla="*/ 0 w 1274"/>
              <a:gd name="T3" fmla="*/ 2147483647 h 3168"/>
              <a:gd name="T4" fmla="*/ 0 w 1274"/>
              <a:gd name="T5" fmla="*/ 0 h 3168"/>
              <a:gd name="T6" fmla="*/ 2147483647 w 1274"/>
              <a:gd name="T7" fmla="*/ 0 h 3168"/>
              <a:gd name="T8" fmla="*/ 2147483647 w 1274"/>
              <a:gd name="T9" fmla="*/ 2147483647 h 3168"/>
              <a:gd name="T10" fmla="*/ 0 w 1274"/>
              <a:gd name="T11" fmla="*/ 2147483647 h 31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74" h="3168">
                <a:moveTo>
                  <a:pt x="0" y="3168"/>
                </a:moveTo>
                <a:lnTo>
                  <a:pt x="0" y="1644"/>
                </a:lnTo>
                <a:lnTo>
                  <a:pt x="0" y="0"/>
                </a:lnTo>
                <a:lnTo>
                  <a:pt x="1274" y="0"/>
                </a:lnTo>
                <a:lnTo>
                  <a:pt x="1274" y="3168"/>
                </a:lnTo>
                <a:lnTo>
                  <a:pt x="0" y="3168"/>
                </a:lnTo>
                <a:close/>
              </a:path>
            </a:pathLst>
          </a:custGeom>
          <a:solidFill>
            <a:srgbClr val="EBDFD3"/>
          </a:solidFill>
          <a:ln w="9525">
            <a:noFill/>
            <a:round/>
            <a:headEnd/>
            <a:tailEnd/>
          </a:ln>
          <a:effectLst>
            <a:outerShdw dist="45791" dir="2021404" algn="ctr" rotWithShape="0">
              <a:srgbClr val="808080">
                <a:alpha val="50000"/>
              </a:srgbClr>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Times New Roman" pitchFamily="18" charset="0"/>
              <a:ea typeface="ＭＳ Ｐゴシック"/>
            </a:endParaRPr>
          </a:p>
        </p:txBody>
      </p:sp>
      <p:sp>
        <p:nvSpPr>
          <p:cNvPr id="22536" name="Freeform 181"/>
          <p:cNvSpPr>
            <a:spLocks/>
          </p:cNvSpPr>
          <p:nvPr/>
        </p:nvSpPr>
        <p:spPr bwMode="auto">
          <a:xfrm>
            <a:off x="1087438" y="2084388"/>
            <a:ext cx="946150" cy="595312"/>
          </a:xfrm>
          <a:custGeom>
            <a:avLst/>
            <a:gdLst>
              <a:gd name="T0" fmla="*/ 0 w 596"/>
              <a:gd name="T1" fmla="*/ 0 h 375"/>
              <a:gd name="T2" fmla="*/ 2147483647 w 596"/>
              <a:gd name="T3" fmla="*/ 0 h 375"/>
              <a:gd name="T4" fmla="*/ 2147483647 w 596"/>
              <a:gd name="T5" fmla="*/ 2147483647 h 375"/>
              <a:gd name="T6" fmla="*/ 0 w 596"/>
              <a:gd name="T7" fmla="*/ 2147483647 h 375"/>
              <a:gd name="T8" fmla="*/ 0 w 596"/>
              <a:gd name="T9" fmla="*/ 0 h 375"/>
              <a:gd name="T10" fmla="*/ 0 w 596"/>
              <a:gd name="T11" fmla="*/ 0 h 375"/>
              <a:gd name="T12" fmla="*/ 0 60000 65536"/>
              <a:gd name="T13" fmla="*/ 0 60000 65536"/>
              <a:gd name="T14" fmla="*/ 0 60000 65536"/>
              <a:gd name="T15" fmla="*/ 0 60000 65536"/>
              <a:gd name="T16" fmla="*/ 0 60000 65536"/>
              <a:gd name="T17" fmla="*/ 0 60000 65536"/>
              <a:gd name="T18" fmla="*/ 0 w 596"/>
              <a:gd name="T19" fmla="*/ 0 h 375"/>
              <a:gd name="T20" fmla="*/ 596 w 596"/>
              <a:gd name="T21" fmla="*/ 375 h 375"/>
            </a:gdLst>
            <a:ahLst/>
            <a:cxnLst>
              <a:cxn ang="T12">
                <a:pos x="T0" y="T1"/>
              </a:cxn>
              <a:cxn ang="T13">
                <a:pos x="T2" y="T3"/>
              </a:cxn>
              <a:cxn ang="T14">
                <a:pos x="T4" y="T5"/>
              </a:cxn>
              <a:cxn ang="T15">
                <a:pos x="T6" y="T7"/>
              </a:cxn>
              <a:cxn ang="T16">
                <a:pos x="T8" y="T9"/>
              </a:cxn>
              <a:cxn ang="T17">
                <a:pos x="T10" y="T11"/>
              </a:cxn>
            </a:cxnLst>
            <a:rect l="T18" t="T19" r="T20" b="T21"/>
            <a:pathLst>
              <a:path w="596" h="375">
                <a:moveTo>
                  <a:pt x="0" y="0"/>
                </a:moveTo>
                <a:lnTo>
                  <a:pt x="596" y="0"/>
                </a:lnTo>
                <a:lnTo>
                  <a:pt x="596" y="375"/>
                </a:lnTo>
                <a:lnTo>
                  <a:pt x="0" y="375"/>
                </a:lnTo>
                <a:lnTo>
                  <a:pt x="0" y="0"/>
                </a:lnTo>
                <a:close/>
              </a:path>
            </a:pathLst>
          </a:custGeom>
          <a:solidFill>
            <a:srgbClr val="B0DBB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22537" name="Freeform 182"/>
          <p:cNvSpPr>
            <a:spLocks/>
          </p:cNvSpPr>
          <p:nvPr/>
        </p:nvSpPr>
        <p:spPr bwMode="auto">
          <a:xfrm>
            <a:off x="4322763" y="1500188"/>
            <a:ext cx="963612" cy="596900"/>
          </a:xfrm>
          <a:custGeom>
            <a:avLst/>
            <a:gdLst>
              <a:gd name="T0" fmla="*/ 0 w 607"/>
              <a:gd name="T1" fmla="*/ 0 h 376"/>
              <a:gd name="T2" fmla="*/ 2147483647 w 607"/>
              <a:gd name="T3" fmla="*/ 0 h 376"/>
              <a:gd name="T4" fmla="*/ 2147483647 w 607"/>
              <a:gd name="T5" fmla="*/ 2147483647 h 376"/>
              <a:gd name="T6" fmla="*/ 0 w 607"/>
              <a:gd name="T7" fmla="*/ 2147483647 h 376"/>
              <a:gd name="T8" fmla="*/ 0 w 607"/>
              <a:gd name="T9" fmla="*/ 0 h 376"/>
              <a:gd name="T10" fmla="*/ 0 w 607"/>
              <a:gd name="T11" fmla="*/ 0 h 376"/>
              <a:gd name="T12" fmla="*/ 0 60000 65536"/>
              <a:gd name="T13" fmla="*/ 0 60000 65536"/>
              <a:gd name="T14" fmla="*/ 0 60000 65536"/>
              <a:gd name="T15" fmla="*/ 0 60000 65536"/>
              <a:gd name="T16" fmla="*/ 0 60000 65536"/>
              <a:gd name="T17" fmla="*/ 0 60000 65536"/>
              <a:gd name="T18" fmla="*/ 0 w 607"/>
              <a:gd name="T19" fmla="*/ 0 h 376"/>
              <a:gd name="T20" fmla="*/ 607 w 607"/>
              <a:gd name="T21" fmla="*/ 376 h 376"/>
            </a:gdLst>
            <a:ahLst/>
            <a:cxnLst>
              <a:cxn ang="T12">
                <a:pos x="T0" y="T1"/>
              </a:cxn>
              <a:cxn ang="T13">
                <a:pos x="T2" y="T3"/>
              </a:cxn>
              <a:cxn ang="T14">
                <a:pos x="T4" y="T5"/>
              </a:cxn>
              <a:cxn ang="T15">
                <a:pos x="T6" y="T7"/>
              </a:cxn>
              <a:cxn ang="T16">
                <a:pos x="T8" y="T9"/>
              </a:cxn>
              <a:cxn ang="T17">
                <a:pos x="T10" y="T11"/>
              </a:cxn>
            </a:cxnLst>
            <a:rect l="T18" t="T19" r="T20" b="T21"/>
            <a:pathLst>
              <a:path w="607" h="376">
                <a:moveTo>
                  <a:pt x="0" y="0"/>
                </a:moveTo>
                <a:lnTo>
                  <a:pt x="607" y="0"/>
                </a:lnTo>
                <a:lnTo>
                  <a:pt x="607" y="376"/>
                </a:lnTo>
                <a:lnTo>
                  <a:pt x="0" y="376"/>
                </a:lnTo>
                <a:lnTo>
                  <a:pt x="0" y="0"/>
                </a:lnTo>
                <a:close/>
              </a:path>
            </a:pathLst>
          </a:custGeom>
          <a:solidFill>
            <a:srgbClr val="B0DBB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22538" name="Freeform 183"/>
          <p:cNvSpPr>
            <a:spLocks/>
          </p:cNvSpPr>
          <p:nvPr/>
        </p:nvSpPr>
        <p:spPr bwMode="auto">
          <a:xfrm>
            <a:off x="6850063" y="3402013"/>
            <a:ext cx="1649412" cy="320675"/>
          </a:xfrm>
          <a:custGeom>
            <a:avLst/>
            <a:gdLst>
              <a:gd name="T0" fmla="*/ 0 w 1039"/>
              <a:gd name="T1" fmla="*/ 0 h 202"/>
              <a:gd name="T2" fmla="*/ 2147483647 w 1039"/>
              <a:gd name="T3" fmla="*/ 0 h 202"/>
              <a:gd name="T4" fmla="*/ 2147483647 w 1039"/>
              <a:gd name="T5" fmla="*/ 2147483647 h 202"/>
              <a:gd name="T6" fmla="*/ 0 w 1039"/>
              <a:gd name="T7" fmla="*/ 2147483647 h 202"/>
              <a:gd name="T8" fmla="*/ 0 w 1039"/>
              <a:gd name="T9" fmla="*/ 0 h 202"/>
              <a:gd name="T10" fmla="*/ 0 w 1039"/>
              <a:gd name="T11" fmla="*/ 0 h 202"/>
              <a:gd name="T12" fmla="*/ 0 60000 65536"/>
              <a:gd name="T13" fmla="*/ 0 60000 65536"/>
              <a:gd name="T14" fmla="*/ 0 60000 65536"/>
              <a:gd name="T15" fmla="*/ 0 60000 65536"/>
              <a:gd name="T16" fmla="*/ 0 60000 65536"/>
              <a:gd name="T17" fmla="*/ 0 60000 65536"/>
              <a:gd name="T18" fmla="*/ 0 w 1039"/>
              <a:gd name="T19" fmla="*/ 0 h 202"/>
              <a:gd name="T20" fmla="*/ 1039 w 1039"/>
              <a:gd name="T21" fmla="*/ 202 h 202"/>
            </a:gdLst>
            <a:ahLst/>
            <a:cxnLst>
              <a:cxn ang="T12">
                <a:pos x="T0" y="T1"/>
              </a:cxn>
              <a:cxn ang="T13">
                <a:pos x="T2" y="T3"/>
              </a:cxn>
              <a:cxn ang="T14">
                <a:pos x="T4" y="T5"/>
              </a:cxn>
              <a:cxn ang="T15">
                <a:pos x="T6" y="T7"/>
              </a:cxn>
              <a:cxn ang="T16">
                <a:pos x="T8" y="T9"/>
              </a:cxn>
              <a:cxn ang="T17">
                <a:pos x="T10" y="T11"/>
              </a:cxn>
            </a:cxnLst>
            <a:rect l="T18" t="T19" r="T20" b="T21"/>
            <a:pathLst>
              <a:path w="1039" h="202">
                <a:moveTo>
                  <a:pt x="0" y="0"/>
                </a:moveTo>
                <a:lnTo>
                  <a:pt x="1039" y="0"/>
                </a:lnTo>
                <a:lnTo>
                  <a:pt x="1039" y="202"/>
                </a:lnTo>
                <a:lnTo>
                  <a:pt x="0" y="202"/>
                </a:lnTo>
                <a:lnTo>
                  <a:pt x="0" y="0"/>
                </a:lnTo>
                <a:close/>
              </a:path>
            </a:pathLst>
          </a:custGeom>
          <a:solidFill>
            <a:srgbClr val="B0DBB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22539" name="Freeform 184"/>
          <p:cNvSpPr>
            <a:spLocks/>
          </p:cNvSpPr>
          <p:nvPr/>
        </p:nvSpPr>
        <p:spPr bwMode="auto">
          <a:xfrm>
            <a:off x="3808413" y="3402013"/>
            <a:ext cx="1649412" cy="320675"/>
          </a:xfrm>
          <a:custGeom>
            <a:avLst/>
            <a:gdLst>
              <a:gd name="T0" fmla="*/ 0 w 1039"/>
              <a:gd name="T1" fmla="*/ 0 h 202"/>
              <a:gd name="T2" fmla="*/ 2147483647 w 1039"/>
              <a:gd name="T3" fmla="*/ 0 h 202"/>
              <a:gd name="T4" fmla="*/ 2147483647 w 1039"/>
              <a:gd name="T5" fmla="*/ 2147483647 h 202"/>
              <a:gd name="T6" fmla="*/ 0 w 1039"/>
              <a:gd name="T7" fmla="*/ 2147483647 h 202"/>
              <a:gd name="T8" fmla="*/ 0 w 1039"/>
              <a:gd name="T9" fmla="*/ 0 h 202"/>
              <a:gd name="T10" fmla="*/ 0 w 1039"/>
              <a:gd name="T11" fmla="*/ 0 h 202"/>
              <a:gd name="T12" fmla="*/ 0 60000 65536"/>
              <a:gd name="T13" fmla="*/ 0 60000 65536"/>
              <a:gd name="T14" fmla="*/ 0 60000 65536"/>
              <a:gd name="T15" fmla="*/ 0 60000 65536"/>
              <a:gd name="T16" fmla="*/ 0 60000 65536"/>
              <a:gd name="T17" fmla="*/ 0 60000 65536"/>
              <a:gd name="T18" fmla="*/ 0 w 1039"/>
              <a:gd name="T19" fmla="*/ 0 h 202"/>
              <a:gd name="T20" fmla="*/ 1039 w 1039"/>
              <a:gd name="T21" fmla="*/ 202 h 202"/>
            </a:gdLst>
            <a:ahLst/>
            <a:cxnLst>
              <a:cxn ang="T12">
                <a:pos x="T0" y="T1"/>
              </a:cxn>
              <a:cxn ang="T13">
                <a:pos x="T2" y="T3"/>
              </a:cxn>
              <a:cxn ang="T14">
                <a:pos x="T4" y="T5"/>
              </a:cxn>
              <a:cxn ang="T15">
                <a:pos x="T6" y="T7"/>
              </a:cxn>
              <a:cxn ang="T16">
                <a:pos x="T8" y="T9"/>
              </a:cxn>
              <a:cxn ang="T17">
                <a:pos x="T10" y="T11"/>
              </a:cxn>
            </a:cxnLst>
            <a:rect l="T18" t="T19" r="T20" b="T21"/>
            <a:pathLst>
              <a:path w="1039" h="202">
                <a:moveTo>
                  <a:pt x="0" y="0"/>
                </a:moveTo>
                <a:lnTo>
                  <a:pt x="1039" y="0"/>
                </a:lnTo>
                <a:lnTo>
                  <a:pt x="1039" y="202"/>
                </a:lnTo>
                <a:lnTo>
                  <a:pt x="0" y="202"/>
                </a:lnTo>
                <a:lnTo>
                  <a:pt x="0" y="0"/>
                </a:lnTo>
                <a:close/>
              </a:path>
            </a:pathLst>
          </a:custGeom>
          <a:solidFill>
            <a:srgbClr val="B0DBB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grpSp>
        <p:nvGrpSpPr>
          <p:cNvPr id="22540" name="Group 312"/>
          <p:cNvGrpSpPr>
            <a:grpSpLocks/>
          </p:cNvGrpSpPr>
          <p:nvPr/>
        </p:nvGrpSpPr>
        <p:grpSpPr bwMode="auto">
          <a:xfrm>
            <a:off x="2403475" y="2919413"/>
            <a:ext cx="955675" cy="117475"/>
            <a:chOff x="1600" y="1779"/>
            <a:chExt cx="602" cy="74"/>
          </a:xfrm>
        </p:grpSpPr>
        <p:sp>
          <p:nvSpPr>
            <p:cNvPr id="22665" name="Line 185"/>
            <p:cNvSpPr>
              <a:spLocks noChangeShapeType="1"/>
            </p:cNvSpPr>
            <p:nvPr/>
          </p:nvSpPr>
          <p:spPr bwMode="auto">
            <a:xfrm flipH="1">
              <a:off x="1690" y="1816"/>
              <a:ext cx="512"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22666" name="Freeform 186"/>
            <p:cNvSpPr>
              <a:spLocks/>
            </p:cNvSpPr>
            <p:nvPr/>
          </p:nvSpPr>
          <p:spPr bwMode="auto">
            <a:xfrm>
              <a:off x="1600" y="1779"/>
              <a:ext cx="122" cy="74"/>
            </a:xfrm>
            <a:custGeom>
              <a:avLst/>
              <a:gdLst>
                <a:gd name="T0" fmla="*/ 100 w 122"/>
                <a:gd name="T1" fmla="*/ 37 h 74"/>
                <a:gd name="T2" fmla="*/ 122 w 122"/>
                <a:gd name="T3" fmla="*/ 74 h 74"/>
                <a:gd name="T4" fmla="*/ 122 w 122"/>
                <a:gd name="T5" fmla="*/ 74 h 74"/>
                <a:gd name="T6" fmla="*/ 61 w 122"/>
                <a:gd name="T7" fmla="*/ 51 h 74"/>
                <a:gd name="T8" fmla="*/ 61 w 122"/>
                <a:gd name="T9" fmla="*/ 51 h 74"/>
                <a:gd name="T10" fmla="*/ 0 w 122"/>
                <a:gd name="T11" fmla="*/ 37 h 74"/>
                <a:gd name="T12" fmla="*/ 0 w 122"/>
                <a:gd name="T13" fmla="*/ 37 h 74"/>
                <a:gd name="T14" fmla="*/ 61 w 122"/>
                <a:gd name="T15" fmla="*/ 23 h 74"/>
                <a:gd name="T16" fmla="*/ 122 w 122"/>
                <a:gd name="T17" fmla="*/ 0 h 74"/>
                <a:gd name="T18" fmla="*/ 122 w 122"/>
                <a:gd name="T19" fmla="*/ 0 h 74"/>
                <a:gd name="T20" fmla="*/ 100 w 122"/>
                <a:gd name="T21" fmla="*/ 37 h 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2"/>
                <a:gd name="T34" fmla="*/ 0 h 74"/>
                <a:gd name="T35" fmla="*/ 122 w 122"/>
                <a:gd name="T36" fmla="*/ 74 h 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2" h="74">
                  <a:moveTo>
                    <a:pt x="100" y="37"/>
                  </a:moveTo>
                  <a:lnTo>
                    <a:pt x="122" y="74"/>
                  </a:lnTo>
                  <a:lnTo>
                    <a:pt x="61" y="51"/>
                  </a:lnTo>
                  <a:lnTo>
                    <a:pt x="0" y="37"/>
                  </a:lnTo>
                  <a:lnTo>
                    <a:pt x="61" y="23"/>
                  </a:lnTo>
                  <a:lnTo>
                    <a:pt x="122" y="0"/>
                  </a:lnTo>
                  <a:lnTo>
                    <a:pt x="10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grpSp>
      <p:grpSp>
        <p:nvGrpSpPr>
          <p:cNvPr id="22541" name="Group 314"/>
          <p:cNvGrpSpPr>
            <a:grpSpLocks/>
          </p:cNvGrpSpPr>
          <p:nvPr/>
        </p:nvGrpSpPr>
        <p:grpSpPr bwMode="auto">
          <a:xfrm>
            <a:off x="5659438" y="2919413"/>
            <a:ext cx="946150" cy="117475"/>
            <a:chOff x="3663" y="1779"/>
            <a:chExt cx="596" cy="74"/>
          </a:xfrm>
        </p:grpSpPr>
        <p:sp>
          <p:nvSpPr>
            <p:cNvPr id="22663" name="Line 187"/>
            <p:cNvSpPr>
              <a:spLocks noChangeShapeType="1"/>
            </p:cNvSpPr>
            <p:nvPr/>
          </p:nvSpPr>
          <p:spPr bwMode="auto">
            <a:xfrm>
              <a:off x="3663" y="1816"/>
              <a:ext cx="504" cy="1"/>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22664" name="Freeform 188"/>
            <p:cNvSpPr>
              <a:spLocks/>
            </p:cNvSpPr>
            <p:nvPr/>
          </p:nvSpPr>
          <p:spPr bwMode="auto">
            <a:xfrm>
              <a:off x="4134" y="1779"/>
              <a:ext cx="125" cy="74"/>
            </a:xfrm>
            <a:custGeom>
              <a:avLst/>
              <a:gdLst>
                <a:gd name="T0" fmla="*/ 23 w 125"/>
                <a:gd name="T1" fmla="*/ 37 h 74"/>
                <a:gd name="T2" fmla="*/ 0 w 125"/>
                <a:gd name="T3" fmla="*/ 0 h 74"/>
                <a:gd name="T4" fmla="*/ 2 w 125"/>
                <a:gd name="T5" fmla="*/ 0 h 74"/>
                <a:gd name="T6" fmla="*/ 62 w 125"/>
                <a:gd name="T7" fmla="*/ 23 h 74"/>
                <a:gd name="T8" fmla="*/ 62 w 125"/>
                <a:gd name="T9" fmla="*/ 23 h 74"/>
                <a:gd name="T10" fmla="*/ 125 w 125"/>
                <a:gd name="T11" fmla="*/ 37 h 74"/>
                <a:gd name="T12" fmla="*/ 125 w 125"/>
                <a:gd name="T13" fmla="*/ 37 h 74"/>
                <a:gd name="T14" fmla="*/ 62 w 125"/>
                <a:gd name="T15" fmla="*/ 51 h 74"/>
                <a:gd name="T16" fmla="*/ 2 w 125"/>
                <a:gd name="T17" fmla="*/ 74 h 74"/>
                <a:gd name="T18" fmla="*/ 0 w 125"/>
                <a:gd name="T19" fmla="*/ 74 h 74"/>
                <a:gd name="T20" fmla="*/ 23 w 125"/>
                <a:gd name="T21" fmla="*/ 37 h 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5"/>
                <a:gd name="T34" fmla="*/ 0 h 74"/>
                <a:gd name="T35" fmla="*/ 125 w 125"/>
                <a:gd name="T36" fmla="*/ 74 h 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5" h="74">
                  <a:moveTo>
                    <a:pt x="23" y="37"/>
                  </a:moveTo>
                  <a:lnTo>
                    <a:pt x="0" y="0"/>
                  </a:lnTo>
                  <a:lnTo>
                    <a:pt x="2" y="0"/>
                  </a:lnTo>
                  <a:lnTo>
                    <a:pt x="62" y="23"/>
                  </a:lnTo>
                  <a:lnTo>
                    <a:pt x="125" y="37"/>
                  </a:lnTo>
                  <a:lnTo>
                    <a:pt x="62" y="51"/>
                  </a:lnTo>
                  <a:lnTo>
                    <a:pt x="2" y="74"/>
                  </a:lnTo>
                  <a:lnTo>
                    <a:pt x="0" y="74"/>
                  </a:lnTo>
                  <a:lnTo>
                    <a:pt x="23"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grpSp>
      <p:sp>
        <p:nvSpPr>
          <p:cNvPr id="22542" name="Rectangle 193"/>
          <p:cNvSpPr>
            <a:spLocks noChangeArrowheads="1"/>
          </p:cNvSpPr>
          <p:nvPr/>
        </p:nvSpPr>
        <p:spPr bwMode="auto">
          <a:xfrm>
            <a:off x="720725" y="5456238"/>
            <a:ext cx="1073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Fructose</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43" name="Rectangle 194"/>
          <p:cNvSpPr>
            <a:spLocks noChangeArrowheads="1"/>
          </p:cNvSpPr>
          <p:nvPr/>
        </p:nvSpPr>
        <p:spPr bwMode="auto">
          <a:xfrm>
            <a:off x="4064000" y="5456238"/>
            <a:ext cx="1001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Glucose</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44" name="Rectangle 195"/>
          <p:cNvSpPr>
            <a:spLocks noChangeArrowheads="1"/>
          </p:cNvSpPr>
          <p:nvPr/>
        </p:nvSpPr>
        <p:spPr bwMode="auto">
          <a:xfrm>
            <a:off x="7235825" y="5456238"/>
            <a:ext cx="1212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Galactose</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45" name="Rectangle 196"/>
          <p:cNvSpPr>
            <a:spLocks noChangeArrowheads="1"/>
          </p:cNvSpPr>
          <p:nvPr/>
        </p:nvSpPr>
        <p:spPr bwMode="auto">
          <a:xfrm>
            <a:off x="592138" y="16621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46" name="Rectangle 197"/>
          <p:cNvSpPr>
            <a:spLocks noChangeArrowheads="1"/>
          </p:cNvSpPr>
          <p:nvPr/>
        </p:nvSpPr>
        <p:spPr bwMode="auto">
          <a:xfrm>
            <a:off x="1728788" y="166211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OH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47" name="Rectangle 198"/>
          <p:cNvSpPr>
            <a:spLocks noChangeArrowheads="1"/>
          </p:cNvSpPr>
          <p:nvPr/>
        </p:nvSpPr>
        <p:spPr bwMode="auto">
          <a:xfrm>
            <a:off x="1728788" y="2228850"/>
            <a:ext cx="196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O</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48" name="Rectangle 199"/>
          <p:cNvSpPr>
            <a:spLocks noChangeArrowheads="1"/>
          </p:cNvSpPr>
          <p:nvPr/>
        </p:nvSpPr>
        <p:spPr bwMode="auto">
          <a:xfrm>
            <a:off x="1171575" y="16621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49" name="Rectangle 200"/>
          <p:cNvSpPr>
            <a:spLocks noChangeArrowheads="1"/>
          </p:cNvSpPr>
          <p:nvPr/>
        </p:nvSpPr>
        <p:spPr bwMode="auto">
          <a:xfrm>
            <a:off x="1274763" y="1357313"/>
            <a:ext cx="15875" cy="3048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50" name="Rectangle 201"/>
          <p:cNvSpPr>
            <a:spLocks noChangeArrowheads="1"/>
          </p:cNvSpPr>
          <p:nvPr/>
        </p:nvSpPr>
        <p:spPr bwMode="auto">
          <a:xfrm>
            <a:off x="1274763" y="1947863"/>
            <a:ext cx="15875" cy="3048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51" name="Rectangle 202"/>
          <p:cNvSpPr>
            <a:spLocks noChangeArrowheads="1"/>
          </p:cNvSpPr>
          <p:nvPr/>
        </p:nvSpPr>
        <p:spPr bwMode="auto">
          <a:xfrm>
            <a:off x="1158875" y="225266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52" name="Rectangle 203"/>
          <p:cNvSpPr>
            <a:spLocks noChangeArrowheads="1"/>
          </p:cNvSpPr>
          <p:nvPr/>
        </p:nvSpPr>
        <p:spPr bwMode="auto">
          <a:xfrm>
            <a:off x="1274763" y="2536825"/>
            <a:ext cx="15875" cy="3016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53" name="Rectangle 204"/>
          <p:cNvSpPr>
            <a:spLocks noChangeArrowheads="1"/>
          </p:cNvSpPr>
          <p:nvPr/>
        </p:nvSpPr>
        <p:spPr bwMode="auto">
          <a:xfrm>
            <a:off x="1158875" y="28352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54" name="Rectangle 205"/>
          <p:cNvSpPr>
            <a:spLocks noChangeArrowheads="1"/>
          </p:cNvSpPr>
          <p:nvPr/>
        </p:nvSpPr>
        <p:spPr bwMode="auto">
          <a:xfrm>
            <a:off x="1274763" y="3121025"/>
            <a:ext cx="15875" cy="3016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55" name="Rectangle 206"/>
          <p:cNvSpPr>
            <a:spLocks noChangeArrowheads="1"/>
          </p:cNvSpPr>
          <p:nvPr/>
        </p:nvSpPr>
        <p:spPr bwMode="auto">
          <a:xfrm>
            <a:off x="1158875" y="342582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56" name="Rectangle 207"/>
          <p:cNvSpPr>
            <a:spLocks noChangeArrowheads="1"/>
          </p:cNvSpPr>
          <p:nvPr/>
        </p:nvSpPr>
        <p:spPr bwMode="auto">
          <a:xfrm>
            <a:off x="1274763" y="3706813"/>
            <a:ext cx="15875" cy="3048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57" name="Rectangle 208"/>
          <p:cNvSpPr>
            <a:spLocks noChangeArrowheads="1"/>
          </p:cNvSpPr>
          <p:nvPr/>
        </p:nvSpPr>
        <p:spPr bwMode="auto">
          <a:xfrm>
            <a:off x="1158875" y="4008438"/>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58" name="Rectangle 209"/>
          <p:cNvSpPr>
            <a:spLocks noChangeArrowheads="1"/>
          </p:cNvSpPr>
          <p:nvPr/>
        </p:nvSpPr>
        <p:spPr bwMode="auto">
          <a:xfrm>
            <a:off x="1274763" y="4289425"/>
            <a:ext cx="15875" cy="3048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59" name="Rectangle 210"/>
          <p:cNvSpPr>
            <a:spLocks noChangeArrowheads="1"/>
          </p:cNvSpPr>
          <p:nvPr/>
        </p:nvSpPr>
        <p:spPr bwMode="auto">
          <a:xfrm>
            <a:off x="1158875" y="459422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60" name="Rectangle 211"/>
          <p:cNvSpPr>
            <a:spLocks noChangeArrowheads="1"/>
          </p:cNvSpPr>
          <p:nvPr/>
        </p:nvSpPr>
        <p:spPr bwMode="auto">
          <a:xfrm>
            <a:off x="1274763" y="4879975"/>
            <a:ext cx="15875" cy="3048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61" name="Rectangle 212"/>
          <p:cNvSpPr>
            <a:spLocks noChangeArrowheads="1"/>
          </p:cNvSpPr>
          <p:nvPr/>
        </p:nvSpPr>
        <p:spPr bwMode="auto">
          <a:xfrm>
            <a:off x="1187450" y="10826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62" name="Rectangle 213"/>
          <p:cNvSpPr>
            <a:spLocks noChangeArrowheads="1"/>
          </p:cNvSpPr>
          <p:nvPr/>
        </p:nvSpPr>
        <p:spPr bwMode="auto">
          <a:xfrm>
            <a:off x="1187450" y="5164138"/>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63" name="Rectangle 214"/>
          <p:cNvSpPr>
            <a:spLocks noChangeArrowheads="1"/>
          </p:cNvSpPr>
          <p:nvPr/>
        </p:nvSpPr>
        <p:spPr bwMode="auto">
          <a:xfrm>
            <a:off x="828675" y="1792288"/>
            <a:ext cx="300038" cy="158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64" name="Rectangle 215"/>
          <p:cNvSpPr>
            <a:spLocks noChangeArrowheads="1"/>
          </p:cNvSpPr>
          <p:nvPr/>
        </p:nvSpPr>
        <p:spPr bwMode="auto">
          <a:xfrm>
            <a:off x="1389063" y="1792288"/>
            <a:ext cx="304800" cy="158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65" name="Rectangle 216"/>
          <p:cNvSpPr>
            <a:spLocks noChangeArrowheads="1"/>
          </p:cNvSpPr>
          <p:nvPr/>
        </p:nvSpPr>
        <p:spPr bwMode="auto">
          <a:xfrm>
            <a:off x="374650" y="2822575"/>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HO</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66" name="Rectangle 217"/>
          <p:cNvSpPr>
            <a:spLocks noChangeArrowheads="1"/>
          </p:cNvSpPr>
          <p:nvPr/>
        </p:nvSpPr>
        <p:spPr bwMode="auto">
          <a:xfrm>
            <a:off x="828675" y="2949575"/>
            <a:ext cx="300038"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67" name="Rectangle 218"/>
          <p:cNvSpPr>
            <a:spLocks noChangeArrowheads="1"/>
          </p:cNvSpPr>
          <p:nvPr/>
        </p:nvSpPr>
        <p:spPr bwMode="auto">
          <a:xfrm>
            <a:off x="1728788" y="28225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68" name="Rectangle 219"/>
          <p:cNvSpPr>
            <a:spLocks noChangeArrowheads="1"/>
          </p:cNvSpPr>
          <p:nvPr/>
        </p:nvSpPr>
        <p:spPr bwMode="auto">
          <a:xfrm>
            <a:off x="1389063" y="2949575"/>
            <a:ext cx="30480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69" name="Rectangle 220"/>
          <p:cNvSpPr>
            <a:spLocks noChangeArrowheads="1"/>
          </p:cNvSpPr>
          <p:nvPr/>
        </p:nvSpPr>
        <p:spPr bwMode="auto">
          <a:xfrm>
            <a:off x="592138" y="342106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70" name="Rectangle 221"/>
          <p:cNvSpPr>
            <a:spLocks noChangeArrowheads="1"/>
          </p:cNvSpPr>
          <p:nvPr/>
        </p:nvSpPr>
        <p:spPr bwMode="auto">
          <a:xfrm>
            <a:off x="828675" y="3548063"/>
            <a:ext cx="300038"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71" name="Rectangle 222"/>
          <p:cNvSpPr>
            <a:spLocks noChangeArrowheads="1"/>
          </p:cNvSpPr>
          <p:nvPr/>
        </p:nvSpPr>
        <p:spPr bwMode="auto">
          <a:xfrm>
            <a:off x="1728788" y="342106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OH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72" name="Rectangle 223"/>
          <p:cNvSpPr>
            <a:spLocks noChangeArrowheads="1"/>
          </p:cNvSpPr>
          <p:nvPr/>
        </p:nvSpPr>
        <p:spPr bwMode="auto">
          <a:xfrm>
            <a:off x="1389063" y="3548063"/>
            <a:ext cx="30480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73" name="Rectangle 224"/>
          <p:cNvSpPr>
            <a:spLocks noChangeArrowheads="1"/>
          </p:cNvSpPr>
          <p:nvPr/>
        </p:nvSpPr>
        <p:spPr bwMode="auto">
          <a:xfrm>
            <a:off x="592138" y="400526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74" name="Rectangle 225"/>
          <p:cNvSpPr>
            <a:spLocks noChangeArrowheads="1"/>
          </p:cNvSpPr>
          <p:nvPr/>
        </p:nvSpPr>
        <p:spPr bwMode="auto">
          <a:xfrm>
            <a:off x="828675" y="4130675"/>
            <a:ext cx="300038"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75" name="Rectangle 226"/>
          <p:cNvSpPr>
            <a:spLocks noChangeArrowheads="1"/>
          </p:cNvSpPr>
          <p:nvPr/>
        </p:nvSpPr>
        <p:spPr bwMode="auto">
          <a:xfrm>
            <a:off x="1728788" y="400526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OH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76" name="Rectangle 227"/>
          <p:cNvSpPr>
            <a:spLocks noChangeArrowheads="1"/>
          </p:cNvSpPr>
          <p:nvPr/>
        </p:nvSpPr>
        <p:spPr bwMode="auto">
          <a:xfrm>
            <a:off x="1389063" y="4130675"/>
            <a:ext cx="304800"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77" name="Rectangle 228"/>
          <p:cNvSpPr>
            <a:spLocks noChangeArrowheads="1"/>
          </p:cNvSpPr>
          <p:nvPr/>
        </p:nvSpPr>
        <p:spPr bwMode="auto">
          <a:xfrm>
            <a:off x="592138" y="459422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78" name="Rectangle 229"/>
          <p:cNvSpPr>
            <a:spLocks noChangeArrowheads="1"/>
          </p:cNvSpPr>
          <p:nvPr/>
        </p:nvSpPr>
        <p:spPr bwMode="auto">
          <a:xfrm>
            <a:off x="828675" y="4724400"/>
            <a:ext cx="300038" cy="158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79" name="Rectangle 230"/>
          <p:cNvSpPr>
            <a:spLocks noChangeArrowheads="1"/>
          </p:cNvSpPr>
          <p:nvPr/>
        </p:nvSpPr>
        <p:spPr bwMode="auto">
          <a:xfrm>
            <a:off x="1728788" y="4594225"/>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OH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80" name="Rectangle 231"/>
          <p:cNvSpPr>
            <a:spLocks noChangeArrowheads="1"/>
          </p:cNvSpPr>
          <p:nvPr/>
        </p:nvSpPr>
        <p:spPr bwMode="auto">
          <a:xfrm>
            <a:off x="1389063" y="4724400"/>
            <a:ext cx="304800" cy="158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81" name="Rectangle 232"/>
          <p:cNvSpPr>
            <a:spLocks noChangeArrowheads="1"/>
          </p:cNvSpPr>
          <p:nvPr/>
        </p:nvSpPr>
        <p:spPr bwMode="auto">
          <a:xfrm>
            <a:off x="1389063" y="2343150"/>
            <a:ext cx="304800" cy="158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82" name="Rectangle 233"/>
          <p:cNvSpPr>
            <a:spLocks noChangeArrowheads="1"/>
          </p:cNvSpPr>
          <p:nvPr/>
        </p:nvSpPr>
        <p:spPr bwMode="auto">
          <a:xfrm>
            <a:off x="1389063" y="2398713"/>
            <a:ext cx="30480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83" name="Rectangle 234"/>
          <p:cNvSpPr>
            <a:spLocks noChangeArrowheads="1"/>
          </p:cNvSpPr>
          <p:nvPr/>
        </p:nvSpPr>
        <p:spPr bwMode="auto">
          <a:xfrm>
            <a:off x="3836988" y="22590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84" name="Rectangle 235"/>
          <p:cNvSpPr>
            <a:spLocks noChangeArrowheads="1"/>
          </p:cNvSpPr>
          <p:nvPr/>
        </p:nvSpPr>
        <p:spPr bwMode="auto">
          <a:xfrm>
            <a:off x="4981575" y="1662113"/>
            <a:ext cx="196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O</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85" name="Rectangle 236"/>
          <p:cNvSpPr>
            <a:spLocks noChangeArrowheads="1"/>
          </p:cNvSpPr>
          <p:nvPr/>
        </p:nvSpPr>
        <p:spPr bwMode="auto">
          <a:xfrm>
            <a:off x="4408488" y="16621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86" name="Rectangle 237"/>
          <p:cNvSpPr>
            <a:spLocks noChangeArrowheads="1"/>
          </p:cNvSpPr>
          <p:nvPr/>
        </p:nvSpPr>
        <p:spPr bwMode="auto">
          <a:xfrm>
            <a:off x="4524375" y="1357313"/>
            <a:ext cx="15875" cy="3048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87" name="Rectangle 238"/>
          <p:cNvSpPr>
            <a:spLocks noChangeArrowheads="1"/>
          </p:cNvSpPr>
          <p:nvPr/>
        </p:nvSpPr>
        <p:spPr bwMode="auto">
          <a:xfrm>
            <a:off x="4524375" y="1947863"/>
            <a:ext cx="15875" cy="3048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88" name="Rectangle 239"/>
          <p:cNvSpPr>
            <a:spLocks noChangeArrowheads="1"/>
          </p:cNvSpPr>
          <p:nvPr/>
        </p:nvSpPr>
        <p:spPr bwMode="auto">
          <a:xfrm>
            <a:off x="4408488" y="22590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89" name="Rectangle 240"/>
          <p:cNvSpPr>
            <a:spLocks noChangeArrowheads="1"/>
          </p:cNvSpPr>
          <p:nvPr/>
        </p:nvSpPr>
        <p:spPr bwMode="auto">
          <a:xfrm>
            <a:off x="4524375" y="2536825"/>
            <a:ext cx="15875" cy="3016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90" name="Rectangle 241"/>
          <p:cNvSpPr>
            <a:spLocks noChangeArrowheads="1"/>
          </p:cNvSpPr>
          <p:nvPr/>
        </p:nvSpPr>
        <p:spPr bwMode="auto">
          <a:xfrm>
            <a:off x="4408488" y="28352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91" name="Rectangle 242"/>
          <p:cNvSpPr>
            <a:spLocks noChangeArrowheads="1"/>
          </p:cNvSpPr>
          <p:nvPr/>
        </p:nvSpPr>
        <p:spPr bwMode="auto">
          <a:xfrm>
            <a:off x="4524375" y="3121025"/>
            <a:ext cx="15875" cy="3016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92" name="Rectangle 243"/>
          <p:cNvSpPr>
            <a:spLocks noChangeArrowheads="1"/>
          </p:cNvSpPr>
          <p:nvPr/>
        </p:nvSpPr>
        <p:spPr bwMode="auto">
          <a:xfrm>
            <a:off x="4524375" y="3706813"/>
            <a:ext cx="15875" cy="3048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93" name="Rectangle 244"/>
          <p:cNvSpPr>
            <a:spLocks noChangeArrowheads="1"/>
          </p:cNvSpPr>
          <p:nvPr/>
        </p:nvSpPr>
        <p:spPr bwMode="auto">
          <a:xfrm>
            <a:off x="4408488" y="4008438"/>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94" name="Rectangle 245"/>
          <p:cNvSpPr>
            <a:spLocks noChangeArrowheads="1"/>
          </p:cNvSpPr>
          <p:nvPr/>
        </p:nvSpPr>
        <p:spPr bwMode="auto">
          <a:xfrm>
            <a:off x="4524375" y="4289425"/>
            <a:ext cx="15875" cy="3048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95" name="Rectangle 246"/>
          <p:cNvSpPr>
            <a:spLocks noChangeArrowheads="1"/>
          </p:cNvSpPr>
          <p:nvPr/>
        </p:nvSpPr>
        <p:spPr bwMode="auto">
          <a:xfrm>
            <a:off x="4408488" y="459422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96" name="Rectangle 247"/>
          <p:cNvSpPr>
            <a:spLocks noChangeArrowheads="1"/>
          </p:cNvSpPr>
          <p:nvPr/>
        </p:nvSpPr>
        <p:spPr bwMode="auto">
          <a:xfrm>
            <a:off x="4524375" y="4879975"/>
            <a:ext cx="15875" cy="3048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597" name="Rectangle 248"/>
          <p:cNvSpPr>
            <a:spLocks noChangeArrowheads="1"/>
          </p:cNvSpPr>
          <p:nvPr/>
        </p:nvSpPr>
        <p:spPr bwMode="auto">
          <a:xfrm>
            <a:off x="4440238" y="10826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98" name="Rectangle 249"/>
          <p:cNvSpPr>
            <a:spLocks noChangeArrowheads="1"/>
          </p:cNvSpPr>
          <p:nvPr/>
        </p:nvSpPr>
        <p:spPr bwMode="auto">
          <a:xfrm>
            <a:off x="4440238" y="5164138"/>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599" name="Rectangle 250"/>
          <p:cNvSpPr>
            <a:spLocks noChangeArrowheads="1"/>
          </p:cNvSpPr>
          <p:nvPr/>
        </p:nvSpPr>
        <p:spPr bwMode="auto">
          <a:xfrm>
            <a:off x="4076700" y="2395538"/>
            <a:ext cx="30480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00" name="Rectangle 251"/>
          <p:cNvSpPr>
            <a:spLocks noChangeArrowheads="1"/>
          </p:cNvSpPr>
          <p:nvPr/>
        </p:nvSpPr>
        <p:spPr bwMode="auto">
          <a:xfrm>
            <a:off x="3624263" y="2822575"/>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HO</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01" name="Rectangle 252"/>
          <p:cNvSpPr>
            <a:spLocks noChangeArrowheads="1"/>
          </p:cNvSpPr>
          <p:nvPr/>
        </p:nvSpPr>
        <p:spPr bwMode="auto">
          <a:xfrm>
            <a:off x="4076700" y="2949575"/>
            <a:ext cx="30480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02" name="Rectangle 253"/>
          <p:cNvSpPr>
            <a:spLocks noChangeArrowheads="1"/>
          </p:cNvSpPr>
          <p:nvPr/>
        </p:nvSpPr>
        <p:spPr bwMode="auto">
          <a:xfrm>
            <a:off x="4981575" y="28225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03" name="Rectangle 254"/>
          <p:cNvSpPr>
            <a:spLocks noChangeArrowheads="1"/>
          </p:cNvSpPr>
          <p:nvPr/>
        </p:nvSpPr>
        <p:spPr bwMode="auto">
          <a:xfrm>
            <a:off x="4640263" y="2949575"/>
            <a:ext cx="30162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04" name="Rectangle 255"/>
          <p:cNvSpPr>
            <a:spLocks noChangeArrowheads="1"/>
          </p:cNvSpPr>
          <p:nvPr/>
        </p:nvSpPr>
        <p:spPr bwMode="auto">
          <a:xfrm>
            <a:off x="4981575" y="225901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OH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05" name="Rectangle 256"/>
          <p:cNvSpPr>
            <a:spLocks noChangeArrowheads="1"/>
          </p:cNvSpPr>
          <p:nvPr/>
        </p:nvSpPr>
        <p:spPr bwMode="auto">
          <a:xfrm>
            <a:off x="3836988" y="400526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06" name="Rectangle 257"/>
          <p:cNvSpPr>
            <a:spLocks noChangeArrowheads="1"/>
          </p:cNvSpPr>
          <p:nvPr/>
        </p:nvSpPr>
        <p:spPr bwMode="auto">
          <a:xfrm>
            <a:off x="4076700" y="4130675"/>
            <a:ext cx="304800"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07" name="Rectangle 258"/>
          <p:cNvSpPr>
            <a:spLocks noChangeArrowheads="1"/>
          </p:cNvSpPr>
          <p:nvPr/>
        </p:nvSpPr>
        <p:spPr bwMode="auto">
          <a:xfrm>
            <a:off x="4981575" y="400526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OH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08" name="Rectangle 259"/>
          <p:cNvSpPr>
            <a:spLocks noChangeArrowheads="1"/>
          </p:cNvSpPr>
          <p:nvPr/>
        </p:nvSpPr>
        <p:spPr bwMode="auto">
          <a:xfrm>
            <a:off x="4640263" y="4130675"/>
            <a:ext cx="301625"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09" name="Rectangle 260"/>
          <p:cNvSpPr>
            <a:spLocks noChangeArrowheads="1"/>
          </p:cNvSpPr>
          <p:nvPr/>
        </p:nvSpPr>
        <p:spPr bwMode="auto">
          <a:xfrm>
            <a:off x="3836988" y="459422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10" name="Rectangle 261"/>
          <p:cNvSpPr>
            <a:spLocks noChangeArrowheads="1"/>
          </p:cNvSpPr>
          <p:nvPr/>
        </p:nvSpPr>
        <p:spPr bwMode="auto">
          <a:xfrm>
            <a:off x="4076700" y="4724400"/>
            <a:ext cx="304800" cy="158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11" name="Rectangle 262"/>
          <p:cNvSpPr>
            <a:spLocks noChangeArrowheads="1"/>
          </p:cNvSpPr>
          <p:nvPr/>
        </p:nvSpPr>
        <p:spPr bwMode="auto">
          <a:xfrm>
            <a:off x="4981575" y="4594225"/>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OH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12" name="Rectangle 263"/>
          <p:cNvSpPr>
            <a:spLocks noChangeArrowheads="1"/>
          </p:cNvSpPr>
          <p:nvPr/>
        </p:nvSpPr>
        <p:spPr bwMode="auto">
          <a:xfrm>
            <a:off x="4640263" y="4724400"/>
            <a:ext cx="301625" cy="158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13" name="Rectangle 264"/>
          <p:cNvSpPr>
            <a:spLocks noChangeArrowheads="1"/>
          </p:cNvSpPr>
          <p:nvPr/>
        </p:nvSpPr>
        <p:spPr bwMode="auto">
          <a:xfrm>
            <a:off x="4640263" y="2395538"/>
            <a:ext cx="30162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14" name="Rectangle 265"/>
          <p:cNvSpPr>
            <a:spLocks noChangeArrowheads="1"/>
          </p:cNvSpPr>
          <p:nvPr/>
        </p:nvSpPr>
        <p:spPr bwMode="auto">
          <a:xfrm>
            <a:off x="4640263" y="1760538"/>
            <a:ext cx="301625" cy="158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15" name="Rectangle 266"/>
          <p:cNvSpPr>
            <a:spLocks noChangeArrowheads="1"/>
          </p:cNvSpPr>
          <p:nvPr/>
        </p:nvSpPr>
        <p:spPr bwMode="auto">
          <a:xfrm>
            <a:off x="4640263" y="1814513"/>
            <a:ext cx="30162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16" name="Rectangle 267"/>
          <p:cNvSpPr>
            <a:spLocks noChangeArrowheads="1"/>
          </p:cNvSpPr>
          <p:nvPr/>
        </p:nvSpPr>
        <p:spPr bwMode="auto">
          <a:xfrm>
            <a:off x="8229600" y="1655763"/>
            <a:ext cx="196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O</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17" name="Rectangle 268"/>
          <p:cNvSpPr>
            <a:spLocks noChangeArrowheads="1"/>
          </p:cNvSpPr>
          <p:nvPr/>
        </p:nvSpPr>
        <p:spPr bwMode="auto">
          <a:xfrm>
            <a:off x="7656513" y="165576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18" name="Rectangle 269"/>
          <p:cNvSpPr>
            <a:spLocks noChangeArrowheads="1"/>
          </p:cNvSpPr>
          <p:nvPr/>
        </p:nvSpPr>
        <p:spPr bwMode="auto">
          <a:xfrm>
            <a:off x="7773988" y="1350963"/>
            <a:ext cx="15875" cy="3048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19" name="Rectangle 270"/>
          <p:cNvSpPr>
            <a:spLocks noChangeArrowheads="1"/>
          </p:cNvSpPr>
          <p:nvPr/>
        </p:nvSpPr>
        <p:spPr bwMode="auto">
          <a:xfrm>
            <a:off x="7773988" y="1941513"/>
            <a:ext cx="15875" cy="3016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20" name="Rectangle 271"/>
          <p:cNvSpPr>
            <a:spLocks noChangeArrowheads="1"/>
          </p:cNvSpPr>
          <p:nvPr/>
        </p:nvSpPr>
        <p:spPr bwMode="auto">
          <a:xfrm>
            <a:off x="7656513" y="2249488"/>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21" name="Rectangle 272"/>
          <p:cNvSpPr>
            <a:spLocks noChangeArrowheads="1"/>
          </p:cNvSpPr>
          <p:nvPr/>
        </p:nvSpPr>
        <p:spPr bwMode="auto">
          <a:xfrm>
            <a:off x="7773988" y="2527300"/>
            <a:ext cx="15875" cy="3048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22" name="Rectangle 273"/>
          <p:cNvSpPr>
            <a:spLocks noChangeArrowheads="1"/>
          </p:cNvSpPr>
          <p:nvPr/>
        </p:nvSpPr>
        <p:spPr bwMode="auto">
          <a:xfrm>
            <a:off x="7656513" y="282892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23" name="Rectangle 274"/>
          <p:cNvSpPr>
            <a:spLocks noChangeArrowheads="1"/>
          </p:cNvSpPr>
          <p:nvPr/>
        </p:nvSpPr>
        <p:spPr bwMode="auto">
          <a:xfrm>
            <a:off x="7773988" y="3111500"/>
            <a:ext cx="15875" cy="3032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24" name="Rectangle 275"/>
          <p:cNvSpPr>
            <a:spLocks noChangeArrowheads="1"/>
          </p:cNvSpPr>
          <p:nvPr/>
        </p:nvSpPr>
        <p:spPr bwMode="auto">
          <a:xfrm>
            <a:off x="7656513" y="34147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25" name="Rectangle 276"/>
          <p:cNvSpPr>
            <a:spLocks noChangeArrowheads="1"/>
          </p:cNvSpPr>
          <p:nvPr/>
        </p:nvSpPr>
        <p:spPr bwMode="auto">
          <a:xfrm>
            <a:off x="7773988" y="3700463"/>
            <a:ext cx="15875" cy="3048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26" name="Rectangle 277"/>
          <p:cNvSpPr>
            <a:spLocks noChangeArrowheads="1"/>
          </p:cNvSpPr>
          <p:nvPr/>
        </p:nvSpPr>
        <p:spPr bwMode="auto">
          <a:xfrm>
            <a:off x="7656513" y="39989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27" name="Rectangle 278"/>
          <p:cNvSpPr>
            <a:spLocks noChangeArrowheads="1"/>
          </p:cNvSpPr>
          <p:nvPr/>
        </p:nvSpPr>
        <p:spPr bwMode="auto">
          <a:xfrm>
            <a:off x="7773988" y="4283075"/>
            <a:ext cx="15875" cy="3048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28" name="Rectangle 279"/>
          <p:cNvSpPr>
            <a:spLocks noChangeArrowheads="1"/>
          </p:cNvSpPr>
          <p:nvPr/>
        </p:nvSpPr>
        <p:spPr bwMode="auto">
          <a:xfrm>
            <a:off x="7656513" y="45878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29" name="Rectangle 280"/>
          <p:cNvSpPr>
            <a:spLocks noChangeArrowheads="1"/>
          </p:cNvSpPr>
          <p:nvPr/>
        </p:nvSpPr>
        <p:spPr bwMode="auto">
          <a:xfrm>
            <a:off x="7773988" y="4873625"/>
            <a:ext cx="15875" cy="3016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30" name="Rectangle 281"/>
          <p:cNvSpPr>
            <a:spLocks noChangeArrowheads="1"/>
          </p:cNvSpPr>
          <p:nvPr/>
        </p:nvSpPr>
        <p:spPr bwMode="auto">
          <a:xfrm>
            <a:off x="7688263" y="107632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31" name="Rectangle 282"/>
          <p:cNvSpPr>
            <a:spLocks noChangeArrowheads="1"/>
          </p:cNvSpPr>
          <p:nvPr/>
        </p:nvSpPr>
        <p:spPr bwMode="auto">
          <a:xfrm>
            <a:off x="7688263" y="5157788"/>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32" name="Rectangle 283"/>
          <p:cNvSpPr>
            <a:spLocks noChangeArrowheads="1"/>
          </p:cNvSpPr>
          <p:nvPr/>
        </p:nvSpPr>
        <p:spPr bwMode="auto">
          <a:xfrm>
            <a:off x="7086600" y="2249488"/>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33" name="Rectangle 284"/>
          <p:cNvSpPr>
            <a:spLocks noChangeArrowheads="1"/>
          </p:cNvSpPr>
          <p:nvPr/>
        </p:nvSpPr>
        <p:spPr bwMode="auto">
          <a:xfrm>
            <a:off x="7326313" y="2387600"/>
            <a:ext cx="304800"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34" name="Rectangle 285"/>
          <p:cNvSpPr>
            <a:spLocks noChangeArrowheads="1"/>
          </p:cNvSpPr>
          <p:nvPr/>
        </p:nvSpPr>
        <p:spPr bwMode="auto">
          <a:xfrm>
            <a:off x="6872288" y="2816225"/>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HO</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35" name="Rectangle 286"/>
          <p:cNvSpPr>
            <a:spLocks noChangeArrowheads="1"/>
          </p:cNvSpPr>
          <p:nvPr/>
        </p:nvSpPr>
        <p:spPr bwMode="auto">
          <a:xfrm>
            <a:off x="7326313" y="2941638"/>
            <a:ext cx="304800"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36" name="Rectangle 287"/>
          <p:cNvSpPr>
            <a:spLocks noChangeArrowheads="1"/>
          </p:cNvSpPr>
          <p:nvPr/>
        </p:nvSpPr>
        <p:spPr bwMode="auto">
          <a:xfrm>
            <a:off x="8229600" y="281622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37" name="Rectangle 288"/>
          <p:cNvSpPr>
            <a:spLocks noChangeArrowheads="1"/>
          </p:cNvSpPr>
          <p:nvPr/>
        </p:nvSpPr>
        <p:spPr bwMode="auto">
          <a:xfrm>
            <a:off x="7889875" y="2941638"/>
            <a:ext cx="30162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38" name="Rectangle 289"/>
          <p:cNvSpPr>
            <a:spLocks noChangeArrowheads="1"/>
          </p:cNvSpPr>
          <p:nvPr/>
        </p:nvSpPr>
        <p:spPr bwMode="auto">
          <a:xfrm>
            <a:off x="8229600" y="2249488"/>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OH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39" name="Rectangle 290"/>
          <p:cNvSpPr>
            <a:spLocks noChangeArrowheads="1"/>
          </p:cNvSpPr>
          <p:nvPr/>
        </p:nvSpPr>
        <p:spPr bwMode="auto">
          <a:xfrm>
            <a:off x="7889875" y="3541713"/>
            <a:ext cx="301625" cy="158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40" name="Rectangle 291"/>
          <p:cNvSpPr>
            <a:spLocks noChangeArrowheads="1"/>
          </p:cNvSpPr>
          <p:nvPr/>
        </p:nvSpPr>
        <p:spPr bwMode="auto">
          <a:xfrm>
            <a:off x="7086600" y="39989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41" name="Rectangle 292"/>
          <p:cNvSpPr>
            <a:spLocks noChangeArrowheads="1"/>
          </p:cNvSpPr>
          <p:nvPr/>
        </p:nvSpPr>
        <p:spPr bwMode="auto">
          <a:xfrm>
            <a:off x="7326313" y="4124325"/>
            <a:ext cx="304800"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42" name="Rectangle 293"/>
          <p:cNvSpPr>
            <a:spLocks noChangeArrowheads="1"/>
          </p:cNvSpPr>
          <p:nvPr/>
        </p:nvSpPr>
        <p:spPr bwMode="auto">
          <a:xfrm>
            <a:off x="8229600" y="399891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OH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43" name="Rectangle 294"/>
          <p:cNvSpPr>
            <a:spLocks noChangeArrowheads="1"/>
          </p:cNvSpPr>
          <p:nvPr/>
        </p:nvSpPr>
        <p:spPr bwMode="auto">
          <a:xfrm>
            <a:off x="7889875" y="4124325"/>
            <a:ext cx="301625"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44" name="Rectangle 295"/>
          <p:cNvSpPr>
            <a:spLocks noChangeArrowheads="1"/>
          </p:cNvSpPr>
          <p:nvPr/>
        </p:nvSpPr>
        <p:spPr bwMode="auto">
          <a:xfrm>
            <a:off x="7086600" y="45878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45" name="Rectangle 296"/>
          <p:cNvSpPr>
            <a:spLocks noChangeArrowheads="1"/>
          </p:cNvSpPr>
          <p:nvPr/>
        </p:nvSpPr>
        <p:spPr bwMode="auto">
          <a:xfrm>
            <a:off x="7326313" y="4718050"/>
            <a:ext cx="304800" cy="158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46" name="Rectangle 297"/>
          <p:cNvSpPr>
            <a:spLocks noChangeArrowheads="1"/>
          </p:cNvSpPr>
          <p:nvPr/>
        </p:nvSpPr>
        <p:spPr bwMode="auto">
          <a:xfrm>
            <a:off x="7889875" y="4718050"/>
            <a:ext cx="301625" cy="158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47" name="Rectangle 298"/>
          <p:cNvSpPr>
            <a:spLocks noChangeArrowheads="1"/>
          </p:cNvSpPr>
          <p:nvPr/>
        </p:nvSpPr>
        <p:spPr bwMode="auto">
          <a:xfrm>
            <a:off x="7889875" y="2387600"/>
            <a:ext cx="301625"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48" name="Rectangle 299"/>
          <p:cNvSpPr>
            <a:spLocks noChangeArrowheads="1"/>
          </p:cNvSpPr>
          <p:nvPr/>
        </p:nvSpPr>
        <p:spPr bwMode="auto">
          <a:xfrm>
            <a:off x="7889875" y="1752600"/>
            <a:ext cx="301625"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49" name="Rectangle 300"/>
          <p:cNvSpPr>
            <a:spLocks noChangeArrowheads="1"/>
          </p:cNvSpPr>
          <p:nvPr/>
        </p:nvSpPr>
        <p:spPr bwMode="auto">
          <a:xfrm>
            <a:off x="7889875" y="1808163"/>
            <a:ext cx="301625" cy="158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50" name="Rectangle 301"/>
          <p:cNvSpPr>
            <a:spLocks noChangeArrowheads="1"/>
          </p:cNvSpPr>
          <p:nvPr/>
        </p:nvSpPr>
        <p:spPr bwMode="auto">
          <a:xfrm>
            <a:off x="8229600" y="4587875"/>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OH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51" name="Rectangle 302"/>
          <p:cNvSpPr>
            <a:spLocks noChangeArrowheads="1"/>
          </p:cNvSpPr>
          <p:nvPr/>
        </p:nvSpPr>
        <p:spPr bwMode="auto">
          <a:xfrm>
            <a:off x="4408488" y="342582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52" name="Rectangle 303"/>
          <p:cNvSpPr>
            <a:spLocks noChangeArrowheads="1"/>
          </p:cNvSpPr>
          <p:nvPr/>
        </p:nvSpPr>
        <p:spPr bwMode="auto">
          <a:xfrm>
            <a:off x="3836988" y="342106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53" name="Rectangle 304"/>
          <p:cNvSpPr>
            <a:spLocks noChangeArrowheads="1"/>
          </p:cNvSpPr>
          <p:nvPr/>
        </p:nvSpPr>
        <p:spPr bwMode="auto">
          <a:xfrm>
            <a:off x="4076700" y="3548063"/>
            <a:ext cx="30480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54" name="Rectangle 305"/>
          <p:cNvSpPr>
            <a:spLocks noChangeArrowheads="1"/>
          </p:cNvSpPr>
          <p:nvPr/>
        </p:nvSpPr>
        <p:spPr bwMode="auto">
          <a:xfrm>
            <a:off x="4981575" y="342106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OH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55" name="Rectangle 306"/>
          <p:cNvSpPr>
            <a:spLocks noChangeArrowheads="1"/>
          </p:cNvSpPr>
          <p:nvPr/>
        </p:nvSpPr>
        <p:spPr bwMode="auto">
          <a:xfrm>
            <a:off x="4640263" y="3548063"/>
            <a:ext cx="30162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56" name="Rectangle 307"/>
          <p:cNvSpPr>
            <a:spLocks noChangeArrowheads="1"/>
          </p:cNvSpPr>
          <p:nvPr/>
        </p:nvSpPr>
        <p:spPr bwMode="auto">
          <a:xfrm>
            <a:off x="6872288" y="341471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rPr>
              <a:t>HO</a:t>
            </a:r>
            <a:endParaRPr kumimoji="0" lang="en-US" altLang="en-US" sz="24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57" name="Rectangle 308"/>
          <p:cNvSpPr>
            <a:spLocks noChangeArrowheads="1"/>
          </p:cNvSpPr>
          <p:nvPr/>
        </p:nvSpPr>
        <p:spPr bwMode="auto">
          <a:xfrm>
            <a:off x="7326313" y="3541713"/>
            <a:ext cx="304800" cy="158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endParaRPr>
          </a:p>
        </p:txBody>
      </p:sp>
      <p:sp>
        <p:nvSpPr>
          <p:cNvPr id="22658" name="Rectangle 309"/>
          <p:cNvSpPr>
            <a:spLocks noChangeArrowheads="1"/>
          </p:cNvSpPr>
          <p:nvPr/>
        </p:nvSpPr>
        <p:spPr bwMode="auto">
          <a:xfrm>
            <a:off x="8229600" y="34147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a:t>
            </a:r>
            <a:endPar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22659" name="Text Box 311"/>
          <p:cNvSpPr txBox="1">
            <a:spLocks noChangeArrowheads="1"/>
          </p:cNvSpPr>
          <p:nvPr/>
        </p:nvSpPr>
        <p:spPr bwMode="auto">
          <a:xfrm>
            <a:off x="5711825" y="2203450"/>
            <a:ext cx="9667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Stereo-</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isomer</a:t>
            </a:r>
          </a:p>
        </p:txBody>
      </p:sp>
      <p:sp>
        <p:nvSpPr>
          <p:cNvPr id="22660" name="Text Box 313"/>
          <p:cNvSpPr txBox="1">
            <a:spLocks noChangeArrowheads="1"/>
          </p:cNvSpPr>
          <p:nvPr/>
        </p:nvSpPr>
        <p:spPr bwMode="auto">
          <a:xfrm>
            <a:off x="2298700" y="2203450"/>
            <a:ext cx="12906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Structural</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isomer</a:t>
            </a:r>
          </a:p>
        </p:txBody>
      </p:sp>
      <p:sp>
        <p:nvSpPr>
          <p:cNvPr id="2" name="Rectangle 1"/>
          <p:cNvSpPr/>
          <p:nvPr/>
        </p:nvSpPr>
        <p:spPr>
          <a:xfrm>
            <a:off x="5475074" y="3329204"/>
            <a:ext cx="1324402" cy="446276"/>
          </a:xfrm>
          <a:prstGeom prst="rect">
            <a:avLst/>
          </a:prstGeom>
        </p:spPr>
        <p:txBody>
          <a:bodyPr wrap="none">
            <a:spAutoFit/>
          </a:bodyPr>
          <a:lstStyle/>
          <a:p>
            <a:r>
              <a:rPr lang="en-US" altLang="en-US" sz="2300" b="1" dirty="0" err="1">
                <a:solidFill>
                  <a:srgbClr val="FF0000"/>
                </a:solidFill>
                <a:latin typeface="Times New Roman" panose="02020603050405020304" pitchFamily="18" charset="0"/>
                <a:ea typeface="Microsoft YaHei" panose="020B0503020204020204" pitchFamily="34" charset="-122"/>
                <a:cs typeface="Times New Roman" panose="02020603050405020304" pitchFamily="18" charset="0"/>
              </a:rPr>
              <a:t>Epimers</a:t>
            </a:r>
            <a:r>
              <a:rPr lang="en-US" altLang="en-US" sz="23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rPr>
              <a:t> </a:t>
            </a:r>
            <a:endParaRPr lang="en-US" dirty="0"/>
          </a:p>
        </p:txBody>
      </p:sp>
    </p:spTree>
    <p:extLst>
      <p:ext uri="{BB962C8B-B14F-4D97-AF65-F5344CB8AC3E}">
        <p14:creationId xmlns:p14="http://schemas.microsoft.com/office/powerpoint/2010/main" val="4225006063"/>
      </p:ext>
    </p:extLst>
  </p:cSld>
  <p:clrMapOvr>
    <a:masterClrMapping/>
  </p:clrMapOvr>
  <p:transition spd="slow">
    <p:push dir="u"/>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pPr>
              <a:defRPr/>
            </a:pPr>
            <a:r>
              <a:rPr lang="en-US" smtClean="0"/>
              <a:t>www.hu.edu.et</a:t>
            </a:r>
            <a:endParaRPr lang="en-US"/>
          </a:p>
        </p:txBody>
      </p:sp>
      <p:sp>
        <p:nvSpPr>
          <p:cNvPr id="3" name="Footer Placeholder 2"/>
          <p:cNvSpPr>
            <a:spLocks noGrp="1"/>
          </p:cNvSpPr>
          <p:nvPr>
            <p:ph type="ftr" idx="11"/>
          </p:nvPr>
        </p:nvSpPr>
        <p:spPr/>
        <p:txBody>
          <a:bodyPr/>
          <a:lstStyle/>
          <a:p>
            <a:pPr>
              <a:defRPr/>
            </a:pPr>
            <a:r>
              <a:rPr lang="en-US" smtClean="0"/>
              <a:t>Ever to Excel!</a:t>
            </a:r>
            <a:endParaRPr lang="en-US"/>
          </a:p>
        </p:txBody>
      </p:sp>
      <p:sp>
        <p:nvSpPr>
          <p:cNvPr id="4" name="Slide Number Placeholder 3"/>
          <p:cNvSpPr>
            <a:spLocks noGrp="1"/>
          </p:cNvSpPr>
          <p:nvPr>
            <p:ph type="sldNum" idx="12"/>
          </p:nvPr>
        </p:nvSpPr>
        <p:spPr/>
        <p:txBody>
          <a:bodyPr/>
          <a:lstStyle/>
          <a:p>
            <a:pPr>
              <a:defRPr/>
            </a:pPr>
            <a:fld id="{662CB6B0-DFB5-4A57-992B-6A9D766DFFF1}" type="slidenum">
              <a:rPr lang="en-US" smtClean="0"/>
              <a:pPr>
                <a:defRPr/>
              </a:pPr>
              <a:t>18</a:t>
            </a:fld>
            <a:endParaRPr lang="en-US"/>
          </a:p>
        </p:txBody>
      </p:sp>
      <p:pic>
        <p:nvPicPr>
          <p:cNvPr id="5" name="Picture 4"/>
          <p:cNvPicPr>
            <a:picLocks noChangeAspect="1"/>
          </p:cNvPicPr>
          <p:nvPr/>
        </p:nvPicPr>
        <p:blipFill rotWithShape="1">
          <a:blip r:embed="rId2"/>
          <a:srcRect l="3097" t="19577" r="2769" b="21100"/>
          <a:stretch/>
        </p:blipFill>
        <p:spPr>
          <a:xfrm>
            <a:off x="3423514" y="3664196"/>
            <a:ext cx="5720486" cy="2706624"/>
          </a:xfrm>
          <a:prstGeom prst="rect">
            <a:avLst/>
          </a:prstGeom>
        </p:spPr>
      </p:pic>
      <p:sp>
        <p:nvSpPr>
          <p:cNvPr id="6" name="Rectangle 5"/>
          <p:cNvSpPr/>
          <p:nvPr/>
        </p:nvSpPr>
        <p:spPr>
          <a:xfrm>
            <a:off x="2001032" y="98935"/>
            <a:ext cx="5205207" cy="523220"/>
          </a:xfrm>
          <a:prstGeom prst="rect">
            <a:avLst/>
          </a:prstGeom>
        </p:spPr>
        <p:txBody>
          <a:bodyPr wrap="none">
            <a:spAutoFit/>
          </a:bodyPr>
          <a:lstStyle/>
          <a:p>
            <a:r>
              <a:rPr lang="en-US" sz="2800" b="1" dirty="0">
                <a:solidFill>
                  <a:schemeClr val="bg1"/>
                </a:solidFill>
                <a:latin typeface="+mj-lt"/>
              </a:rPr>
              <a:t>Ring </a:t>
            </a:r>
            <a:r>
              <a:rPr lang="en-US" sz="2800" b="1" dirty="0" smtClean="0">
                <a:solidFill>
                  <a:schemeClr val="bg1"/>
                </a:solidFill>
                <a:latin typeface="+mj-lt"/>
              </a:rPr>
              <a:t>structure </a:t>
            </a:r>
            <a:r>
              <a:rPr lang="en-US" sz="2800" b="1" dirty="0">
                <a:solidFill>
                  <a:schemeClr val="bg1"/>
                </a:solidFill>
                <a:latin typeface="+mj-lt"/>
              </a:rPr>
              <a:t>of </a:t>
            </a:r>
            <a:r>
              <a:rPr lang="en-US" sz="2800" b="1" dirty="0" smtClean="0">
                <a:solidFill>
                  <a:schemeClr val="bg1"/>
                </a:solidFill>
                <a:latin typeface="+mj-lt"/>
              </a:rPr>
              <a:t> carbohydrates</a:t>
            </a:r>
            <a:endParaRPr lang="en-US" sz="2800" b="1" dirty="0">
              <a:solidFill>
                <a:schemeClr val="bg1"/>
              </a:solidFill>
              <a:latin typeface="+mj-lt"/>
            </a:endParaRPr>
          </a:p>
        </p:txBody>
      </p:sp>
      <p:sp>
        <p:nvSpPr>
          <p:cNvPr id="7" name="TextBox 1"/>
          <p:cNvSpPr txBox="1">
            <a:spLocks noChangeArrowheads="1"/>
          </p:cNvSpPr>
          <p:nvPr/>
        </p:nvSpPr>
        <p:spPr bwMode="auto">
          <a:xfrm>
            <a:off x="150813" y="788800"/>
            <a:ext cx="8912720" cy="327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defTabSz="457200" fontAlgn="base">
              <a:spcBef>
                <a:spcPct val="0"/>
              </a:spcBef>
              <a:spcAft>
                <a:spcPct val="0"/>
              </a:spcAft>
              <a:buClr>
                <a:srgbClr val="000000"/>
              </a:buClr>
              <a:buSzPct val="100000"/>
            </a:pPr>
            <a:r>
              <a:rPr lang="en-US" altLang="en-US" sz="2300" dirty="0">
                <a:solidFill>
                  <a:srgbClr val="7030A0"/>
                </a:solidFill>
                <a:latin typeface="Times New Roman" panose="02020603050405020304" pitchFamily="18" charset="0"/>
                <a:ea typeface="Microsoft YaHei" panose="020B0503020204020204" pitchFamily="34" charset="-122"/>
                <a:cs typeface="Times New Roman" panose="02020603050405020304" pitchFamily="18" charset="0"/>
              </a:rPr>
              <a:t>Monosaccharides with five or more carbons </a:t>
            </a:r>
            <a:r>
              <a:rPr lang="en-US" altLang="en-US" sz="2300" dirty="0" smtClean="0">
                <a:solidFill>
                  <a:srgbClr val="7030A0"/>
                </a:solidFill>
                <a:latin typeface="Times New Roman" panose="02020603050405020304" pitchFamily="18" charset="0"/>
                <a:ea typeface="Microsoft YaHei" panose="020B0503020204020204" pitchFamily="34" charset="-122"/>
                <a:cs typeface="Times New Roman" panose="02020603050405020304" pitchFamily="18" charset="0"/>
              </a:rPr>
              <a:t>exist </a:t>
            </a:r>
            <a:r>
              <a:rPr lang="en-US" altLang="en-US" sz="2300" dirty="0">
                <a:solidFill>
                  <a:srgbClr val="7030A0"/>
                </a:solidFill>
                <a:latin typeface="Times New Roman" panose="02020603050405020304" pitchFamily="18" charset="0"/>
                <a:ea typeface="Microsoft YaHei" panose="020B0503020204020204" pitchFamily="34" charset="-122"/>
                <a:cs typeface="Times New Roman" panose="02020603050405020304" pitchFamily="18" charset="0"/>
              </a:rPr>
              <a:t>predominantly  in a ring (cyclic) </a:t>
            </a:r>
            <a:r>
              <a:rPr lang="en-US" altLang="en-US" sz="2300" dirty="0" smtClean="0">
                <a:solidFill>
                  <a:srgbClr val="7030A0"/>
                </a:solidFill>
                <a:latin typeface="Times New Roman" panose="02020603050405020304" pitchFamily="18" charset="0"/>
                <a:ea typeface="Microsoft YaHei" panose="020B0503020204020204" pitchFamily="34" charset="-122"/>
                <a:cs typeface="Times New Roman" panose="02020603050405020304" pitchFamily="18" charset="0"/>
              </a:rPr>
              <a:t>form</a:t>
            </a:r>
          </a:p>
          <a:p>
            <a:pPr marL="342900" lvl="0" indent="-342900" defTabSz="457200" fontAlgn="base">
              <a:spcBef>
                <a:spcPct val="0"/>
              </a:spcBef>
              <a:spcAft>
                <a:spcPct val="0"/>
              </a:spcAft>
              <a:buClr>
                <a:srgbClr val="000000"/>
              </a:buClr>
              <a:buSzPct val="100000"/>
              <a:buFont typeface="Arial" panose="020B0604020202020204" pitchFamily="34" charset="0"/>
              <a:buChar char="•"/>
            </a:pPr>
            <a:r>
              <a:rPr lang="en-US" sz="2300" i="1" dirty="0">
                <a:latin typeface="Times New Roman" panose="02020603050405020304" pitchFamily="18" charset="0"/>
                <a:cs typeface="Times New Roman" panose="02020603050405020304" pitchFamily="18" charset="0"/>
              </a:rPr>
              <a:t>In ring structures, the </a:t>
            </a:r>
            <a:r>
              <a:rPr lang="en-US" sz="2300" b="1" i="1" dirty="0">
                <a:latin typeface="Times New Roman" panose="02020603050405020304" pitchFamily="18" charset="0"/>
                <a:cs typeface="Times New Roman" panose="02020603050405020304" pitchFamily="18" charset="0"/>
              </a:rPr>
              <a:t>aldehyde</a:t>
            </a:r>
            <a:r>
              <a:rPr lang="en-US" sz="2300" i="1" dirty="0">
                <a:latin typeface="Times New Roman" panose="02020603050405020304" pitchFamily="18" charset="0"/>
                <a:cs typeface="Times New Roman" panose="02020603050405020304" pitchFamily="18" charset="0"/>
              </a:rPr>
              <a:t> or </a:t>
            </a:r>
            <a:r>
              <a:rPr lang="en-US" sz="2300" b="1" i="1" dirty="0">
                <a:latin typeface="Times New Roman" panose="02020603050405020304" pitchFamily="18" charset="0"/>
                <a:cs typeface="Times New Roman" panose="02020603050405020304" pitchFamily="18" charset="0"/>
              </a:rPr>
              <a:t>ketone</a:t>
            </a:r>
            <a:r>
              <a:rPr lang="en-US" sz="2300" i="1" dirty="0">
                <a:latin typeface="Times New Roman" panose="02020603050405020304" pitchFamily="18" charset="0"/>
                <a:cs typeface="Times New Roman" panose="02020603050405020304" pitchFamily="18" charset="0"/>
              </a:rPr>
              <a:t> </a:t>
            </a:r>
            <a:r>
              <a:rPr lang="en-US" sz="2300" b="1" i="1" dirty="0">
                <a:latin typeface="Times New Roman" panose="02020603050405020304" pitchFamily="18" charset="0"/>
                <a:cs typeface="Times New Roman" panose="02020603050405020304" pitchFamily="18" charset="0"/>
              </a:rPr>
              <a:t>group</a:t>
            </a:r>
            <a:r>
              <a:rPr lang="en-US" sz="2300" i="1" dirty="0">
                <a:latin typeface="Times New Roman" panose="02020603050405020304" pitchFamily="18" charset="0"/>
                <a:cs typeface="Times New Roman" panose="02020603050405020304" pitchFamily="18" charset="0"/>
              </a:rPr>
              <a:t> </a:t>
            </a:r>
            <a:r>
              <a:rPr lang="en-US" sz="2300" b="1" i="1" dirty="0">
                <a:latin typeface="Times New Roman" panose="02020603050405020304" pitchFamily="18" charset="0"/>
                <a:cs typeface="Times New Roman" panose="02020603050405020304" pitchFamily="18" charset="0"/>
              </a:rPr>
              <a:t>reacts with a hydroxyl </a:t>
            </a:r>
            <a:r>
              <a:rPr lang="en-US" sz="2300" i="1" dirty="0">
                <a:latin typeface="Times New Roman" panose="02020603050405020304" pitchFamily="18" charset="0"/>
                <a:cs typeface="Times New Roman" panose="02020603050405020304" pitchFamily="18" charset="0"/>
              </a:rPr>
              <a:t>group in the same molecule </a:t>
            </a:r>
            <a:r>
              <a:rPr lang="en-US" sz="2300" i="1" dirty="0" smtClean="0">
                <a:latin typeface="Times New Roman" panose="02020603050405020304" pitchFamily="18" charset="0"/>
                <a:cs typeface="Times New Roman" panose="02020603050405020304" pitchFamily="18" charset="0"/>
              </a:rPr>
              <a:t>and </a:t>
            </a:r>
            <a:r>
              <a:rPr lang="en-US" sz="2300" i="1" dirty="0">
                <a:latin typeface="Times New Roman" panose="02020603050405020304" pitchFamily="18" charset="0"/>
                <a:cs typeface="Times New Roman" panose="02020603050405020304" pitchFamily="18" charset="0"/>
              </a:rPr>
              <a:t>results in </a:t>
            </a:r>
            <a:r>
              <a:rPr lang="en-US" sz="2300" b="1" i="1" dirty="0">
                <a:latin typeface="Times New Roman" panose="02020603050405020304" pitchFamily="18" charset="0"/>
                <a:cs typeface="Times New Roman" panose="02020603050405020304" pitchFamily="18" charset="0"/>
              </a:rPr>
              <a:t>α</a:t>
            </a:r>
            <a:r>
              <a:rPr lang="en-US" sz="2300" i="1" dirty="0">
                <a:latin typeface="Times New Roman" panose="02020603050405020304" pitchFamily="18" charset="0"/>
                <a:cs typeface="Times New Roman" panose="02020603050405020304" pitchFamily="18" charset="0"/>
              </a:rPr>
              <a:t> and </a:t>
            </a:r>
            <a:r>
              <a:rPr lang="en-US" sz="2300" b="1" i="1" dirty="0">
                <a:latin typeface="Times New Roman" panose="02020603050405020304" pitchFamily="18" charset="0"/>
                <a:cs typeface="Times New Roman" panose="02020603050405020304" pitchFamily="18" charset="0"/>
              </a:rPr>
              <a:t>β</a:t>
            </a:r>
            <a:r>
              <a:rPr lang="en-US" sz="2300" i="1" dirty="0">
                <a:latin typeface="Times New Roman" panose="02020603050405020304" pitchFamily="18" charset="0"/>
                <a:cs typeface="Times New Roman" panose="02020603050405020304" pitchFamily="18" charset="0"/>
              </a:rPr>
              <a:t> forms are called </a:t>
            </a:r>
            <a:r>
              <a:rPr lang="en-US" sz="2300" b="1" i="1" dirty="0" err="1" smtClean="0">
                <a:solidFill>
                  <a:srgbClr val="FF0000"/>
                </a:solidFill>
                <a:latin typeface="Times New Roman" panose="02020603050405020304" pitchFamily="18" charset="0"/>
                <a:cs typeface="Times New Roman" panose="02020603050405020304" pitchFamily="18" charset="0"/>
              </a:rPr>
              <a:t>anomers</a:t>
            </a:r>
            <a:endParaRPr lang="en-US" sz="2300" b="1" i="1" dirty="0" smtClean="0">
              <a:solidFill>
                <a:srgbClr val="FF0000"/>
              </a:solidFill>
              <a:latin typeface="Times New Roman" panose="02020603050405020304" pitchFamily="18" charset="0"/>
              <a:cs typeface="Times New Roman" panose="02020603050405020304" pitchFamily="18" charset="0"/>
            </a:endParaRPr>
          </a:p>
          <a:p>
            <a:pPr marL="342900" lvl="0" indent="-342900" defTabSz="457200" fontAlgn="base">
              <a:spcBef>
                <a:spcPct val="0"/>
              </a:spcBef>
              <a:spcAft>
                <a:spcPct val="0"/>
              </a:spcAft>
              <a:buClr>
                <a:srgbClr val="000000"/>
              </a:buClr>
              <a:buSzPct val="100000"/>
              <a:buFont typeface="Arial" panose="020B0604020202020204" pitchFamily="34" charset="0"/>
              <a:buChar char="•"/>
            </a:pPr>
            <a:r>
              <a:rPr lang="en-US" altLang="en-US" sz="2300" i="1" dirty="0">
                <a:latin typeface="Times New Roman" panose="02020603050405020304" pitchFamily="18" charset="0"/>
                <a:ea typeface="Microsoft YaHei" panose="020B0503020204020204" pitchFamily="34" charset="-122"/>
                <a:cs typeface="Times New Roman" panose="02020603050405020304" pitchFamily="18" charset="0"/>
              </a:rPr>
              <a:t>If the hydroxyl group is below carbon number 1 in the sugar, it is said to be in the alpha (α) position, and if it is above the plane, it is said to be in the beta (β) position.</a:t>
            </a:r>
            <a:endParaRPr lang="en-US" altLang="en-US" sz="2300" i="1" dirty="0" smtClean="0">
              <a:latin typeface="Times New Roman" panose="02020603050405020304" pitchFamily="18" charset="0"/>
              <a:ea typeface="Microsoft YaHei" panose="020B0503020204020204" pitchFamily="34" charset="-122"/>
              <a:cs typeface="Times New Roman" panose="02020603050405020304" pitchFamily="18" charset="0"/>
            </a:endParaRPr>
          </a:p>
          <a:p>
            <a:pPr lvl="0" defTabSz="457200" fontAlgn="base">
              <a:spcBef>
                <a:spcPct val="0"/>
              </a:spcBef>
              <a:spcAft>
                <a:spcPct val="0"/>
              </a:spcAft>
              <a:buClr>
                <a:srgbClr val="000000"/>
              </a:buClr>
              <a:buSzPct val="100000"/>
            </a:pPr>
            <a:endParaRPr lang="en-US" altLang="en-US" sz="2300" dirty="0">
              <a:solidFill>
                <a:srgbClr val="7030A0"/>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0" name="Rectangle 9"/>
          <p:cNvSpPr/>
          <p:nvPr/>
        </p:nvSpPr>
        <p:spPr>
          <a:xfrm>
            <a:off x="14313" y="5378746"/>
            <a:ext cx="5969731" cy="400110"/>
          </a:xfrm>
          <a:prstGeom prst="rect">
            <a:avLst/>
          </a:prstGeom>
        </p:spPr>
        <p:txBody>
          <a:bodyPr wrap="square">
            <a:spAutoFit/>
          </a:bodyPr>
          <a:lstStyle/>
          <a:p>
            <a:r>
              <a:rPr lang="en-US" sz="2000" i="1" dirty="0">
                <a:latin typeface="Times New Roman" panose="02020603050405020304" pitchFamily="18" charset="0"/>
                <a:cs typeface="Times New Roman" panose="02020603050405020304" pitchFamily="18" charset="0"/>
              </a:rPr>
              <a:t> </a:t>
            </a:r>
            <a:endParaRPr lang="en-US" sz="2000" b="1" i="1" dirty="0">
              <a:solidFill>
                <a:srgbClr val="FF000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70346" y="3894124"/>
            <a:ext cx="3075190" cy="1938992"/>
          </a:xfrm>
          <a:prstGeom prst="rect">
            <a:avLst/>
          </a:prstGeom>
        </p:spPr>
        <p:txBody>
          <a:bodyPr wrap="square">
            <a:spAutoFit/>
          </a:bodyPr>
          <a:lstStyle/>
          <a:p>
            <a:pPr algn="just"/>
            <a:r>
              <a:rPr lang="en-US" sz="2000" i="1" dirty="0"/>
              <a:t>If the hydroxyl group is below carbon number 1 in the </a:t>
            </a:r>
            <a:r>
              <a:rPr lang="en-US" sz="2000" i="1" dirty="0" smtClean="0"/>
              <a:t>sugar, it </a:t>
            </a:r>
            <a:r>
              <a:rPr lang="en-US" sz="2000" i="1" dirty="0"/>
              <a:t>is in the alpha (α) position, and if it is above the plane, it is in the beta (β) position</a:t>
            </a:r>
          </a:p>
        </p:txBody>
      </p:sp>
    </p:spTree>
    <p:extLst>
      <p:ext uri="{BB962C8B-B14F-4D97-AF65-F5344CB8AC3E}">
        <p14:creationId xmlns:p14="http://schemas.microsoft.com/office/powerpoint/2010/main" val="3273156776"/>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pPr>
              <a:defRPr/>
            </a:pPr>
            <a:r>
              <a:rPr lang="en-US" smtClean="0"/>
              <a:t>www.hu.edu.et</a:t>
            </a:r>
            <a:endParaRPr lang="en-US"/>
          </a:p>
        </p:txBody>
      </p:sp>
      <p:sp>
        <p:nvSpPr>
          <p:cNvPr id="3" name="Footer Placeholder 2"/>
          <p:cNvSpPr>
            <a:spLocks noGrp="1"/>
          </p:cNvSpPr>
          <p:nvPr>
            <p:ph type="ftr" idx="11"/>
          </p:nvPr>
        </p:nvSpPr>
        <p:spPr/>
        <p:txBody>
          <a:bodyPr/>
          <a:lstStyle/>
          <a:p>
            <a:pPr>
              <a:defRPr/>
            </a:pPr>
            <a:r>
              <a:rPr lang="en-US" smtClean="0"/>
              <a:t>Ever to Excel!</a:t>
            </a:r>
            <a:endParaRPr lang="en-US"/>
          </a:p>
        </p:txBody>
      </p:sp>
      <p:sp>
        <p:nvSpPr>
          <p:cNvPr id="4" name="Slide Number Placeholder 3"/>
          <p:cNvSpPr>
            <a:spLocks noGrp="1"/>
          </p:cNvSpPr>
          <p:nvPr>
            <p:ph type="sldNum" idx="12"/>
          </p:nvPr>
        </p:nvSpPr>
        <p:spPr/>
        <p:txBody>
          <a:bodyPr/>
          <a:lstStyle/>
          <a:p>
            <a:pPr>
              <a:defRPr/>
            </a:pPr>
            <a:fld id="{662CB6B0-DFB5-4A57-992B-6A9D766DFFF1}" type="slidenum">
              <a:rPr lang="en-US" smtClean="0"/>
              <a:pPr>
                <a:defRPr/>
              </a:pPr>
              <a:t>19</a:t>
            </a:fld>
            <a:endParaRPr lang="en-US"/>
          </a:p>
        </p:txBody>
      </p:sp>
      <p:sp>
        <p:nvSpPr>
          <p:cNvPr id="5" name="TextBox 4"/>
          <p:cNvSpPr txBox="1"/>
          <p:nvPr/>
        </p:nvSpPr>
        <p:spPr>
          <a:xfrm>
            <a:off x="1792761" y="115145"/>
            <a:ext cx="2626040" cy="584775"/>
          </a:xfrm>
          <a:prstGeom prst="rect">
            <a:avLst/>
          </a:prstGeom>
          <a:noFill/>
        </p:spPr>
        <p:txBody>
          <a:bodyPr wrap="none" rtlCol="0">
            <a:spAutoFit/>
          </a:bodyPr>
          <a:lstStyle/>
          <a:p>
            <a:r>
              <a:rPr lang="en-US" sz="3200" b="1" dirty="0" smtClean="0">
                <a:solidFill>
                  <a:schemeClr val="bg1"/>
                </a:solidFill>
                <a:latin typeface="+mj-lt"/>
              </a:rPr>
              <a:t>Disaccharides</a:t>
            </a:r>
          </a:p>
        </p:txBody>
      </p:sp>
      <p:sp>
        <p:nvSpPr>
          <p:cNvPr id="6" name="Text Placeholder 3"/>
          <p:cNvSpPr txBox="1">
            <a:spLocks/>
          </p:cNvSpPr>
          <p:nvPr/>
        </p:nvSpPr>
        <p:spPr>
          <a:xfrm>
            <a:off x="120847" y="797372"/>
            <a:ext cx="8902304" cy="4940910"/>
          </a:xfrm>
          <a:prstGeom prst="rect">
            <a:avLst/>
          </a:prstGeom>
        </p:spPr>
        <p:txBody>
          <a:bodyPr>
            <a:normAutofit/>
          </a:bodyPr>
          <a:lstStyle>
            <a:lvl1pPr marL="257175" indent="-257175" algn="l" defTabSz="342900" rtl="0" eaLnBrk="1" fontAlgn="base" hangingPunct="1">
              <a:spcBef>
                <a:spcPts val="525"/>
              </a:spcBef>
              <a:spcAft>
                <a:spcPct val="0"/>
              </a:spcAft>
              <a:buClr>
                <a:srgbClr val="000000"/>
              </a:buClr>
              <a:buSzPct val="100000"/>
              <a:buFont typeface="Times New Roman" panose="02020603050405020304" pitchFamily="18" charset="0"/>
              <a:defRPr sz="2100" b="1">
                <a:solidFill>
                  <a:srgbClr val="2B166E"/>
                </a:solidFill>
                <a:latin typeface="+mn-lt"/>
                <a:ea typeface="+mn-ea"/>
                <a:cs typeface="+mn-cs"/>
              </a:defRPr>
            </a:lvl1pPr>
            <a:lvl2pPr marL="557213" indent="-214313" algn="l" defTabSz="342900" rtl="0" eaLnBrk="1" fontAlgn="base" hangingPunct="1">
              <a:spcBef>
                <a:spcPts val="525"/>
              </a:spcBef>
              <a:spcAft>
                <a:spcPct val="0"/>
              </a:spcAft>
              <a:buClr>
                <a:srgbClr val="000000"/>
              </a:buClr>
              <a:buSzPct val="100000"/>
              <a:buFont typeface="Times New Roman" panose="02020603050405020304" pitchFamily="18" charset="0"/>
              <a:defRPr sz="2100">
                <a:solidFill>
                  <a:srgbClr val="2B166E"/>
                </a:solidFill>
                <a:latin typeface="+mj-lt"/>
                <a:ea typeface="+mn-ea"/>
              </a:defRPr>
            </a:lvl2pPr>
            <a:lvl3pPr marL="857250" indent="-171450" algn="l" defTabSz="342900" rtl="0" eaLnBrk="1" fontAlgn="base" hangingPunct="1">
              <a:spcBef>
                <a:spcPts val="450"/>
              </a:spcBef>
              <a:spcAft>
                <a:spcPct val="0"/>
              </a:spcAft>
              <a:buClr>
                <a:srgbClr val="000000"/>
              </a:buClr>
              <a:buSzPct val="100000"/>
              <a:buFont typeface="Times New Roman" panose="02020603050405020304" pitchFamily="18" charset="0"/>
              <a:defRPr sz="1800">
                <a:solidFill>
                  <a:srgbClr val="2B166E"/>
                </a:solidFill>
                <a:latin typeface="+mj-lt"/>
                <a:ea typeface="+mn-ea"/>
              </a:defRPr>
            </a:lvl3pPr>
            <a:lvl4pPr marL="12001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4pPr>
            <a:lvl5pPr marL="15430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5pPr>
            <a:lvl6pPr marL="18859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6pPr>
            <a:lvl7pPr marL="22288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7pPr>
            <a:lvl8pPr marL="25717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8pPr>
            <a:lvl9pPr marL="29146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9pPr>
          </a:lstStyle>
          <a:p>
            <a:pPr marL="342900" indent="-342900">
              <a:buFont typeface="Arial"/>
              <a:buChar char="•"/>
            </a:pPr>
            <a:r>
              <a:rPr lang="en-US" sz="2000" kern="0" dirty="0" smtClean="0">
                <a:solidFill>
                  <a:schemeClr val="tx1"/>
                </a:solidFill>
                <a:latin typeface="Times New Roman" panose="02020603050405020304" pitchFamily="18" charset="0"/>
                <a:cs typeface="Times New Roman" panose="02020603050405020304" pitchFamily="18" charset="0"/>
              </a:rPr>
              <a:t>Disaccharides</a:t>
            </a:r>
            <a:r>
              <a:rPr lang="en-US" sz="2000" b="0" kern="0" dirty="0" smtClean="0">
                <a:solidFill>
                  <a:schemeClr val="tx1"/>
                </a:solidFill>
                <a:latin typeface="Times New Roman" panose="02020603050405020304" pitchFamily="18" charset="0"/>
                <a:cs typeface="Times New Roman" panose="02020603050405020304" pitchFamily="18" charset="0"/>
              </a:rPr>
              <a:t> (di– = “two”) form when two monosaccharides undergo a </a:t>
            </a:r>
            <a:r>
              <a:rPr lang="en-US" sz="2000" kern="0" dirty="0" smtClean="0">
                <a:solidFill>
                  <a:schemeClr val="tx1"/>
                </a:solidFill>
                <a:latin typeface="Times New Roman" panose="02020603050405020304" pitchFamily="18" charset="0"/>
                <a:cs typeface="Times New Roman" panose="02020603050405020304" pitchFamily="18" charset="0"/>
              </a:rPr>
              <a:t>dehydration</a:t>
            </a:r>
            <a:r>
              <a:rPr lang="en-US" sz="2000" b="0" kern="0" dirty="0" smtClean="0">
                <a:solidFill>
                  <a:schemeClr val="tx1"/>
                </a:solidFill>
                <a:latin typeface="Times New Roman" panose="02020603050405020304" pitchFamily="18" charset="0"/>
                <a:cs typeface="Times New Roman" panose="02020603050405020304" pitchFamily="18" charset="0"/>
              </a:rPr>
              <a:t> </a:t>
            </a:r>
            <a:r>
              <a:rPr lang="en-US" sz="2000" kern="0" dirty="0" smtClean="0">
                <a:solidFill>
                  <a:schemeClr val="tx1"/>
                </a:solidFill>
                <a:latin typeface="Times New Roman" panose="02020603050405020304" pitchFamily="18" charset="0"/>
                <a:cs typeface="Times New Roman" panose="02020603050405020304" pitchFamily="18" charset="0"/>
              </a:rPr>
              <a:t>reaction</a:t>
            </a:r>
            <a:r>
              <a:rPr lang="en-US" sz="2000" b="0" kern="0" dirty="0" smtClean="0">
                <a:solidFill>
                  <a:schemeClr val="tx1"/>
                </a:solidFill>
                <a:latin typeface="Times New Roman" panose="02020603050405020304" pitchFamily="18" charset="0"/>
                <a:cs typeface="Times New Roman" panose="02020603050405020304" pitchFamily="18" charset="0"/>
              </a:rPr>
              <a:t> (also known as a </a:t>
            </a:r>
            <a:r>
              <a:rPr lang="en-US" sz="2000" kern="0" dirty="0" smtClean="0">
                <a:solidFill>
                  <a:schemeClr val="tx1"/>
                </a:solidFill>
                <a:latin typeface="Times New Roman" panose="02020603050405020304" pitchFamily="18" charset="0"/>
                <a:cs typeface="Times New Roman" panose="02020603050405020304" pitchFamily="18" charset="0"/>
              </a:rPr>
              <a:t>condensation reaction </a:t>
            </a:r>
            <a:r>
              <a:rPr lang="en-US" sz="2000" b="0" kern="0" dirty="0" smtClean="0">
                <a:solidFill>
                  <a:schemeClr val="tx1"/>
                </a:solidFill>
                <a:latin typeface="Times New Roman" panose="02020603050405020304" pitchFamily="18" charset="0"/>
                <a:cs typeface="Times New Roman" panose="02020603050405020304" pitchFamily="18" charset="0"/>
              </a:rPr>
              <a:t>or dehydration synthesis).</a:t>
            </a:r>
          </a:p>
          <a:p>
            <a:pPr marL="342900" indent="-342900">
              <a:buFont typeface="Arial"/>
              <a:buChar char="•"/>
            </a:pPr>
            <a:r>
              <a:rPr lang="en-US" sz="2000" b="0" kern="0" dirty="0" smtClean="0">
                <a:solidFill>
                  <a:schemeClr val="tx1"/>
                </a:solidFill>
                <a:latin typeface="Times New Roman" panose="02020603050405020304" pitchFamily="18" charset="0"/>
                <a:cs typeface="Times New Roman" panose="02020603050405020304" pitchFamily="18" charset="0"/>
              </a:rPr>
              <a:t> During this process, the hydroxyl group of one monosaccharide combines with the hydrogen of another monosaccharide, </a:t>
            </a:r>
            <a:r>
              <a:rPr lang="en-US" sz="2000" kern="0" dirty="0" smtClean="0">
                <a:solidFill>
                  <a:schemeClr val="tx1"/>
                </a:solidFill>
                <a:latin typeface="Times New Roman" panose="02020603050405020304" pitchFamily="18" charset="0"/>
                <a:cs typeface="Times New Roman" panose="02020603050405020304" pitchFamily="18" charset="0"/>
              </a:rPr>
              <a:t>releasing a molecule of water and forming a covalent bond.</a:t>
            </a:r>
          </a:p>
          <a:p>
            <a:pPr marL="342900" indent="-342900">
              <a:buFont typeface="Arial"/>
              <a:buChar char="•"/>
            </a:pPr>
            <a:r>
              <a:rPr lang="en-US" sz="2000" b="0" kern="0" dirty="0" smtClean="0">
                <a:solidFill>
                  <a:schemeClr val="tx1"/>
                </a:solidFill>
                <a:latin typeface="Times New Roman" panose="02020603050405020304" pitchFamily="18" charset="0"/>
                <a:cs typeface="Times New Roman" panose="02020603050405020304" pitchFamily="18" charset="0"/>
              </a:rPr>
              <a:t>A covalent bond formed between a carbohydrate molecule and another molecule (in this case, between two monosaccharides) is known as a </a:t>
            </a:r>
            <a:r>
              <a:rPr lang="en-US" sz="2000" u="sng" kern="0" dirty="0" err="1" smtClean="0">
                <a:solidFill>
                  <a:schemeClr val="accent2"/>
                </a:solidFill>
                <a:latin typeface="Times New Roman" panose="02020603050405020304" pitchFamily="18" charset="0"/>
                <a:cs typeface="Times New Roman" panose="02020603050405020304" pitchFamily="18" charset="0"/>
              </a:rPr>
              <a:t>glycosidic</a:t>
            </a:r>
            <a:r>
              <a:rPr lang="en-US" sz="2000" u="sng" kern="0" dirty="0" smtClean="0">
                <a:solidFill>
                  <a:schemeClr val="accent2"/>
                </a:solidFill>
                <a:latin typeface="Times New Roman" panose="02020603050405020304" pitchFamily="18" charset="0"/>
                <a:cs typeface="Times New Roman" panose="02020603050405020304" pitchFamily="18" charset="0"/>
              </a:rPr>
              <a:t> bond</a:t>
            </a:r>
          </a:p>
          <a:p>
            <a:pPr marL="0" indent="0"/>
            <a:r>
              <a:rPr lang="en-US" sz="2000" kern="0" dirty="0" smtClean="0">
                <a:solidFill>
                  <a:srgbClr val="FF0000"/>
                </a:solidFill>
                <a:latin typeface="Times New Roman" panose="02020603050405020304" pitchFamily="18" charset="0"/>
                <a:cs typeface="Times New Roman" panose="02020603050405020304" pitchFamily="18" charset="0"/>
              </a:rPr>
              <a:t>Common disaccharides include lactose, maltose and sucrose</a:t>
            </a:r>
          </a:p>
          <a:p>
            <a:pPr marL="342900" indent="-166688">
              <a:buFont typeface="Arial"/>
              <a:buChar char="•"/>
            </a:pPr>
            <a:r>
              <a:rPr lang="en-US" sz="2000" kern="0" dirty="0" smtClean="0">
                <a:solidFill>
                  <a:srgbClr val="7030A0"/>
                </a:solidFill>
                <a:latin typeface="Times New Roman" panose="02020603050405020304" pitchFamily="18" charset="0"/>
                <a:cs typeface="Times New Roman" panose="02020603050405020304" pitchFamily="18" charset="0"/>
              </a:rPr>
              <a:t>Lactose</a:t>
            </a:r>
            <a:r>
              <a:rPr lang="en-US" sz="2000" b="0" kern="0" dirty="0" smtClean="0">
                <a:solidFill>
                  <a:srgbClr val="7030A0"/>
                </a:solidFill>
                <a:latin typeface="Times New Roman" panose="02020603050405020304" pitchFamily="18" charset="0"/>
                <a:cs typeface="Times New Roman" panose="02020603050405020304" pitchFamily="18" charset="0"/>
              </a:rPr>
              <a:t> = glucose + galactose (found in milk)</a:t>
            </a:r>
          </a:p>
          <a:p>
            <a:pPr marL="342900" indent="-166688">
              <a:buFont typeface="Arial"/>
              <a:buChar char="•"/>
            </a:pPr>
            <a:r>
              <a:rPr lang="en-US" sz="2000" kern="0" dirty="0" smtClean="0">
                <a:solidFill>
                  <a:srgbClr val="7030A0"/>
                </a:solidFill>
                <a:latin typeface="Times New Roman" panose="02020603050405020304" pitchFamily="18" charset="0"/>
                <a:cs typeface="Times New Roman" panose="02020603050405020304" pitchFamily="18" charset="0"/>
              </a:rPr>
              <a:t>Maltose</a:t>
            </a:r>
            <a:r>
              <a:rPr lang="en-US" sz="2000" b="0" kern="0" dirty="0" smtClean="0">
                <a:solidFill>
                  <a:srgbClr val="7030A0"/>
                </a:solidFill>
                <a:latin typeface="Times New Roman" panose="02020603050405020304" pitchFamily="18" charset="0"/>
                <a:cs typeface="Times New Roman" panose="02020603050405020304" pitchFamily="18" charset="0"/>
              </a:rPr>
              <a:t> = glucose + glucose (malt sugar)</a:t>
            </a:r>
          </a:p>
          <a:p>
            <a:pPr marL="342900" indent="-166688">
              <a:buFont typeface="Arial"/>
              <a:buChar char="•"/>
            </a:pPr>
            <a:r>
              <a:rPr lang="en-US" sz="2000" kern="0" dirty="0" smtClean="0">
                <a:solidFill>
                  <a:srgbClr val="7030A0"/>
                </a:solidFill>
                <a:latin typeface="Times New Roman" panose="02020603050405020304" pitchFamily="18" charset="0"/>
                <a:cs typeface="Times New Roman" panose="02020603050405020304" pitchFamily="18" charset="0"/>
              </a:rPr>
              <a:t>Sucrose</a:t>
            </a:r>
            <a:r>
              <a:rPr lang="en-US" sz="2000" b="0" kern="0" dirty="0" smtClean="0">
                <a:solidFill>
                  <a:srgbClr val="7030A0"/>
                </a:solidFill>
                <a:latin typeface="Times New Roman" panose="02020603050405020304" pitchFamily="18" charset="0"/>
                <a:cs typeface="Times New Roman" panose="02020603050405020304" pitchFamily="18" charset="0"/>
              </a:rPr>
              <a:t> = glucose + fructose (table sugar)</a:t>
            </a:r>
          </a:p>
          <a:p>
            <a:pPr marL="342900" indent="-342900">
              <a:buFont typeface="Arial"/>
              <a:buChar char="•"/>
            </a:pPr>
            <a:endParaRPr lang="en-US" sz="2000" b="0" kern="0" dirty="0" smtClean="0">
              <a:solidFill>
                <a:schemeClr val="tx1"/>
              </a:solidFill>
              <a:latin typeface="Times New Roman" panose="02020603050405020304" pitchFamily="18" charset="0"/>
              <a:cs typeface="Times New Roman" panose="02020603050405020304" pitchFamily="18" charset="0"/>
            </a:endParaRPr>
          </a:p>
          <a:p>
            <a:pPr marL="342900" indent="-342900">
              <a:buFont typeface="Arial"/>
              <a:buChar char="•"/>
            </a:pPr>
            <a:endParaRPr lang="en-US" sz="2000" b="0" kern="0" dirty="0">
              <a:solidFill>
                <a:schemeClr val="tx1"/>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1493045" y="5012795"/>
            <a:ext cx="6078239" cy="1450974"/>
          </a:xfrm>
          <a:prstGeom prst="rect">
            <a:avLst/>
          </a:prstGeom>
        </p:spPr>
      </p:pic>
    </p:spTree>
    <p:extLst>
      <p:ext uri="{BB962C8B-B14F-4D97-AF65-F5344CB8AC3E}">
        <p14:creationId xmlns:p14="http://schemas.microsoft.com/office/powerpoint/2010/main" val="2306645289"/>
      </p:ext>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pPr>
              <a:defRPr/>
            </a:pPr>
            <a:r>
              <a:rPr lang="en-US" smtClean="0"/>
              <a:t>www.hu.edu.et</a:t>
            </a:r>
            <a:endParaRPr lang="en-US"/>
          </a:p>
        </p:txBody>
      </p:sp>
      <p:sp>
        <p:nvSpPr>
          <p:cNvPr id="3" name="Footer Placeholder 2"/>
          <p:cNvSpPr>
            <a:spLocks noGrp="1"/>
          </p:cNvSpPr>
          <p:nvPr>
            <p:ph type="ftr" idx="11"/>
          </p:nvPr>
        </p:nvSpPr>
        <p:spPr/>
        <p:txBody>
          <a:bodyPr/>
          <a:lstStyle/>
          <a:p>
            <a:pPr>
              <a:defRPr/>
            </a:pPr>
            <a:r>
              <a:rPr lang="en-US" smtClean="0"/>
              <a:t>Ever to Excel!</a:t>
            </a:r>
            <a:endParaRPr lang="en-US"/>
          </a:p>
        </p:txBody>
      </p:sp>
      <p:sp>
        <p:nvSpPr>
          <p:cNvPr id="4" name="Slide Number Placeholder 3"/>
          <p:cNvSpPr>
            <a:spLocks noGrp="1"/>
          </p:cNvSpPr>
          <p:nvPr>
            <p:ph type="sldNum" idx="12"/>
          </p:nvPr>
        </p:nvSpPr>
        <p:spPr/>
        <p:txBody>
          <a:bodyPr/>
          <a:lstStyle/>
          <a:p>
            <a:pPr>
              <a:defRPr/>
            </a:pPr>
            <a:fld id="{662CB6B0-DFB5-4A57-992B-6A9D766DFFF1}" type="slidenum">
              <a:rPr lang="en-US" smtClean="0"/>
              <a:pPr>
                <a:defRPr/>
              </a:pPr>
              <a:t>20</a:t>
            </a:fld>
            <a:endParaRPr lang="en-US"/>
          </a:p>
        </p:txBody>
      </p:sp>
      <p:pic>
        <p:nvPicPr>
          <p:cNvPr id="6" name="Picture 5"/>
          <p:cNvPicPr>
            <a:picLocks noChangeAspect="1"/>
          </p:cNvPicPr>
          <p:nvPr/>
        </p:nvPicPr>
        <p:blipFill>
          <a:blip r:embed="rId2"/>
          <a:stretch>
            <a:fillRect/>
          </a:stretch>
        </p:blipFill>
        <p:spPr>
          <a:xfrm>
            <a:off x="2969254" y="1814392"/>
            <a:ext cx="6094278" cy="4355216"/>
          </a:xfrm>
          <a:prstGeom prst="rect">
            <a:avLst/>
          </a:prstGeom>
        </p:spPr>
      </p:pic>
      <p:sp>
        <p:nvSpPr>
          <p:cNvPr id="7" name="Rectangle 6"/>
          <p:cNvSpPr/>
          <p:nvPr/>
        </p:nvSpPr>
        <p:spPr>
          <a:xfrm>
            <a:off x="368518" y="879024"/>
            <a:ext cx="8534080" cy="830997"/>
          </a:xfrm>
          <a:prstGeom prst="rect">
            <a:avLst/>
          </a:prstGeom>
        </p:spPr>
        <p:txBody>
          <a:bodyPr wrap="square">
            <a:spAutoFit/>
          </a:bodyPr>
          <a:lstStyle/>
          <a:p>
            <a:r>
              <a:rPr lang="en-US" sz="2400" dirty="0" err="1">
                <a:latin typeface="+mj-lt"/>
              </a:rPr>
              <a:t>Glycosidic</a:t>
            </a:r>
            <a:r>
              <a:rPr lang="en-US" sz="2400" dirty="0">
                <a:latin typeface="+mj-lt"/>
              </a:rPr>
              <a:t> bonds (also called </a:t>
            </a:r>
            <a:r>
              <a:rPr lang="en-US" sz="2400" dirty="0" err="1">
                <a:latin typeface="+mj-lt"/>
              </a:rPr>
              <a:t>glycosidic</a:t>
            </a:r>
            <a:r>
              <a:rPr lang="en-US" sz="2400" dirty="0">
                <a:latin typeface="+mj-lt"/>
              </a:rPr>
              <a:t> linkages) can be of the alpha or the beta type.</a:t>
            </a:r>
          </a:p>
        </p:txBody>
      </p:sp>
      <p:sp>
        <p:nvSpPr>
          <p:cNvPr id="8" name="Rectangle 7"/>
          <p:cNvSpPr/>
          <p:nvPr/>
        </p:nvSpPr>
        <p:spPr>
          <a:xfrm>
            <a:off x="63558" y="2214848"/>
            <a:ext cx="2833261" cy="2862322"/>
          </a:xfrm>
          <a:prstGeom prst="rect">
            <a:avLst/>
          </a:prstGeom>
        </p:spPr>
        <p:txBody>
          <a:bodyPr wrap="square">
            <a:spAutoFit/>
          </a:bodyPr>
          <a:lstStyle/>
          <a:p>
            <a:r>
              <a:rPr lang="en-US" i="1" dirty="0"/>
              <a:t>An </a:t>
            </a:r>
            <a:r>
              <a:rPr lang="en-US" b="1" i="1" dirty="0"/>
              <a:t>alpha bond </a:t>
            </a:r>
            <a:r>
              <a:rPr lang="en-US" i="1" dirty="0"/>
              <a:t>is formed when the OH group on the carbon-1 of </a:t>
            </a:r>
            <a:r>
              <a:rPr lang="en-US" i="1" dirty="0" smtClean="0"/>
              <a:t>the first monosaccharide </a:t>
            </a:r>
            <a:r>
              <a:rPr lang="en-US" i="1" dirty="0"/>
              <a:t>is below the ring plane, and </a:t>
            </a:r>
            <a:endParaRPr lang="en-US" i="1" dirty="0" smtClean="0"/>
          </a:p>
          <a:p>
            <a:pPr algn="just"/>
            <a:endParaRPr lang="en-US" i="1" dirty="0" smtClean="0"/>
          </a:p>
          <a:p>
            <a:r>
              <a:rPr lang="en-US" i="1" dirty="0" smtClean="0"/>
              <a:t>a </a:t>
            </a:r>
            <a:r>
              <a:rPr lang="en-US" b="1" i="1" dirty="0"/>
              <a:t>beta bond </a:t>
            </a:r>
            <a:r>
              <a:rPr lang="en-US" i="1" dirty="0"/>
              <a:t>is formed when the OH group on the carbon-1 is above the ring plane.</a:t>
            </a:r>
          </a:p>
        </p:txBody>
      </p:sp>
    </p:spTree>
    <p:extLst>
      <p:ext uri="{BB962C8B-B14F-4D97-AF65-F5344CB8AC3E}">
        <p14:creationId xmlns:p14="http://schemas.microsoft.com/office/powerpoint/2010/main" val="1429501785"/>
      </p:ext>
    </p:extLst>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Cont’d</a:t>
            </a:r>
            <a:endParaRPr lang="en-US" dirty="0"/>
          </a:p>
        </p:txBody>
      </p:sp>
      <p:sp>
        <p:nvSpPr>
          <p:cNvPr id="6" name="Content Placeholder 5"/>
          <p:cNvSpPr>
            <a:spLocks noGrp="1"/>
          </p:cNvSpPr>
          <p:nvPr>
            <p:ph idx="1"/>
          </p:nvPr>
        </p:nvSpPr>
        <p:spPr>
          <a:xfrm>
            <a:off x="457201" y="900115"/>
            <a:ext cx="8628277" cy="5246687"/>
          </a:xfrm>
        </p:spPr>
        <p:txBody>
          <a:bodyPr/>
          <a:lstStyle/>
          <a:p>
            <a:r>
              <a:rPr lang="en-US" dirty="0" smtClean="0"/>
              <a:t> </a:t>
            </a:r>
            <a:endParaRPr lang="en-US" dirty="0"/>
          </a:p>
        </p:txBody>
      </p:sp>
      <p:sp>
        <p:nvSpPr>
          <p:cNvPr id="2" name="Date Placeholder 1"/>
          <p:cNvSpPr>
            <a:spLocks noGrp="1"/>
          </p:cNvSpPr>
          <p:nvPr>
            <p:ph type="dt" sz="half" idx="10"/>
          </p:nvPr>
        </p:nvSpPr>
        <p:spPr/>
        <p:txBody>
          <a:bodyPr/>
          <a:lstStyle/>
          <a:p>
            <a:pPr>
              <a:defRPr/>
            </a:pPr>
            <a:r>
              <a:rPr lang="en-US" smtClean="0"/>
              <a:t>www.hu.edu.et</a:t>
            </a:r>
            <a:endParaRPr lang="en-US"/>
          </a:p>
        </p:txBody>
      </p:sp>
      <p:sp>
        <p:nvSpPr>
          <p:cNvPr id="3" name="Footer Placeholder 2"/>
          <p:cNvSpPr>
            <a:spLocks noGrp="1"/>
          </p:cNvSpPr>
          <p:nvPr>
            <p:ph type="ftr" sz="quarter" idx="11"/>
          </p:nvPr>
        </p:nvSpPr>
        <p:spPr/>
        <p:txBody>
          <a:bodyPr/>
          <a:lstStyle/>
          <a:p>
            <a:pPr>
              <a:defRPr/>
            </a:pPr>
            <a:r>
              <a:rPr lang="en-US" smtClean="0"/>
              <a:t>Ever to Excel!</a:t>
            </a:r>
            <a:endParaRPr lang="en-US"/>
          </a:p>
        </p:txBody>
      </p:sp>
      <p:sp>
        <p:nvSpPr>
          <p:cNvPr id="4" name="Slide Number Placeholder 3"/>
          <p:cNvSpPr>
            <a:spLocks noGrp="1"/>
          </p:cNvSpPr>
          <p:nvPr>
            <p:ph type="sldNum" sz="quarter" idx="12"/>
          </p:nvPr>
        </p:nvSpPr>
        <p:spPr/>
        <p:txBody>
          <a:bodyPr/>
          <a:lstStyle/>
          <a:p>
            <a:pPr>
              <a:defRPr/>
            </a:pPr>
            <a:fld id="{662CB6B0-DFB5-4A57-992B-6A9D766DFFF1}" type="slidenum">
              <a:rPr lang="en-US" smtClean="0"/>
              <a:pPr>
                <a:defRPr/>
              </a:pPr>
              <a:t>21</a:t>
            </a:fld>
            <a:endParaRPr lang="en-US"/>
          </a:p>
        </p:txBody>
      </p:sp>
      <p:sp>
        <p:nvSpPr>
          <p:cNvPr id="9" name="Rectangle 8"/>
          <p:cNvSpPr/>
          <p:nvPr/>
        </p:nvSpPr>
        <p:spPr>
          <a:xfrm>
            <a:off x="243473" y="900115"/>
            <a:ext cx="5901295" cy="5016758"/>
          </a:xfrm>
          <a:prstGeom prst="rect">
            <a:avLst/>
          </a:prstGeom>
        </p:spPr>
        <p:txBody>
          <a:bodyPr wrap="square">
            <a:spAutoFit/>
          </a:bodyPr>
          <a:lstStyle/>
          <a:p>
            <a:pPr lvl="0" algn="just"/>
            <a:r>
              <a:rPr lang="en-US" altLang="en-US" sz="3200" b="1" kern="0" dirty="0">
                <a:solidFill>
                  <a:srgbClr val="FF0000"/>
                </a:solidFill>
                <a:latin typeface="Times New Roman" panose="02020603050405020304" pitchFamily="18" charset="0"/>
                <a:cs typeface="Times New Roman" panose="02020603050405020304" pitchFamily="18" charset="0"/>
              </a:rPr>
              <a:t>Lactose intolerance</a:t>
            </a:r>
          </a:p>
          <a:p>
            <a:pPr marL="285750" lvl="0" indent="-285750">
              <a:buFont typeface="Arial" panose="020B0604020202020204" pitchFamily="34" charset="0"/>
              <a:buChar char="•"/>
            </a:pPr>
            <a:r>
              <a:rPr lang="en-US" altLang="en-US" sz="2400" kern="0" dirty="0" smtClean="0">
                <a:solidFill>
                  <a:srgbClr val="000000"/>
                </a:solidFill>
                <a:latin typeface="Times New Roman" panose="02020603050405020304" pitchFamily="18" charset="0"/>
                <a:cs typeface="Times New Roman" panose="02020603050405020304" pitchFamily="18" charset="0"/>
              </a:rPr>
              <a:t>Lactose </a:t>
            </a:r>
            <a:r>
              <a:rPr lang="en-US" altLang="en-US" sz="2400" kern="0" dirty="0">
                <a:solidFill>
                  <a:srgbClr val="000000"/>
                </a:solidFill>
                <a:latin typeface="Times New Roman" panose="02020603050405020304" pitchFamily="18" charset="0"/>
                <a:cs typeface="Times New Roman" panose="02020603050405020304" pitchFamily="18" charset="0"/>
              </a:rPr>
              <a:t>is digestible by most humans by </a:t>
            </a:r>
            <a:r>
              <a:rPr lang="en-US" altLang="en-US" sz="2400" b="1" kern="0" dirty="0">
                <a:solidFill>
                  <a:srgbClr val="0033CC"/>
                </a:solidFill>
                <a:latin typeface="Times New Roman" panose="02020603050405020304" pitchFamily="18" charset="0"/>
                <a:cs typeface="Times New Roman" panose="02020603050405020304" pitchFamily="18" charset="0"/>
              </a:rPr>
              <a:t>lactase</a:t>
            </a:r>
            <a:r>
              <a:rPr lang="en-US" altLang="en-US" sz="2400" kern="0" dirty="0">
                <a:solidFill>
                  <a:srgbClr val="000000"/>
                </a:solidFill>
                <a:latin typeface="Times New Roman" panose="02020603050405020304" pitchFamily="18" charset="0"/>
                <a:cs typeface="Times New Roman" panose="02020603050405020304" pitchFamily="18" charset="0"/>
              </a:rPr>
              <a:t> enzyme present in the small intestine to galactose and glucose. </a:t>
            </a:r>
            <a:r>
              <a:rPr lang="en-US" altLang="en-US" sz="2400" kern="0" dirty="0" smtClean="0">
                <a:solidFill>
                  <a:srgbClr val="000000"/>
                </a:solidFill>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US" altLang="en-US" sz="2400" kern="0" dirty="0" smtClean="0">
                <a:solidFill>
                  <a:srgbClr val="000000"/>
                </a:solidFill>
                <a:latin typeface="Times New Roman" panose="02020603050405020304" pitchFamily="18" charset="0"/>
                <a:cs typeface="Times New Roman" panose="02020603050405020304" pitchFamily="18" charset="0"/>
              </a:rPr>
              <a:t>5</a:t>
            </a:r>
            <a:r>
              <a:rPr lang="en-US" altLang="en-US" sz="2400" kern="0" dirty="0">
                <a:solidFill>
                  <a:srgbClr val="000000"/>
                </a:solidFill>
                <a:latin typeface="Times New Roman" panose="02020603050405020304" pitchFamily="18" charset="0"/>
                <a:cs typeface="Times New Roman" panose="02020603050405020304" pitchFamily="18" charset="0"/>
              </a:rPr>
              <a:t>% of people from Scandinavia and 90% of Asian adults suffer from lactose intolerance – a deficiency in the enzyme lactase.</a:t>
            </a:r>
          </a:p>
          <a:p>
            <a:pPr lvl="0" algn="just"/>
            <a:r>
              <a:rPr lang="en-US" altLang="en-US" sz="2400" kern="0" dirty="0">
                <a:solidFill>
                  <a:srgbClr val="000000"/>
                </a:solidFill>
                <a:latin typeface="Times New Roman" panose="02020603050405020304" pitchFamily="18" charset="0"/>
                <a:cs typeface="Times New Roman" panose="02020603050405020304" pitchFamily="18" charset="0"/>
              </a:rPr>
              <a:t>For those with the deficiency:</a:t>
            </a:r>
          </a:p>
          <a:p>
            <a:pPr marL="342900" indent="-342900">
              <a:buFont typeface="Arial" panose="020B0604020202020204" pitchFamily="34" charset="0"/>
              <a:buChar char="•"/>
            </a:pPr>
            <a:r>
              <a:rPr lang="en-US" altLang="en-US" sz="2400" kern="0" dirty="0">
                <a:solidFill>
                  <a:srgbClr val="000000"/>
                </a:solidFill>
                <a:latin typeface="Times New Roman" panose="02020603050405020304" pitchFamily="18" charset="0"/>
                <a:cs typeface="Times New Roman" panose="02020603050405020304" pitchFamily="18" charset="0"/>
              </a:rPr>
              <a:t>Lactose accumulates in the small intestine, Degraded by intestinal bacteria producing CO</a:t>
            </a:r>
            <a:r>
              <a:rPr lang="en-US" altLang="en-US" sz="2400" kern="0" baseline="-25000" dirty="0">
                <a:solidFill>
                  <a:srgbClr val="000000"/>
                </a:solidFill>
                <a:latin typeface="Times New Roman" panose="02020603050405020304" pitchFamily="18" charset="0"/>
                <a:cs typeface="Times New Roman" panose="02020603050405020304" pitchFamily="18" charset="0"/>
              </a:rPr>
              <a:t>2</a:t>
            </a:r>
            <a:r>
              <a:rPr lang="en-US" altLang="en-US" sz="2400" kern="0" dirty="0">
                <a:solidFill>
                  <a:srgbClr val="000000"/>
                </a:solidFill>
                <a:latin typeface="Times New Roman" panose="02020603050405020304" pitchFamily="18" charset="0"/>
                <a:cs typeface="Times New Roman" panose="02020603050405020304" pitchFamily="18" charset="0"/>
              </a:rPr>
              <a:t>, hydrogen gas, and organic </a:t>
            </a:r>
            <a:r>
              <a:rPr lang="en-US" altLang="en-US" sz="2400" kern="0" dirty="0" smtClean="0">
                <a:solidFill>
                  <a:srgbClr val="000000"/>
                </a:solidFill>
                <a:latin typeface="Times New Roman" panose="02020603050405020304" pitchFamily="18" charset="0"/>
                <a:cs typeface="Times New Roman" panose="02020603050405020304" pitchFamily="18" charset="0"/>
              </a:rPr>
              <a:t>acid </a:t>
            </a:r>
            <a:r>
              <a:rPr lang="en-US" altLang="en-US" sz="2400" b="1" u="sng" kern="0" dirty="0">
                <a:solidFill>
                  <a:srgbClr val="0033CC"/>
                </a:solidFill>
                <a:latin typeface="Times New Roman" panose="02020603050405020304" pitchFamily="18" charset="0"/>
                <a:cs typeface="Times New Roman" panose="02020603050405020304" pitchFamily="18" charset="0"/>
              </a:rPr>
              <a:t>Symptoms</a:t>
            </a:r>
          </a:p>
          <a:p>
            <a:pPr lvl="2" algn="just">
              <a:buFont typeface="Arial" panose="020B0604020202020204" pitchFamily="34" charset="0"/>
              <a:buChar char="•"/>
            </a:pPr>
            <a:r>
              <a:rPr lang="en-US" altLang="en-US" sz="2400" kern="0" dirty="0">
                <a:solidFill>
                  <a:srgbClr val="000000"/>
                </a:solidFill>
                <a:latin typeface="Times New Roman" panose="02020603050405020304" pitchFamily="18" charset="0"/>
                <a:cs typeface="Times New Roman" panose="02020603050405020304" pitchFamily="18" charset="0"/>
              </a:rPr>
              <a:t>Bloating, Nausea, Cramping, Diarrhea</a:t>
            </a:r>
          </a:p>
        </p:txBody>
      </p:sp>
      <p:pic>
        <p:nvPicPr>
          <p:cNvPr id="10" name="Picture 9"/>
          <p:cNvPicPr>
            <a:picLocks noChangeAspect="1"/>
          </p:cNvPicPr>
          <p:nvPr/>
        </p:nvPicPr>
        <p:blipFill rotWithShape="1">
          <a:blip r:embed="rId3"/>
          <a:srcRect l="14738" t="-1129" r="20132" b="1129"/>
          <a:stretch/>
        </p:blipFill>
        <p:spPr>
          <a:xfrm>
            <a:off x="6200558" y="1902867"/>
            <a:ext cx="2829129" cy="2895905"/>
          </a:xfrm>
          <a:prstGeom prst="rect">
            <a:avLst/>
          </a:prstGeom>
        </p:spPr>
      </p:pic>
    </p:spTree>
    <p:extLst>
      <p:ext uri="{BB962C8B-B14F-4D97-AF65-F5344CB8AC3E}">
        <p14:creationId xmlns:p14="http://schemas.microsoft.com/office/powerpoint/2010/main" val="1331202378"/>
      </p:ext>
    </p:extLst>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1481328" y="-118427"/>
            <a:ext cx="8229600"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altLang="en-US" b="1"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rPr>
              <a:t>Polysaccharides</a:t>
            </a:r>
          </a:p>
        </p:txBody>
      </p:sp>
      <p:sp>
        <p:nvSpPr>
          <p:cNvPr id="22532" name="Text Box 3"/>
          <p:cNvSpPr txBox="1">
            <a:spLocks noChangeArrowheads="1"/>
          </p:cNvSpPr>
          <p:nvPr/>
        </p:nvSpPr>
        <p:spPr bwMode="auto">
          <a:xfrm>
            <a:off x="124358" y="914400"/>
            <a:ext cx="8895284" cy="4983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1313" indent="-341313" eaLnBrk="0" hangingPunct="0">
              <a:spcBef>
                <a:spcPts val="800"/>
              </a:spcBef>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Arial" charset="0"/>
                <a:ea typeface="ＭＳ Ｐゴシック" pitchFamily="34" charset="-128"/>
                <a:cs typeface="Microsoft YaHei" pitchFamily="34" charset="-122"/>
              </a:defRPr>
            </a:lvl1pPr>
            <a:lvl2pPr marL="741363" indent="-284163" eaLnBrk="0" hangingPunct="0">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Arial" charset="0"/>
                <a:ea typeface="ＭＳ Ｐゴシック" pitchFamily="34" charset="-128"/>
                <a:cs typeface="Microsoft YaHei" pitchFamily="34" charset="-122"/>
              </a:defRPr>
            </a:lvl2pPr>
            <a:lvl3pPr eaLnBrk="0" hangingPunct="0">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charset="0"/>
                <a:ea typeface="ＭＳ Ｐゴシック" pitchFamily="34" charset="-128"/>
                <a:cs typeface="Microsoft YaHei" pitchFamily="34" charset="-122"/>
              </a:defRPr>
            </a:lvl3pPr>
            <a:lvl4pPr eaLnBrk="0" hangingPunct="0">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charset="0"/>
                <a:ea typeface="ＭＳ Ｐゴシック" pitchFamily="34" charset="-128"/>
                <a:cs typeface="Microsoft YaHei" pitchFamily="34" charset="-122"/>
              </a:defRPr>
            </a:lvl4pPr>
            <a:lvl5pPr eaLnBrk="0" hangingPunct="0">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charset="0"/>
                <a:ea typeface="ＭＳ Ｐゴシック" pitchFamily="34" charset="-128"/>
                <a:cs typeface="Microsoft YaHei" pitchFamily="34" charset="-122"/>
              </a:defRPr>
            </a:lvl5pPr>
            <a:lvl6pPr marL="2514600" indent="-228600" defTabSz="457200" eaLnBrk="0" fontAlgn="base" hangingPunct="0">
              <a:spcBef>
                <a:spcPts val="500"/>
              </a:spcBef>
              <a:spcAft>
                <a:spcPct val="0"/>
              </a:spcAft>
              <a:buClr>
                <a:srgbClr val="000000"/>
              </a:buClr>
              <a:buSzPct val="100000"/>
              <a:buFont typeface="Times New Roman"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charset="0"/>
                <a:ea typeface="ＭＳ Ｐゴシック" pitchFamily="34" charset="-128"/>
                <a:cs typeface="Microsoft YaHei" pitchFamily="34" charset="-122"/>
              </a:defRPr>
            </a:lvl6pPr>
            <a:lvl7pPr marL="2971800" indent="-228600" defTabSz="457200" eaLnBrk="0" fontAlgn="base" hangingPunct="0">
              <a:spcBef>
                <a:spcPts val="500"/>
              </a:spcBef>
              <a:spcAft>
                <a:spcPct val="0"/>
              </a:spcAft>
              <a:buClr>
                <a:srgbClr val="000000"/>
              </a:buClr>
              <a:buSzPct val="100000"/>
              <a:buFont typeface="Times New Roman"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charset="0"/>
                <a:ea typeface="ＭＳ Ｐゴシック" pitchFamily="34" charset="-128"/>
                <a:cs typeface="Microsoft YaHei" pitchFamily="34" charset="-122"/>
              </a:defRPr>
            </a:lvl7pPr>
            <a:lvl8pPr marL="3429000" indent="-228600" defTabSz="457200" eaLnBrk="0" fontAlgn="base" hangingPunct="0">
              <a:spcBef>
                <a:spcPts val="500"/>
              </a:spcBef>
              <a:spcAft>
                <a:spcPct val="0"/>
              </a:spcAft>
              <a:buClr>
                <a:srgbClr val="000000"/>
              </a:buClr>
              <a:buSzPct val="100000"/>
              <a:buFont typeface="Times New Roman"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charset="0"/>
                <a:ea typeface="ＭＳ Ｐゴシック" pitchFamily="34" charset="-128"/>
                <a:cs typeface="Microsoft YaHei" pitchFamily="34" charset="-122"/>
              </a:defRPr>
            </a:lvl8pPr>
            <a:lvl9pPr marL="3886200" indent="-228600" defTabSz="457200" eaLnBrk="0" fontAlgn="base" hangingPunct="0">
              <a:spcBef>
                <a:spcPts val="500"/>
              </a:spcBef>
              <a:spcAft>
                <a:spcPct val="0"/>
              </a:spcAft>
              <a:buClr>
                <a:srgbClr val="000000"/>
              </a:buClr>
              <a:buSzPct val="100000"/>
              <a:buFont typeface="Times New Roman"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charset="0"/>
                <a:ea typeface="ＭＳ Ｐゴシック" pitchFamily="34" charset="-128"/>
                <a:cs typeface="Microsoft YaHei" pitchFamily="34" charset="-122"/>
              </a:defRPr>
            </a:lvl9pPr>
          </a:lstStyle>
          <a:p>
            <a:pPr lvl="0" defTabSz="457200" eaLnBrk="1" fontAlgn="base" hangingPunct="1">
              <a:spcAft>
                <a:spcPct val="0"/>
              </a:spcAft>
              <a:buClr>
                <a:srgbClr val="000000"/>
              </a:buClr>
              <a:buSzPct val="100000"/>
              <a:buFont typeface="Arial" charset="0"/>
              <a:buChar char="•"/>
              <a:defRPr/>
            </a:pPr>
            <a:r>
              <a:rPr lang="en-US" altLang="en-US" sz="2400" dirty="0">
                <a:latin typeface="Times New Roman" panose="02020603050405020304" pitchFamily="18" charset="0"/>
                <a:cs typeface="Times New Roman" panose="02020603050405020304" pitchFamily="18" charset="0"/>
              </a:rPr>
              <a:t>A long chain of monosaccharides linked by </a:t>
            </a:r>
            <a:r>
              <a:rPr lang="en-US" altLang="en-US" sz="2400" dirty="0" err="1">
                <a:latin typeface="Times New Roman" panose="02020603050405020304" pitchFamily="18" charset="0"/>
                <a:cs typeface="Times New Roman" panose="02020603050405020304" pitchFamily="18" charset="0"/>
              </a:rPr>
              <a:t>glycosidic</a:t>
            </a:r>
            <a:r>
              <a:rPr lang="en-US" altLang="en-US" sz="2400" dirty="0">
                <a:latin typeface="Times New Roman" panose="02020603050405020304" pitchFamily="18" charset="0"/>
                <a:cs typeface="Times New Roman" panose="02020603050405020304" pitchFamily="18" charset="0"/>
              </a:rPr>
              <a:t> bonds is a polysaccharide (poly- = “many</a:t>
            </a:r>
            <a:r>
              <a:rPr lang="en-US" altLang="en-US" sz="2400" dirty="0" smtClean="0">
                <a:latin typeface="Times New Roman" panose="02020603050405020304" pitchFamily="18" charset="0"/>
                <a:cs typeface="Times New Roman" panose="02020603050405020304" pitchFamily="18" charset="0"/>
              </a:rPr>
              <a:t>”)</a:t>
            </a: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 through </a:t>
            </a:r>
            <a:r>
              <a:rPr kumimoji="0" lang="en-US" altLang="en-US" sz="2400" b="1" i="0" u="none" strike="noStrike" kern="1200" cap="none" spc="0" normalizeH="0" baseline="0" noProof="0" dirty="0" smtClean="0">
                <a:ln>
                  <a:noFill/>
                </a:ln>
                <a:solidFill>
                  <a:srgbClr val="0070C0"/>
                </a:solidFill>
                <a:effectLst/>
                <a:uLnTx/>
                <a:uFillTx/>
                <a:latin typeface="Times New Roman" panose="02020603050405020304" pitchFamily="18" charset="0"/>
                <a:cs typeface="Times New Roman" panose="02020603050405020304" pitchFamily="18" charset="0"/>
              </a:rPr>
              <a:t>dehydration synthesis</a:t>
            </a:r>
          </a:p>
          <a:p>
            <a:pPr marL="0" indent="0" defTabSz="457200" eaLnBrk="1" fontAlgn="base" hangingPunct="1">
              <a:spcAft>
                <a:spcPct val="0"/>
              </a:spcAft>
              <a:buClr>
                <a:srgbClr val="000000"/>
              </a:buClr>
              <a:buSzPct val="100000"/>
              <a:defRPr/>
            </a:pPr>
            <a:r>
              <a:rPr lang="en-US" sz="2400" b="1" dirty="0" smtClean="0">
                <a:latin typeface="Times New Roman" panose="02020603050405020304" pitchFamily="18" charset="0"/>
                <a:cs typeface="Times New Roman" panose="02020603050405020304" pitchFamily="18" charset="0"/>
              </a:rPr>
              <a:t>    E.g</a:t>
            </a:r>
            <a:r>
              <a:rPr lang="en-US" sz="2400" b="1" dirty="0">
                <a:latin typeface="Times New Roman" panose="02020603050405020304" pitchFamily="18" charset="0"/>
                <a:cs typeface="Times New Roman" panose="02020603050405020304" pitchFamily="18" charset="0"/>
              </a:rPr>
              <a:t>. Starch, Glycogen, </a:t>
            </a:r>
            <a:r>
              <a:rPr lang="en-US" sz="2400" b="1" dirty="0" err="1">
                <a:latin typeface="Times New Roman" panose="02020603050405020304" pitchFamily="18" charset="0"/>
                <a:cs typeface="Times New Roman" panose="02020603050405020304" pitchFamily="18" charset="0"/>
              </a:rPr>
              <a:t>Celullose</a:t>
            </a:r>
            <a:r>
              <a:rPr lang="en-US" sz="2400" b="1" dirty="0">
                <a:latin typeface="Times New Roman" panose="02020603050405020304" pitchFamily="18" charset="0"/>
                <a:cs typeface="Times New Roman" panose="02020603050405020304" pitchFamily="18" charset="0"/>
              </a:rPr>
              <a:t>.</a:t>
            </a:r>
          </a:p>
          <a:p>
            <a:pPr marL="0" lvl="0" indent="0" defTabSz="457200" eaLnBrk="1" fontAlgn="base" hangingPunct="1">
              <a:spcAft>
                <a:spcPct val="0"/>
              </a:spcAft>
              <a:buClr>
                <a:srgbClr val="000000"/>
              </a:buClr>
              <a:buSzPct val="100000"/>
              <a:defRPr/>
            </a:pPr>
            <a:endParaRPr kumimoji="0" lang="en-US" altLang="en-US" sz="2400" b="1" i="0" u="none" strike="noStrike" kern="1200" cap="none" spc="0" normalizeH="0" baseline="0" noProof="0" dirty="0" smtClean="0">
              <a:ln>
                <a:noFill/>
              </a:ln>
              <a:solidFill>
                <a:srgbClr val="0070C0"/>
              </a:solidFill>
              <a:effectLst/>
              <a:uLnTx/>
              <a:uFillTx/>
              <a:latin typeface="Times New Roman" panose="02020603050405020304" pitchFamily="18" charset="0"/>
              <a:cs typeface="Times New Roman" panose="02020603050405020304" pitchFamily="18" charset="0"/>
            </a:endParaRPr>
          </a:p>
          <a:p>
            <a:pPr marL="57150" marR="0" lvl="0" indent="0" algn="l" defTabSz="457200" rtl="0" eaLnBrk="1" fontAlgn="base" latinLnBrk="0" hangingPunct="1">
              <a:lnSpc>
                <a:spcPct val="100000"/>
              </a:lnSpc>
              <a:spcBef>
                <a:spcPts val="800"/>
              </a:spcBef>
              <a:spcAft>
                <a:spcPct val="0"/>
              </a:spcAft>
              <a:buClr>
                <a:srgbClr val="000000"/>
              </a:buClr>
              <a:buSzPct val="100000"/>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altLang="en-US" sz="2400" b="1" i="0" u="sng"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Major classes of polysaccharides</a:t>
            </a: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a:t>
            </a:r>
          </a:p>
          <a:p>
            <a:pPr marL="57150" lvl="0" indent="0" defTabSz="457200" eaLnBrk="1" fontAlgn="base" hangingPunct="1">
              <a:spcAft>
                <a:spcPct val="0"/>
              </a:spcAft>
              <a:buClr>
                <a:srgbClr val="000000"/>
              </a:buClr>
              <a:buSzPct val="100000"/>
              <a:defRPr/>
            </a:pPr>
            <a:r>
              <a:rPr kumimoji="0" lang="en-US" altLang="en-US" sz="2400" b="1" i="0" u="none" strike="noStrike" kern="1200" cap="none" spc="0" normalizeH="0" baseline="0" noProof="0" dirty="0" smtClean="0">
                <a:ln>
                  <a:noFill/>
                </a:ln>
                <a:solidFill>
                  <a:srgbClr val="0070C0"/>
                </a:solidFill>
                <a:effectLst/>
                <a:uLnTx/>
                <a:uFillTx/>
                <a:latin typeface="Times New Roman" panose="02020603050405020304" pitchFamily="18" charset="0"/>
                <a:cs typeface="Times New Roman" panose="02020603050405020304" pitchFamily="18" charset="0"/>
              </a:rPr>
              <a:t>Starch</a:t>
            </a: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 </a:t>
            </a:r>
            <a:r>
              <a:rPr lang="en-US" altLang="en-US" sz="2400" dirty="0" smtClean="0">
                <a:latin typeface="Times New Roman" panose="02020603050405020304" pitchFamily="18" charset="0"/>
                <a:cs typeface="Times New Roman" panose="02020603050405020304" pitchFamily="18" charset="0"/>
              </a:rPr>
              <a:t>is </a:t>
            </a:r>
            <a:r>
              <a:rPr lang="en-US" altLang="en-US" sz="2400" dirty="0">
                <a:latin typeface="Times New Roman" panose="02020603050405020304" pitchFamily="18" charset="0"/>
                <a:cs typeface="Times New Roman" panose="02020603050405020304" pitchFamily="18" charset="0"/>
              </a:rPr>
              <a:t>the stored form of sugars in plants and is made up of a mixture of </a:t>
            </a:r>
            <a:r>
              <a:rPr lang="en-US" altLang="en-US" sz="2400" b="1" dirty="0">
                <a:solidFill>
                  <a:srgbClr val="7030A0"/>
                </a:solidFill>
                <a:latin typeface="Times New Roman" panose="02020603050405020304" pitchFamily="18" charset="0"/>
                <a:cs typeface="Times New Roman" panose="02020603050405020304" pitchFamily="18" charset="0"/>
              </a:rPr>
              <a:t>amylose</a:t>
            </a:r>
            <a:r>
              <a:rPr lang="en-US" altLang="en-US" sz="2400" dirty="0">
                <a:latin typeface="Times New Roman" panose="02020603050405020304" pitchFamily="18" charset="0"/>
                <a:cs typeface="Times New Roman" panose="02020603050405020304" pitchFamily="18" charset="0"/>
              </a:rPr>
              <a:t> and </a:t>
            </a:r>
            <a:r>
              <a:rPr lang="en-US" altLang="en-US" sz="2400" b="1" dirty="0">
                <a:solidFill>
                  <a:srgbClr val="7030A0"/>
                </a:solidFill>
                <a:latin typeface="Times New Roman" panose="02020603050405020304" pitchFamily="18" charset="0"/>
                <a:cs typeface="Times New Roman" panose="02020603050405020304" pitchFamily="18" charset="0"/>
              </a:rPr>
              <a:t>amylopectin</a:t>
            </a:r>
            <a:r>
              <a:rPr lang="en-US" altLang="en-US" sz="2400" dirty="0">
                <a:latin typeface="Times New Roman" panose="02020603050405020304" pitchFamily="18" charset="0"/>
                <a:cs typeface="Times New Roman" panose="02020603050405020304" pitchFamily="18" charset="0"/>
              </a:rPr>
              <a:t> (both polymers of glucose</a:t>
            </a:r>
            <a:r>
              <a:rPr lang="en-US" altLang="en-US" sz="2400" dirty="0" smtClean="0">
                <a:latin typeface="Times New Roman" panose="02020603050405020304" pitchFamily="18" charset="0"/>
                <a:cs typeface="Times New Roman" panose="02020603050405020304" pitchFamily="18" charset="0"/>
              </a:rPr>
              <a:t>).</a:t>
            </a:r>
          </a:p>
          <a:p>
            <a:pPr marL="400050" lvl="0" indent="-342900" defTabSz="457200" eaLnBrk="1" fontAlgn="base" hangingPunct="1">
              <a:spcAft>
                <a:spcPct val="0"/>
              </a:spcAft>
              <a:buClr>
                <a:srgbClr val="000000"/>
              </a:buClr>
              <a:buSzPct val="100000"/>
              <a:buFont typeface="Arial" panose="020B0604020202020204" pitchFamily="34" charset="0"/>
              <a:buChar char="•"/>
              <a:defRPr/>
            </a:pPr>
            <a:r>
              <a:rPr lang="en-US" altLang="en-US" sz="2400" dirty="0" smtClean="0">
                <a:latin typeface="Times New Roman" panose="02020603050405020304" pitchFamily="18" charset="0"/>
                <a:cs typeface="Times New Roman" panose="02020603050405020304" pitchFamily="18" charset="0"/>
              </a:rPr>
              <a:t>Plants </a:t>
            </a:r>
            <a:r>
              <a:rPr lang="en-US" altLang="en-US" sz="2400" dirty="0">
                <a:latin typeface="Times New Roman" panose="02020603050405020304" pitchFamily="18" charset="0"/>
                <a:cs typeface="Times New Roman" panose="02020603050405020304" pitchFamily="18" charset="0"/>
              </a:rPr>
              <a:t>are able to synthesize glucose, and they store the excess glucose, beyond their immediate energy needs, as </a:t>
            </a:r>
            <a:r>
              <a:rPr lang="en-US" altLang="en-US" sz="2400" dirty="0" smtClean="0">
                <a:latin typeface="Times New Roman" panose="02020603050405020304" pitchFamily="18" charset="0"/>
                <a:cs typeface="Times New Roman" panose="02020603050405020304" pitchFamily="18" charset="0"/>
              </a:rPr>
              <a:t>starch in </a:t>
            </a:r>
            <a:r>
              <a:rPr lang="en-US" altLang="en-US" sz="2400" dirty="0">
                <a:latin typeface="Times New Roman" panose="02020603050405020304" pitchFamily="18" charset="0"/>
                <a:cs typeface="Times New Roman" panose="02020603050405020304" pitchFamily="18" charset="0"/>
              </a:rPr>
              <a:t>different plant parts, including roots and seeds. </a:t>
            </a:r>
            <a:endParaRPr lang="en-US" altLang="en-US" sz="2400" dirty="0" smtClean="0">
              <a:latin typeface="Times New Roman" panose="02020603050405020304" pitchFamily="18" charset="0"/>
              <a:cs typeface="Times New Roman" panose="02020603050405020304" pitchFamily="18" charset="0"/>
            </a:endParaRPr>
          </a:p>
          <a:p>
            <a:pPr marL="400050" lvl="0" indent="-342900" defTabSz="457200" eaLnBrk="1" fontAlgn="base" hangingPunct="1">
              <a:spcAft>
                <a:spcPct val="0"/>
              </a:spcAft>
              <a:buClr>
                <a:srgbClr val="000000"/>
              </a:buClr>
              <a:buSzPct val="100000"/>
              <a:buFont typeface="Arial" panose="020B0604020202020204" pitchFamily="34" charset="0"/>
              <a:buChar char="•"/>
              <a:defRPr/>
            </a:pPr>
            <a:r>
              <a:rPr lang="en-US" altLang="en-US" sz="2400" dirty="0" smtClean="0">
                <a:latin typeface="Times New Roman" panose="02020603050405020304" pitchFamily="18" charset="0"/>
                <a:cs typeface="Times New Roman" panose="02020603050405020304" pitchFamily="18" charset="0"/>
              </a:rPr>
              <a:t>The </a:t>
            </a:r>
            <a:r>
              <a:rPr lang="en-US" altLang="en-US" sz="2400" dirty="0">
                <a:latin typeface="Times New Roman" panose="02020603050405020304" pitchFamily="18" charset="0"/>
                <a:cs typeface="Times New Roman" panose="02020603050405020304" pitchFamily="18" charset="0"/>
              </a:rPr>
              <a:t>starch in the seeds provides food for the embryo as it germinates and </a:t>
            </a:r>
            <a:r>
              <a:rPr lang="en-US" altLang="en-US" sz="2400" dirty="0" smtClean="0">
                <a:latin typeface="Times New Roman" panose="02020603050405020304" pitchFamily="18" charset="0"/>
                <a:cs typeface="Times New Roman" panose="02020603050405020304" pitchFamily="18" charset="0"/>
              </a:rPr>
              <a:t>can also </a:t>
            </a:r>
            <a:r>
              <a:rPr lang="en-US" altLang="en-US" sz="2400" dirty="0">
                <a:latin typeface="Times New Roman" panose="02020603050405020304" pitchFamily="18" charset="0"/>
                <a:cs typeface="Times New Roman" panose="02020603050405020304" pitchFamily="18" charset="0"/>
              </a:rPr>
              <a:t>act as a food source for humans and animals.</a:t>
            </a:r>
            <a:endPar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endParaRPr>
          </a:p>
          <a:p>
            <a:pPr marL="341313" marR="0" lvl="0" indent="-341313" algn="l" defTabSz="457200" rtl="0" eaLnBrk="1" fontAlgn="base" latinLnBrk="0" hangingPunct="1">
              <a:lnSpc>
                <a:spcPct val="100000"/>
              </a:lnSpc>
              <a:spcBef>
                <a:spcPts val="800"/>
              </a:spcBef>
              <a:spcAft>
                <a:spcPct val="0"/>
              </a:spcAft>
              <a:buClr>
                <a:srgbClr val="000000"/>
              </a:buClr>
              <a:buSzPct val="100000"/>
              <a:buFont typeface="Arial"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idx="12"/>
          </p:nvPr>
        </p:nvSpPr>
        <p:spPr>
          <a:xfrm>
            <a:off x="7011988" y="6245225"/>
            <a:ext cx="2132012" cy="474663"/>
          </a:xfrm>
        </p:spPr>
        <p:txBody>
          <a:bodyPr/>
          <a:lstStyle/>
          <a:p>
            <a:pPr algn="r"/>
            <a:fld id="{CBC8E836-46D0-4C27-A431-744E806473CB}" type="slidenum">
              <a:rPr lang="en-US" altLang="en-US" smtClean="0"/>
              <a:pPr algn="r"/>
              <a:t>22</a:t>
            </a:fld>
            <a:endParaRPr lang="en-US" altLang="en-US"/>
          </a:p>
        </p:txBody>
      </p:sp>
    </p:spTree>
    <p:extLst>
      <p:ext uri="{BB962C8B-B14F-4D97-AF65-F5344CB8AC3E}">
        <p14:creationId xmlns:p14="http://schemas.microsoft.com/office/powerpoint/2010/main" val="4116334425"/>
      </p:ext>
    </p:extLst>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93018" y="2580883"/>
            <a:ext cx="7252662" cy="161186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087" y="4207012"/>
            <a:ext cx="7326524" cy="227554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5" name="Title 4"/>
          <p:cNvSpPr>
            <a:spLocks noGrp="1"/>
          </p:cNvSpPr>
          <p:nvPr>
            <p:ph type="title"/>
          </p:nvPr>
        </p:nvSpPr>
        <p:spPr>
          <a:xfrm>
            <a:off x="357799" y="692150"/>
            <a:ext cx="8228013" cy="748944"/>
          </a:xfrm>
        </p:spPr>
        <p:txBody>
          <a:bodyPr/>
          <a:lstStyle/>
          <a:p>
            <a:pPr algn="l"/>
            <a:r>
              <a:rPr lang="nb-NO" sz="2800" b="1" dirty="0" smtClean="0">
                <a:solidFill>
                  <a:srgbClr val="FF0000"/>
                </a:solidFill>
                <a:latin typeface="Times New Roman" panose="02020603050405020304" pitchFamily="18" charset="0"/>
                <a:cs typeface="Times New Roman" panose="02020603050405020304" pitchFamily="18" charset="0"/>
              </a:rPr>
              <a:t>Structure of starch</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a:xfrm>
            <a:off x="7011988" y="6245225"/>
            <a:ext cx="2132012" cy="474663"/>
          </a:xfrm>
        </p:spPr>
        <p:txBody>
          <a:bodyPr/>
          <a:lstStyle/>
          <a:p>
            <a:pPr algn="r"/>
            <a:fld id="{5E9C531F-C9E3-424E-BE3F-79B8EA3D097C}" type="slidenum">
              <a:rPr lang="en-US" altLang="en-US" smtClean="0"/>
              <a:pPr algn="r"/>
              <a:t>23</a:t>
            </a:fld>
            <a:endParaRPr lang="en-US" altLang="en-US"/>
          </a:p>
        </p:txBody>
      </p:sp>
      <p:sp>
        <p:nvSpPr>
          <p:cNvPr id="6" name="Rectangle 5"/>
          <p:cNvSpPr/>
          <p:nvPr/>
        </p:nvSpPr>
        <p:spPr>
          <a:xfrm>
            <a:off x="357799" y="1366285"/>
            <a:ext cx="8596006" cy="1200329"/>
          </a:xfrm>
          <a:prstGeom prst="rect">
            <a:avLst/>
          </a:prstGeom>
        </p:spPr>
        <p:txBody>
          <a:bodyPr wrap="square">
            <a:spAutoFit/>
          </a:bodyPr>
          <a:lstStyle/>
          <a:p>
            <a:pPr marL="285750" indent="-285750">
              <a:buFont typeface="Arial" panose="020B0604020202020204" pitchFamily="34" charset="0"/>
              <a:buChar char="•"/>
            </a:pPr>
            <a:r>
              <a:rPr lang="en-US" sz="2400" dirty="0">
                <a:latin typeface="+mj-lt"/>
              </a:rPr>
              <a:t>In starch, glucose monomers are joined by α 1-4 or α 1-6 </a:t>
            </a:r>
            <a:r>
              <a:rPr lang="en-US" sz="2400" dirty="0" err="1">
                <a:latin typeface="+mj-lt"/>
              </a:rPr>
              <a:t>glycosidic</a:t>
            </a:r>
            <a:r>
              <a:rPr lang="en-US" sz="2400" dirty="0">
                <a:latin typeface="+mj-lt"/>
              </a:rPr>
              <a:t> bonds. The numbers 1-4 and 1-6 refer to the carbon number of the two residues that have joined to form the bond. </a:t>
            </a:r>
          </a:p>
        </p:txBody>
      </p:sp>
    </p:spTree>
    <p:extLst>
      <p:ext uri="{BB962C8B-B14F-4D97-AF65-F5344CB8AC3E}">
        <p14:creationId xmlns:p14="http://schemas.microsoft.com/office/powerpoint/2010/main" val="355761115"/>
      </p:ext>
    </p:extLst>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160935" y="900115"/>
            <a:ext cx="8778240" cy="5246687"/>
          </a:xfrm>
        </p:spPr>
        <p:txBody>
          <a:bodyPr/>
          <a:lstStyle/>
          <a:p>
            <a:pPr marL="571500" lvl="0" indent="-514350" defTabSz="457200">
              <a:spcBef>
                <a:spcPts val="800"/>
              </a:spcBef>
              <a:buFont typeface="Times New Roman" panose="02020603050405020304" pitchFamily="18" charset="0"/>
              <a:buAutoNum type="arabicParen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400" kern="1200" dirty="0">
                <a:solidFill>
                  <a:srgbClr val="0070C0"/>
                </a:solidFill>
                <a:latin typeface="Times New Roman" panose="02020603050405020304" pitchFamily="18" charset="0"/>
                <a:cs typeface="Times New Roman" panose="02020603050405020304" pitchFamily="18" charset="0"/>
              </a:rPr>
              <a:t>Glycogen</a:t>
            </a:r>
            <a:r>
              <a:rPr lang="en-US" altLang="en-US" sz="2400" b="0" kern="1200" dirty="0">
                <a:solidFill>
                  <a:srgbClr val="000000"/>
                </a:solidFill>
                <a:latin typeface="Times New Roman" panose="02020603050405020304" pitchFamily="18" charset="0"/>
                <a:cs typeface="Times New Roman" panose="02020603050405020304" pitchFamily="18" charset="0"/>
              </a:rPr>
              <a:t>:  is the </a:t>
            </a:r>
            <a:r>
              <a:rPr lang="en-US" altLang="en-US" sz="2400" kern="1200" dirty="0">
                <a:solidFill>
                  <a:srgbClr val="7030A0"/>
                </a:solidFill>
                <a:latin typeface="Times New Roman" panose="02020603050405020304" pitchFamily="18" charset="0"/>
                <a:cs typeface="Times New Roman" panose="02020603050405020304" pitchFamily="18" charset="0"/>
              </a:rPr>
              <a:t>storage form of glucose in humans and other vertebrates </a:t>
            </a:r>
            <a:r>
              <a:rPr lang="en-US" altLang="en-US" sz="2400" b="0" kern="1200" dirty="0">
                <a:solidFill>
                  <a:srgbClr val="000000"/>
                </a:solidFill>
                <a:latin typeface="Times New Roman" panose="02020603050405020304" pitchFamily="18" charset="0"/>
                <a:cs typeface="Times New Roman" panose="02020603050405020304" pitchFamily="18" charset="0"/>
              </a:rPr>
              <a:t>and is made up of monomers of glucose. </a:t>
            </a:r>
            <a:endParaRPr lang="en-US" altLang="en-US" sz="2400" b="0" kern="1200" dirty="0" smtClean="0">
              <a:solidFill>
                <a:srgbClr val="000000"/>
              </a:solidFill>
              <a:latin typeface="Times New Roman" panose="02020603050405020304" pitchFamily="18" charset="0"/>
              <a:cs typeface="Times New Roman" panose="02020603050405020304" pitchFamily="18" charset="0"/>
            </a:endParaRPr>
          </a:p>
          <a:p>
            <a:pPr marL="400050" lvl="0" indent="-342900" defTabSz="457200">
              <a:spcBef>
                <a:spcPts val="800"/>
              </a:spcBef>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400" b="0" kern="1200" dirty="0" smtClean="0">
                <a:solidFill>
                  <a:srgbClr val="000000"/>
                </a:solidFill>
                <a:latin typeface="Times New Roman" panose="02020603050405020304" pitchFamily="18" charset="0"/>
                <a:cs typeface="Times New Roman" panose="02020603050405020304" pitchFamily="18" charset="0"/>
              </a:rPr>
              <a:t>Glycogen </a:t>
            </a:r>
            <a:r>
              <a:rPr lang="en-US" altLang="en-US" sz="2400" b="0" kern="1200" dirty="0">
                <a:solidFill>
                  <a:srgbClr val="000000"/>
                </a:solidFill>
                <a:latin typeface="Times New Roman" panose="02020603050405020304" pitchFamily="18" charset="0"/>
                <a:cs typeface="Times New Roman" panose="02020603050405020304" pitchFamily="18" charset="0"/>
              </a:rPr>
              <a:t>is the animal equivalent of starch and is a highly branched molecule usually stored in liver and muscle cells. </a:t>
            </a:r>
            <a:endParaRPr lang="en-US" altLang="en-US" sz="2400" b="0" kern="1200" dirty="0" smtClean="0">
              <a:solidFill>
                <a:srgbClr val="000000"/>
              </a:solidFill>
              <a:latin typeface="Times New Roman" panose="02020603050405020304" pitchFamily="18" charset="0"/>
              <a:cs typeface="Times New Roman" panose="02020603050405020304" pitchFamily="18" charset="0"/>
            </a:endParaRPr>
          </a:p>
          <a:p>
            <a:pPr marL="400050" lvl="0" indent="-342900" defTabSz="457200">
              <a:spcBef>
                <a:spcPts val="800"/>
              </a:spcBef>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400" b="0" kern="1200" dirty="0" smtClean="0">
                <a:solidFill>
                  <a:srgbClr val="000000"/>
                </a:solidFill>
                <a:latin typeface="Times New Roman" panose="02020603050405020304" pitchFamily="18" charset="0"/>
                <a:cs typeface="Times New Roman" panose="02020603050405020304" pitchFamily="18" charset="0"/>
              </a:rPr>
              <a:t>Whenever </a:t>
            </a:r>
            <a:r>
              <a:rPr lang="en-US" altLang="en-US" sz="2400" b="0" kern="1200" dirty="0">
                <a:solidFill>
                  <a:srgbClr val="000000"/>
                </a:solidFill>
                <a:latin typeface="Times New Roman" panose="02020603050405020304" pitchFamily="18" charset="0"/>
                <a:cs typeface="Times New Roman" panose="02020603050405020304" pitchFamily="18" charset="0"/>
              </a:rPr>
              <a:t>blood glucose levels decrease, glycogen is broken down to release glucose in a process known as </a:t>
            </a:r>
            <a:r>
              <a:rPr lang="en-US" altLang="en-US" sz="2400" kern="1200" dirty="0" err="1">
                <a:solidFill>
                  <a:srgbClr val="000000"/>
                </a:solidFill>
                <a:latin typeface="Times New Roman" panose="02020603050405020304" pitchFamily="18" charset="0"/>
                <a:cs typeface="Times New Roman" panose="02020603050405020304" pitchFamily="18" charset="0"/>
              </a:rPr>
              <a:t>glycogenolysis</a:t>
            </a:r>
            <a:r>
              <a:rPr lang="en-US" altLang="en-US" sz="2400" b="0" kern="1200" dirty="0">
                <a:solidFill>
                  <a:srgbClr val="000000"/>
                </a:solidFill>
                <a:latin typeface="Times New Roman" panose="02020603050405020304" pitchFamily="18" charset="0"/>
                <a:cs typeface="Times New Roman" panose="02020603050405020304" pitchFamily="18" charset="0"/>
              </a:rPr>
              <a:t>.</a:t>
            </a:r>
            <a:endParaRPr lang="en-US" altLang="en-US" sz="2400" b="0" kern="1200" dirty="0" smtClean="0">
              <a:solidFill>
                <a:srgbClr val="000000"/>
              </a:solidFill>
              <a:latin typeface="Times New Roman" panose="02020603050405020304" pitchFamily="18" charset="0"/>
              <a:cs typeface="Times New Roman" panose="02020603050405020304" pitchFamily="18" charset="0"/>
            </a:endParaRPr>
          </a:p>
          <a:p>
            <a:pPr marL="571500" lvl="0" indent="-514350" defTabSz="457200">
              <a:spcBef>
                <a:spcPts val="800"/>
              </a:spcBef>
              <a:buFont typeface="Times New Roman" panose="02020603050405020304" pitchFamily="18" charset="0"/>
              <a:buAutoNum type="arabicParen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2400" b="0" kern="1200" dirty="0">
              <a:solidFill>
                <a:srgbClr val="000000"/>
              </a:solidFill>
              <a:latin typeface="Times New Roman" panose="02020603050405020304" pitchFamily="18" charset="0"/>
              <a:cs typeface="Times New Roman" panose="02020603050405020304" pitchFamily="18" charset="0"/>
            </a:endParaRPr>
          </a:p>
          <a:p>
            <a:endParaRPr lang="en-US" sz="2400" dirty="0"/>
          </a:p>
        </p:txBody>
      </p:sp>
      <p:sp>
        <p:nvSpPr>
          <p:cNvPr id="3" name="Date Placeholder 2"/>
          <p:cNvSpPr>
            <a:spLocks noGrp="1"/>
          </p:cNvSpPr>
          <p:nvPr>
            <p:ph type="dt" sz="half" idx="10"/>
          </p:nvPr>
        </p:nvSpPr>
        <p:spPr/>
        <p:txBody>
          <a:bodyPr/>
          <a:lstStyle/>
          <a:p>
            <a:pPr>
              <a:defRPr/>
            </a:pPr>
            <a:r>
              <a:rPr lang="en-US" smtClean="0"/>
              <a:t>www.hu.edu.et</a:t>
            </a:r>
            <a:endParaRPr lang="en-US"/>
          </a:p>
        </p:txBody>
      </p:sp>
      <p:sp>
        <p:nvSpPr>
          <p:cNvPr id="4" name="Footer Placeholder 3"/>
          <p:cNvSpPr>
            <a:spLocks noGrp="1"/>
          </p:cNvSpPr>
          <p:nvPr>
            <p:ph type="ftr" sz="quarter" idx="11"/>
          </p:nvPr>
        </p:nvSpPr>
        <p:spPr/>
        <p:txBody>
          <a:bodyPr/>
          <a:lstStyle/>
          <a:p>
            <a:pPr>
              <a:defRPr/>
            </a:pPr>
            <a:r>
              <a:rPr lang="en-US" smtClean="0"/>
              <a:t>Ever to Excel!</a:t>
            </a:r>
            <a:endParaRPr lang="en-US"/>
          </a:p>
        </p:txBody>
      </p:sp>
      <p:sp>
        <p:nvSpPr>
          <p:cNvPr id="5" name="Slide Number Placeholder 4"/>
          <p:cNvSpPr>
            <a:spLocks noGrp="1"/>
          </p:cNvSpPr>
          <p:nvPr>
            <p:ph type="sldNum" sz="quarter" idx="12"/>
          </p:nvPr>
        </p:nvSpPr>
        <p:spPr/>
        <p:txBody>
          <a:bodyPr/>
          <a:lstStyle/>
          <a:p>
            <a:pPr>
              <a:defRPr/>
            </a:pPr>
            <a:fld id="{ADAD0141-BAB5-41B8-9CBD-BA365ACD5873}" type="slidenum">
              <a:rPr lang="en-US" smtClean="0"/>
              <a:pPr>
                <a:defRPr/>
              </a:pPr>
              <a:t>24</a:t>
            </a:fld>
            <a:endParaRPr lang="en-US"/>
          </a:p>
        </p:txBody>
      </p:sp>
      <p:pic>
        <p:nvPicPr>
          <p:cNvPr id="2" name="Picture 1"/>
          <p:cNvPicPr>
            <a:picLocks noChangeAspect="1"/>
          </p:cNvPicPr>
          <p:nvPr/>
        </p:nvPicPr>
        <p:blipFill>
          <a:blip r:embed="rId2"/>
          <a:stretch>
            <a:fillRect/>
          </a:stretch>
        </p:blipFill>
        <p:spPr>
          <a:xfrm>
            <a:off x="658879" y="3452774"/>
            <a:ext cx="7782351" cy="3155403"/>
          </a:xfrm>
          <a:prstGeom prst="rect">
            <a:avLst/>
          </a:prstGeom>
        </p:spPr>
      </p:pic>
    </p:spTree>
    <p:extLst>
      <p:ext uri="{BB962C8B-B14F-4D97-AF65-F5344CB8AC3E}">
        <p14:creationId xmlns:p14="http://schemas.microsoft.com/office/powerpoint/2010/main" val="2825745100"/>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0663" y="900115"/>
            <a:ext cx="8414552" cy="5246687"/>
          </a:xfrm>
        </p:spPr>
        <p:txBody>
          <a:bodyPr/>
          <a:lstStyle/>
          <a:p>
            <a:pPr marL="57150" lvl="0" indent="0" defTabSz="457200">
              <a:spcBef>
                <a:spcPts val="800"/>
              </a:spcBef>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400" kern="1200" dirty="0">
                <a:solidFill>
                  <a:schemeClr val="accent2"/>
                </a:solidFill>
                <a:latin typeface="+mj-lt"/>
                <a:cs typeface="Times New Roman" panose="02020603050405020304" pitchFamily="18" charset="0"/>
              </a:rPr>
              <a:t>Cellulose</a:t>
            </a:r>
            <a:r>
              <a:rPr lang="en-US" altLang="en-US" sz="2400" kern="1200" dirty="0" smtClean="0">
                <a:solidFill>
                  <a:schemeClr val="accent2"/>
                </a:solidFill>
                <a:latin typeface="+mj-lt"/>
                <a:cs typeface="Times New Roman" panose="02020603050405020304" pitchFamily="18" charset="0"/>
              </a:rPr>
              <a:t>:</a:t>
            </a:r>
          </a:p>
          <a:p>
            <a:pPr marL="342900" indent="-342900" defTabSz="914400">
              <a:spcBef>
                <a:spcPct val="20000"/>
              </a:spcBef>
              <a:buClr>
                <a:srgbClr val="B2B2B2"/>
              </a:buClr>
              <a:buSzPct val="90000"/>
              <a:buFont typeface="Wingdings" panose="05000000000000000000" pitchFamily="2" charset="2"/>
              <a:buChar char="§"/>
            </a:pPr>
            <a:r>
              <a:rPr lang="en-US" altLang="en-US" sz="2400" b="0" dirty="0">
                <a:solidFill>
                  <a:srgbClr val="000000"/>
                </a:solidFill>
                <a:latin typeface="+mj-lt"/>
                <a:cs typeface="Arial"/>
              </a:rPr>
              <a:t>Cellulose is made up of glucose monomers that are linked by β 1-4 </a:t>
            </a:r>
            <a:r>
              <a:rPr lang="en-US" altLang="en-US" sz="2400" b="0" dirty="0" err="1" smtClean="0">
                <a:solidFill>
                  <a:srgbClr val="000000"/>
                </a:solidFill>
                <a:latin typeface="+mj-lt"/>
                <a:cs typeface="Arial"/>
              </a:rPr>
              <a:t>glycosidic</a:t>
            </a:r>
            <a:r>
              <a:rPr lang="en-US" altLang="en-US" sz="2400" b="0" dirty="0" smtClean="0">
                <a:solidFill>
                  <a:srgbClr val="000000"/>
                </a:solidFill>
                <a:latin typeface="+mj-lt"/>
                <a:cs typeface="Arial"/>
              </a:rPr>
              <a:t> bond</a:t>
            </a:r>
            <a:endParaRPr lang="en-US" altLang="en-US" sz="2400" b="0" dirty="0">
              <a:solidFill>
                <a:srgbClr val="000000"/>
              </a:solidFill>
              <a:latin typeface="+mj-lt"/>
              <a:cs typeface="Arial"/>
            </a:endParaRPr>
          </a:p>
          <a:p>
            <a:pPr marL="342900" lvl="0" indent="-342900" defTabSz="914400">
              <a:spcBef>
                <a:spcPct val="20000"/>
              </a:spcBef>
              <a:buClr>
                <a:srgbClr val="B2B2B2"/>
              </a:buClr>
              <a:buSzPct val="90000"/>
              <a:buFont typeface="Wingdings" panose="05000000000000000000" pitchFamily="2" charset="2"/>
              <a:buChar char="§"/>
            </a:pPr>
            <a:r>
              <a:rPr lang="en-US" altLang="en-US" sz="2400" b="0" dirty="0" smtClean="0">
                <a:solidFill>
                  <a:srgbClr val="000000"/>
                </a:solidFill>
                <a:latin typeface="+mj-lt"/>
                <a:cs typeface="Arial"/>
              </a:rPr>
              <a:t>make </a:t>
            </a:r>
            <a:r>
              <a:rPr lang="en-US" altLang="en-US" sz="2400" b="0" dirty="0">
                <a:solidFill>
                  <a:srgbClr val="000000"/>
                </a:solidFill>
                <a:latin typeface="+mj-lt"/>
                <a:cs typeface="Arial"/>
              </a:rPr>
              <a:t>cell wall of plants </a:t>
            </a:r>
            <a:r>
              <a:rPr lang="en-US" altLang="en-US" sz="2400" b="0" dirty="0" smtClean="0">
                <a:solidFill>
                  <a:srgbClr val="000000"/>
                </a:solidFill>
                <a:latin typeface="+mj-lt"/>
                <a:cs typeface="Arial"/>
              </a:rPr>
              <a:t> providing </a:t>
            </a:r>
            <a:r>
              <a:rPr lang="en-US" altLang="en-US" sz="2400" b="0" dirty="0">
                <a:solidFill>
                  <a:srgbClr val="000000"/>
                </a:solidFill>
                <a:latin typeface="+mj-lt"/>
                <a:cs typeface="Arial"/>
              </a:rPr>
              <a:t>structural support to the cell. </a:t>
            </a:r>
            <a:endParaRPr lang="en-US" altLang="en-US" sz="2400" b="0" dirty="0" smtClean="0">
              <a:solidFill>
                <a:srgbClr val="000000"/>
              </a:solidFill>
              <a:latin typeface="+mj-lt"/>
              <a:cs typeface="Arial"/>
            </a:endParaRPr>
          </a:p>
          <a:p>
            <a:pPr marL="342900" lvl="0" indent="-342900" defTabSz="914400">
              <a:spcBef>
                <a:spcPct val="20000"/>
              </a:spcBef>
              <a:buClr>
                <a:srgbClr val="B2B2B2"/>
              </a:buClr>
              <a:buSzPct val="90000"/>
              <a:buFont typeface="Wingdings" panose="05000000000000000000" pitchFamily="2" charset="2"/>
              <a:buChar char="§"/>
            </a:pPr>
            <a:r>
              <a:rPr lang="en-US" altLang="en-US" sz="2400" b="0" dirty="0" smtClean="0">
                <a:solidFill>
                  <a:srgbClr val="000000"/>
                </a:solidFill>
                <a:latin typeface="+mj-lt"/>
                <a:cs typeface="Arial"/>
              </a:rPr>
              <a:t>Wood </a:t>
            </a:r>
            <a:r>
              <a:rPr lang="en-US" altLang="en-US" sz="2400" b="0" dirty="0">
                <a:solidFill>
                  <a:srgbClr val="000000"/>
                </a:solidFill>
                <a:latin typeface="+mj-lt"/>
                <a:cs typeface="Arial"/>
              </a:rPr>
              <a:t>and paper are mostly cellulosic in nature. </a:t>
            </a:r>
            <a:endParaRPr lang="nb-NO" altLang="en-US" sz="2400" b="0" kern="1200" dirty="0">
              <a:solidFill>
                <a:srgbClr val="000000"/>
              </a:solidFill>
              <a:latin typeface="+mj-lt"/>
              <a:cs typeface="Times New Roman" panose="02020603050405020304" pitchFamily="18" charset="0"/>
            </a:endParaRPr>
          </a:p>
          <a:p>
            <a:pPr marL="571500" lvl="0" indent="-514350" defTabSz="457200">
              <a:spcBef>
                <a:spcPts val="800"/>
              </a:spcBef>
              <a:buFont typeface="Times New Roman" panose="02020603050405020304" pitchFamily="18" charset="0"/>
              <a:buAutoNum type="arabicParen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2400" b="0" kern="1200" dirty="0">
              <a:solidFill>
                <a:srgbClr val="000000"/>
              </a:solidFill>
              <a:latin typeface="+mj-lt"/>
              <a:cs typeface="Times New Roman" panose="02020603050405020304" pitchFamily="18" charset="0"/>
            </a:endParaRPr>
          </a:p>
          <a:p>
            <a:endParaRPr lang="en-US" sz="2400" dirty="0">
              <a:latin typeface="+mj-lt"/>
            </a:endParaRPr>
          </a:p>
        </p:txBody>
      </p:sp>
      <p:sp>
        <p:nvSpPr>
          <p:cNvPr id="4" name="Date Placeholder 3"/>
          <p:cNvSpPr>
            <a:spLocks noGrp="1"/>
          </p:cNvSpPr>
          <p:nvPr>
            <p:ph type="dt" sz="half" idx="10"/>
          </p:nvPr>
        </p:nvSpPr>
        <p:spPr/>
        <p:txBody>
          <a:bodyPr/>
          <a:lstStyle/>
          <a:p>
            <a:fld id="{E8E1FD05-1EE7-4229-B2FA-C5E4A7E0862E}"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25</a:t>
            </a:fld>
            <a:endParaRPr lang="en-US"/>
          </a:p>
        </p:txBody>
      </p:sp>
      <p:pic>
        <p:nvPicPr>
          <p:cNvPr id="7" name="Picture 6"/>
          <p:cNvPicPr>
            <a:picLocks noChangeAspect="1"/>
          </p:cNvPicPr>
          <p:nvPr/>
        </p:nvPicPr>
        <p:blipFill rotWithShape="1">
          <a:blip r:embed="rId2"/>
          <a:srcRect t="10711"/>
          <a:stretch/>
        </p:blipFill>
        <p:spPr>
          <a:xfrm>
            <a:off x="1699821" y="3274894"/>
            <a:ext cx="4896113" cy="3276721"/>
          </a:xfrm>
          <a:prstGeom prst="rect">
            <a:avLst/>
          </a:prstGeom>
        </p:spPr>
      </p:pic>
    </p:spTree>
    <p:extLst>
      <p:ext uri="{BB962C8B-B14F-4D97-AF65-F5344CB8AC3E}">
        <p14:creationId xmlns:p14="http://schemas.microsoft.com/office/powerpoint/2010/main" val="1826441648"/>
      </p:ext>
    </p:extLst>
  </p:cSld>
  <p:clrMapOvr>
    <a:masterClrMapping/>
  </p:clrMapOvr>
  <p:transition spd="slow">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12141" y="972922"/>
            <a:ext cx="8473073" cy="5173880"/>
          </a:xfrm>
        </p:spPr>
        <p:txBody>
          <a:bodyPr/>
          <a:lstStyle/>
          <a:p>
            <a:pPr marL="533400" lvl="0" indent="-533400" defTabSz="914400">
              <a:spcBef>
                <a:spcPct val="20000"/>
              </a:spcBef>
              <a:buClr>
                <a:srgbClr val="B2B2B2"/>
              </a:buClr>
              <a:buSzPct val="90000"/>
            </a:pPr>
            <a:r>
              <a:rPr lang="en-US" altLang="en-US" sz="2400" dirty="0">
                <a:solidFill>
                  <a:srgbClr val="0033CC"/>
                </a:solidFill>
                <a:latin typeface="+mj-lt"/>
                <a:cs typeface="Arial"/>
              </a:rPr>
              <a:t>Chitin </a:t>
            </a:r>
            <a:endParaRPr lang="en-US" altLang="en-US" sz="2400" b="0" dirty="0">
              <a:solidFill>
                <a:srgbClr val="0033CC"/>
              </a:solidFill>
              <a:latin typeface="+mj-lt"/>
              <a:cs typeface="Arial"/>
            </a:endParaRPr>
          </a:p>
          <a:p>
            <a:pPr marL="342900" lvl="0" indent="-342900" defTabSz="914400">
              <a:spcBef>
                <a:spcPct val="20000"/>
              </a:spcBef>
              <a:buClr>
                <a:srgbClr val="B2B2B2"/>
              </a:buClr>
              <a:buSzPct val="90000"/>
              <a:buFont typeface="Arial" panose="020B0604020202020204" pitchFamily="34" charset="0"/>
              <a:buChar char="•"/>
            </a:pPr>
            <a:r>
              <a:rPr lang="en-US" altLang="en-US" sz="2400" b="0" dirty="0">
                <a:solidFill>
                  <a:srgbClr val="000000"/>
                </a:solidFill>
                <a:latin typeface="+mj-lt"/>
                <a:cs typeface="Arial"/>
              </a:rPr>
              <a:t> is a polysaccharide-containing nitrogen</a:t>
            </a:r>
            <a:r>
              <a:rPr lang="en-US" altLang="en-US" sz="2400" b="0" dirty="0" smtClean="0">
                <a:solidFill>
                  <a:srgbClr val="000000"/>
                </a:solidFill>
                <a:latin typeface="+mj-lt"/>
                <a:cs typeface="Arial"/>
              </a:rPr>
              <a:t>.</a:t>
            </a:r>
          </a:p>
          <a:p>
            <a:pPr marL="342900" lvl="0" indent="-342900" defTabSz="914400">
              <a:spcBef>
                <a:spcPct val="20000"/>
              </a:spcBef>
              <a:buClr>
                <a:srgbClr val="B2B2B2"/>
              </a:buClr>
              <a:buSzPct val="90000"/>
              <a:buFont typeface="Arial" panose="020B0604020202020204" pitchFamily="34" charset="0"/>
              <a:buChar char="•"/>
            </a:pPr>
            <a:r>
              <a:rPr lang="en-US" altLang="en-US" sz="2400" b="0" dirty="0" smtClean="0">
                <a:solidFill>
                  <a:srgbClr val="000000"/>
                </a:solidFill>
                <a:latin typeface="+mj-lt"/>
                <a:cs typeface="Arial"/>
              </a:rPr>
              <a:t> </a:t>
            </a:r>
            <a:r>
              <a:rPr lang="en-US" altLang="en-US" sz="2400" b="0" dirty="0">
                <a:solidFill>
                  <a:srgbClr val="000000"/>
                </a:solidFill>
                <a:latin typeface="+mj-lt"/>
                <a:cs typeface="Arial"/>
              </a:rPr>
              <a:t>It is made of repeating units of N-acetyl-β-d-glucosamine, a modified sugar. </a:t>
            </a:r>
            <a:endParaRPr lang="en-US" altLang="en-US" sz="2400" b="0" dirty="0" smtClean="0">
              <a:solidFill>
                <a:srgbClr val="000000"/>
              </a:solidFill>
              <a:latin typeface="+mj-lt"/>
              <a:cs typeface="Arial"/>
            </a:endParaRPr>
          </a:p>
          <a:p>
            <a:pPr marL="342900" lvl="0" indent="-342900" defTabSz="914400">
              <a:spcBef>
                <a:spcPct val="20000"/>
              </a:spcBef>
              <a:buClr>
                <a:srgbClr val="B2B2B2"/>
              </a:buClr>
              <a:buSzPct val="90000"/>
              <a:buFont typeface="Arial" panose="020B0604020202020204" pitchFamily="34" charset="0"/>
              <a:buChar char="•"/>
            </a:pPr>
            <a:r>
              <a:rPr lang="en-US" altLang="en-US" sz="2400" b="0" dirty="0" smtClean="0">
                <a:solidFill>
                  <a:srgbClr val="000000"/>
                </a:solidFill>
                <a:latin typeface="+mj-lt"/>
                <a:cs typeface="Arial"/>
              </a:rPr>
              <a:t>Make </a:t>
            </a:r>
            <a:r>
              <a:rPr lang="en-US" altLang="en-US" sz="2400" b="0" dirty="0">
                <a:solidFill>
                  <a:srgbClr val="000000"/>
                </a:solidFill>
                <a:latin typeface="+mj-lt"/>
                <a:cs typeface="Arial"/>
              </a:rPr>
              <a:t>the structure of fungal cell wall and insects exoskeleton</a:t>
            </a:r>
          </a:p>
        </p:txBody>
      </p:sp>
      <p:sp>
        <p:nvSpPr>
          <p:cNvPr id="4" name="Date Placeholder 3"/>
          <p:cNvSpPr>
            <a:spLocks noGrp="1"/>
          </p:cNvSpPr>
          <p:nvPr>
            <p:ph type="dt" sz="half" idx="10"/>
          </p:nvPr>
        </p:nvSpPr>
        <p:spPr/>
        <p:txBody>
          <a:bodyPr/>
          <a:lstStyle/>
          <a:p>
            <a:fld id="{592694F9-51A0-483E-85CF-6EB8273741AD}"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26</a:t>
            </a:fld>
            <a:endParaRPr lang="en-US"/>
          </a:p>
        </p:txBody>
      </p:sp>
      <p:pic>
        <p:nvPicPr>
          <p:cNvPr id="7" name="Picture 6"/>
          <p:cNvPicPr>
            <a:picLocks noChangeAspect="1"/>
          </p:cNvPicPr>
          <p:nvPr/>
        </p:nvPicPr>
        <p:blipFill rotWithShape="1">
          <a:blip r:embed="rId2"/>
          <a:srcRect t="14890" b="5937"/>
          <a:stretch/>
        </p:blipFill>
        <p:spPr>
          <a:xfrm>
            <a:off x="957392" y="3317030"/>
            <a:ext cx="5979721" cy="2666804"/>
          </a:xfrm>
          <a:prstGeom prst="rect">
            <a:avLst/>
          </a:prstGeom>
        </p:spPr>
      </p:pic>
    </p:spTree>
    <p:extLst>
      <p:ext uri="{BB962C8B-B14F-4D97-AF65-F5344CB8AC3E}">
        <p14:creationId xmlns:p14="http://schemas.microsoft.com/office/powerpoint/2010/main" val="2816651686"/>
      </p:ext>
    </p:extLst>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11932"/>
            <a:ext cx="6323013" cy="561975"/>
          </a:xfrm>
        </p:spPr>
        <p:txBody>
          <a:bodyPr/>
          <a:lstStyle/>
          <a:p>
            <a:r>
              <a:rPr lang="nb-NO" altLang="en-US" sz="2800" dirty="0">
                <a:solidFill>
                  <a:schemeClr val="bg1"/>
                </a:solidFill>
                <a:latin typeface="Times New Roman" panose="02020603050405020304" pitchFamily="18" charset="0"/>
                <a:cs typeface="Times New Roman" panose="02020603050405020304" pitchFamily="18" charset="0"/>
              </a:rPr>
              <a:t>Lipids</a:t>
            </a:r>
            <a:endParaRPr lang="en-US" sz="2800" dirty="0">
              <a:solidFill>
                <a:schemeClr val="bg1"/>
              </a:solidFill>
            </a:endParaRPr>
          </a:p>
        </p:txBody>
      </p:sp>
      <p:sp>
        <p:nvSpPr>
          <p:cNvPr id="4" name="Date Placeholder 3"/>
          <p:cNvSpPr>
            <a:spLocks noGrp="1"/>
          </p:cNvSpPr>
          <p:nvPr>
            <p:ph type="dt" sz="half" idx="10"/>
          </p:nvPr>
        </p:nvSpPr>
        <p:spPr/>
        <p:txBody>
          <a:bodyPr/>
          <a:lstStyle/>
          <a:p>
            <a:fld id="{ABA9F60F-94DC-419E-87A5-23AA4DBE5DC5}"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27</a:t>
            </a:fld>
            <a:endParaRPr lang="en-US"/>
          </a:p>
        </p:txBody>
      </p:sp>
      <p:sp>
        <p:nvSpPr>
          <p:cNvPr id="7" name="Rectangle 3"/>
          <p:cNvSpPr txBox="1">
            <a:spLocks noGrp="1" noChangeArrowheads="1"/>
          </p:cNvSpPr>
          <p:nvPr>
            <p:ph idx="1"/>
          </p:nvPr>
        </p:nvSpPr>
        <p:spPr bwMode="auto">
          <a:xfrm>
            <a:off x="128017" y="669090"/>
            <a:ext cx="9310951" cy="524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n"/>
              <a:defRPr sz="26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n"/>
              <a:defRPr sz="2300">
                <a:solidFill>
                  <a:schemeClr val="tx1"/>
                </a:solidFill>
                <a:latin typeface="+mn-lt"/>
                <a:cs typeface="+mn-cs"/>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cs typeface="+mn-cs"/>
              </a:defRPr>
            </a:lvl5pPr>
            <a:lvl6pPr marL="2514600" indent="-228600" algn="l" rtl="0" fontAlgn="base">
              <a:spcBef>
                <a:spcPct val="20000"/>
              </a:spcBef>
              <a:spcAft>
                <a:spcPct val="0"/>
              </a:spcAft>
              <a:buClr>
                <a:schemeClr val="accent1"/>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accent1"/>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accent1"/>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accent1"/>
              </a:buClr>
              <a:buFont typeface="Wingdings" pitchFamily="2" charset="2"/>
              <a:buChar char="§"/>
              <a:defRPr sz="2000">
                <a:solidFill>
                  <a:schemeClr val="tx1"/>
                </a:solidFill>
                <a:latin typeface="+mn-lt"/>
                <a:cs typeface="+mn-cs"/>
              </a:defRPr>
            </a:lvl9pPr>
          </a:lstStyle>
          <a:p>
            <a:pPr marL="0" indent="0" eaLnBrk="1" hangingPunct="1">
              <a:buNone/>
            </a:pPr>
            <a:r>
              <a:rPr lang="nb-NO" altLang="en-US" sz="2400" kern="0" dirty="0" smtClean="0">
                <a:solidFill>
                  <a:schemeClr val="accent2"/>
                </a:solidFill>
                <a:latin typeface="Times New Roman" panose="02020603050405020304" pitchFamily="18" charset="0"/>
                <a:cs typeface="Times New Roman" panose="02020603050405020304" pitchFamily="18" charset="0"/>
              </a:rPr>
              <a:t>Lipids</a:t>
            </a:r>
            <a:endParaRPr lang="en-US" altLang="en-US" sz="2400" kern="0" dirty="0" smtClean="0">
              <a:solidFill>
                <a:schemeClr val="accent2"/>
              </a:solidFill>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Char char="•"/>
            </a:pPr>
            <a:r>
              <a:rPr lang="en-US" altLang="en-US" sz="2400" b="0" dirty="0">
                <a:latin typeface="Times New Roman" panose="02020603050405020304" pitchFamily="18" charset="0"/>
                <a:cs typeface="Times New Roman" panose="02020603050405020304" pitchFamily="18" charset="0"/>
              </a:rPr>
              <a:t>include a diverse group of compounds that are largely nonpolar in </a:t>
            </a:r>
            <a:r>
              <a:rPr lang="en-US" altLang="en-US" sz="2400" b="0" dirty="0" smtClean="0">
                <a:latin typeface="Times New Roman" panose="02020603050405020304" pitchFamily="18" charset="0"/>
                <a:cs typeface="Times New Roman" panose="02020603050405020304" pitchFamily="18" charset="0"/>
              </a:rPr>
              <a:t>nature (water-insoluble)</a:t>
            </a:r>
          </a:p>
          <a:p>
            <a:pPr eaLnBrk="1" hangingPunct="1">
              <a:buFont typeface="Arial" panose="020B0604020202020204" pitchFamily="34" charset="0"/>
              <a:buChar char="•"/>
            </a:pPr>
            <a:r>
              <a:rPr lang="en-US" sz="2400" b="0" dirty="0">
                <a:latin typeface="Times New Roman" panose="02020603050405020304" pitchFamily="18" charset="0"/>
                <a:cs typeface="Times New Roman" panose="02020603050405020304" pitchFamily="18" charset="0"/>
              </a:rPr>
              <a:t>They are esters of fatty acids and alcohol (glycerol or chains of alcohols). </a:t>
            </a:r>
          </a:p>
          <a:p>
            <a:pPr eaLnBrk="1" hangingPunct="1">
              <a:buFont typeface="Arial" panose="020B0604020202020204" pitchFamily="34" charset="0"/>
              <a:buChar char="•"/>
            </a:pPr>
            <a:r>
              <a:rPr lang="en-US" altLang="en-US" sz="2400" b="0" kern="0" dirty="0" smtClean="0">
                <a:latin typeface="Times New Roman" panose="02020603050405020304" pitchFamily="18" charset="0"/>
                <a:cs typeface="Times New Roman" panose="02020603050405020304" pitchFamily="18" charset="0"/>
              </a:rPr>
              <a:t>are highly soluble in organic solvents (ether, chloroform, and acetone).</a:t>
            </a:r>
          </a:p>
          <a:p>
            <a:pPr eaLnBrk="1" hangingPunct="1">
              <a:buFont typeface="Wingdings" panose="05000000000000000000" pitchFamily="2" charset="2"/>
              <a:buNone/>
            </a:pPr>
            <a:r>
              <a:rPr lang="en-US" altLang="en-US" sz="2400" kern="0" dirty="0" smtClean="0">
                <a:solidFill>
                  <a:srgbClr val="0033CC"/>
                </a:solidFill>
                <a:latin typeface="Times New Roman" panose="02020603050405020304" pitchFamily="18" charset="0"/>
                <a:cs typeface="Times New Roman" panose="02020603050405020304" pitchFamily="18" charset="0"/>
              </a:rPr>
              <a:t>Functions of lipids</a:t>
            </a:r>
          </a:p>
          <a:p>
            <a:pPr eaLnBrk="1" hangingPunct="1">
              <a:buFont typeface="Arial" panose="020B0604020202020204" pitchFamily="34" charset="0"/>
              <a:buChar char="•"/>
            </a:pPr>
            <a:r>
              <a:rPr lang="en-US" altLang="en-US" sz="2400" b="0" kern="0" dirty="0" smtClean="0">
                <a:latin typeface="Times New Roman" panose="02020603050405020304" pitchFamily="18" charset="0"/>
                <a:cs typeface="Times New Roman" panose="02020603050405020304" pitchFamily="18" charset="0"/>
              </a:rPr>
              <a:t>Make structural components in cell membranes (e.g., phospholipids and sphingolipids)  </a:t>
            </a:r>
          </a:p>
          <a:p>
            <a:pPr eaLnBrk="1" hangingPunct="1">
              <a:buFont typeface="Arial" panose="020B0604020202020204" pitchFamily="34" charset="0"/>
              <a:buChar char="•"/>
            </a:pPr>
            <a:r>
              <a:rPr lang="en-US" altLang="en-US" sz="2400" b="0" kern="0" dirty="0" smtClean="0">
                <a:latin typeface="Times New Roman" panose="02020603050405020304" pitchFamily="18" charset="0"/>
                <a:cs typeface="Times New Roman" panose="02020603050405020304" pitchFamily="18" charset="0"/>
              </a:rPr>
              <a:t>For long term storage of energy.   e.g.  fats and oils</a:t>
            </a:r>
          </a:p>
          <a:p>
            <a:pPr eaLnBrk="1" hangingPunct="1">
              <a:buFont typeface="Arial" panose="020B0604020202020204" pitchFamily="34" charset="0"/>
              <a:buChar char="•"/>
            </a:pPr>
            <a:r>
              <a:rPr lang="en-US" altLang="en-US" sz="2400" b="0" kern="0" dirty="0" smtClean="0">
                <a:latin typeface="Times New Roman" panose="02020603050405020304" pitchFamily="18" charset="0"/>
                <a:cs typeface="Times New Roman" panose="02020603050405020304" pitchFamily="18" charset="0"/>
              </a:rPr>
              <a:t>Serve as chemical signals (hormones), vitamins, or pigments. </a:t>
            </a:r>
          </a:p>
          <a:p>
            <a:pPr eaLnBrk="1" hangingPunct="1">
              <a:buFont typeface="Arial" panose="020B0604020202020204" pitchFamily="34" charset="0"/>
              <a:buChar char="•"/>
            </a:pPr>
            <a:r>
              <a:rPr lang="en-US" altLang="en-US" sz="2400" b="0" kern="0" dirty="0" smtClean="0">
                <a:latin typeface="Times New Roman" panose="02020603050405020304" pitchFamily="18" charset="0"/>
                <a:cs typeface="Times New Roman" panose="02020603050405020304" pitchFamily="18" charset="0"/>
              </a:rPr>
              <a:t>Form protective or waterproofing functions.</a:t>
            </a:r>
          </a:p>
          <a:p>
            <a:pPr eaLnBrk="1" hangingPunct="1">
              <a:buFont typeface="Arial" panose="020B0604020202020204" pitchFamily="34" charset="0"/>
              <a:buChar char="•"/>
            </a:pPr>
            <a:r>
              <a:rPr lang="en-US" altLang="en-US" sz="2400" b="0" dirty="0">
                <a:latin typeface="Times New Roman" panose="02020603050405020304" pitchFamily="18" charset="0"/>
                <a:cs typeface="Times New Roman" panose="02020603050405020304" pitchFamily="18" charset="0"/>
              </a:rPr>
              <a:t> provide insulation from the environment for plants and animals</a:t>
            </a:r>
            <a:endParaRPr lang="en-US" altLang="en-US" sz="2400" b="0" kern="0" dirty="0" smtClean="0">
              <a:latin typeface="Times New Roman" panose="02020603050405020304" pitchFamily="18" charset="0"/>
              <a:cs typeface="Times New Roman" panose="02020603050405020304" pitchFamily="18" charset="0"/>
            </a:endParaRPr>
          </a:p>
        </p:txBody>
      </p:sp>
      <p:sp>
        <p:nvSpPr>
          <p:cNvPr id="8" name="Rectangle 7"/>
          <p:cNvSpPr/>
          <p:nvPr/>
        </p:nvSpPr>
        <p:spPr>
          <a:xfrm>
            <a:off x="273051" y="6010961"/>
            <a:ext cx="8205266" cy="461665"/>
          </a:xfrm>
          <a:prstGeom prst="rect">
            <a:avLst/>
          </a:prstGeom>
        </p:spPr>
        <p:txBody>
          <a:bodyPr wrap="square">
            <a:spAutoFit/>
          </a:bodyPr>
          <a:lstStyle/>
          <a:p>
            <a:r>
              <a:rPr lang="en-US" sz="2400" i="1" dirty="0">
                <a:solidFill>
                  <a:schemeClr val="accent2"/>
                </a:solidFill>
                <a:latin typeface="+mj-lt"/>
              </a:rPr>
              <a:t> </a:t>
            </a:r>
            <a:r>
              <a:rPr lang="en-US" sz="2400" b="1" i="1" dirty="0">
                <a:solidFill>
                  <a:schemeClr val="accent2"/>
                </a:solidFill>
                <a:latin typeface="+mj-lt"/>
              </a:rPr>
              <a:t>Lipids include fats, oils, waxes, phospholipids, and steroids</a:t>
            </a:r>
            <a:r>
              <a:rPr lang="en-US" sz="2400" i="1" dirty="0">
                <a:solidFill>
                  <a:schemeClr val="accent2"/>
                </a:solidFill>
                <a:latin typeface="+mj-lt"/>
              </a:rPr>
              <a:t>.</a:t>
            </a:r>
          </a:p>
        </p:txBody>
      </p:sp>
    </p:spTree>
    <p:extLst>
      <p:ext uri="{BB962C8B-B14F-4D97-AF65-F5344CB8AC3E}">
        <p14:creationId xmlns:p14="http://schemas.microsoft.com/office/powerpoint/2010/main" val="2449482867"/>
      </p:ext>
    </p:extLst>
  </p:cSld>
  <p:clrMapOvr>
    <a:masterClrMapping/>
  </p:clrMapOvr>
  <p:transition spd="slow">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56033" y="900115"/>
            <a:ext cx="8429182" cy="5246687"/>
          </a:xfrm>
        </p:spPr>
        <p:txBody>
          <a:bodyPr/>
          <a:lstStyle/>
          <a:p>
            <a:pPr marL="0" lvl="0" indent="0" defTabSz="914400" fontAlgn="auto">
              <a:spcBef>
                <a:spcPts val="0"/>
              </a:spcBef>
              <a:spcAft>
                <a:spcPts val="0"/>
              </a:spcAft>
              <a:buClrTx/>
              <a:buSzTx/>
            </a:pPr>
            <a:r>
              <a:rPr lang="en-US" sz="3200" kern="1200" dirty="0">
                <a:solidFill>
                  <a:srgbClr val="3333CC"/>
                </a:solidFill>
              </a:rPr>
              <a:t>Fats and Oils </a:t>
            </a:r>
          </a:p>
          <a:p>
            <a:pPr marL="342900" indent="-342900">
              <a:buFont typeface="Arial" panose="020B0604020202020204" pitchFamily="34" charset="0"/>
              <a:buChar char="•"/>
            </a:pPr>
            <a:r>
              <a:rPr lang="en-US" sz="2400" b="0" dirty="0">
                <a:latin typeface="+mj-lt"/>
              </a:rPr>
              <a:t>Also called </a:t>
            </a:r>
            <a:r>
              <a:rPr lang="en-US" sz="2400" b="0" dirty="0" err="1">
                <a:latin typeface="+mj-lt"/>
              </a:rPr>
              <a:t>Triacylglycerols</a:t>
            </a:r>
            <a:r>
              <a:rPr lang="en-US" sz="2400" b="0" dirty="0">
                <a:latin typeface="+mj-lt"/>
              </a:rPr>
              <a:t> </a:t>
            </a:r>
            <a:endParaRPr lang="en-US" sz="2400" b="0" dirty="0" smtClean="0">
              <a:latin typeface="+mj-lt"/>
            </a:endParaRPr>
          </a:p>
          <a:p>
            <a:pPr marL="342900" indent="-342900">
              <a:buFont typeface="Arial" panose="020B0604020202020204" pitchFamily="34" charset="0"/>
              <a:buChar char="•"/>
            </a:pPr>
            <a:r>
              <a:rPr lang="en-US" sz="2400" b="0" dirty="0" smtClean="0">
                <a:latin typeface="+mj-lt"/>
              </a:rPr>
              <a:t>consist </a:t>
            </a:r>
            <a:r>
              <a:rPr lang="en-US" sz="2400" b="0" dirty="0">
                <a:latin typeface="+mj-lt"/>
              </a:rPr>
              <a:t>of three fatty acid chains esteriﬁed to a glycerol backbone. </a:t>
            </a:r>
          </a:p>
          <a:p>
            <a:endParaRPr lang="en-US" dirty="0"/>
          </a:p>
        </p:txBody>
      </p:sp>
      <p:sp>
        <p:nvSpPr>
          <p:cNvPr id="4" name="Date Placeholder 3"/>
          <p:cNvSpPr>
            <a:spLocks noGrp="1"/>
          </p:cNvSpPr>
          <p:nvPr>
            <p:ph type="dt" sz="half" idx="10"/>
          </p:nvPr>
        </p:nvSpPr>
        <p:spPr/>
        <p:txBody>
          <a:bodyPr/>
          <a:lstStyle/>
          <a:p>
            <a:fld id="{16E8BD57-7A64-410C-9636-AD0CCB8C4854}"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28</a:t>
            </a:fld>
            <a:endParaRPr lang="en-US"/>
          </a:p>
        </p:txBody>
      </p:sp>
      <p:pic>
        <p:nvPicPr>
          <p:cNvPr id="7" name="Picture 6"/>
          <p:cNvPicPr>
            <a:picLocks noChangeAspect="1" noChangeArrowheads="1"/>
          </p:cNvPicPr>
          <p:nvPr/>
        </p:nvPicPr>
        <p:blipFill>
          <a:blip r:embed="rId2">
            <a:extLst>
              <a:ext uri="{28A0092B-C50C-407E-A947-70E740481C1C}">
                <a14:useLocalDpi xmlns:a14="http://schemas.microsoft.com/office/drawing/2010/main" val="0"/>
              </a:ext>
            </a:extLst>
          </a:blip>
          <a:srcRect t="5605"/>
          <a:stretch>
            <a:fillRect/>
          </a:stretch>
        </p:blipFill>
        <p:spPr bwMode="auto">
          <a:xfrm>
            <a:off x="415991" y="2877232"/>
            <a:ext cx="4992623" cy="3048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p:cNvPicPr>
          <p:nvPr/>
        </p:nvPicPr>
        <p:blipFill>
          <a:blip r:embed="rId3"/>
          <a:stretch>
            <a:fillRect/>
          </a:stretch>
        </p:blipFill>
        <p:spPr>
          <a:xfrm>
            <a:off x="6066929" y="2606631"/>
            <a:ext cx="2340308" cy="3742578"/>
          </a:xfrm>
          <a:prstGeom prst="rect">
            <a:avLst/>
          </a:prstGeom>
        </p:spPr>
      </p:pic>
    </p:spTree>
    <p:extLst>
      <p:ext uri="{BB962C8B-B14F-4D97-AF65-F5344CB8AC3E}">
        <p14:creationId xmlns:p14="http://schemas.microsoft.com/office/powerpoint/2010/main" val="2752500121"/>
      </p:ext>
    </p:extLst>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90195" y="900115"/>
            <a:ext cx="8495019" cy="5246687"/>
          </a:xfrm>
        </p:spPr>
        <p:txBody>
          <a:bodyPr/>
          <a:lstStyle/>
          <a:p>
            <a:pPr marL="0" lvl="0" indent="0" defTabSz="914400">
              <a:lnSpc>
                <a:spcPct val="150000"/>
              </a:lnSpc>
              <a:spcBef>
                <a:spcPct val="20000"/>
              </a:spcBef>
              <a:buClr>
                <a:srgbClr val="B2B2B2"/>
              </a:buClr>
              <a:buSzPct val="90000"/>
            </a:pPr>
            <a:r>
              <a:rPr lang="en-US" altLang="en-US" sz="2800" dirty="0">
                <a:solidFill>
                  <a:srgbClr val="0033CC"/>
                </a:solidFill>
                <a:latin typeface="+mj-lt"/>
                <a:ea typeface="+mj-ea"/>
                <a:cs typeface="Arial"/>
              </a:rPr>
              <a:t>Fatty acids</a:t>
            </a:r>
            <a:endParaRPr lang="en-US" altLang="en-US" sz="2800" b="0" dirty="0" smtClean="0">
              <a:solidFill>
                <a:srgbClr val="000000"/>
              </a:solidFill>
              <a:latin typeface="+mj-lt"/>
              <a:cs typeface="Arial"/>
            </a:endParaRPr>
          </a:p>
          <a:p>
            <a:pPr marL="342900" lvl="0" indent="-342900" defTabSz="914400">
              <a:spcBef>
                <a:spcPct val="20000"/>
              </a:spcBef>
              <a:buClr>
                <a:srgbClr val="B2B2B2"/>
              </a:buClr>
              <a:buSzPct val="90000"/>
              <a:buFont typeface="Arial" panose="020B0604020202020204" pitchFamily="34" charset="0"/>
              <a:buChar char="•"/>
            </a:pPr>
            <a:r>
              <a:rPr lang="en-US" altLang="en-US" sz="2400" b="0" dirty="0" smtClean="0">
                <a:solidFill>
                  <a:srgbClr val="000000"/>
                </a:solidFill>
                <a:latin typeface="+mj-lt"/>
                <a:cs typeface="Arial"/>
              </a:rPr>
              <a:t>are </a:t>
            </a:r>
            <a:r>
              <a:rPr lang="en-US" altLang="en-US" sz="2400" b="0" dirty="0">
                <a:solidFill>
                  <a:srgbClr val="000000"/>
                </a:solidFill>
                <a:latin typeface="+mj-lt"/>
                <a:cs typeface="Arial"/>
              </a:rPr>
              <a:t>hydrocarbons, which terminate with carboxylic acid groups = </a:t>
            </a:r>
            <a:r>
              <a:rPr lang="en-US" altLang="en-US" sz="2400" dirty="0">
                <a:solidFill>
                  <a:srgbClr val="0033CC"/>
                </a:solidFill>
                <a:latin typeface="+mj-lt"/>
                <a:cs typeface="Arial"/>
              </a:rPr>
              <a:t> R-COOH</a:t>
            </a:r>
          </a:p>
          <a:p>
            <a:pPr marL="342900" lvl="0" indent="-342900" defTabSz="914400">
              <a:spcBef>
                <a:spcPct val="20000"/>
              </a:spcBef>
              <a:buClr>
                <a:srgbClr val="B2B2B2"/>
              </a:buClr>
              <a:buSzPct val="90000"/>
              <a:buFont typeface="Arial" panose="020B0604020202020204" pitchFamily="34" charset="0"/>
              <a:buChar char="•"/>
            </a:pPr>
            <a:r>
              <a:rPr lang="en-US" altLang="en-US" sz="2400" b="0" dirty="0">
                <a:solidFill>
                  <a:srgbClr val="000000"/>
                </a:solidFill>
                <a:latin typeface="+mj-lt"/>
                <a:cs typeface="Arial"/>
              </a:rPr>
              <a:t>Most have an even number of carbon atoms</a:t>
            </a:r>
          </a:p>
          <a:p>
            <a:pPr marL="342900" lvl="0" indent="-342900" defTabSz="914400">
              <a:spcBef>
                <a:spcPct val="20000"/>
              </a:spcBef>
              <a:buClr>
                <a:srgbClr val="B2B2B2"/>
              </a:buClr>
              <a:buSzPct val="90000"/>
              <a:buFont typeface="Arial" panose="020B0604020202020204" pitchFamily="34" charset="0"/>
              <a:buChar char="•"/>
            </a:pPr>
            <a:r>
              <a:rPr lang="en-US" altLang="en-US" sz="2400" b="0" dirty="0">
                <a:solidFill>
                  <a:srgbClr val="000000"/>
                </a:solidFill>
                <a:latin typeface="+mj-lt"/>
                <a:cs typeface="Arial"/>
              </a:rPr>
              <a:t>Chain length = 12 to 24, most with 16 or 18 carbon atoms. </a:t>
            </a:r>
          </a:p>
          <a:p>
            <a:pPr marL="342900" lvl="0" indent="-342900" defTabSz="914400">
              <a:spcBef>
                <a:spcPct val="20000"/>
              </a:spcBef>
              <a:buClr>
                <a:srgbClr val="B2B2B2"/>
              </a:buClr>
              <a:buSzPct val="90000"/>
              <a:buFont typeface="Arial" panose="020B0604020202020204" pitchFamily="34" charset="0"/>
              <a:buChar char="•"/>
            </a:pPr>
            <a:r>
              <a:rPr lang="en-US" altLang="en-US" sz="2400" u="sng" dirty="0">
                <a:solidFill>
                  <a:srgbClr val="0033CC"/>
                </a:solidFill>
                <a:latin typeface="+mj-lt"/>
                <a:cs typeface="Arial"/>
              </a:rPr>
              <a:t>Amphipathic</a:t>
            </a:r>
            <a:r>
              <a:rPr lang="en-US" altLang="en-US" sz="2400" b="0" dirty="0">
                <a:solidFill>
                  <a:srgbClr val="000000"/>
                </a:solidFill>
                <a:latin typeface="+mj-lt"/>
                <a:cs typeface="Arial"/>
              </a:rPr>
              <a:t> – have both hydrophobic and hydrophilic parts</a:t>
            </a:r>
          </a:p>
          <a:p>
            <a:pPr marL="342900" lvl="0" indent="-342900" defTabSz="914400">
              <a:spcBef>
                <a:spcPct val="20000"/>
              </a:spcBef>
              <a:buClr>
                <a:srgbClr val="B2B2B2"/>
              </a:buClr>
              <a:buSzPct val="90000"/>
              <a:buFont typeface="Arial" panose="020B0604020202020204" pitchFamily="34" charset="0"/>
              <a:buChar char="•"/>
            </a:pPr>
            <a:endParaRPr lang="en-US" altLang="en-US" sz="2400" b="0" dirty="0">
              <a:solidFill>
                <a:srgbClr val="000000"/>
              </a:solidFill>
              <a:latin typeface="+mj-lt"/>
              <a:cs typeface="Arial"/>
            </a:endParaRPr>
          </a:p>
        </p:txBody>
      </p:sp>
      <p:sp>
        <p:nvSpPr>
          <p:cNvPr id="4" name="Date Placeholder 3"/>
          <p:cNvSpPr>
            <a:spLocks noGrp="1"/>
          </p:cNvSpPr>
          <p:nvPr>
            <p:ph type="dt" sz="half" idx="10"/>
          </p:nvPr>
        </p:nvSpPr>
        <p:spPr/>
        <p:txBody>
          <a:bodyPr/>
          <a:lstStyle/>
          <a:p>
            <a:fld id="{C60170EB-CA41-4356-9974-9CFF34205186}"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29</a:t>
            </a:fld>
            <a:endParaRPr lang="en-US"/>
          </a:p>
        </p:txBody>
      </p:sp>
      <p:sp>
        <p:nvSpPr>
          <p:cNvPr id="7" name="Rectangle 6"/>
          <p:cNvSpPr>
            <a:spLocks noChangeArrowheads="1"/>
          </p:cNvSpPr>
          <p:nvPr/>
        </p:nvSpPr>
        <p:spPr bwMode="auto">
          <a:xfrm>
            <a:off x="4214811" y="4235614"/>
            <a:ext cx="2590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w Cen MT" panose="020B0602020104020603" pitchFamily="34" charset="0"/>
                <a:cs typeface="Arial" panose="020B0604020202020204" pitchFamily="34" charset="0"/>
              </a:defRPr>
            </a:lvl1pPr>
            <a:lvl2pPr marL="742950" indent="-285750">
              <a:defRPr>
                <a:solidFill>
                  <a:schemeClr val="tx1"/>
                </a:solidFill>
                <a:latin typeface="Tw Cen MT" panose="020B0602020104020603" pitchFamily="34" charset="0"/>
                <a:cs typeface="Arial" panose="020B0604020202020204" pitchFamily="34" charset="0"/>
              </a:defRPr>
            </a:lvl2pPr>
            <a:lvl3pPr marL="1143000" indent="-228600">
              <a:defRPr>
                <a:solidFill>
                  <a:schemeClr val="tx1"/>
                </a:solidFill>
                <a:latin typeface="Tw Cen MT" panose="020B0602020104020603" pitchFamily="34" charset="0"/>
                <a:cs typeface="Arial" panose="020B0604020202020204" pitchFamily="34" charset="0"/>
              </a:defRPr>
            </a:lvl3pPr>
            <a:lvl4pPr marL="1600200" indent="-228600">
              <a:defRPr>
                <a:solidFill>
                  <a:schemeClr val="tx1"/>
                </a:solidFill>
                <a:latin typeface="Tw Cen MT" panose="020B0602020104020603" pitchFamily="34" charset="0"/>
                <a:cs typeface="Arial" panose="020B0604020202020204" pitchFamily="34" charset="0"/>
              </a:defRPr>
            </a:lvl4pPr>
            <a:lvl5pPr marL="2057400" indent="-228600">
              <a:defRPr>
                <a:solidFill>
                  <a:schemeClr val="tx1"/>
                </a:solidFill>
                <a:latin typeface="Tw Cen MT" panose="020B0602020104020603"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w Cen MT" panose="020B0602020104020603"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w Cen MT" panose="020B0602020104020603"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w Cen MT" panose="020B0602020104020603"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w Cen MT" panose="020B0602020104020603" pitchFamily="34" charset="0"/>
                <a:cs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2400" b="1" i="0" u="none" strike="noStrike" kern="0" cap="none" spc="0" normalizeH="0" baseline="0" noProof="0" dirty="0" smtClean="0">
                <a:ln>
                  <a:noFill/>
                </a:ln>
                <a:solidFill>
                  <a:srgbClr val="0033CC"/>
                </a:solidFill>
                <a:effectLst/>
                <a:uLnTx/>
                <a:uFillTx/>
                <a:latin typeface="Tw Cen MT" panose="020B0602020104020603" pitchFamily="34" charset="0"/>
                <a:cs typeface="Arial" panose="020B0604020202020204" pitchFamily="34" charset="0"/>
              </a:rPr>
              <a:t>R-COOH</a:t>
            </a:r>
            <a:endParaRPr kumimoji="0" lang="en-GB" altLang="en-US" sz="2400" b="0" i="0" u="none" strike="noStrike" kern="0" cap="none" spc="0" normalizeH="0" baseline="0" noProof="0" dirty="0" smtClean="0">
              <a:ln>
                <a:noFill/>
              </a:ln>
              <a:solidFill>
                <a:srgbClr val="000000"/>
              </a:solidFill>
              <a:effectLst/>
              <a:uLnTx/>
              <a:uFillTx/>
              <a:latin typeface="Tw Cen MT" panose="020B0602020104020603" pitchFamily="34" charset="0"/>
              <a:cs typeface="Arial" panose="020B0604020202020204" pitchFamily="34" charset="0"/>
            </a:endParaRPr>
          </a:p>
        </p:txBody>
      </p:sp>
      <p:cxnSp>
        <p:nvCxnSpPr>
          <p:cNvPr id="8" name="Connector: Curved 4">
            <a:extLst>
              <a:ext uri="{FF2B5EF4-FFF2-40B4-BE49-F238E27FC236}">
                <a16:creationId xmlns:a16="http://schemas.microsoft.com/office/drawing/2014/main" id="{160D2237-5B02-401D-A0A8-B5B77AEA2858}"/>
              </a:ext>
            </a:extLst>
          </p:cNvPr>
          <p:cNvCxnSpPr/>
          <p:nvPr/>
        </p:nvCxnSpPr>
        <p:spPr>
          <a:xfrm rot="5400000">
            <a:off x="4367212" y="3807618"/>
            <a:ext cx="609600" cy="304800"/>
          </a:xfrm>
          <a:prstGeom prst="curvedConnector3">
            <a:avLst/>
          </a:prstGeom>
          <a:noFill/>
          <a:ln w="38100" cap="flat" cmpd="sng" algn="ctr">
            <a:solidFill>
              <a:srgbClr val="FF0000"/>
            </a:solidFill>
            <a:prstDash val="solid"/>
            <a:tailEnd type="triangle"/>
          </a:ln>
          <a:effectLst>
            <a:outerShdw blurRad="40000" dist="23000" dir="5400000" rotWithShape="0">
              <a:srgbClr val="000000">
                <a:alpha val="35000"/>
              </a:srgbClr>
            </a:outerShdw>
          </a:effectLst>
        </p:spPr>
      </p:cxnSp>
      <p:cxnSp>
        <p:nvCxnSpPr>
          <p:cNvPr id="9" name="Connector: Curved 6">
            <a:extLst>
              <a:ext uri="{FF2B5EF4-FFF2-40B4-BE49-F238E27FC236}">
                <a16:creationId xmlns:a16="http://schemas.microsoft.com/office/drawing/2014/main" id="{7530E1FF-6BA2-4497-A56C-D3465D655A5C}"/>
              </a:ext>
            </a:extLst>
          </p:cNvPr>
          <p:cNvCxnSpPr/>
          <p:nvPr/>
        </p:nvCxnSpPr>
        <p:spPr>
          <a:xfrm rot="10800000" flipV="1">
            <a:off x="5510212" y="3655218"/>
            <a:ext cx="1143000" cy="763588"/>
          </a:xfrm>
          <a:prstGeom prst="curvedConnector3">
            <a:avLst/>
          </a:prstGeom>
          <a:noFill/>
          <a:ln w="38100" cap="flat" cmpd="sng" algn="ctr">
            <a:solidFill>
              <a:srgbClr val="FF0000"/>
            </a:solidFill>
            <a:prstDash val="solid"/>
            <a:tailEnd type="triangle"/>
          </a:ln>
          <a:effectLst>
            <a:outerShdw blurRad="40000" dist="23000" dir="5400000" rotWithShape="0">
              <a:srgbClr val="000000">
                <a:alpha val="35000"/>
              </a:srgbClr>
            </a:outerShdw>
          </a:effectLst>
        </p:spPr>
      </p:cxnSp>
      <p:sp>
        <p:nvSpPr>
          <p:cNvPr id="10" name="Rectangle 9"/>
          <p:cNvSpPr/>
          <p:nvPr/>
        </p:nvSpPr>
        <p:spPr>
          <a:xfrm>
            <a:off x="389194" y="5067459"/>
            <a:ext cx="6869825" cy="461665"/>
          </a:xfrm>
          <a:prstGeom prst="rect">
            <a:avLst/>
          </a:prstGeom>
        </p:spPr>
        <p:txBody>
          <a:bodyPr wrap="square">
            <a:spAutoFit/>
          </a:bodyPr>
          <a:lstStyle/>
          <a:p>
            <a:r>
              <a:rPr lang="en-US" sz="2400" b="1" dirty="0">
                <a:solidFill>
                  <a:schemeClr val="accent2"/>
                </a:solidFill>
                <a:latin typeface="+mj-lt"/>
              </a:rPr>
              <a:t>Fatty acids may be saturated or unsaturated.</a:t>
            </a:r>
          </a:p>
        </p:txBody>
      </p:sp>
    </p:spTree>
    <p:extLst>
      <p:ext uri="{BB962C8B-B14F-4D97-AF65-F5344CB8AC3E}">
        <p14:creationId xmlns:p14="http://schemas.microsoft.com/office/powerpoint/2010/main" val="1601564828"/>
      </p:ext>
    </p:extLst>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26771" y="900115"/>
            <a:ext cx="8624621" cy="5246687"/>
          </a:xfrm>
        </p:spPr>
        <p:txBody>
          <a:bodyPr/>
          <a:lstStyle/>
          <a:p>
            <a:pPr marL="342900" lvl="0" indent="-342900">
              <a:buClr>
                <a:srgbClr val="6CB255"/>
              </a:buClr>
              <a:buFont typeface="Arial"/>
              <a:buChar char="•"/>
            </a:pPr>
            <a:r>
              <a:rPr lang="en-US" sz="2400" dirty="0">
                <a:solidFill>
                  <a:schemeClr val="accent2"/>
                </a:solidFill>
                <a:latin typeface="Times New Roman" panose="02020603050405020304" pitchFamily="18" charset="0"/>
                <a:cs typeface="Times New Roman" panose="02020603050405020304" pitchFamily="18" charset="0"/>
              </a:rPr>
              <a:t>Saturated fatty </a:t>
            </a:r>
            <a:r>
              <a:rPr lang="en-US" sz="2400" dirty="0" smtClean="0">
                <a:solidFill>
                  <a:schemeClr val="accent2"/>
                </a:solidFill>
                <a:latin typeface="Times New Roman" panose="02020603050405020304" pitchFamily="18" charset="0"/>
                <a:cs typeface="Times New Roman" panose="02020603050405020304" pitchFamily="18" charset="0"/>
              </a:rPr>
              <a:t>acids</a:t>
            </a:r>
            <a:endParaRPr lang="en-US" sz="2400" b="0" dirty="0">
              <a:solidFill>
                <a:srgbClr val="000000"/>
              </a:solidFill>
              <a:latin typeface="Times New Roman" panose="02020603050405020304" pitchFamily="18" charset="0"/>
              <a:cs typeface="Times New Roman" panose="02020603050405020304" pitchFamily="18" charset="0"/>
            </a:endParaRPr>
          </a:p>
          <a:p>
            <a:pPr marL="845820" lvl="1" indent="-457200">
              <a:buClr>
                <a:srgbClr val="6CB255"/>
              </a:buClr>
              <a:buFont typeface="Wingdings" panose="05000000000000000000" pitchFamily="2" charset="2"/>
              <a:buChar char="ü"/>
            </a:pPr>
            <a:r>
              <a:rPr lang="en-US" sz="2400" dirty="0">
                <a:solidFill>
                  <a:srgbClr val="000000"/>
                </a:solidFill>
                <a:latin typeface="Times New Roman" panose="02020603050405020304" pitchFamily="18" charset="0"/>
                <a:cs typeface="Times New Roman" panose="02020603050405020304" pitchFamily="18" charset="0"/>
              </a:rPr>
              <a:t>no double bonds between carbon atoms. general formula CH</a:t>
            </a:r>
            <a:r>
              <a:rPr lang="en-US" sz="2400" baseline="-25000" dirty="0">
                <a:solidFill>
                  <a:srgbClr val="000000"/>
                </a:solidFill>
                <a:latin typeface="Times New Roman" panose="02020603050405020304" pitchFamily="18" charset="0"/>
                <a:cs typeface="Times New Roman" panose="02020603050405020304" pitchFamily="18" charset="0"/>
              </a:rPr>
              <a:t>3</a:t>
            </a:r>
            <a:r>
              <a:rPr lang="en-US" sz="2400" dirty="0">
                <a:solidFill>
                  <a:srgbClr val="000000"/>
                </a:solidFill>
                <a:latin typeface="Times New Roman" panose="02020603050405020304" pitchFamily="18" charset="0"/>
                <a:cs typeface="Times New Roman" panose="02020603050405020304" pitchFamily="18" charset="0"/>
              </a:rPr>
              <a:t>(CH</a:t>
            </a:r>
            <a:r>
              <a:rPr lang="en-US" sz="2400" baseline="-25000" dirty="0">
                <a:solidFill>
                  <a:srgbClr val="000000"/>
                </a:solidFill>
                <a:latin typeface="Times New Roman" panose="02020603050405020304" pitchFamily="18" charset="0"/>
                <a:cs typeface="Times New Roman" panose="02020603050405020304" pitchFamily="18" charset="0"/>
              </a:rPr>
              <a:t>2</a:t>
            </a:r>
            <a:r>
              <a:rPr lang="en-US" sz="2400" dirty="0">
                <a:solidFill>
                  <a:srgbClr val="000000"/>
                </a:solidFill>
                <a:latin typeface="Times New Roman" panose="02020603050405020304" pitchFamily="18" charset="0"/>
                <a:cs typeface="Times New Roman" panose="02020603050405020304" pitchFamily="18" charset="0"/>
              </a:rPr>
              <a:t>)</a:t>
            </a:r>
            <a:r>
              <a:rPr lang="en-US" sz="2400" dirty="0" err="1">
                <a:solidFill>
                  <a:srgbClr val="000000"/>
                </a:solidFill>
                <a:latin typeface="Times New Roman" panose="02020603050405020304" pitchFamily="18" charset="0"/>
                <a:cs typeface="Times New Roman" panose="02020603050405020304" pitchFamily="18" charset="0"/>
              </a:rPr>
              <a:t>nCOOH</a:t>
            </a:r>
            <a:r>
              <a:rPr lang="en-US" sz="2400" dirty="0">
                <a:solidFill>
                  <a:srgbClr val="000000"/>
                </a:solidFill>
                <a:latin typeface="Times New Roman" panose="02020603050405020304" pitchFamily="18" charset="0"/>
                <a:cs typeface="Times New Roman" panose="02020603050405020304" pitchFamily="18" charset="0"/>
              </a:rPr>
              <a:t>, where n is an even number</a:t>
            </a:r>
          </a:p>
          <a:p>
            <a:pPr marL="845820" lvl="1" indent="-457200">
              <a:buClr>
                <a:srgbClr val="6CB255"/>
              </a:buClr>
              <a:buFont typeface="Wingdings" panose="05000000000000000000" pitchFamily="2" charset="2"/>
              <a:buChar char="ü"/>
            </a:pPr>
            <a:r>
              <a:rPr lang="en-US" sz="2400" dirty="0">
                <a:solidFill>
                  <a:srgbClr val="000000"/>
                </a:solidFill>
                <a:latin typeface="Times New Roman" panose="02020603050405020304" pitchFamily="18" charset="0"/>
                <a:cs typeface="Times New Roman" panose="02020603050405020304" pitchFamily="18" charset="0"/>
              </a:rPr>
              <a:t>are saturated with </a:t>
            </a:r>
            <a:r>
              <a:rPr lang="en-US" sz="2400" dirty="0" smtClean="0">
                <a:solidFill>
                  <a:srgbClr val="000000"/>
                </a:solidFill>
                <a:latin typeface="Times New Roman" panose="02020603050405020304" pitchFamily="18" charset="0"/>
                <a:cs typeface="Times New Roman" panose="02020603050405020304" pitchFamily="18" charset="0"/>
              </a:rPr>
              <a:t>hydrogen, i.e. the </a:t>
            </a:r>
            <a:r>
              <a:rPr lang="en-US" sz="2400" dirty="0">
                <a:solidFill>
                  <a:srgbClr val="000000"/>
                </a:solidFill>
                <a:latin typeface="Times New Roman" panose="02020603050405020304" pitchFamily="18" charset="0"/>
                <a:cs typeface="Times New Roman" panose="02020603050405020304" pitchFamily="18" charset="0"/>
              </a:rPr>
              <a:t>number of hydrogen atoms attached to the carbon skeleton is </a:t>
            </a:r>
            <a:r>
              <a:rPr lang="en-US" sz="2400" dirty="0" smtClean="0">
                <a:solidFill>
                  <a:srgbClr val="000000"/>
                </a:solidFill>
                <a:latin typeface="Times New Roman" panose="02020603050405020304" pitchFamily="18" charset="0"/>
                <a:cs typeface="Times New Roman" panose="02020603050405020304" pitchFamily="18" charset="0"/>
              </a:rPr>
              <a:t>maximized</a:t>
            </a:r>
          </a:p>
          <a:p>
            <a:pPr marL="845820" lvl="1" indent="-457200">
              <a:buClr>
                <a:srgbClr val="6CB255"/>
              </a:buClr>
              <a:buFont typeface="Wingdings" panose="05000000000000000000" pitchFamily="2" charset="2"/>
              <a:buChar char="ü"/>
            </a:pPr>
            <a:r>
              <a:rPr lang="en-US" sz="2400" dirty="0" smtClean="0">
                <a:solidFill>
                  <a:srgbClr val="000000"/>
                </a:solidFill>
                <a:latin typeface="Times New Roman" panose="02020603050405020304" pitchFamily="18" charset="0"/>
                <a:cs typeface="Times New Roman" panose="02020603050405020304" pitchFamily="18" charset="0"/>
              </a:rPr>
              <a:t>Have higher </a:t>
            </a:r>
            <a:r>
              <a:rPr lang="en-US" sz="2400" dirty="0">
                <a:solidFill>
                  <a:srgbClr val="000000"/>
                </a:solidFill>
                <a:latin typeface="Times New Roman" panose="02020603050405020304" pitchFamily="18" charset="0"/>
                <a:cs typeface="Times New Roman" panose="02020603050405020304" pitchFamily="18" charset="0"/>
              </a:rPr>
              <a:t>melting point and </a:t>
            </a:r>
            <a:r>
              <a:rPr lang="en-US" sz="2400" dirty="0" smtClean="0">
                <a:solidFill>
                  <a:srgbClr val="000000"/>
                </a:solidFill>
                <a:latin typeface="Times New Roman" panose="02020603050405020304" pitchFamily="18" charset="0"/>
                <a:cs typeface="Times New Roman" panose="02020603050405020304" pitchFamily="18" charset="0"/>
              </a:rPr>
              <a:t>are solid </a:t>
            </a:r>
            <a:r>
              <a:rPr lang="en-US" sz="2400" dirty="0">
                <a:solidFill>
                  <a:srgbClr val="000000"/>
                </a:solidFill>
                <a:latin typeface="Times New Roman" panose="02020603050405020304" pitchFamily="18" charset="0"/>
                <a:cs typeface="Times New Roman" panose="02020603050405020304" pitchFamily="18" charset="0"/>
              </a:rPr>
              <a:t>at room </a:t>
            </a:r>
            <a:r>
              <a:rPr lang="en-US" sz="2400" dirty="0" smtClean="0">
                <a:solidFill>
                  <a:srgbClr val="000000"/>
                </a:solidFill>
                <a:latin typeface="Times New Roman" panose="02020603050405020304" pitchFamily="18" charset="0"/>
                <a:cs typeface="Times New Roman" panose="02020603050405020304" pitchFamily="18" charset="0"/>
              </a:rPr>
              <a:t>temperature. E.g. fatty acids of animal origin</a:t>
            </a:r>
            <a:endParaRPr lang="en-US" sz="2400" dirty="0">
              <a:solidFill>
                <a:srgbClr val="000000"/>
              </a:solidFill>
              <a:latin typeface="Times New Roman" panose="02020603050405020304" pitchFamily="18" charset="0"/>
              <a:cs typeface="Times New Roman" panose="02020603050405020304" pitchFamily="18" charset="0"/>
            </a:endParaRPr>
          </a:p>
          <a:p>
            <a:pPr marL="845820" lvl="1" indent="-457200">
              <a:buClr>
                <a:srgbClr val="6CB255"/>
              </a:buClr>
              <a:buFont typeface="Wingdings" panose="05000000000000000000" pitchFamily="2" charset="2"/>
              <a:buChar char="ü"/>
            </a:pPr>
            <a:r>
              <a:rPr lang="en-US" sz="2400" dirty="0" smtClean="0">
                <a:solidFill>
                  <a:srgbClr val="000000"/>
                </a:solidFill>
                <a:latin typeface="Times New Roman" panose="02020603050405020304" pitchFamily="18" charset="0"/>
                <a:cs typeface="Times New Roman" panose="02020603050405020304" pitchFamily="18" charset="0"/>
              </a:rPr>
              <a:t>saturated </a:t>
            </a:r>
            <a:r>
              <a:rPr lang="en-US" sz="2400" dirty="0">
                <a:solidFill>
                  <a:srgbClr val="000000"/>
                </a:solidFill>
                <a:latin typeface="Times New Roman" panose="02020603050405020304" pitchFamily="18" charset="0"/>
                <a:cs typeface="Times New Roman" panose="02020603050405020304" pitchFamily="18" charset="0"/>
              </a:rPr>
              <a:t>fats contribute to plaque formation in the arteries = Atherosclerosis-  cause of </a:t>
            </a:r>
            <a:r>
              <a:rPr lang="en-US" sz="2400" dirty="0">
                <a:solidFill>
                  <a:srgbClr val="009900"/>
                </a:solidFill>
                <a:latin typeface="Times New Roman" panose="02020603050405020304" pitchFamily="18" charset="0"/>
                <a:cs typeface="Times New Roman" panose="02020603050405020304" pitchFamily="18" charset="0"/>
              </a:rPr>
              <a:t>heart attack</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9900"/>
                </a:solidFill>
                <a:latin typeface="Times New Roman" panose="02020603050405020304" pitchFamily="18" charset="0"/>
                <a:cs typeface="Times New Roman" panose="02020603050405020304" pitchFamily="18" charset="0"/>
              </a:rPr>
              <a:t>stroke</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9900"/>
                </a:solidFill>
                <a:latin typeface="Times New Roman" panose="02020603050405020304" pitchFamily="18" charset="0"/>
                <a:cs typeface="Times New Roman" panose="02020603050405020304" pitchFamily="18" charset="0"/>
              </a:rPr>
              <a:t>Gangrene</a:t>
            </a:r>
          </a:p>
          <a:p>
            <a:endParaRPr lang="en-US" sz="2400" b="0" dirty="0"/>
          </a:p>
        </p:txBody>
      </p:sp>
      <p:sp>
        <p:nvSpPr>
          <p:cNvPr id="4" name="Date Placeholder 3"/>
          <p:cNvSpPr>
            <a:spLocks noGrp="1"/>
          </p:cNvSpPr>
          <p:nvPr>
            <p:ph type="dt" sz="half" idx="10"/>
          </p:nvPr>
        </p:nvSpPr>
        <p:spPr/>
        <p:txBody>
          <a:bodyPr/>
          <a:lstStyle/>
          <a:p>
            <a:fld id="{264762B8-609A-42BC-862F-1C5832CD6D78}"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30</a:t>
            </a:fld>
            <a:endParaRPr lang="en-US"/>
          </a:p>
        </p:txBody>
      </p:sp>
      <p:pic>
        <p:nvPicPr>
          <p:cNvPr id="7" name="Picture 6"/>
          <p:cNvPicPr>
            <a:picLocks noChangeAspect="1"/>
          </p:cNvPicPr>
          <p:nvPr/>
        </p:nvPicPr>
        <p:blipFill>
          <a:blip r:embed="rId2"/>
          <a:stretch>
            <a:fillRect/>
          </a:stretch>
        </p:blipFill>
        <p:spPr>
          <a:xfrm>
            <a:off x="837256" y="4717660"/>
            <a:ext cx="6236544" cy="1532042"/>
          </a:xfrm>
          <a:prstGeom prst="rect">
            <a:avLst/>
          </a:prstGeom>
        </p:spPr>
      </p:pic>
    </p:spTree>
    <p:extLst>
      <p:ext uri="{BB962C8B-B14F-4D97-AF65-F5344CB8AC3E}">
        <p14:creationId xmlns:p14="http://schemas.microsoft.com/office/powerpoint/2010/main" val="1078298406"/>
      </p:ext>
    </p:extLst>
  </p:cSld>
  <p:clrMapOvr>
    <a:masterClrMapping/>
  </p:clrMapOvr>
  <p:transition spd="slow">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DBABC624-F92C-418D-9991-BCCF18B5025F}"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31</a:t>
            </a:fld>
            <a:endParaRPr lang="en-US"/>
          </a:p>
        </p:txBody>
      </p:sp>
      <p:sp>
        <p:nvSpPr>
          <p:cNvPr id="7" name="Text Placeholder 3"/>
          <p:cNvSpPr>
            <a:spLocks noGrp="1"/>
          </p:cNvSpPr>
          <p:nvPr>
            <p:ph idx="1"/>
          </p:nvPr>
        </p:nvSpPr>
        <p:spPr>
          <a:xfrm>
            <a:off x="168250" y="833635"/>
            <a:ext cx="8580729" cy="5246687"/>
          </a:xfrm>
        </p:spPr>
        <p:txBody>
          <a:bodyPr>
            <a:normAutofit/>
          </a:bodyPr>
          <a:lstStyle/>
          <a:p>
            <a:pPr marL="0" indent="0"/>
            <a:r>
              <a:rPr lang="en-US" sz="2800" dirty="0" smtClean="0">
                <a:solidFill>
                  <a:schemeClr val="accent2"/>
                </a:solidFill>
                <a:latin typeface="Times New Roman" panose="02020603050405020304" pitchFamily="18" charset="0"/>
                <a:cs typeface="Times New Roman" panose="02020603050405020304" pitchFamily="18" charset="0"/>
              </a:rPr>
              <a:t>Unsaturated fatty acids </a:t>
            </a:r>
          </a:p>
          <a:p>
            <a:pPr marL="342900" indent="-342900">
              <a:buFont typeface="Arial"/>
              <a:buChar char="•"/>
            </a:pPr>
            <a:r>
              <a:rPr lang="en-US" sz="2400" b="0" dirty="0" smtClean="0">
                <a:solidFill>
                  <a:schemeClr val="tx1"/>
                </a:solidFill>
                <a:latin typeface="Times New Roman" panose="02020603050405020304" pitchFamily="18" charset="0"/>
                <a:cs typeface="Times New Roman" panose="02020603050405020304" pitchFamily="18" charset="0"/>
              </a:rPr>
              <a:t>contain a double bond in their carbon-carbon chain</a:t>
            </a:r>
          </a:p>
          <a:p>
            <a:pPr marL="342900" indent="-342900">
              <a:buFont typeface="Arial"/>
              <a:buChar char="•"/>
            </a:pPr>
            <a:r>
              <a:rPr lang="nb-NO" sz="2400" b="0" dirty="0" smtClean="0">
                <a:solidFill>
                  <a:schemeClr val="tx1"/>
                </a:solidFill>
                <a:latin typeface="Times New Roman" panose="02020603050405020304" pitchFamily="18" charset="0"/>
                <a:cs typeface="Times New Roman" panose="02020603050405020304" pitchFamily="18" charset="0"/>
              </a:rPr>
              <a:t>Can be  either</a:t>
            </a:r>
          </a:p>
          <a:p>
            <a:pPr marL="845820" lvl="1">
              <a:buFont typeface="Wingdings" panose="05000000000000000000" pitchFamily="2" charset="2"/>
              <a:buChar char="ü"/>
            </a:pPr>
            <a:r>
              <a:rPr lang="en-US" sz="2400" b="1" dirty="0">
                <a:solidFill>
                  <a:schemeClr val="accent2"/>
                </a:solidFill>
                <a:latin typeface="Times New Roman" panose="02020603050405020304" pitchFamily="18" charset="0"/>
                <a:cs typeface="Times New Roman" panose="02020603050405020304" pitchFamily="18" charset="0"/>
              </a:rPr>
              <a:t>Monounsaturated fatty acids:  </a:t>
            </a:r>
            <a:r>
              <a:rPr lang="en-US" sz="2400" dirty="0">
                <a:solidFill>
                  <a:schemeClr val="tx1"/>
                </a:solidFill>
                <a:latin typeface="Times New Roman" panose="02020603050405020304" pitchFamily="18" charset="0"/>
                <a:cs typeface="Times New Roman" panose="02020603050405020304" pitchFamily="18" charset="0"/>
              </a:rPr>
              <a:t>have one double bond</a:t>
            </a:r>
          </a:p>
          <a:p>
            <a:pPr marL="845820" lvl="1">
              <a:buFont typeface="Wingdings" panose="05000000000000000000" pitchFamily="2" charset="2"/>
              <a:buChar char="ü"/>
            </a:pPr>
            <a:r>
              <a:rPr lang="en-US" sz="2400" b="1" dirty="0">
                <a:solidFill>
                  <a:schemeClr val="accent2"/>
                </a:solidFill>
                <a:latin typeface="Times New Roman" panose="02020603050405020304" pitchFamily="18" charset="0"/>
                <a:cs typeface="Times New Roman" panose="02020603050405020304" pitchFamily="18" charset="0"/>
              </a:rPr>
              <a:t>Polyunsaturated fatty acids: </a:t>
            </a:r>
            <a:r>
              <a:rPr lang="en-US" sz="2400" dirty="0">
                <a:solidFill>
                  <a:schemeClr val="tx1"/>
                </a:solidFill>
                <a:latin typeface="Times New Roman" panose="02020603050405020304" pitchFamily="18" charset="0"/>
                <a:cs typeface="Times New Roman" panose="02020603050405020304" pitchFamily="18" charset="0"/>
              </a:rPr>
              <a:t>have two or more double bonds. </a:t>
            </a:r>
          </a:p>
          <a:p>
            <a:pPr marL="342900" indent="-342900">
              <a:buFont typeface="Arial"/>
              <a:buChar char="•"/>
            </a:pPr>
            <a:r>
              <a:rPr lang="en-US" sz="2400" b="0" dirty="0" smtClean="0">
                <a:solidFill>
                  <a:schemeClr val="tx1"/>
                </a:solidFill>
                <a:latin typeface="Times New Roman" panose="02020603050405020304" pitchFamily="18" charset="0"/>
                <a:cs typeface="Times New Roman" panose="02020603050405020304" pitchFamily="18" charset="0"/>
              </a:rPr>
              <a:t>Have Lower </a:t>
            </a:r>
            <a:r>
              <a:rPr lang="en-US" sz="2400" b="0" dirty="0">
                <a:solidFill>
                  <a:schemeClr val="tx1"/>
                </a:solidFill>
                <a:latin typeface="Times New Roman" panose="02020603050405020304" pitchFamily="18" charset="0"/>
                <a:cs typeface="Times New Roman" panose="02020603050405020304" pitchFamily="18" charset="0"/>
              </a:rPr>
              <a:t>melting </a:t>
            </a:r>
            <a:r>
              <a:rPr lang="en-US" sz="2400" b="0" dirty="0" smtClean="0">
                <a:solidFill>
                  <a:schemeClr val="tx1"/>
                </a:solidFill>
                <a:latin typeface="Times New Roman" panose="02020603050405020304" pitchFamily="18" charset="0"/>
                <a:cs typeface="Times New Roman" panose="02020603050405020304" pitchFamily="18" charset="0"/>
              </a:rPr>
              <a:t>points than saturated fatty acids and thus Liquid </a:t>
            </a:r>
            <a:r>
              <a:rPr lang="en-US" sz="2400" b="0" dirty="0">
                <a:solidFill>
                  <a:schemeClr val="tx1"/>
                </a:solidFill>
                <a:latin typeface="Times New Roman" panose="02020603050405020304" pitchFamily="18" charset="0"/>
                <a:cs typeface="Times New Roman" panose="02020603050405020304" pitchFamily="18" charset="0"/>
              </a:rPr>
              <a:t>at room </a:t>
            </a:r>
            <a:r>
              <a:rPr lang="en-US" sz="2400" b="0" dirty="0" smtClean="0">
                <a:solidFill>
                  <a:schemeClr val="tx1"/>
                </a:solidFill>
                <a:latin typeface="Times New Roman" panose="02020603050405020304" pitchFamily="18" charset="0"/>
                <a:cs typeface="Times New Roman" panose="02020603050405020304" pitchFamily="18" charset="0"/>
              </a:rPr>
              <a:t>temperature. E.g. Fatty acids of plant origin</a:t>
            </a:r>
            <a:endParaRPr lang="en-US" sz="2400" b="0" dirty="0">
              <a:solidFill>
                <a:schemeClr val="tx1"/>
              </a:solidFill>
              <a:latin typeface="Times New Roman" panose="02020603050405020304" pitchFamily="18" charset="0"/>
              <a:cs typeface="Times New Roman" panose="02020603050405020304" pitchFamily="18" charset="0"/>
            </a:endParaRPr>
          </a:p>
          <a:p>
            <a:pPr marL="845820" lvl="1">
              <a:buFont typeface="Wingdings" panose="05000000000000000000" pitchFamily="2" charset="2"/>
              <a:buChar char="ü"/>
            </a:pPr>
            <a:endParaRPr lang="en-US" sz="2400" dirty="0">
              <a:solidFill>
                <a:schemeClr val="tx1"/>
              </a:solidFill>
              <a:latin typeface="Times New Roman" panose="02020603050405020304" pitchFamily="18" charset="0"/>
              <a:cs typeface="Times New Roman" panose="02020603050405020304" pitchFamily="18" charset="0"/>
            </a:endParaRPr>
          </a:p>
          <a:p>
            <a:pPr marL="0" indent="0"/>
            <a:endParaRPr lang="en-US" sz="2400" b="0" dirty="0" smtClean="0">
              <a:solidFill>
                <a:schemeClr val="tx1"/>
              </a:solidFill>
              <a:latin typeface="Times New Roman" panose="02020603050405020304" pitchFamily="18" charset="0"/>
              <a:cs typeface="Times New Roman" panose="02020603050405020304" pitchFamily="18" charset="0"/>
            </a:endParaRPr>
          </a:p>
          <a:p>
            <a:pPr marL="342900" indent="-342900">
              <a:buFont typeface="Arial"/>
              <a:buChar char="•"/>
            </a:pPr>
            <a:endParaRPr lang="en-US" sz="2400" b="0" dirty="0">
              <a:solidFill>
                <a:schemeClr val="tx1"/>
              </a:solidFill>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1011574" y="4365841"/>
            <a:ext cx="5974441" cy="1714481"/>
          </a:xfrm>
          <a:prstGeom prst="rect">
            <a:avLst/>
          </a:prstGeom>
        </p:spPr>
      </p:pic>
    </p:spTree>
    <p:extLst>
      <p:ext uri="{BB962C8B-B14F-4D97-AF65-F5344CB8AC3E}">
        <p14:creationId xmlns:p14="http://schemas.microsoft.com/office/powerpoint/2010/main" val="3092497323"/>
      </p:ext>
    </p:extLst>
  </p:cSld>
  <p:clrMapOvr>
    <a:masterClrMapping/>
  </p:clrMapOvr>
  <p:transition spd="slow">
    <p:push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AF54FA09-8AC4-4030-923F-4184CDCA1A8A}"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32</a:t>
            </a:fld>
            <a:endParaRPr lang="en-US"/>
          </a:p>
        </p:txBody>
      </p:sp>
      <p:sp>
        <p:nvSpPr>
          <p:cNvPr id="7" name="Text Placeholder 3"/>
          <p:cNvSpPr>
            <a:spLocks noGrp="1"/>
          </p:cNvSpPr>
          <p:nvPr>
            <p:ph idx="1"/>
          </p:nvPr>
        </p:nvSpPr>
        <p:spPr>
          <a:xfrm>
            <a:off x="190500" y="922406"/>
            <a:ext cx="8719414" cy="5246687"/>
          </a:xfrm>
        </p:spPr>
        <p:txBody>
          <a:bodyPr>
            <a:noAutofit/>
          </a:bodyPr>
          <a:lstStyle/>
          <a:p>
            <a:pPr marL="0" indent="0"/>
            <a:r>
              <a:rPr lang="nb-NO" sz="2400" b="1" dirty="0" smtClean="0">
                <a:solidFill>
                  <a:schemeClr val="accent2"/>
                </a:solidFill>
                <a:latin typeface="Times New Roman" panose="02020603050405020304" pitchFamily="18" charset="0"/>
                <a:cs typeface="Times New Roman" panose="02020603050405020304" pitchFamily="18" charset="0"/>
              </a:rPr>
              <a:t>Essential and Non-Essential fatty acids</a:t>
            </a:r>
            <a:endParaRPr lang="en-US" sz="2400" b="1" dirty="0" smtClean="0">
              <a:solidFill>
                <a:schemeClr val="accent2"/>
              </a:solidFill>
              <a:latin typeface="Times New Roman" panose="02020603050405020304" pitchFamily="18" charset="0"/>
              <a:cs typeface="Times New Roman" panose="02020603050405020304" pitchFamily="18" charset="0"/>
            </a:endParaRPr>
          </a:p>
          <a:p>
            <a:pPr marL="342900" indent="-342900">
              <a:buFont typeface="Arial"/>
              <a:buChar char="•"/>
            </a:pPr>
            <a:r>
              <a:rPr lang="en-US" sz="2400" b="1" dirty="0" smtClean="0">
                <a:solidFill>
                  <a:schemeClr val="accent2"/>
                </a:solidFill>
                <a:latin typeface="Times New Roman" panose="02020603050405020304" pitchFamily="18" charset="0"/>
                <a:cs typeface="Times New Roman" panose="02020603050405020304" pitchFamily="18" charset="0"/>
              </a:rPr>
              <a:t>Essential fatty acids </a:t>
            </a:r>
            <a:r>
              <a:rPr lang="en-US" sz="2400" b="0" dirty="0" smtClean="0">
                <a:solidFill>
                  <a:schemeClr val="tx1"/>
                </a:solidFill>
                <a:latin typeface="Times New Roman" panose="02020603050405020304" pitchFamily="18" charset="0"/>
                <a:cs typeface="Times New Roman" panose="02020603050405020304" pitchFamily="18" charset="0"/>
              </a:rPr>
              <a:t>are fatty acids that are required but not synthesized by the human body; therefore they must be supplemented through the diet</a:t>
            </a:r>
          </a:p>
          <a:p>
            <a:pPr marL="845820" lvl="1">
              <a:buFont typeface="Wingdings" panose="05000000000000000000" pitchFamily="2" charset="2"/>
              <a:buChar char="ü"/>
            </a:pPr>
            <a:r>
              <a:rPr lang="en-US" sz="2400" dirty="0" smtClean="0">
                <a:solidFill>
                  <a:schemeClr val="tx1"/>
                </a:solidFill>
                <a:latin typeface="Times New Roman" panose="02020603050405020304" pitchFamily="18" charset="0"/>
                <a:cs typeface="Times New Roman" panose="02020603050405020304" pitchFamily="18" charset="0"/>
              </a:rPr>
              <a:t>There are two known essential fatty acids for humans: omega-3 fatty acid and omega-6 fatty acid</a:t>
            </a:r>
          </a:p>
          <a:p>
            <a:pPr marL="845820" lvl="1">
              <a:buFont typeface="Wingdings" panose="05000000000000000000" pitchFamily="2" charset="2"/>
              <a:buChar char="ü"/>
            </a:pPr>
            <a:r>
              <a:rPr lang="en-US" sz="2400" dirty="0" smtClean="0">
                <a:solidFill>
                  <a:schemeClr val="tx1"/>
                </a:solidFill>
                <a:latin typeface="Times New Roman" panose="02020603050405020304" pitchFamily="18" charset="0"/>
                <a:cs typeface="Times New Roman" panose="02020603050405020304" pitchFamily="18" charset="0"/>
              </a:rPr>
              <a:t>Omega-3 fatty acids are found in salmon, trout, and tuna; they are important in brain function, normal growth/development, and may prevent heart disease, and certain cancers</a:t>
            </a:r>
          </a:p>
          <a:p>
            <a:pPr marL="457200">
              <a:buFont typeface="Arial" panose="020B0604020202020204" pitchFamily="34" charset="0"/>
              <a:buChar char="•"/>
            </a:pPr>
            <a:r>
              <a:rPr lang="nb-NO" sz="2400" b="1" dirty="0" smtClean="0">
                <a:solidFill>
                  <a:schemeClr val="accent2"/>
                </a:solidFill>
                <a:latin typeface="Times New Roman" panose="02020603050405020304" pitchFamily="18" charset="0"/>
                <a:cs typeface="Times New Roman" panose="02020603050405020304" pitchFamily="18" charset="0"/>
              </a:rPr>
              <a:t>Non Essential Fatty acids </a:t>
            </a:r>
            <a:r>
              <a:rPr lang="en-US" sz="2400" b="0" dirty="0" smtClean="0">
                <a:latin typeface="Times New Roman" panose="02020603050405020304" pitchFamily="18" charset="0"/>
                <a:cs typeface="Times New Roman" panose="02020603050405020304" pitchFamily="18" charset="0"/>
              </a:rPr>
              <a:t>are </a:t>
            </a:r>
            <a:r>
              <a:rPr lang="en-US" sz="2400" b="0" dirty="0">
                <a:latin typeface="Times New Roman" panose="02020603050405020304" pitchFamily="18" charset="0"/>
                <a:cs typeface="Times New Roman" panose="02020603050405020304" pitchFamily="18" charset="0"/>
              </a:rPr>
              <a:t>fatty acids that can be synthesized in the body. </a:t>
            </a:r>
          </a:p>
          <a:p>
            <a:pPr marL="960120" lvl="1">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Organisms such as plants and bacteria can synthesize all the fatty acids they require</a:t>
            </a:r>
          </a:p>
          <a:p>
            <a:pPr marL="457200">
              <a:buFont typeface="Arial" panose="020B0604020202020204" pitchFamily="34" charset="0"/>
              <a:buChar char="•"/>
            </a:pPr>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7425158"/>
      </p:ext>
    </p:extLst>
  </p:cSld>
  <p:clrMapOvr>
    <a:masterClrMapping/>
  </p:clrMapOvr>
  <p:transition spd="slow">
    <p:push dir="u"/>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5097" y="841594"/>
            <a:ext cx="8495019" cy="5246687"/>
          </a:xfrm>
        </p:spPr>
        <p:txBody>
          <a:bodyPr/>
          <a:lstStyle/>
          <a:p>
            <a:pPr marL="0" lvl="0" indent="0" defTabSz="914400" fontAlgn="auto">
              <a:spcBef>
                <a:spcPts val="0"/>
              </a:spcBef>
              <a:spcAft>
                <a:spcPts val="0"/>
              </a:spcAft>
              <a:buClrTx/>
              <a:buSzTx/>
            </a:pPr>
            <a:r>
              <a:rPr lang="en-US" sz="2800" kern="1200" dirty="0">
                <a:solidFill>
                  <a:srgbClr val="3333CC"/>
                </a:solidFill>
                <a:latin typeface="+mj-lt"/>
              </a:rPr>
              <a:t>Phospholipids</a:t>
            </a:r>
          </a:p>
          <a:p>
            <a:pPr lvl="0">
              <a:buClr>
                <a:srgbClr val="6CB255"/>
              </a:buClr>
              <a:buFont typeface="Arial"/>
              <a:buChar char="•"/>
            </a:pPr>
            <a:r>
              <a:rPr lang="en-US" sz="2400" b="0" dirty="0">
                <a:solidFill>
                  <a:srgbClr val="000000"/>
                </a:solidFill>
                <a:latin typeface="Times New Roman" panose="02020603050405020304" pitchFamily="18" charset="0"/>
                <a:cs typeface="Times New Roman" panose="02020603050405020304" pitchFamily="18" charset="0"/>
              </a:rPr>
              <a:t>Are structural components membranes </a:t>
            </a:r>
          </a:p>
          <a:p>
            <a:pPr lvl="0">
              <a:buClr>
                <a:srgbClr val="6CB255"/>
              </a:buClr>
              <a:buFont typeface="Arial"/>
              <a:buChar char="•"/>
            </a:pPr>
            <a:r>
              <a:rPr lang="en-US" sz="2400" b="0" dirty="0">
                <a:solidFill>
                  <a:srgbClr val="000000"/>
                </a:solidFill>
                <a:latin typeface="Times New Roman" panose="02020603050405020304" pitchFamily="18" charset="0"/>
                <a:cs typeface="Times New Roman" panose="02020603050405020304" pitchFamily="18" charset="0"/>
              </a:rPr>
              <a:t>Composed of glycerol + 2 FA (attached on C1 &amp; C2 of glycerol) + phosphate (attached to C3 of glycerol) </a:t>
            </a:r>
          </a:p>
          <a:p>
            <a:endParaRPr lang="en-US" dirty="0"/>
          </a:p>
        </p:txBody>
      </p:sp>
      <p:sp>
        <p:nvSpPr>
          <p:cNvPr id="4" name="Date Placeholder 3"/>
          <p:cNvSpPr>
            <a:spLocks noGrp="1"/>
          </p:cNvSpPr>
          <p:nvPr>
            <p:ph type="dt" sz="half" idx="10"/>
          </p:nvPr>
        </p:nvSpPr>
        <p:spPr/>
        <p:txBody>
          <a:bodyPr/>
          <a:lstStyle/>
          <a:p>
            <a:fld id="{18E812F2-A293-4E5B-8ADD-B244BCCB8536}"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33</a:t>
            </a:fld>
            <a:endParaRPr lang="en-US"/>
          </a:p>
        </p:txBody>
      </p:sp>
      <p:pic>
        <p:nvPicPr>
          <p:cNvPr id="7" name="Picture 6"/>
          <p:cNvPicPr>
            <a:picLocks noChangeAspect="1"/>
          </p:cNvPicPr>
          <p:nvPr/>
        </p:nvPicPr>
        <p:blipFill>
          <a:blip r:embed="rId2"/>
          <a:stretch>
            <a:fillRect/>
          </a:stretch>
        </p:blipFill>
        <p:spPr>
          <a:xfrm>
            <a:off x="2640495" y="4175742"/>
            <a:ext cx="4339836" cy="2361583"/>
          </a:xfrm>
          <a:prstGeom prst="rect">
            <a:avLst/>
          </a:prstGeom>
        </p:spPr>
      </p:pic>
      <p:sp>
        <p:nvSpPr>
          <p:cNvPr id="8" name="Rectangle 7"/>
          <p:cNvSpPr/>
          <p:nvPr/>
        </p:nvSpPr>
        <p:spPr>
          <a:xfrm>
            <a:off x="95097" y="2555970"/>
            <a:ext cx="8909914" cy="1569660"/>
          </a:xfrm>
          <a:prstGeom prst="rect">
            <a:avLst/>
          </a:prstGeom>
        </p:spPr>
        <p:txBody>
          <a:bodyPr wrap="square">
            <a:spAutoFit/>
          </a:bodyPr>
          <a:lstStyle/>
          <a:p>
            <a:pPr marL="285750" indent="-285750" algn="just">
              <a:buFont typeface="Arial" panose="020B0604020202020204" pitchFamily="34" charset="0"/>
              <a:buChar char="•"/>
            </a:pPr>
            <a:r>
              <a:rPr lang="en-US" sz="2400" dirty="0">
                <a:latin typeface="+mj-lt"/>
              </a:rPr>
              <a:t>A phospholipid is an amphipathic molecule, meaning it has a hydrophobic and a hydrophilic part. The fatty acid chains are hydrophobic and cannot interact with water, whereas the phosphate-containing group is hydrophilic and interacts with water</a:t>
            </a:r>
          </a:p>
        </p:txBody>
      </p:sp>
    </p:spTree>
    <p:extLst>
      <p:ext uri="{BB962C8B-B14F-4D97-AF65-F5344CB8AC3E}">
        <p14:creationId xmlns:p14="http://schemas.microsoft.com/office/powerpoint/2010/main" val="581352156"/>
      </p:ext>
    </p:extLst>
  </p:cSld>
  <p:clrMapOvr>
    <a:masterClrMapping/>
  </p:clrMapOvr>
  <p:transition spd="slow">
    <p:push dir="u"/>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0469" y="826963"/>
            <a:ext cx="8939173" cy="5246687"/>
          </a:xfrm>
        </p:spPr>
        <p:txBody>
          <a:bodyPr/>
          <a:lstStyle/>
          <a:p>
            <a:pPr marL="0" lvl="0" indent="0" defTabSz="914400" fontAlgn="auto">
              <a:spcBef>
                <a:spcPts val="0"/>
              </a:spcBef>
              <a:spcAft>
                <a:spcPts val="0"/>
              </a:spcAft>
              <a:buClrTx/>
              <a:buSzTx/>
            </a:pPr>
            <a:r>
              <a:rPr lang="en-US" sz="2800" kern="1200" dirty="0">
                <a:solidFill>
                  <a:srgbClr val="3333CC"/>
                </a:solidFill>
                <a:latin typeface="+mj-lt"/>
              </a:rPr>
              <a:t>Steroids and Waxes</a:t>
            </a:r>
          </a:p>
          <a:p>
            <a:pPr marL="342900" lvl="0" indent="-342900">
              <a:buClr>
                <a:srgbClr val="6CB255"/>
              </a:buClr>
              <a:buFont typeface="Arial"/>
              <a:buChar char="•"/>
            </a:pPr>
            <a:r>
              <a:rPr lang="en-US" sz="2400" b="0" dirty="0">
                <a:solidFill>
                  <a:srgbClr val="000000"/>
                </a:solidFill>
                <a:latin typeface="+mj-lt"/>
                <a:cs typeface="Times New Roman" panose="02020603050405020304" pitchFamily="18" charset="0"/>
              </a:rPr>
              <a:t>Steroids have four carbon rings linked together and several of them (like cholesterol) have a short tail</a:t>
            </a:r>
          </a:p>
          <a:p>
            <a:pPr marL="342900" lvl="0" indent="-342900">
              <a:buClr>
                <a:srgbClr val="6CB255"/>
              </a:buClr>
              <a:buFont typeface="Arial"/>
              <a:buChar char="•"/>
            </a:pPr>
            <a:r>
              <a:rPr lang="en-US" sz="2400" b="0" dirty="0">
                <a:solidFill>
                  <a:srgbClr val="000000"/>
                </a:solidFill>
                <a:latin typeface="+mj-lt"/>
                <a:cs typeface="Times New Roman" panose="02020603050405020304" pitchFamily="18" charset="0"/>
              </a:rPr>
              <a:t>It is synthesized by the liver; and is a precursor of many hormones, of vitamins E and K, and of bile salts</a:t>
            </a:r>
          </a:p>
          <a:p>
            <a:pPr marL="342900" lvl="0" indent="-342900">
              <a:buClr>
                <a:srgbClr val="6CB255"/>
              </a:buClr>
              <a:buFont typeface="Arial"/>
              <a:buChar char="•"/>
            </a:pPr>
            <a:r>
              <a:rPr lang="en-US" sz="2400" b="0" dirty="0">
                <a:solidFill>
                  <a:srgbClr val="000000"/>
                </a:solidFill>
                <a:latin typeface="+mj-lt"/>
                <a:cs typeface="Times New Roman" panose="02020603050405020304" pitchFamily="18" charset="0"/>
              </a:rPr>
              <a:t>It is a key component of the plasma membrane of animal cells</a:t>
            </a:r>
          </a:p>
          <a:p>
            <a:pPr marL="342900" lvl="0" indent="-342900">
              <a:buClr>
                <a:srgbClr val="6CB255"/>
              </a:buClr>
              <a:buFont typeface="Arial"/>
              <a:buChar char="•"/>
            </a:pPr>
            <a:r>
              <a:rPr lang="en-US" sz="2400" b="0" dirty="0">
                <a:solidFill>
                  <a:srgbClr val="000000"/>
                </a:solidFill>
                <a:latin typeface="+mj-lt"/>
                <a:cs typeface="Times New Roman" panose="02020603050405020304" pitchFamily="18" charset="0"/>
              </a:rPr>
              <a:t>It is necessary for the proper functioning of the body</a:t>
            </a:r>
          </a:p>
          <a:p>
            <a:endParaRPr lang="en-US" sz="2000" dirty="0">
              <a:latin typeface="+mj-lt"/>
            </a:endParaRPr>
          </a:p>
        </p:txBody>
      </p:sp>
      <p:sp>
        <p:nvSpPr>
          <p:cNvPr id="4" name="Date Placeholder 3"/>
          <p:cNvSpPr>
            <a:spLocks noGrp="1"/>
          </p:cNvSpPr>
          <p:nvPr>
            <p:ph type="dt" sz="half" idx="10"/>
          </p:nvPr>
        </p:nvSpPr>
        <p:spPr/>
        <p:txBody>
          <a:bodyPr/>
          <a:lstStyle/>
          <a:p>
            <a:fld id="{09F8B965-52C6-4D89-AE53-1B27710BF513}"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34</a:t>
            </a:fld>
            <a:endParaRPr lang="en-US"/>
          </a:p>
        </p:txBody>
      </p:sp>
      <p:pic>
        <p:nvPicPr>
          <p:cNvPr id="7" name="Picture 6"/>
          <p:cNvPicPr>
            <a:picLocks noChangeAspect="1"/>
          </p:cNvPicPr>
          <p:nvPr/>
        </p:nvPicPr>
        <p:blipFill>
          <a:blip r:embed="rId2"/>
          <a:stretch>
            <a:fillRect/>
          </a:stretch>
        </p:blipFill>
        <p:spPr>
          <a:xfrm>
            <a:off x="823439" y="3816273"/>
            <a:ext cx="3005588" cy="2371550"/>
          </a:xfrm>
          <a:prstGeom prst="rect">
            <a:avLst/>
          </a:prstGeom>
        </p:spPr>
      </p:pic>
      <p:pic>
        <p:nvPicPr>
          <p:cNvPr id="8" name="Picture 7"/>
          <p:cNvPicPr>
            <a:picLocks noChangeAspect="1"/>
          </p:cNvPicPr>
          <p:nvPr/>
        </p:nvPicPr>
        <p:blipFill rotWithShape="1">
          <a:blip r:embed="rId3"/>
          <a:srcRect t="8613" b="11401"/>
          <a:stretch/>
        </p:blipFill>
        <p:spPr>
          <a:xfrm>
            <a:off x="4712820" y="4109399"/>
            <a:ext cx="3413761" cy="1964251"/>
          </a:xfrm>
          <a:prstGeom prst="rect">
            <a:avLst/>
          </a:prstGeom>
        </p:spPr>
      </p:pic>
    </p:spTree>
    <p:extLst>
      <p:ext uri="{BB962C8B-B14F-4D97-AF65-F5344CB8AC3E}">
        <p14:creationId xmlns:p14="http://schemas.microsoft.com/office/powerpoint/2010/main" val="3673845448"/>
      </p:ext>
    </p:extLst>
  </p:cSld>
  <p:clrMapOvr>
    <a:masterClrMapping/>
  </p:clrMapOvr>
  <p:transition spd="slow">
    <p:push dir="u"/>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20702" y="893146"/>
            <a:ext cx="5665621" cy="899078"/>
          </a:xfrm>
        </p:spPr>
        <p:txBody>
          <a:bodyPr/>
          <a:lstStyle/>
          <a:p>
            <a:pPr marL="0" lvl="0" indent="0" defTabSz="457200" eaLnBrk="0" hangingPunct="0">
              <a:spcBef>
                <a:spcPts val="800"/>
              </a:spcBef>
              <a:buClr>
                <a:srgbClr val="6CB255"/>
              </a:buClr>
            </a:pPr>
            <a:r>
              <a:rPr lang="en-US" sz="2800" dirty="0">
                <a:solidFill>
                  <a:schemeClr val="accent2"/>
                </a:solidFill>
                <a:latin typeface="Times New Roman" panose="02020603050405020304" pitchFamily="18" charset="0"/>
                <a:cs typeface="Times New Roman" panose="02020603050405020304" pitchFamily="18" charset="0"/>
              </a:rPr>
              <a:t>Proteins </a:t>
            </a:r>
            <a:r>
              <a:rPr lang="en-US" sz="2400" b="0" dirty="0">
                <a:solidFill>
                  <a:srgbClr val="000000"/>
                </a:solidFill>
                <a:latin typeface="Times New Roman" panose="02020603050405020304" pitchFamily="18" charset="0"/>
                <a:cs typeface="Times New Roman" panose="02020603050405020304" pitchFamily="18" charset="0"/>
              </a:rPr>
              <a:t>are the most abundant organic molecules in living systems</a:t>
            </a:r>
          </a:p>
          <a:p>
            <a:endParaRPr lang="en-US" sz="2000" dirty="0"/>
          </a:p>
        </p:txBody>
      </p:sp>
      <p:sp>
        <p:nvSpPr>
          <p:cNvPr id="4" name="Date Placeholder 3"/>
          <p:cNvSpPr>
            <a:spLocks noGrp="1"/>
          </p:cNvSpPr>
          <p:nvPr>
            <p:ph type="dt" sz="half" idx="10"/>
          </p:nvPr>
        </p:nvSpPr>
        <p:spPr/>
        <p:txBody>
          <a:bodyPr/>
          <a:lstStyle/>
          <a:p>
            <a:fld id="{719F777B-6AA2-41BC-9BCD-D23EF0B920A5}"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35</a:t>
            </a:fld>
            <a:endParaRPr lang="en-US"/>
          </a:p>
        </p:txBody>
      </p:sp>
      <p:pic>
        <p:nvPicPr>
          <p:cNvPr id="7" name="Picture 6"/>
          <p:cNvPicPr>
            <a:picLocks noChangeAspect="1"/>
          </p:cNvPicPr>
          <p:nvPr/>
        </p:nvPicPr>
        <p:blipFill>
          <a:blip r:embed="rId2"/>
          <a:stretch>
            <a:fillRect/>
          </a:stretch>
        </p:blipFill>
        <p:spPr>
          <a:xfrm>
            <a:off x="5791650" y="31303"/>
            <a:ext cx="3292125" cy="2469094"/>
          </a:xfrm>
          <a:prstGeom prst="rect">
            <a:avLst/>
          </a:prstGeom>
        </p:spPr>
      </p:pic>
      <p:sp>
        <p:nvSpPr>
          <p:cNvPr id="8" name="Text Placeholder 3"/>
          <p:cNvSpPr txBox="1">
            <a:spLocks/>
          </p:cNvSpPr>
          <p:nvPr/>
        </p:nvSpPr>
        <p:spPr>
          <a:xfrm>
            <a:off x="120702" y="1777543"/>
            <a:ext cx="8904434" cy="5232148"/>
          </a:xfrm>
          <a:prstGeom prst="rect">
            <a:avLst/>
          </a:prstGeom>
        </p:spPr>
        <p:txBody>
          <a:bodyPr>
            <a:normAutofit/>
          </a:bodyPr>
          <a:lstStyle>
            <a:lvl1pPr marL="257175" indent="-257175" algn="l" defTabSz="342900" rtl="0" eaLnBrk="1" fontAlgn="base" hangingPunct="1">
              <a:spcBef>
                <a:spcPts val="525"/>
              </a:spcBef>
              <a:spcAft>
                <a:spcPct val="0"/>
              </a:spcAft>
              <a:buClr>
                <a:srgbClr val="000000"/>
              </a:buClr>
              <a:buSzPct val="100000"/>
              <a:buFont typeface="Times New Roman" panose="02020603050405020304" pitchFamily="18" charset="0"/>
              <a:defRPr sz="2100" b="1">
                <a:solidFill>
                  <a:srgbClr val="2B166E"/>
                </a:solidFill>
                <a:latin typeface="+mn-lt"/>
                <a:ea typeface="+mn-ea"/>
                <a:cs typeface="+mn-cs"/>
              </a:defRPr>
            </a:lvl1pPr>
            <a:lvl2pPr marL="557213" indent="-214313" algn="l" defTabSz="342900" rtl="0" eaLnBrk="1" fontAlgn="base" hangingPunct="1">
              <a:spcBef>
                <a:spcPts val="525"/>
              </a:spcBef>
              <a:spcAft>
                <a:spcPct val="0"/>
              </a:spcAft>
              <a:buClr>
                <a:srgbClr val="000000"/>
              </a:buClr>
              <a:buSzPct val="100000"/>
              <a:buFont typeface="Times New Roman" panose="02020603050405020304" pitchFamily="18" charset="0"/>
              <a:defRPr sz="2100">
                <a:solidFill>
                  <a:srgbClr val="2B166E"/>
                </a:solidFill>
                <a:latin typeface="+mj-lt"/>
                <a:ea typeface="+mn-ea"/>
              </a:defRPr>
            </a:lvl2pPr>
            <a:lvl3pPr marL="857250" indent="-171450" algn="l" defTabSz="342900" rtl="0" eaLnBrk="1" fontAlgn="base" hangingPunct="1">
              <a:spcBef>
                <a:spcPts val="450"/>
              </a:spcBef>
              <a:spcAft>
                <a:spcPct val="0"/>
              </a:spcAft>
              <a:buClr>
                <a:srgbClr val="000000"/>
              </a:buClr>
              <a:buSzPct val="100000"/>
              <a:buFont typeface="Times New Roman" panose="02020603050405020304" pitchFamily="18" charset="0"/>
              <a:defRPr sz="1800">
                <a:solidFill>
                  <a:srgbClr val="2B166E"/>
                </a:solidFill>
                <a:latin typeface="+mj-lt"/>
                <a:ea typeface="+mn-ea"/>
              </a:defRPr>
            </a:lvl3pPr>
            <a:lvl4pPr marL="12001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4pPr>
            <a:lvl5pPr marL="15430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5pPr>
            <a:lvl6pPr marL="18859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6pPr>
            <a:lvl7pPr marL="22288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7pPr>
            <a:lvl8pPr marL="25717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8pPr>
            <a:lvl9pPr marL="29146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9pPr>
          </a:lstStyle>
          <a:p>
            <a:pPr marL="0" indent="0"/>
            <a:r>
              <a:rPr lang="nb-NO" sz="2700" kern="0" dirty="0" smtClean="0">
                <a:solidFill>
                  <a:srgbClr val="FF0000"/>
                </a:solidFill>
                <a:latin typeface="Times New Roman" panose="02020603050405020304" pitchFamily="18" charset="0"/>
                <a:cs typeface="Times New Roman" panose="02020603050405020304" pitchFamily="18" charset="0"/>
              </a:rPr>
              <a:t>Functions</a:t>
            </a:r>
            <a:endParaRPr lang="en-US" sz="2700" kern="0" dirty="0" smtClean="0">
              <a:solidFill>
                <a:srgbClr val="FF0000"/>
              </a:solidFill>
              <a:latin typeface="Times New Roman" panose="02020603050405020304" pitchFamily="18" charset="0"/>
              <a:cs typeface="Times New Roman" panose="02020603050405020304" pitchFamily="18" charset="0"/>
            </a:endParaRPr>
          </a:p>
          <a:p>
            <a:pPr>
              <a:buFont typeface="Arial"/>
              <a:buChar char="•"/>
            </a:pPr>
            <a:r>
              <a:rPr lang="en-US" sz="2700" b="0" kern="0" dirty="0" smtClean="0">
                <a:solidFill>
                  <a:schemeClr val="tx1"/>
                </a:solidFill>
                <a:latin typeface="Times New Roman" panose="02020603050405020304" pitchFamily="18" charset="0"/>
                <a:cs typeface="Times New Roman" panose="02020603050405020304" pitchFamily="18" charset="0"/>
              </a:rPr>
              <a:t>Catalysis= enzymes</a:t>
            </a:r>
          </a:p>
          <a:p>
            <a:pPr>
              <a:buFont typeface="Arial"/>
              <a:buChar char="•"/>
            </a:pPr>
            <a:r>
              <a:rPr lang="en-US" sz="2700" b="0" kern="0" dirty="0" smtClean="0">
                <a:solidFill>
                  <a:schemeClr val="tx1"/>
                </a:solidFill>
                <a:latin typeface="Times New Roman" panose="02020603050405020304" pitchFamily="18" charset="0"/>
                <a:cs typeface="Times New Roman" panose="02020603050405020304" pitchFamily="18" charset="0"/>
              </a:rPr>
              <a:t>Protection and support = collagen, Elastin</a:t>
            </a:r>
          </a:p>
          <a:p>
            <a:pPr>
              <a:buFont typeface="Arial"/>
              <a:buChar char="•"/>
            </a:pPr>
            <a:r>
              <a:rPr lang="en-US" sz="2700" b="0" kern="0" dirty="0" smtClean="0">
                <a:solidFill>
                  <a:schemeClr val="tx1"/>
                </a:solidFill>
                <a:latin typeface="Times New Roman" panose="02020603050405020304" pitchFamily="18" charset="0"/>
                <a:cs typeface="Times New Roman" panose="02020603050405020304" pitchFamily="18" charset="0"/>
              </a:rPr>
              <a:t>Movement = actin, tubulin</a:t>
            </a:r>
          </a:p>
          <a:p>
            <a:pPr>
              <a:buFont typeface="Arial"/>
              <a:buChar char="•"/>
            </a:pPr>
            <a:r>
              <a:rPr lang="en-US" sz="2700" b="0" kern="0" dirty="0" smtClean="0">
                <a:solidFill>
                  <a:schemeClr val="tx1"/>
                </a:solidFill>
                <a:latin typeface="Times New Roman" panose="02020603050405020304" pitchFamily="18" charset="0"/>
                <a:cs typeface="Times New Roman" panose="02020603050405020304" pitchFamily="18" charset="0"/>
              </a:rPr>
              <a:t>Defense =  immunoglobulins (antibodies)</a:t>
            </a:r>
          </a:p>
          <a:p>
            <a:pPr>
              <a:buFont typeface="Arial"/>
              <a:buChar char="•"/>
            </a:pPr>
            <a:r>
              <a:rPr lang="en-US" sz="2700" b="0" kern="0" dirty="0" smtClean="0">
                <a:solidFill>
                  <a:schemeClr val="tx1"/>
                </a:solidFill>
                <a:latin typeface="Times New Roman" panose="02020603050405020304" pitchFamily="18" charset="0"/>
                <a:cs typeface="Times New Roman" panose="02020603050405020304" pitchFamily="18" charset="0"/>
              </a:rPr>
              <a:t>Regulation =  hormone, Growth factors</a:t>
            </a:r>
          </a:p>
          <a:p>
            <a:pPr>
              <a:buFont typeface="Arial"/>
              <a:buChar char="•"/>
            </a:pPr>
            <a:r>
              <a:rPr lang="en-US" sz="2700" b="0" kern="0" dirty="0" smtClean="0">
                <a:solidFill>
                  <a:schemeClr val="tx1"/>
                </a:solidFill>
                <a:latin typeface="Times New Roman" panose="02020603050405020304" pitchFamily="18" charset="0"/>
                <a:cs typeface="Times New Roman" panose="02020603050405020304" pitchFamily="18" charset="0"/>
              </a:rPr>
              <a:t>Transport = hemoglobin, lipoproteins, Transferrin</a:t>
            </a:r>
          </a:p>
          <a:p>
            <a:pPr>
              <a:buFont typeface="Arial"/>
              <a:buChar char="•"/>
            </a:pPr>
            <a:r>
              <a:rPr lang="en-US" sz="2700" b="0" kern="0" dirty="0" smtClean="0">
                <a:solidFill>
                  <a:schemeClr val="tx1"/>
                </a:solidFill>
                <a:latin typeface="Times New Roman" panose="02020603050405020304" pitchFamily="18" charset="0"/>
                <a:cs typeface="Times New Roman" panose="02020603050405020304" pitchFamily="18" charset="0"/>
              </a:rPr>
              <a:t>Storage = ovalbumin, casein</a:t>
            </a:r>
          </a:p>
          <a:p>
            <a:pPr>
              <a:buFont typeface="Arial"/>
              <a:buChar char="•"/>
            </a:pPr>
            <a:r>
              <a:rPr lang="en-US" sz="2700" b="0" kern="0" dirty="0" smtClean="0">
                <a:solidFill>
                  <a:schemeClr val="tx1"/>
                </a:solidFill>
                <a:latin typeface="Times New Roman" panose="02020603050405020304" pitchFamily="18" charset="0"/>
                <a:cs typeface="Times New Roman" panose="02020603050405020304" pitchFamily="18" charset="0"/>
              </a:rPr>
              <a:t>Stress response = cytochrome P450, </a:t>
            </a:r>
            <a:r>
              <a:rPr lang="en-US" sz="2700" b="0" kern="0" dirty="0" err="1" smtClean="0">
                <a:solidFill>
                  <a:schemeClr val="tx1"/>
                </a:solidFill>
                <a:latin typeface="Times New Roman" panose="02020603050405020304" pitchFamily="18" charset="0"/>
                <a:cs typeface="Times New Roman" panose="02020603050405020304" pitchFamily="18" charset="0"/>
              </a:rPr>
              <a:t>metallothionein</a:t>
            </a:r>
            <a:r>
              <a:rPr lang="en-US" sz="2700" b="0" kern="0" dirty="0" smtClean="0">
                <a:solidFill>
                  <a:schemeClr val="tx1"/>
                </a:solidFill>
                <a:latin typeface="Times New Roman" panose="02020603050405020304" pitchFamily="18" charset="0"/>
                <a:cs typeface="Times New Roman" panose="02020603050405020304" pitchFamily="18" charset="0"/>
              </a:rPr>
              <a:t>, heat shock proteins</a:t>
            </a:r>
          </a:p>
          <a:p>
            <a:pPr marL="1074420" lvl="1" indent="-342900">
              <a:buFont typeface="Arial"/>
              <a:buChar char="•"/>
            </a:pPr>
            <a:endParaRPr lang="en-US" sz="2700" kern="0" dirty="0" smtClean="0">
              <a:solidFill>
                <a:schemeClr val="tx1"/>
              </a:solidFill>
              <a:latin typeface="Times New Roman" panose="02020603050405020304" pitchFamily="18" charset="0"/>
              <a:cs typeface="Times New Roman" panose="02020603050405020304" pitchFamily="18" charset="0"/>
            </a:endParaRPr>
          </a:p>
          <a:p>
            <a:pPr marL="342900" indent="-342900">
              <a:buFont typeface="Arial"/>
              <a:buChar char="•"/>
            </a:pPr>
            <a:endParaRPr lang="en-US" sz="2700" b="0" kern="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4832244"/>
      </p:ext>
    </p:extLst>
  </p:cSld>
  <p:clrMapOvr>
    <a:masterClrMapping/>
  </p:clrMapOvr>
  <p:transition spd="slow">
    <p:push dir="u"/>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368A4E3C-C089-4D97-BD67-B83121984B80}"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36</a:t>
            </a:fld>
            <a:endParaRPr lang="en-US"/>
          </a:p>
        </p:txBody>
      </p:sp>
      <p:sp>
        <p:nvSpPr>
          <p:cNvPr id="8" name="Text Placeholder 3"/>
          <p:cNvSpPr>
            <a:spLocks noGrp="1"/>
          </p:cNvSpPr>
          <p:nvPr>
            <p:ph idx="1"/>
          </p:nvPr>
        </p:nvSpPr>
        <p:spPr>
          <a:xfrm>
            <a:off x="228600" y="863884"/>
            <a:ext cx="8228013" cy="5246687"/>
          </a:xfrm>
        </p:spPr>
        <p:txBody>
          <a:bodyPr>
            <a:normAutofit fontScale="92500" lnSpcReduction="20000"/>
          </a:bodyPr>
          <a:lstStyle/>
          <a:p>
            <a:pPr marL="342900" indent="-342900">
              <a:buFont typeface="Arial"/>
              <a:buChar char="•"/>
            </a:pPr>
            <a:r>
              <a:rPr lang="en-US" sz="2600" b="0" dirty="0" smtClean="0">
                <a:solidFill>
                  <a:schemeClr val="tx1"/>
                </a:solidFill>
                <a:latin typeface="Times New Roman" panose="02020603050405020304" pitchFamily="18" charset="0"/>
                <a:cs typeface="Times New Roman" panose="02020603050405020304" pitchFamily="18" charset="0"/>
              </a:rPr>
              <a:t>All proteins are made up of different arrangements of the same 20 kinds of amino acids</a:t>
            </a:r>
          </a:p>
          <a:p>
            <a:pPr marL="342900" indent="-342900">
              <a:buFont typeface="Arial"/>
              <a:buChar char="•"/>
            </a:pPr>
            <a:r>
              <a:rPr lang="en-US" sz="2600" b="0" dirty="0" smtClean="0">
                <a:solidFill>
                  <a:srgbClr val="009900"/>
                </a:solidFill>
                <a:latin typeface="Times New Roman" panose="02020603050405020304" pitchFamily="18" charset="0"/>
                <a:cs typeface="Times New Roman" panose="02020603050405020304" pitchFamily="18" charset="0"/>
              </a:rPr>
              <a:t>Amino acids </a:t>
            </a:r>
            <a:r>
              <a:rPr lang="en-US" sz="2600" b="0" dirty="0" smtClean="0">
                <a:solidFill>
                  <a:schemeClr val="tx1"/>
                </a:solidFill>
                <a:latin typeface="Times New Roman" panose="02020603050405020304" pitchFamily="18" charset="0"/>
                <a:cs typeface="Times New Roman" panose="02020603050405020304" pitchFamily="18" charset="0"/>
              </a:rPr>
              <a:t>are the monomers that make up proteins</a:t>
            </a:r>
          </a:p>
          <a:p>
            <a:pPr marL="342900" indent="-342900">
              <a:buFont typeface="Arial"/>
              <a:buChar char="•"/>
            </a:pPr>
            <a:r>
              <a:rPr lang="en-US" sz="2600" b="0" dirty="0" smtClean="0">
                <a:solidFill>
                  <a:schemeClr val="tx1"/>
                </a:solidFill>
                <a:latin typeface="Times New Roman" panose="02020603050405020304" pitchFamily="18" charset="0"/>
                <a:cs typeface="Times New Roman" panose="02020603050405020304" pitchFamily="18" charset="0"/>
              </a:rPr>
              <a:t>Each amino acid consists of a central carbon atom bonded to an amino group (-NH</a:t>
            </a:r>
            <a:r>
              <a:rPr lang="en-US" sz="2600" b="0" baseline="-25000" dirty="0" smtClean="0">
                <a:solidFill>
                  <a:schemeClr val="tx1"/>
                </a:solidFill>
                <a:latin typeface="Times New Roman" panose="02020603050405020304" pitchFamily="18" charset="0"/>
                <a:cs typeface="Times New Roman" panose="02020603050405020304" pitchFamily="18" charset="0"/>
              </a:rPr>
              <a:t>2</a:t>
            </a:r>
            <a:r>
              <a:rPr lang="en-US" sz="2600" b="0" dirty="0" smtClean="0">
                <a:solidFill>
                  <a:schemeClr val="tx1"/>
                </a:solidFill>
                <a:latin typeface="Times New Roman" panose="02020603050405020304" pitchFamily="18" charset="0"/>
                <a:cs typeface="Times New Roman" panose="02020603050405020304" pitchFamily="18" charset="0"/>
              </a:rPr>
              <a:t>), a carboxyl group (-COOH) and a hydrogen atom</a:t>
            </a:r>
          </a:p>
          <a:p>
            <a:pPr marL="342900" indent="-342900">
              <a:buFont typeface="Arial"/>
              <a:buChar char="•"/>
            </a:pPr>
            <a:endParaRPr lang="nb-NO" sz="2600" b="0" dirty="0">
              <a:solidFill>
                <a:schemeClr val="tx1"/>
              </a:solidFill>
              <a:latin typeface="Times New Roman" panose="02020603050405020304" pitchFamily="18" charset="0"/>
              <a:cs typeface="Times New Roman" panose="02020603050405020304" pitchFamily="18" charset="0"/>
            </a:endParaRPr>
          </a:p>
          <a:p>
            <a:pPr marL="342900" indent="-342900">
              <a:buFont typeface="Arial"/>
              <a:buChar char="•"/>
            </a:pPr>
            <a:endParaRPr lang="nb-NO" sz="2600" b="0" dirty="0" smtClean="0">
              <a:solidFill>
                <a:schemeClr val="tx1"/>
              </a:solidFill>
              <a:latin typeface="Times New Roman" panose="02020603050405020304" pitchFamily="18" charset="0"/>
              <a:cs typeface="Times New Roman" panose="02020603050405020304" pitchFamily="18" charset="0"/>
            </a:endParaRPr>
          </a:p>
          <a:p>
            <a:pPr marL="342900" indent="-342900">
              <a:buFont typeface="Arial"/>
              <a:buChar char="•"/>
            </a:pPr>
            <a:endParaRPr lang="nb-NO" sz="2600" b="0" dirty="0">
              <a:solidFill>
                <a:schemeClr val="tx1"/>
              </a:solidFill>
              <a:latin typeface="Times New Roman" panose="02020603050405020304" pitchFamily="18" charset="0"/>
              <a:cs typeface="Times New Roman" panose="02020603050405020304" pitchFamily="18" charset="0"/>
            </a:endParaRPr>
          </a:p>
          <a:p>
            <a:pPr marL="342900" indent="-342900">
              <a:buFont typeface="Arial"/>
              <a:buChar char="•"/>
            </a:pPr>
            <a:endParaRPr lang="nb-NO" sz="2600" b="0" dirty="0" smtClean="0">
              <a:solidFill>
                <a:schemeClr val="tx1"/>
              </a:solidFill>
              <a:latin typeface="Times New Roman" panose="02020603050405020304" pitchFamily="18" charset="0"/>
              <a:cs typeface="Times New Roman" panose="02020603050405020304" pitchFamily="18" charset="0"/>
            </a:endParaRPr>
          </a:p>
          <a:p>
            <a:pPr marL="342900" indent="-342900">
              <a:buFont typeface="Arial"/>
              <a:buChar char="•"/>
            </a:pPr>
            <a:endParaRPr lang="en-US" sz="2600" b="0" dirty="0" smtClean="0">
              <a:solidFill>
                <a:schemeClr val="tx1"/>
              </a:solidFill>
              <a:latin typeface="Times New Roman" panose="02020603050405020304" pitchFamily="18" charset="0"/>
              <a:cs typeface="Times New Roman" panose="02020603050405020304" pitchFamily="18" charset="0"/>
            </a:endParaRPr>
          </a:p>
          <a:p>
            <a:pPr marL="342900" indent="-342900">
              <a:buFont typeface="Arial"/>
              <a:buChar char="•"/>
            </a:pPr>
            <a:r>
              <a:rPr lang="en-US" sz="2600" b="0" dirty="0" smtClean="0">
                <a:solidFill>
                  <a:schemeClr val="tx1"/>
                </a:solidFill>
                <a:latin typeface="Times New Roman" panose="02020603050405020304" pitchFamily="18" charset="0"/>
                <a:cs typeface="Times New Roman" panose="02020603050405020304" pitchFamily="18" charset="0"/>
              </a:rPr>
              <a:t>Each amino acid has its own unique R group</a:t>
            </a:r>
          </a:p>
          <a:p>
            <a:pPr marL="342900" indent="-342900">
              <a:buFont typeface="Arial"/>
              <a:buChar char="•"/>
            </a:pPr>
            <a:r>
              <a:rPr lang="en-US" sz="2600" b="0" dirty="0" smtClean="0">
                <a:solidFill>
                  <a:schemeClr val="tx1"/>
                </a:solidFill>
                <a:latin typeface="Times New Roman" panose="02020603050405020304" pitchFamily="18" charset="0"/>
                <a:cs typeface="Times New Roman" panose="02020603050405020304" pitchFamily="18" charset="0"/>
              </a:rPr>
              <a:t>The R group is the only difference in structure between the 20 amino acid</a:t>
            </a:r>
          </a:p>
        </p:txBody>
      </p:sp>
      <p:pic>
        <p:nvPicPr>
          <p:cNvPr id="9" name="Picture 8"/>
          <p:cNvPicPr>
            <a:picLocks noChangeAspect="1"/>
          </p:cNvPicPr>
          <p:nvPr/>
        </p:nvPicPr>
        <p:blipFill>
          <a:blip r:embed="rId2"/>
          <a:stretch>
            <a:fillRect/>
          </a:stretch>
        </p:blipFill>
        <p:spPr>
          <a:xfrm>
            <a:off x="2972156" y="2740679"/>
            <a:ext cx="2740899" cy="1670894"/>
          </a:xfrm>
          <a:prstGeom prst="rect">
            <a:avLst/>
          </a:prstGeom>
        </p:spPr>
      </p:pic>
    </p:spTree>
    <p:extLst>
      <p:ext uri="{BB962C8B-B14F-4D97-AF65-F5344CB8AC3E}">
        <p14:creationId xmlns:p14="http://schemas.microsoft.com/office/powerpoint/2010/main" val="2235065017"/>
      </p:ext>
    </p:extLst>
  </p:cSld>
  <p:clrMapOvr>
    <a:masterClrMapping/>
  </p:clrMapOvr>
  <p:transition spd="slow">
    <p:push dir="u"/>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BC3935F1-3752-409B-81B0-F3E5E97DAC96}"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37</a:t>
            </a:fld>
            <a:endParaRPr lang="en-US"/>
          </a:p>
        </p:txBody>
      </p:sp>
      <p:pic>
        <p:nvPicPr>
          <p:cNvPr id="7" name="Picture 6"/>
          <p:cNvPicPr>
            <a:picLocks noChangeAspect="1"/>
          </p:cNvPicPr>
          <p:nvPr/>
        </p:nvPicPr>
        <p:blipFill>
          <a:blip r:embed="rId2"/>
          <a:stretch>
            <a:fillRect/>
          </a:stretch>
        </p:blipFill>
        <p:spPr>
          <a:xfrm>
            <a:off x="1320393" y="102854"/>
            <a:ext cx="6945144" cy="6434471"/>
          </a:xfrm>
          <a:prstGeom prst="rect">
            <a:avLst/>
          </a:prstGeom>
        </p:spPr>
      </p:pic>
    </p:spTree>
    <p:extLst>
      <p:ext uri="{BB962C8B-B14F-4D97-AF65-F5344CB8AC3E}">
        <p14:creationId xmlns:p14="http://schemas.microsoft.com/office/powerpoint/2010/main" val="105213010"/>
      </p:ext>
    </p:extLst>
  </p:cSld>
  <p:clrMapOvr>
    <a:masterClrMapping/>
  </p:clrMapOvr>
  <p:transition spd="slow">
    <p:push dir="u"/>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38989" y="900115"/>
            <a:ext cx="8546225" cy="5246687"/>
          </a:xfrm>
        </p:spPr>
        <p:txBody>
          <a:bodyPr/>
          <a:lstStyle/>
          <a:p>
            <a:r>
              <a:rPr lang="nb-NO" sz="2400" dirty="0" smtClean="0">
                <a:latin typeface="+mj-lt"/>
              </a:rPr>
              <a:t>Structure of Proteins</a:t>
            </a:r>
            <a:endParaRPr lang="en-US" sz="2400" dirty="0" smtClean="0">
              <a:latin typeface="+mj-lt"/>
            </a:endParaRPr>
          </a:p>
          <a:p>
            <a:pPr marL="342900" indent="-342900">
              <a:buFont typeface="Arial" panose="020B0604020202020204" pitchFamily="34" charset="0"/>
              <a:buChar char="•"/>
            </a:pPr>
            <a:r>
              <a:rPr lang="en-US" sz="2400" b="0" dirty="0" smtClean="0">
                <a:solidFill>
                  <a:schemeClr val="tx1"/>
                </a:solidFill>
                <a:latin typeface="+mj-lt"/>
              </a:rPr>
              <a:t>In </a:t>
            </a:r>
            <a:r>
              <a:rPr lang="en-US" sz="2400" b="0" dirty="0">
                <a:solidFill>
                  <a:schemeClr val="tx1"/>
                </a:solidFill>
                <a:latin typeface="+mj-lt"/>
              </a:rPr>
              <a:t>protein structure, each amino acid is attached to another amino acid by a covalent bond, known as a </a:t>
            </a:r>
            <a:r>
              <a:rPr lang="en-US" sz="2400" dirty="0">
                <a:solidFill>
                  <a:schemeClr val="tx1"/>
                </a:solidFill>
                <a:latin typeface="+mj-lt"/>
              </a:rPr>
              <a:t>peptide bond,</a:t>
            </a:r>
            <a:r>
              <a:rPr lang="en-US" sz="2400" b="0" dirty="0">
                <a:solidFill>
                  <a:schemeClr val="tx1"/>
                </a:solidFill>
                <a:latin typeface="+mj-lt"/>
              </a:rPr>
              <a:t> which is formed by a dehydration reaction</a:t>
            </a:r>
          </a:p>
          <a:p>
            <a:endParaRPr lang="en-US" sz="2400" dirty="0">
              <a:latin typeface="+mj-lt"/>
            </a:endParaRPr>
          </a:p>
        </p:txBody>
      </p:sp>
      <p:sp>
        <p:nvSpPr>
          <p:cNvPr id="4" name="Date Placeholder 3"/>
          <p:cNvSpPr>
            <a:spLocks noGrp="1"/>
          </p:cNvSpPr>
          <p:nvPr>
            <p:ph type="dt" sz="half" idx="10"/>
          </p:nvPr>
        </p:nvSpPr>
        <p:spPr/>
        <p:txBody>
          <a:bodyPr/>
          <a:lstStyle/>
          <a:p>
            <a:fld id="{0D4573F3-9469-4A56-A3F7-BDDAB6C6D43C}"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38</a:t>
            </a:fld>
            <a:endParaRPr lang="en-US"/>
          </a:p>
        </p:txBody>
      </p:sp>
      <p:pic>
        <p:nvPicPr>
          <p:cNvPr id="7" name="Picture 6"/>
          <p:cNvPicPr>
            <a:picLocks noChangeAspect="1"/>
          </p:cNvPicPr>
          <p:nvPr/>
        </p:nvPicPr>
        <p:blipFill>
          <a:blip r:embed="rId2"/>
          <a:stretch>
            <a:fillRect/>
          </a:stretch>
        </p:blipFill>
        <p:spPr>
          <a:xfrm>
            <a:off x="3999366" y="2483917"/>
            <a:ext cx="5049978" cy="3982041"/>
          </a:xfrm>
          <a:prstGeom prst="rect">
            <a:avLst/>
          </a:prstGeom>
        </p:spPr>
      </p:pic>
      <p:sp>
        <p:nvSpPr>
          <p:cNvPr id="8" name="Rectangle 7"/>
          <p:cNvSpPr/>
          <p:nvPr/>
        </p:nvSpPr>
        <p:spPr>
          <a:xfrm>
            <a:off x="72130" y="2822368"/>
            <a:ext cx="3861400" cy="3395801"/>
          </a:xfrm>
          <a:prstGeom prst="rect">
            <a:avLst/>
          </a:prstGeom>
        </p:spPr>
        <p:txBody>
          <a:bodyPr wrap="square">
            <a:spAutoFit/>
          </a:bodyPr>
          <a:lstStyle/>
          <a:p>
            <a:pPr marL="342900" lvl="0" indent="-342900" defTabSz="457200" eaLnBrk="0" fontAlgn="base" hangingPunct="0">
              <a:spcBef>
                <a:spcPts val="800"/>
              </a:spcBef>
              <a:spcAft>
                <a:spcPct val="0"/>
              </a:spcAft>
              <a:buClr>
                <a:srgbClr val="6CB255"/>
              </a:buClr>
              <a:buSzPct val="100000"/>
              <a:buFont typeface="Arial"/>
              <a:buChar char="•"/>
            </a:pPr>
            <a:r>
              <a:rPr lang="en-US" sz="2600" kern="0" dirty="0">
                <a:solidFill>
                  <a:srgbClr val="000000"/>
                </a:solidFill>
                <a:latin typeface="Times New Roman" panose="02020603050405020304" pitchFamily="18" charset="0"/>
                <a:cs typeface="Times New Roman" panose="02020603050405020304" pitchFamily="18" charset="0"/>
              </a:rPr>
              <a:t>The term </a:t>
            </a:r>
            <a:r>
              <a:rPr lang="en-US" sz="2600" b="1" kern="0" dirty="0">
                <a:solidFill>
                  <a:srgbClr val="009900"/>
                </a:solidFill>
                <a:latin typeface="Times New Roman" panose="02020603050405020304" pitchFamily="18" charset="0"/>
                <a:cs typeface="Times New Roman" panose="02020603050405020304" pitchFamily="18" charset="0"/>
              </a:rPr>
              <a:t>polypeptide</a:t>
            </a:r>
            <a:r>
              <a:rPr lang="en-US" sz="2600" kern="0" dirty="0">
                <a:solidFill>
                  <a:srgbClr val="000000"/>
                </a:solidFill>
                <a:latin typeface="Times New Roman" panose="02020603050405020304" pitchFamily="18" charset="0"/>
                <a:cs typeface="Times New Roman" panose="02020603050405020304" pitchFamily="18" charset="0"/>
              </a:rPr>
              <a:t> refers to a polymer of amino acids</a:t>
            </a:r>
          </a:p>
          <a:p>
            <a:pPr marL="342900" lvl="0" indent="-342900" defTabSz="457200" eaLnBrk="0" fontAlgn="base" hangingPunct="0">
              <a:spcBef>
                <a:spcPts val="800"/>
              </a:spcBef>
              <a:spcAft>
                <a:spcPct val="0"/>
              </a:spcAft>
              <a:buClr>
                <a:srgbClr val="6CB255"/>
              </a:buClr>
              <a:buSzPct val="100000"/>
              <a:buFont typeface="Arial"/>
              <a:buChar char="•"/>
            </a:pPr>
            <a:r>
              <a:rPr lang="en-US" sz="2600" kern="0" dirty="0">
                <a:solidFill>
                  <a:srgbClr val="000000"/>
                </a:solidFill>
                <a:latin typeface="Times New Roman" panose="02020603050405020304" pitchFamily="18" charset="0"/>
                <a:cs typeface="Times New Roman" panose="02020603050405020304" pitchFamily="18" charset="0"/>
              </a:rPr>
              <a:t>The sequence and number of amino acids ultimately determine a protein’s shape, size, and function</a:t>
            </a:r>
          </a:p>
        </p:txBody>
      </p:sp>
    </p:spTree>
    <p:extLst>
      <p:ext uri="{BB962C8B-B14F-4D97-AF65-F5344CB8AC3E}">
        <p14:creationId xmlns:p14="http://schemas.microsoft.com/office/powerpoint/2010/main" val="1875622973"/>
      </p:ext>
    </p:extLst>
  </p:cSld>
  <p:clrMapOvr>
    <a:masterClrMapping/>
  </p:clrMapOvr>
  <p:transition spd="slow">
    <p:push dir="u"/>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63347" y="900115"/>
            <a:ext cx="8683143" cy="5246687"/>
          </a:xfrm>
        </p:spPr>
        <p:txBody>
          <a:bodyPr/>
          <a:lstStyle/>
          <a:p>
            <a:pPr marL="0" lvl="0" indent="0">
              <a:buClr>
                <a:srgbClr val="6CB255"/>
              </a:buClr>
            </a:pPr>
            <a:r>
              <a:rPr lang="nb-NO" sz="2400" b="0" dirty="0" smtClean="0">
                <a:solidFill>
                  <a:schemeClr val="accent2"/>
                </a:solidFill>
                <a:latin typeface="Times New Roman" panose="02020603050405020304" pitchFamily="18" charset="0"/>
                <a:cs typeface="Times New Roman" panose="02020603050405020304" pitchFamily="18" charset="0"/>
              </a:rPr>
              <a:t>Protein structure.....</a:t>
            </a:r>
            <a:endParaRPr lang="en-US" sz="2400" b="0" dirty="0" smtClean="0">
              <a:solidFill>
                <a:schemeClr val="accent2"/>
              </a:solidFill>
              <a:latin typeface="Times New Roman" panose="02020603050405020304" pitchFamily="18" charset="0"/>
              <a:cs typeface="Times New Roman" panose="02020603050405020304" pitchFamily="18" charset="0"/>
            </a:endParaRPr>
          </a:p>
          <a:p>
            <a:pPr marL="342900" lvl="0" indent="-342900">
              <a:buClr>
                <a:srgbClr val="6CB255"/>
              </a:buClr>
              <a:buFont typeface="Arial"/>
              <a:buChar char="•"/>
            </a:pPr>
            <a:r>
              <a:rPr lang="en-US" sz="2400" b="0" dirty="0" smtClean="0">
                <a:solidFill>
                  <a:srgbClr val="000000"/>
                </a:solidFill>
                <a:latin typeface="Times New Roman" panose="02020603050405020304" pitchFamily="18" charset="0"/>
                <a:cs typeface="Times New Roman" panose="02020603050405020304" pitchFamily="18" charset="0"/>
              </a:rPr>
              <a:t>A </a:t>
            </a:r>
            <a:r>
              <a:rPr lang="en-US" sz="2400" b="0" dirty="0">
                <a:solidFill>
                  <a:srgbClr val="000000"/>
                </a:solidFill>
                <a:latin typeface="Times New Roman" panose="02020603050405020304" pitchFamily="18" charset="0"/>
                <a:cs typeface="Times New Roman" panose="02020603050405020304" pitchFamily="18" charset="0"/>
              </a:rPr>
              <a:t>protein’s shape is critical to its function</a:t>
            </a:r>
          </a:p>
          <a:p>
            <a:pPr lvl="0">
              <a:buClr>
                <a:srgbClr val="6CB255"/>
              </a:buClr>
              <a:buFont typeface="Arial"/>
              <a:buChar char="•"/>
            </a:pPr>
            <a:r>
              <a:rPr lang="en-US" sz="2400" b="0" dirty="0">
                <a:solidFill>
                  <a:srgbClr val="000000"/>
                </a:solidFill>
                <a:latin typeface="Times New Roman" panose="02020603050405020304" pitchFamily="18" charset="0"/>
                <a:cs typeface="Times New Roman" panose="02020603050405020304" pitchFamily="18" charset="0"/>
              </a:rPr>
              <a:t>Each protein has its own unique sequence and shape</a:t>
            </a:r>
          </a:p>
          <a:p>
            <a:pPr marL="342900" lvl="0" indent="-342900">
              <a:buClr>
                <a:srgbClr val="6CB255"/>
              </a:buClr>
              <a:buFont typeface="Arial"/>
              <a:buChar char="•"/>
            </a:pPr>
            <a:r>
              <a:rPr lang="en-US" sz="2400" dirty="0">
                <a:solidFill>
                  <a:srgbClr val="000000"/>
                </a:solidFill>
                <a:latin typeface="Times New Roman" panose="02020603050405020304" pitchFamily="18" charset="0"/>
                <a:cs typeface="Times New Roman" panose="02020603050405020304" pitchFamily="18" charset="0"/>
              </a:rPr>
              <a:t>There are four levels to protein structure:</a:t>
            </a:r>
          </a:p>
          <a:p>
            <a:pPr marL="1188720" lvl="1" indent="-457200">
              <a:buClr>
                <a:srgbClr val="6CB255"/>
              </a:buClr>
              <a:buFont typeface="Wingdings" charset="2"/>
              <a:buChar char="ü"/>
            </a:pPr>
            <a:r>
              <a:rPr lang="en-US" sz="2400" dirty="0">
                <a:solidFill>
                  <a:srgbClr val="000000"/>
                </a:solidFill>
                <a:latin typeface="Times New Roman" panose="02020603050405020304" pitchFamily="18" charset="0"/>
                <a:cs typeface="Times New Roman" panose="02020603050405020304" pitchFamily="18" charset="0"/>
              </a:rPr>
              <a:t>Primary</a:t>
            </a:r>
          </a:p>
          <a:p>
            <a:pPr marL="1188720" lvl="1" indent="-457200">
              <a:buClr>
                <a:srgbClr val="6CB255"/>
              </a:buClr>
              <a:buFont typeface="Wingdings" charset="2"/>
              <a:buChar char="ü"/>
            </a:pPr>
            <a:r>
              <a:rPr lang="en-US" sz="2400" dirty="0">
                <a:solidFill>
                  <a:srgbClr val="000000"/>
                </a:solidFill>
                <a:latin typeface="Times New Roman" panose="02020603050405020304" pitchFamily="18" charset="0"/>
                <a:cs typeface="Times New Roman" panose="02020603050405020304" pitchFamily="18" charset="0"/>
              </a:rPr>
              <a:t>Secondary</a:t>
            </a:r>
          </a:p>
          <a:p>
            <a:pPr marL="1188720" lvl="1" indent="-457200">
              <a:buClr>
                <a:srgbClr val="6CB255"/>
              </a:buClr>
              <a:buFont typeface="Wingdings" charset="2"/>
              <a:buChar char="ü"/>
            </a:pPr>
            <a:r>
              <a:rPr lang="en-US" sz="2400" dirty="0">
                <a:solidFill>
                  <a:srgbClr val="000000"/>
                </a:solidFill>
                <a:latin typeface="Times New Roman" panose="02020603050405020304" pitchFamily="18" charset="0"/>
                <a:cs typeface="Times New Roman" panose="02020603050405020304" pitchFamily="18" charset="0"/>
              </a:rPr>
              <a:t>Tertiary</a:t>
            </a:r>
          </a:p>
          <a:p>
            <a:pPr marL="1188720" lvl="1" indent="-457200">
              <a:buClr>
                <a:srgbClr val="6CB255"/>
              </a:buClr>
              <a:buFont typeface="Wingdings" charset="2"/>
              <a:buChar char="ü"/>
            </a:pPr>
            <a:r>
              <a:rPr lang="en-US" sz="2400" dirty="0">
                <a:solidFill>
                  <a:srgbClr val="000000"/>
                </a:solidFill>
                <a:latin typeface="Times New Roman" panose="02020603050405020304" pitchFamily="18" charset="0"/>
                <a:cs typeface="Times New Roman" panose="02020603050405020304" pitchFamily="18" charset="0"/>
              </a:rPr>
              <a:t>Quaternary</a:t>
            </a:r>
          </a:p>
          <a:p>
            <a:endParaRPr lang="en-US" sz="2400" b="0" dirty="0"/>
          </a:p>
        </p:txBody>
      </p:sp>
      <p:sp>
        <p:nvSpPr>
          <p:cNvPr id="4" name="Date Placeholder 3"/>
          <p:cNvSpPr>
            <a:spLocks noGrp="1"/>
          </p:cNvSpPr>
          <p:nvPr>
            <p:ph type="dt" sz="half" idx="10"/>
          </p:nvPr>
        </p:nvSpPr>
        <p:spPr/>
        <p:txBody>
          <a:bodyPr/>
          <a:lstStyle/>
          <a:p>
            <a:fld id="{A8C5B41A-CBB3-42C5-92B8-7476DF131E2D}"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39</a:t>
            </a:fld>
            <a:endParaRPr lang="en-US"/>
          </a:p>
        </p:txBody>
      </p:sp>
    </p:spTree>
    <p:extLst>
      <p:ext uri="{BB962C8B-B14F-4D97-AF65-F5344CB8AC3E}">
        <p14:creationId xmlns:p14="http://schemas.microsoft.com/office/powerpoint/2010/main" val="2535546973"/>
      </p:ext>
    </p:extLst>
  </p:cSld>
  <p:clrMapOvr>
    <a:masterClrMapping/>
  </p:clrMapOvr>
  <p:transition spd="slow">
    <p:push dir="u"/>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Text Box 3"/>
          <p:cNvSpPr txBox="1">
            <a:spLocks noChangeArrowheads="1"/>
          </p:cNvSpPr>
          <p:nvPr/>
        </p:nvSpPr>
        <p:spPr bwMode="auto">
          <a:xfrm>
            <a:off x="217017" y="813206"/>
            <a:ext cx="8512175" cy="2621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4350" indent="-514350" eaLnBrk="0" hangingPunct="0">
              <a:spcBef>
                <a:spcPts val="800"/>
              </a:spcBef>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514350" marR="0" lvl="0" indent="-514350" algn="l" defTabSz="457200" rtl="0" eaLnBrk="1" fontAlgn="base" latinLnBrk="0" hangingPunct="1">
              <a:lnSpc>
                <a:spcPct val="100000"/>
              </a:lnSpc>
              <a:spcBef>
                <a:spcPts val="800"/>
              </a:spcBef>
              <a:spcAft>
                <a:spcPct val="0"/>
              </a:spcAft>
              <a:buClr>
                <a:srgbClr val="000000"/>
              </a:buClr>
              <a:buSzPct val="100000"/>
              <a:buFont typeface="Times New Roman" panose="02020603050405020304" pitchFamily="18" charset="0"/>
              <a:buAutoNum type="arabicParen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altLang="en-US" sz="2400" b="1" i="0" u="none" strike="noStrike" kern="1200" cap="none" spc="0" normalizeH="0" baseline="0" noProof="0" dirty="0" smtClean="0">
                <a:ln>
                  <a:noFill/>
                </a:ln>
                <a:solidFill>
                  <a:srgbClr val="0070C0"/>
                </a:solidFill>
                <a:effectLst/>
                <a:uLnTx/>
                <a:uFillTx/>
                <a:latin typeface="Times New Roman" panose="02020603050405020304" pitchFamily="18" charset="0"/>
                <a:cs typeface="Times New Roman" panose="02020603050405020304" pitchFamily="18" charset="0"/>
              </a:rPr>
              <a:t>Primary structure</a:t>
            </a: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 </a:t>
            </a:r>
          </a:p>
          <a:p>
            <a:pPr marL="457200" marR="0" lvl="0" indent="-457200" algn="l" defTabSz="457200" rtl="0" eaLnBrk="1" fontAlgn="base" latinLnBrk="0" hangingPunct="1">
              <a:lnSpc>
                <a:spcPct val="100000"/>
              </a:lnSpc>
              <a:spcBef>
                <a:spcPts val="800"/>
              </a:spcBef>
              <a:spcAft>
                <a:spcPct val="0"/>
              </a:spcAft>
              <a:buClr>
                <a:srgbClr val="000000"/>
              </a:buClr>
              <a:buSzPct val="100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400" dirty="0" smtClean="0">
                <a:latin typeface="Times New Roman" panose="02020603050405020304" pitchFamily="18" charset="0"/>
                <a:cs typeface="Times New Roman" panose="02020603050405020304" pitchFamily="18" charset="0"/>
              </a:rPr>
              <a:t>Refers to genetically determined </a:t>
            </a: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sequence of amino acids</a:t>
            </a:r>
          </a:p>
          <a:p>
            <a:pPr marL="514350" marR="0" lvl="0" indent="-514350" algn="l" defTabSz="457200" rtl="0" eaLnBrk="1" fontAlgn="base" latinLnBrk="0" hangingPunct="1">
              <a:lnSpc>
                <a:spcPct val="100000"/>
              </a:lnSpc>
              <a:spcBef>
                <a:spcPts val="800"/>
              </a:spcBef>
              <a:spcAft>
                <a:spcPct val="0"/>
              </a:spcAft>
              <a:buClr>
                <a:srgbClr val="000000"/>
              </a:buClr>
              <a:buSzPct val="100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Amino acids linked by peptide bonds</a:t>
            </a:r>
          </a:p>
          <a:p>
            <a:pPr marL="514350" marR="0" lvl="0" indent="-514350" algn="l" defTabSz="457200" rtl="0" eaLnBrk="1" fontAlgn="base" latinLnBrk="0" hangingPunct="1">
              <a:lnSpc>
                <a:spcPct val="100000"/>
              </a:lnSpc>
              <a:spcBef>
                <a:spcPts val="800"/>
              </a:spcBef>
              <a:spcAft>
                <a:spcPct val="0"/>
              </a:spcAft>
              <a:buClr>
                <a:srgbClr val="000000"/>
              </a:buClr>
              <a:buSzPct val="100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Millions of different proteins made from the 20  standard amino acids</a:t>
            </a:r>
          </a:p>
        </p:txBody>
      </p:sp>
      <p:sp>
        <p:nvSpPr>
          <p:cNvPr id="2" name="Slide Number Placeholder 1"/>
          <p:cNvSpPr>
            <a:spLocks noGrp="1"/>
          </p:cNvSpPr>
          <p:nvPr>
            <p:ph type="sldNum" idx="12"/>
          </p:nvPr>
        </p:nvSpPr>
        <p:spPr>
          <a:xfrm>
            <a:off x="7011988" y="6245225"/>
            <a:ext cx="2132012" cy="474663"/>
          </a:xfrm>
        </p:spPr>
        <p:txBody>
          <a:bodyPr/>
          <a:lstStyle/>
          <a:p>
            <a:pPr algn="r"/>
            <a:fld id="{CBC8E836-46D0-4C27-A431-744E806473CB}" type="slidenum">
              <a:rPr lang="en-US" altLang="en-US" smtClean="0"/>
              <a:pPr algn="r"/>
              <a:t>40</a:t>
            </a:fld>
            <a:endParaRPr lang="en-US" altLang="en-US"/>
          </a:p>
        </p:txBody>
      </p:sp>
      <p:pic>
        <p:nvPicPr>
          <p:cNvPr id="3" name="Picture 2"/>
          <p:cNvPicPr>
            <a:picLocks noChangeAspect="1"/>
          </p:cNvPicPr>
          <p:nvPr/>
        </p:nvPicPr>
        <p:blipFill>
          <a:blip r:embed="rId3"/>
          <a:stretch>
            <a:fillRect/>
          </a:stretch>
        </p:blipFill>
        <p:spPr>
          <a:xfrm>
            <a:off x="827285" y="3017520"/>
            <a:ext cx="7250709" cy="3544214"/>
          </a:xfrm>
          <a:prstGeom prst="rect">
            <a:avLst/>
          </a:prstGeom>
        </p:spPr>
      </p:pic>
    </p:spTree>
    <p:extLst>
      <p:ext uri="{BB962C8B-B14F-4D97-AF65-F5344CB8AC3E}">
        <p14:creationId xmlns:p14="http://schemas.microsoft.com/office/powerpoint/2010/main" val="2949184860"/>
      </p:ext>
    </p:extLst>
  </p:cSld>
  <p:clrMapOvr>
    <a:masterClrMapping/>
  </p:clrMapOvr>
  <p:transition spd="slow">
    <p:push dir="u"/>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26771" y="900115"/>
            <a:ext cx="8836762" cy="5651500"/>
          </a:xfrm>
        </p:spPr>
        <p:txBody>
          <a:bodyPr/>
          <a:lstStyle/>
          <a:p>
            <a:r>
              <a:rPr lang="nb-NO" sz="2400" b="0" dirty="0" smtClean="0">
                <a:latin typeface="+mj-lt"/>
              </a:rPr>
              <a:t>Primar structure....</a:t>
            </a:r>
            <a:endParaRPr lang="en-US" sz="2400" b="0" dirty="0" smtClean="0">
              <a:latin typeface="+mj-lt"/>
            </a:endParaRPr>
          </a:p>
          <a:p>
            <a:pPr marL="342900" indent="-284163">
              <a:buFont typeface="Arial" panose="020B0604020202020204" pitchFamily="34" charset="0"/>
              <a:buChar char="•"/>
            </a:pPr>
            <a:r>
              <a:rPr lang="en-US" sz="2000" b="0" dirty="0" smtClean="0">
                <a:solidFill>
                  <a:schemeClr val="tx1"/>
                </a:solidFill>
                <a:latin typeface="+mj-lt"/>
              </a:rPr>
              <a:t>A </a:t>
            </a:r>
            <a:r>
              <a:rPr lang="en-US" sz="2000" b="0" dirty="0">
                <a:solidFill>
                  <a:schemeClr val="tx1"/>
                </a:solidFill>
                <a:latin typeface="+mj-lt"/>
              </a:rPr>
              <a:t>change in nucleotide sequence of the gene’s coding region may lead to a different amino acid being added to the growing polypeptide chain, causing a change in protein structure and function. </a:t>
            </a:r>
            <a:r>
              <a:rPr lang="en-US" sz="2000" b="0" dirty="0" smtClean="0">
                <a:solidFill>
                  <a:schemeClr val="tx1"/>
                </a:solidFill>
                <a:latin typeface="+mj-lt"/>
              </a:rPr>
              <a:t> Example: </a:t>
            </a:r>
            <a:r>
              <a:rPr lang="en-US" sz="2000" dirty="0" smtClean="0">
                <a:solidFill>
                  <a:schemeClr val="accent2"/>
                </a:solidFill>
                <a:latin typeface="+mj-lt"/>
              </a:rPr>
              <a:t>Sickle cell anemia</a:t>
            </a:r>
          </a:p>
          <a:p>
            <a:pPr marL="942975" lvl="2" indent="-342900">
              <a:buFont typeface="Wingdings" panose="05000000000000000000" pitchFamily="2" charset="2"/>
              <a:buChar char="ü"/>
            </a:pPr>
            <a:r>
              <a:rPr lang="en-US" sz="2000" b="0" dirty="0" smtClean="0">
                <a:solidFill>
                  <a:schemeClr val="tx1"/>
                </a:solidFill>
              </a:rPr>
              <a:t>In </a:t>
            </a:r>
            <a:r>
              <a:rPr lang="en-US" sz="2000" b="0" dirty="0">
                <a:solidFill>
                  <a:schemeClr val="tx1"/>
                </a:solidFill>
              </a:rPr>
              <a:t>sickle cell anemia, the hemoglobin β chain </a:t>
            </a:r>
            <a:r>
              <a:rPr lang="en-US" sz="2000" b="0" dirty="0" smtClean="0">
                <a:solidFill>
                  <a:schemeClr val="tx1"/>
                </a:solidFill>
              </a:rPr>
              <a:t>has </a:t>
            </a:r>
            <a:r>
              <a:rPr lang="en-US" sz="2000" b="0" dirty="0">
                <a:solidFill>
                  <a:schemeClr val="tx1"/>
                </a:solidFill>
              </a:rPr>
              <a:t>a single amino acid substitution, </a:t>
            </a:r>
            <a:r>
              <a:rPr lang="en-US" sz="2000" b="0" dirty="0" smtClean="0">
                <a:solidFill>
                  <a:schemeClr val="tx1"/>
                </a:solidFill>
              </a:rPr>
              <a:t>causing </a:t>
            </a:r>
            <a:r>
              <a:rPr lang="en-US" sz="2000" b="0" dirty="0">
                <a:solidFill>
                  <a:schemeClr val="tx1"/>
                </a:solidFill>
              </a:rPr>
              <a:t>a change in protein structure and </a:t>
            </a:r>
            <a:r>
              <a:rPr lang="en-US" sz="2000" b="0" dirty="0" smtClean="0">
                <a:solidFill>
                  <a:schemeClr val="tx1"/>
                </a:solidFill>
              </a:rPr>
              <a:t>function</a:t>
            </a:r>
            <a:r>
              <a:rPr lang="en-US" sz="2000" dirty="0" smtClean="0">
                <a:solidFill>
                  <a:schemeClr val="tx1"/>
                </a:solidFill>
              </a:rPr>
              <a:t>. Specifically</a:t>
            </a:r>
            <a:r>
              <a:rPr lang="en-US" sz="2000" dirty="0">
                <a:solidFill>
                  <a:schemeClr val="tx1"/>
                </a:solidFill>
              </a:rPr>
              <a:t>, the amino </a:t>
            </a:r>
            <a:r>
              <a:rPr lang="en-US" sz="2000" dirty="0" smtClean="0">
                <a:solidFill>
                  <a:schemeClr val="tx1"/>
                </a:solidFill>
              </a:rPr>
              <a:t>acid </a:t>
            </a:r>
            <a:r>
              <a:rPr lang="en-US" sz="2000" b="1" dirty="0" smtClean="0">
                <a:solidFill>
                  <a:schemeClr val="tx1"/>
                </a:solidFill>
              </a:rPr>
              <a:t>glutamic acid </a:t>
            </a:r>
            <a:r>
              <a:rPr lang="en-US" sz="2000" dirty="0">
                <a:solidFill>
                  <a:schemeClr val="tx1"/>
                </a:solidFill>
              </a:rPr>
              <a:t>is </a:t>
            </a:r>
            <a:r>
              <a:rPr lang="en-US" sz="2000" b="1" dirty="0">
                <a:solidFill>
                  <a:schemeClr val="tx1"/>
                </a:solidFill>
              </a:rPr>
              <a:t>substituted by valine in the β chain</a:t>
            </a:r>
            <a:r>
              <a:rPr lang="en-US" sz="2000" dirty="0">
                <a:solidFill>
                  <a:schemeClr val="tx1"/>
                </a:solidFill>
              </a:rPr>
              <a:t>. </a:t>
            </a:r>
            <a:endParaRPr lang="en-US" sz="2000" dirty="0" smtClean="0">
              <a:solidFill>
                <a:schemeClr val="tx1"/>
              </a:solidFill>
            </a:endParaRPr>
          </a:p>
          <a:p>
            <a:pPr marL="942975" lvl="2" indent="-342900">
              <a:buFont typeface="Wingdings" panose="05000000000000000000" pitchFamily="2" charset="2"/>
              <a:buChar char="ü"/>
            </a:pPr>
            <a:r>
              <a:rPr lang="en-US" sz="2000" dirty="0" smtClean="0">
                <a:solidFill>
                  <a:schemeClr val="tx1"/>
                </a:solidFill>
              </a:rPr>
              <a:t>Because </a:t>
            </a:r>
            <a:r>
              <a:rPr lang="en-US" sz="2000" dirty="0">
                <a:solidFill>
                  <a:schemeClr val="tx1"/>
                </a:solidFill>
              </a:rPr>
              <a:t>of this change of one amino acid in the chain, hemoglobin molecules form long fibers that distort the biconcave, or disc-shaped, red blood cells and assume a crescent or “sickle” shape, which clogs arteries. </a:t>
            </a:r>
            <a:endParaRPr lang="en-US" sz="2000" dirty="0" smtClean="0">
              <a:solidFill>
                <a:schemeClr val="tx1"/>
              </a:solidFill>
            </a:endParaRPr>
          </a:p>
          <a:p>
            <a:pPr marL="211454" marR="28575" algn="just">
              <a:lnSpc>
                <a:spcPct val="102099"/>
              </a:lnSpc>
              <a:spcBef>
                <a:spcPts val="880"/>
              </a:spcBef>
              <a:buSzPct val="88888"/>
              <a:buFont typeface="Wingdings"/>
              <a:buChar char=""/>
              <a:tabLst>
                <a:tab pos="304165" algn="l"/>
              </a:tabLst>
            </a:pPr>
            <a:r>
              <a:rPr lang="en-US" sz="1800" spc="15" dirty="0">
                <a:latin typeface="Times New Roman"/>
                <a:cs typeface="Times New Roman"/>
              </a:rPr>
              <a:t>sickle-cell </a:t>
            </a:r>
            <a:r>
              <a:rPr lang="en-US" sz="1800" spc="-10" dirty="0" err="1">
                <a:latin typeface="Times New Roman"/>
                <a:cs typeface="Times New Roman"/>
              </a:rPr>
              <a:t>anaemia</a:t>
            </a:r>
            <a:r>
              <a:rPr lang="en-US" sz="1800" spc="-10" dirty="0">
                <a:latin typeface="Times New Roman"/>
                <a:cs typeface="Times New Roman"/>
              </a:rPr>
              <a:t> </a:t>
            </a:r>
            <a:r>
              <a:rPr lang="en-US" sz="1800" b="0" spc="-30" dirty="0">
                <a:latin typeface="Times New Roman"/>
                <a:cs typeface="Times New Roman"/>
              </a:rPr>
              <a:t>a condition </a:t>
            </a:r>
            <a:r>
              <a:rPr lang="en-US" sz="1800" b="0" spc="-45" dirty="0">
                <a:latin typeface="Times New Roman"/>
                <a:cs typeface="Times New Roman"/>
              </a:rPr>
              <a:t>caused </a:t>
            </a:r>
            <a:r>
              <a:rPr lang="en-US" sz="1800" b="0" spc="-65" dirty="0">
                <a:latin typeface="Times New Roman"/>
                <a:cs typeface="Times New Roman"/>
              </a:rPr>
              <a:t>by</a:t>
            </a:r>
            <a:r>
              <a:rPr lang="en-US" sz="1800" b="0" spc="-60" dirty="0">
                <a:latin typeface="Times New Roman"/>
                <a:cs typeface="Times New Roman"/>
              </a:rPr>
              <a:t> </a:t>
            </a:r>
            <a:r>
              <a:rPr lang="en-US" sz="1800" b="0" spc="-65" dirty="0">
                <a:latin typeface="Times New Roman"/>
                <a:cs typeface="Times New Roman"/>
              </a:rPr>
              <a:t>a</a:t>
            </a:r>
            <a:r>
              <a:rPr lang="en-US" sz="1800" b="0" spc="-60" dirty="0">
                <a:latin typeface="Times New Roman"/>
                <a:cs typeface="Times New Roman"/>
              </a:rPr>
              <a:t> </a:t>
            </a:r>
            <a:r>
              <a:rPr lang="en-US" sz="1800" b="0" spc="-30" dirty="0">
                <a:latin typeface="Times New Roman"/>
                <a:cs typeface="Times New Roman"/>
              </a:rPr>
              <a:t>mutation </a:t>
            </a:r>
            <a:r>
              <a:rPr lang="en-US" sz="1800" b="0" spc="-25" dirty="0">
                <a:latin typeface="Times New Roman"/>
                <a:cs typeface="Times New Roman"/>
              </a:rPr>
              <a:t>that </a:t>
            </a:r>
            <a:r>
              <a:rPr lang="en-US" sz="1800" b="0" spc="-45" dirty="0">
                <a:latin typeface="Times New Roman"/>
                <a:cs typeface="Times New Roman"/>
              </a:rPr>
              <a:t>affects </a:t>
            </a:r>
            <a:r>
              <a:rPr lang="en-US" sz="1800" b="0" spc="-20" dirty="0">
                <a:latin typeface="Times New Roman"/>
                <a:cs typeface="Times New Roman"/>
              </a:rPr>
              <a:t>the </a:t>
            </a:r>
            <a:r>
              <a:rPr lang="en-US" sz="1800" b="0" spc="-15" dirty="0">
                <a:latin typeface="Times New Roman"/>
                <a:cs typeface="Times New Roman"/>
              </a:rPr>
              <a:t>structure </a:t>
            </a:r>
            <a:r>
              <a:rPr lang="en-US" sz="1800" b="0" spc="-50" dirty="0">
                <a:latin typeface="Times New Roman"/>
                <a:cs typeface="Times New Roman"/>
              </a:rPr>
              <a:t>of </a:t>
            </a:r>
            <a:r>
              <a:rPr lang="en-US" sz="1800" b="0" spc="-20" dirty="0">
                <a:latin typeface="Times New Roman"/>
                <a:cs typeface="Times New Roman"/>
              </a:rPr>
              <a:t>the </a:t>
            </a:r>
            <a:r>
              <a:rPr lang="en-US" sz="1800" b="0" spc="-15" dirty="0">
                <a:latin typeface="Times New Roman"/>
                <a:cs typeface="Times New Roman"/>
              </a:rPr>
              <a:t> </a:t>
            </a:r>
            <a:r>
              <a:rPr lang="en-US" sz="1800" b="0" spc="-45" dirty="0" err="1">
                <a:latin typeface="Times New Roman"/>
                <a:cs typeface="Times New Roman"/>
              </a:rPr>
              <a:t>haemoglobin</a:t>
            </a:r>
            <a:r>
              <a:rPr lang="en-US" sz="1800" b="0" spc="-45" dirty="0">
                <a:latin typeface="Times New Roman"/>
                <a:cs typeface="Times New Roman"/>
              </a:rPr>
              <a:t> </a:t>
            </a:r>
            <a:r>
              <a:rPr lang="en-US" sz="1800" b="0" spc="-40" dirty="0">
                <a:latin typeface="Times New Roman"/>
                <a:cs typeface="Times New Roman"/>
              </a:rPr>
              <a:t>molecules in </a:t>
            </a:r>
            <a:r>
              <a:rPr lang="en-US" sz="1800" b="0" spc="-20" dirty="0">
                <a:latin typeface="Times New Roman"/>
                <a:cs typeface="Times New Roman"/>
              </a:rPr>
              <a:t>red </a:t>
            </a:r>
            <a:r>
              <a:rPr lang="en-US" sz="1800" b="0" spc="-40" dirty="0">
                <a:latin typeface="Times New Roman"/>
                <a:cs typeface="Times New Roman"/>
              </a:rPr>
              <a:t>blood cells </a:t>
            </a:r>
            <a:r>
              <a:rPr lang="en-US" sz="1800" b="0" spc="-50" dirty="0">
                <a:latin typeface="Times New Roman"/>
                <a:cs typeface="Times New Roman"/>
              </a:rPr>
              <a:t>causing</a:t>
            </a:r>
            <a:r>
              <a:rPr lang="en-US" sz="1800" b="0" spc="-45" dirty="0">
                <a:latin typeface="Times New Roman"/>
                <a:cs typeface="Times New Roman"/>
              </a:rPr>
              <a:t> </a:t>
            </a:r>
            <a:r>
              <a:rPr lang="en-US" sz="1800" b="0" spc="-20" dirty="0">
                <a:latin typeface="Times New Roman"/>
                <a:cs typeface="Times New Roman"/>
              </a:rPr>
              <a:t>the red </a:t>
            </a:r>
            <a:r>
              <a:rPr lang="en-US" sz="1800" b="0" spc="-40" dirty="0">
                <a:latin typeface="Times New Roman"/>
                <a:cs typeface="Times New Roman"/>
              </a:rPr>
              <a:t>blood cells </a:t>
            </a:r>
            <a:r>
              <a:rPr lang="en-US" sz="1800" b="0" spc="-5" dirty="0">
                <a:latin typeface="Times New Roman"/>
                <a:cs typeface="Times New Roman"/>
              </a:rPr>
              <a:t>to </a:t>
            </a:r>
            <a:r>
              <a:rPr lang="en-US" sz="1800" b="0" spc="-45" dirty="0">
                <a:latin typeface="Times New Roman"/>
                <a:cs typeface="Times New Roman"/>
              </a:rPr>
              <a:t>sickle </a:t>
            </a:r>
            <a:r>
              <a:rPr lang="en-US" sz="1800" b="0" spc="-25" dirty="0">
                <a:latin typeface="Times New Roman"/>
                <a:cs typeface="Times New Roman"/>
              </a:rPr>
              <a:t>under </a:t>
            </a:r>
            <a:r>
              <a:rPr lang="en-US" sz="1800" b="0" spc="-45" dirty="0">
                <a:latin typeface="Times New Roman"/>
                <a:cs typeface="Times New Roman"/>
              </a:rPr>
              <a:t>low </a:t>
            </a:r>
            <a:r>
              <a:rPr lang="en-US" sz="1800" b="0" spc="-40" dirty="0">
                <a:latin typeface="Times New Roman"/>
                <a:cs typeface="Times New Roman"/>
              </a:rPr>
              <a:t> </a:t>
            </a:r>
            <a:r>
              <a:rPr lang="en-US" sz="1800" b="0" spc="-45" dirty="0">
                <a:latin typeface="Times New Roman"/>
                <a:cs typeface="Times New Roman"/>
              </a:rPr>
              <a:t>oxygen</a:t>
            </a:r>
            <a:r>
              <a:rPr lang="en-US" sz="1800" b="0" spc="-30" dirty="0">
                <a:latin typeface="Times New Roman"/>
                <a:cs typeface="Times New Roman"/>
              </a:rPr>
              <a:t> </a:t>
            </a:r>
            <a:r>
              <a:rPr lang="en-US" sz="1800" b="0" spc="-25" dirty="0">
                <a:latin typeface="Times New Roman"/>
                <a:cs typeface="Times New Roman"/>
              </a:rPr>
              <a:t>tension.</a:t>
            </a:r>
            <a:endParaRPr lang="en-US" sz="1800" b="0" dirty="0">
              <a:latin typeface="Times New Roman"/>
              <a:cs typeface="Times New Roman"/>
            </a:endParaRPr>
          </a:p>
          <a:p>
            <a:pPr marL="268605" indent="-92710" algn="just">
              <a:buSzPct val="88888"/>
              <a:buFont typeface="Wingdings"/>
              <a:buChar char=""/>
              <a:tabLst>
                <a:tab pos="269240" algn="l"/>
              </a:tabLst>
            </a:pPr>
            <a:r>
              <a:rPr lang="en-US" sz="1800" b="0" spc="-20" dirty="0">
                <a:latin typeface="Times New Roman"/>
                <a:cs typeface="Times New Roman"/>
              </a:rPr>
              <a:t>the</a:t>
            </a:r>
            <a:r>
              <a:rPr lang="en-US" sz="1800" b="0" spc="-10" dirty="0">
                <a:latin typeface="Times New Roman"/>
                <a:cs typeface="Times New Roman"/>
              </a:rPr>
              <a:t> </a:t>
            </a:r>
            <a:r>
              <a:rPr lang="en-US" sz="1800" b="0" spc="-45" dirty="0" err="1">
                <a:latin typeface="Times New Roman"/>
                <a:cs typeface="Times New Roman"/>
              </a:rPr>
              <a:t>haemoglobin</a:t>
            </a:r>
            <a:r>
              <a:rPr lang="en-US" sz="1800" b="0" spc="-10" dirty="0">
                <a:latin typeface="Times New Roman"/>
                <a:cs typeface="Times New Roman"/>
              </a:rPr>
              <a:t> </a:t>
            </a:r>
            <a:r>
              <a:rPr lang="en-US" sz="1800" b="0" spc="-35" dirty="0">
                <a:latin typeface="Times New Roman"/>
                <a:cs typeface="Times New Roman"/>
              </a:rPr>
              <a:t>molecule</a:t>
            </a:r>
            <a:r>
              <a:rPr lang="en-US" sz="1800" b="0" spc="-10" dirty="0">
                <a:latin typeface="Times New Roman"/>
                <a:cs typeface="Times New Roman"/>
              </a:rPr>
              <a:t> </a:t>
            </a:r>
            <a:r>
              <a:rPr lang="en-US" sz="1800" b="0" spc="-25" dirty="0">
                <a:latin typeface="Times New Roman"/>
                <a:cs typeface="Times New Roman"/>
              </a:rPr>
              <a:t>alters</a:t>
            </a:r>
            <a:r>
              <a:rPr lang="en-US" sz="1800" b="0" spc="-15" dirty="0">
                <a:latin typeface="Times New Roman"/>
                <a:cs typeface="Times New Roman"/>
              </a:rPr>
              <a:t> </a:t>
            </a:r>
            <a:r>
              <a:rPr lang="en-US" sz="1800" b="0" spc="-20" dirty="0">
                <a:latin typeface="Times New Roman"/>
                <a:cs typeface="Times New Roman"/>
              </a:rPr>
              <a:t>the</a:t>
            </a:r>
            <a:r>
              <a:rPr lang="en-US" sz="1800" b="0" spc="-10" dirty="0">
                <a:latin typeface="Times New Roman"/>
                <a:cs typeface="Times New Roman"/>
              </a:rPr>
              <a:t> </a:t>
            </a:r>
            <a:r>
              <a:rPr lang="en-US" sz="1800" b="0" spc="-15" dirty="0">
                <a:latin typeface="Times New Roman"/>
                <a:cs typeface="Times New Roman"/>
              </a:rPr>
              <a:t>triplet</a:t>
            </a:r>
            <a:r>
              <a:rPr lang="en-US" sz="1800" b="0" spc="-10" dirty="0">
                <a:latin typeface="Times New Roman"/>
                <a:cs typeface="Times New Roman"/>
              </a:rPr>
              <a:t> </a:t>
            </a:r>
            <a:r>
              <a:rPr lang="en-US" sz="1800" b="0" spc="-35" dirty="0">
                <a:latin typeface="Times New Roman"/>
                <a:cs typeface="Times New Roman"/>
              </a:rPr>
              <a:t>from</a:t>
            </a:r>
            <a:r>
              <a:rPr lang="en-US" sz="1800" b="0" spc="-10" dirty="0">
                <a:latin typeface="Times New Roman"/>
                <a:cs typeface="Times New Roman"/>
              </a:rPr>
              <a:t> </a:t>
            </a:r>
            <a:r>
              <a:rPr lang="en-US" sz="1800" b="0" spc="-85" dirty="0">
                <a:latin typeface="Times New Roman"/>
                <a:cs typeface="Times New Roman"/>
              </a:rPr>
              <a:t>GAG</a:t>
            </a:r>
            <a:r>
              <a:rPr lang="en-US" sz="1800" b="0" spc="-5" dirty="0">
                <a:latin typeface="Times New Roman"/>
                <a:cs typeface="Times New Roman"/>
              </a:rPr>
              <a:t> to</a:t>
            </a:r>
            <a:r>
              <a:rPr lang="en-US" sz="1800" b="0" spc="-25" dirty="0">
                <a:latin typeface="Times New Roman"/>
                <a:cs typeface="Times New Roman"/>
              </a:rPr>
              <a:t> </a:t>
            </a:r>
            <a:r>
              <a:rPr lang="en-US" sz="1800" b="0" spc="-35" dirty="0">
                <a:latin typeface="Times New Roman"/>
                <a:cs typeface="Times New Roman"/>
              </a:rPr>
              <a:t>GTG.</a:t>
            </a:r>
            <a:r>
              <a:rPr lang="en-US" sz="1800" b="0" spc="-50" dirty="0">
                <a:latin typeface="Times New Roman"/>
                <a:cs typeface="Times New Roman"/>
              </a:rPr>
              <a:t> This</a:t>
            </a:r>
            <a:r>
              <a:rPr lang="en-US" sz="1800" b="0" spc="-10" dirty="0">
                <a:latin typeface="Times New Roman"/>
                <a:cs typeface="Times New Roman"/>
              </a:rPr>
              <a:t> </a:t>
            </a:r>
            <a:r>
              <a:rPr lang="en-US" sz="1800" b="0" spc="-30" dirty="0">
                <a:latin typeface="Times New Roman"/>
                <a:cs typeface="Times New Roman"/>
              </a:rPr>
              <a:t>results</a:t>
            </a:r>
            <a:r>
              <a:rPr lang="en-US" sz="1800" b="0" spc="-15" dirty="0">
                <a:latin typeface="Times New Roman"/>
                <a:cs typeface="Times New Roman"/>
              </a:rPr>
              <a:t> </a:t>
            </a:r>
            <a:r>
              <a:rPr lang="en-US" sz="1800" b="0" spc="-40" dirty="0">
                <a:latin typeface="Times New Roman"/>
                <a:cs typeface="Times New Roman"/>
              </a:rPr>
              <a:t>in</a:t>
            </a:r>
            <a:r>
              <a:rPr lang="en-US" sz="1800" b="0" spc="-10" dirty="0">
                <a:latin typeface="Times New Roman"/>
                <a:cs typeface="Times New Roman"/>
              </a:rPr>
              <a:t> </a:t>
            </a:r>
            <a:r>
              <a:rPr lang="en-US" sz="1800" b="0" spc="-20" dirty="0">
                <a:latin typeface="Times New Roman"/>
                <a:cs typeface="Times New Roman"/>
              </a:rPr>
              <a:t>the </a:t>
            </a:r>
            <a:r>
              <a:rPr lang="en-US" sz="1800" b="0" spc="-45" dirty="0" smtClean="0">
                <a:latin typeface="Times New Roman"/>
                <a:cs typeface="Times New Roman"/>
              </a:rPr>
              <a:t>amino </a:t>
            </a:r>
            <a:r>
              <a:rPr lang="en-US" sz="1800" b="0" spc="-50" dirty="0" smtClean="0">
                <a:latin typeface="Times New Roman"/>
                <a:cs typeface="Times New Roman"/>
              </a:rPr>
              <a:t>acid</a:t>
            </a:r>
            <a:r>
              <a:rPr lang="en-US" sz="1800" b="0" spc="-25" dirty="0" smtClean="0">
                <a:latin typeface="Times New Roman"/>
                <a:cs typeface="Times New Roman"/>
              </a:rPr>
              <a:t> </a:t>
            </a:r>
            <a:r>
              <a:rPr lang="en-US" sz="1800" b="0" spc="-50" dirty="0">
                <a:latin typeface="Times New Roman"/>
                <a:cs typeface="Times New Roman"/>
              </a:rPr>
              <a:t>valine</a:t>
            </a:r>
            <a:r>
              <a:rPr lang="en-US" sz="1800" b="0" spc="-15" dirty="0">
                <a:latin typeface="Times New Roman"/>
                <a:cs typeface="Times New Roman"/>
              </a:rPr>
              <a:t> </a:t>
            </a:r>
            <a:r>
              <a:rPr lang="en-US" sz="1800" b="0" spc="-40" dirty="0">
                <a:latin typeface="Times New Roman"/>
                <a:cs typeface="Times New Roman"/>
              </a:rPr>
              <a:t>replacing</a:t>
            </a:r>
            <a:r>
              <a:rPr lang="en-US" sz="1800" b="0" spc="-10" dirty="0">
                <a:latin typeface="Times New Roman"/>
                <a:cs typeface="Times New Roman"/>
              </a:rPr>
              <a:t> </a:t>
            </a:r>
            <a:r>
              <a:rPr lang="en-US" sz="1800" b="0" spc="-35" dirty="0">
                <a:latin typeface="Times New Roman"/>
                <a:cs typeface="Times New Roman"/>
              </a:rPr>
              <a:t>glutamate</a:t>
            </a:r>
            <a:r>
              <a:rPr lang="en-US" sz="1800" b="0" spc="-25" dirty="0">
                <a:latin typeface="Times New Roman"/>
                <a:cs typeface="Times New Roman"/>
              </a:rPr>
              <a:t> </a:t>
            </a:r>
            <a:r>
              <a:rPr lang="en-US" sz="1800" b="0" spc="-40" dirty="0">
                <a:latin typeface="Times New Roman"/>
                <a:cs typeface="Times New Roman"/>
              </a:rPr>
              <a:t>in</a:t>
            </a:r>
            <a:r>
              <a:rPr lang="en-US" sz="1800" b="0" spc="-15" dirty="0">
                <a:latin typeface="Times New Roman"/>
                <a:cs typeface="Times New Roman"/>
              </a:rPr>
              <a:t> </a:t>
            </a:r>
            <a:r>
              <a:rPr lang="en-US" sz="1800" b="0" spc="-20" dirty="0">
                <a:latin typeface="Times New Roman"/>
                <a:cs typeface="Times New Roman"/>
              </a:rPr>
              <a:t>the</a:t>
            </a:r>
            <a:r>
              <a:rPr lang="en-US" sz="1800" b="0" spc="-15" dirty="0">
                <a:latin typeface="Times New Roman"/>
                <a:cs typeface="Times New Roman"/>
              </a:rPr>
              <a:t> </a:t>
            </a:r>
            <a:r>
              <a:rPr lang="en-US" sz="1800" b="0" spc="-35" dirty="0">
                <a:latin typeface="Times New Roman"/>
                <a:cs typeface="Times New Roman"/>
              </a:rPr>
              <a:t>polypeptide</a:t>
            </a:r>
            <a:r>
              <a:rPr lang="en-US" sz="1800" b="0" spc="-20" dirty="0">
                <a:latin typeface="Times New Roman"/>
                <a:cs typeface="Times New Roman"/>
              </a:rPr>
              <a:t> </a:t>
            </a:r>
            <a:r>
              <a:rPr lang="en-US" sz="1800" b="0" spc="-30" dirty="0">
                <a:latin typeface="Times New Roman"/>
                <a:cs typeface="Times New Roman"/>
              </a:rPr>
              <a:t>chain.</a:t>
            </a:r>
            <a:endParaRPr lang="en-US" sz="1800" b="0" dirty="0">
              <a:latin typeface="Times New Roman"/>
              <a:cs typeface="Times New Roman"/>
            </a:endParaRPr>
          </a:p>
          <a:p>
            <a:pPr marL="942975" lvl="2" indent="-342900">
              <a:buFont typeface="Wingdings" panose="05000000000000000000" pitchFamily="2" charset="2"/>
              <a:buChar char="ü"/>
            </a:pPr>
            <a:endParaRPr lang="en-US" sz="2400" dirty="0" smtClean="0">
              <a:solidFill>
                <a:schemeClr val="tx1"/>
              </a:solidFill>
            </a:endParaRPr>
          </a:p>
        </p:txBody>
      </p:sp>
      <p:sp>
        <p:nvSpPr>
          <p:cNvPr id="2" name="Date Placeholder 1"/>
          <p:cNvSpPr>
            <a:spLocks noGrp="1"/>
          </p:cNvSpPr>
          <p:nvPr>
            <p:ph type="dt" sz="half" idx="10"/>
          </p:nvPr>
        </p:nvSpPr>
        <p:spPr/>
        <p:txBody>
          <a:bodyPr/>
          <a:lstStyle/>
          <a:p>
            <a:pPr>
              <a:defRPr/>
            </a:pPr>
            <a:r>
              <a:rPr lang="en-US" smtClean="0"/>
              <a:t>www.hu.edu.et</a:t>
            </a:r>
            <a:endParaRPr lang="en-US"/>
          </a:p>
        </p:txBody>
      </p:sp>
      <p:sp>
        <p:nvSpPr>
          <p:cNvPr id="3" name="Footer Placeholder 2"/>
          <p:cNvSpPr>
            <a:spLocks noGrp="1"/>
          </p:cNvSpPr>
          <p:nvPr>
            <p:ph type="ftr" sz="quarter" idx="11"/>
          </p:nvPr>
        </p:nvSpPr>
        <p:spPr/>
        <p:txBody>
          <a:bodyPr/>
          <a:lstStyle/>
          <a:p>
            <a:pPr>
              <a:defRPr/>
            </a:pPr>
            <a:r>
              <a:rPr lang="en-US" smtClean="0"/>
              <a:t>Ever to Excel!</a:t>
            </a:r>
            <a:endParaRPr lang="en-US"/>
          </a:p>
        </p:txBody>
      </p:sp>
      <p:sp>
        <p:nvSpPr>
          <p:cNvPr id="4" name="Slide Number Placeholder 3"/>
          <p:cNvSpPr>
            <a:spLocks noGrp="1"/>
          </p:cNvSpPr>
          <p:nvPr>
            <p:ph type="sldNum" sz="quarter" idx="12"/>
          </p:nvPr>
        </p:nvSpPr>
        <p:spPr/>
        <p:txBody>
          <a:bodyPr/>
          <a:lstStyle/>
          <a:p>
            <a:pPr>
              <a:defRPr/>
            </a:pPr>
            <a:fld id="{662CB6B0-DFB5-4A57-992B-6A9D766DFFF1}" type="slidenum">
              <a:rPr lang="en-US" smtClean="0"/>
              <a:pPr>
                <a:defRPr/>
              </a:pPr>
              <a:t>41</a:t>
            </a:fld>
            <a:endParaRPr lang="en-US"/>
          </a:p>
        </p:txBody>
      </p:sp>
    </p:spTree>
    <p:extLst>
      <p:ext uri="{BB962C8B-B14F-4D97-AF65-F5344CB8AC3E}">
        <p14:creationId xmlns:p14="http://schemas.microsoft.com/office/powerpoint/2010/main" val="124613445"/>
      </p:ext>
    </p:extLst>
  </p:cSld>
  <p:clrMapOvr>
    <a:masterClrMapping/>
  </p:clrMapOvr>
  <p:transition spd="slow">
    <p:push dir="u"/>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pPr marL="342900" indent="-342900">
              <a:buFont typeface="Wingdings" panose="05000000000000000000" pitchFamily="2" charset="2"/>
              <a:buChar char="ü"/>
            </a:pPr>
            <a:r>
              <a:rPr lang="en-US" sz="2400" b="0" dirty="0">
                <a:solidFill>
                  <a:srgbClr val="000000"/>
                </a:solidFill>
                <a:latin typeface="+mj-lt"/>
              </a:rPr>
              <a:t>This can lead to myriad serious health problems such as breathlessness, dizziness, headaches, and abdominal pain for those affected by this disease.</a:t>
            </a:r>
          </a:p>
          <a:p>
            <a:endParaRPr lang="en-US" dirty="0"/>
          </a:p>
        </p:txBody>
      </p:sp>
      <p:sp>
        <p:nvSpPr>
          <p:cNvPr id="4" name="Date Placeholder 3"/>
          <p:cNvSpPr>
            <a:spLocks noGrp="1"/>
          </p:cNvSpPr>
          <p:nvPr>
            <p:ph type="dt" sz="half" idx="10"/>
          </p:nvPr>
        </p:nvSpPr>
        <p:spPr/>
        <p:txBody>
          <a:bodyPr/>
          <a:lstStyle/>
          <a:p>
            <a:fld id="{88F45655-1E11-4E3C-A363-72F1BF1D913C}"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42</a:t>
            </a:fld>
            <a:endParaRPr lang="en-US"/>
          </a:p>
        </p:txBody>
      </p:sp>
      <p:pic>
        <p:nvPicPr>
          <p:cNvPr id="7" name="Picture 6"/>
          <p:cNvPicPr>
            <a:picLocks noChangeAspect="1"/>
          </p:cNvPicPr>
          <p:nvPr/>
        </p:nvPicPr>
        <p:blipFill rotWithShape="1">
          <a:blip r:embed="rId2"/>
          <a:srcRect l="-860" t="5533" r="860" b="-704"/>
          <a:stretch/>
        </p:blipFill>
        <p:spPr>
          <a:xfrm>
            <a:off x="22733" y="2392071"/>
            <a:ext cx="4468617" cy="2596896"/>
          </a:xfrm>
          <a:prstGeom prst="rect">
            <a:avLst/>
          </a:prstGeom>
        </p:spPr>
      </p:pic>
      <p:pic>
        <p:nvPicPr>
          <p:cNvPr id="8" name="Picture 7"/>
          <p:cNvPicPr>
            <a:picLocks noChangeAspect="1"/>
          </p:cNvPicPr>
          <p:nvPr/>
        </p:nvPicPr>
        <p:blipFill>
          <a:blip r:embed="rId3"/>
          <a:stretch>
            <a:fillRect/>
          </a:stretch>
        </p:blipFill>
        <p:spPr>
          <a:xfrm>
            <a:off x="4925818" y="2397710"/>
            <a:ext cx="3879767" cy="2591257"/>
          </a:xfrm>
          <a:prstGeom prst="rect">
            <a:avLst/>
          </a:prstGeom>
        </p:spPr>
      </p:pic>
    </p:spTree>
    <p:extLst>
      <p:ext uri="{BB962C8B-B14F-4D97-AF65-F5344CB8AC3E}">
        <p14:creationId xmlns:p14="http://schemas.microsoft.com/office/powerpoint/2010/main" val="350671889"/>
      </p:ext>
    </p:extLst>
  </p:cSld>
  <p:clrMapOvr>
    <a:masterClrMapping/>
  </p:clrMapOvr>
  <p:transition spd="slow">
    <p:push dir="u"/>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F828CFCD-DFC3-4085-9054-61B0AE963549}"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43</a:t>
            </a:fld>
            <a:endParaRPr lang="en-US"/>
          </a:p>
        </p:txBody>
      </p:sp>
      <p:sp>
        <p:nvSpPr>
          <p:cNvPr id="7" name="Text Box 3"/>
          <p:cNvSpPr txBox="1">
            <a:spLocks noChangeArrowheads="1"/>
          </p:cNvSpPr>
          <p:nvPr/>
        </p:nvSpPr>
        <p:spPr bwMode="auto">
          <a:xfrm>
            <a:off x="172720" y="875589"/>
            <a:ext cx="8686800" cy="2697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4350" indent="-514350" eaLnBrk="0" hangingPunct="0">
              <a:spcBef>
                <a:spcPts val="800"/>
              </a:spcBef>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marL="857250" indent="-457200" eaLnBrk="0" hangingPunct="0">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514350" marR="0" lvl="0" indent="-514350" algn="l" defTabSz="457200" rtl="0" eaLnBrk="1" fontAlgn="base" latinLnBrk="0" hangingPunct="1">
              <a:lnSpc>
                <a:spcPct val="100000"/>
              </a:lnSpc>
              <a:spcBef>
                <a:spcPts val="800"/>
              </a:spcBef>
              <a:spcAft>
                <a:spcPct val="0"/>
              </a:spcAft>
              <a:buClr>
                <a:srgbClr val="000000"/>
              </a:buClr>
              <a:buSzPct val="100000"/>
              <a:buFont typeface="Arial" panose="020B0604020202020204" pitchFamily="34" charset="0"/>
              <a:buAutoNum type="arabicParenR" startAt="2"/>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altLang="en-US" sz="2400" b="1" i="0" u="none" strike="noStrike" kern="1200" cap="none" spc="0" normalizeH="0" baseline="0" noProof="0" dirty="0" smtClean="0">
                <a:ln>
                  <a:noFill/>
                </a:ln>
                <a:solidFill>
                  <a:srgbClr val="0070C0"/>
                </a:solidFill>
                <a:effectLst/>
                <a:uLnTx/>
                <a:uFillTx/>
                <a:latin typeface="Times New Roman" panose="02020603050405020304" pitchFamily="18" charset="0"/>
                <a:cs typeface="Times New Roman" panose="02020603050405020304" pitchFamily="18" charset="0"/>
              </a:rPr>
              <a:t>Secondary structure: </a:t>
            </a:r>
            <a:r>
              <a:rPr kumimoji="0" lang="en-US" altLang="en-US" sz="2400" i="0" u="none" strike="noStrike" kern="1200" cap="none" spc="0" normalizeH="0" baseline="0" noProof="0" dirty="0" smtClean="0">
                <a:ln>
                  <a:noFill/>
                </a:ln>
                <a:solidFill>
                  <a:schemeClr val="tx1"/>
                </a:solidFill>
                <a:effectLst/>
                <a:uLnTx/>
                <a:uFillTx/>
                <a:latin typeface="Times New Roman" panose="02020603050405020304" pitchFamily="18" charset="0"/>
                <a:cs typeface="Times New Roman" panose="02020603050405020304" pitchFamily="18" charset="0"/>
              </a:rPr>
              <a:t>formed due to interaction </a:t>
            </a: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of groups in the peptide backbone of primary structure</a:t>
            </a:r>
          </a:p>
          <a:p>
            <a:pPr marL="457200" marR="0" lvl="0" indent="-280988" algn="l" defTabSz="457200" rtl="0" eaLnBrk="1" fontAlgn="base" latinLnBrk="0" hangingPunct="1">
              <a:lnSpc>
                <a:spcPct val="100000"/>
              </a:lnSpc>
              <a:spcBef>
                <a:spcPts val="800"/>
              </a:spcBef>
              <a:spcAft>
                <a:spcPct val="0"/>
              </a:spcAft>
              <a:buClr>
                <a:srgbClr val="000000"/>
              </a:buClr>
              <a:buSzPct val="100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400" dirty="0" smtClean="0">
                <a:latin typeface="Times New Roman" panose="02020603050405020304" pitchFamily="18" charset="0"/>
                <a:cs typeface="Times New Roman" panose="02020603050405020304" pitchFamily="18" charset="0"/>
              </a:rPr>
              <a:t>The structure is stabilized by </a:t>
            </a:r>
            <a:r>
              <a:rPr kumimoji="0" lang="en-US" altLang="en-US" sz="2400" b="1" i="0" u="none" strike="noStrike" kern="1200" cap="none" spc="0" normalizeH="0" baseline="0" noProof="0" dirty="0" smtClean="0">
                <a:ln>
                  <a:noFill/>
                </a:ln>
                <a:solidFill>
                  <a:srgbClr val="7030A0"/>
                </a:solidFill>
                <a:effectLst/>
                <a:uLnTx/>
                <a:uFillTx/>
                <a:latin typeface="Times New Roman" panose="02020603050405020304" pitchFamily="18" charset="0"/>
                <a:cs typeface="Times New Roman" panose="02020603050405020304" pitchFamily="18" charset="0"/>
              </a:rPr>
              <a:t>H-bonds</a:t>
            </a: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 between AA</a:t>
            </a:r>
          </a:p>
          <a:p>
            <a:pPr lvl="1" indent="-341313" defTabSz="457200" eaLnBrk="1" fontAlgn="base" hangingPunct="1">
              <a:spcAft>
                <a:spcPct val="0"/>
              </a:spcAft>
              <a:buClr>
                <a:srgbClr val="000000"/>
              </a:buClr>
              <a:buSzPct val="100000"/>
              <a:buFont typeface="Arial" panose="020B0604020202020204" pitchFamily="34" charset="0"/>
              <a:buChar char="•"/>
            </a:pPr>
            <a:r>
              <a:rPr lang="en-US" altLang="en-US" sz="2400" b="1" dirty="0">
                <a:solidFill>
                  <a:srgbClr val="0070C0"/>
                </a:solidFill>
                <a:latin typeface="Times New Roman" panose="02020603050405020304" pitchFamily="18" charset="0"/>
                <a:cs typeface="Times New Roman" panose="02020603050405020304" pitchFamily="18" charset="0"/>
              </a:rPr>
              <a:t>(beta) sheet</a:t>
            </a:r>
          </a:p>
          <a:p>
            <a:pPr marR="0" lvl="1" indent="-341313" algn="l" defTabSz="457200" rtl="0" eaLnBrk="1" fontAlgn="base" latinLnBrk="0" hangingPunct="1">
              <a:lnSpc>
                <a:spcPct val="100000"/>
              </a:lnSpc>
              <a:spcBef>
                <a:spcPts val="700"/>
              </a:spcBef>
              <a:spcAft>
                <a:spcPct val="0"/>
              </a:spcAft>
              <a:buClr>
                <a:srgbClr val="000000"/>
              </a:buClr>
              <a:buSzPct val="100000"/>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altLang="en-US" sz="2400" b="1" i="0" u="none" strike="noStrike" kern="1200" cap="none" spc="0" normalizeH="0" baseline="0" noProof="0" dirty="0" smtClean="0">
                <a:ln>
                  <a:noFill/>
                </a:ln>
                <a:solidFill>
                  <a:srgbClr val="0070C0"/>
                </a:solidFill>
                <a:effectLst/>
                <a:uLnTx/>
                <a:uFillTx/>
                <a:latin typeface="Times New Roman" panose="02020603050405020304" pitchFamily="18" charset="0"/>
                <a:cs typeface="Times New Roman" panose="02020603050405020304" pitchFamily="18" charset="0"/>
              </a:rPr>
              <a:t>(alpha) helix</a:t>
            </a:r>
          </a:p>
          <a:p>
            <a:pPr marL="400050" marR="0" lvl="1" indent="0" algn="l" defTabSz="457200" rtl="0" eaLnBrk="1" fontAlgn="base" latinLnBrk="0" hangingPunct="1">
              <a:lnSpc>
                <a:spcPct val="100000"/>
              </a:lnSpc>
              <a:spcBef>
                <a:spcPts val="700"/>
              </a:spcBef>
              <a:spcAft>
                <a:spcPct val="0"/>
              </a:spcAft>
              <a:buClr>
                <a:srgbClr val="000000"/>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altLang="en-US" sz="2400" b="1" i="0" u="none" strike="noStrike" kern="1200" cap="none" spc="0" normalizeH="0" baseline="0" noProof="0" dirty="0" smtClean="0">
                <a:ln>
                  <a:noFill/>
                </a:ln>
                <a:solidFill>
                  <a:srgbClr val="0070C0"/>
                </a:solidFill>
                <a:effectLst/>
                <a:uLnTx/>
                <a:uFillTx/>
                <a:latin typeface="Times New Roman" panose="02020603050405020304" pitchFamily="18" charset="0"/>
                <a:cs typeface="Times New Roman" panose="02020603050405020304" pitchFamily="18" charset="0"/>
              </a:rPr>
              <a:t> </a:t>
            </a:r>
          </a:p>
        </p:txBody>
      </p:sp>
      <p:pic>
        <p:nvPicPr>
          <p:cNvPr id="8" name="Picture 7"/>
          <p:cNvPicPr>
            <a:picLocks noChangeAspect="1"/>
          </p:cNvPicPr>
          <p:nvPr/>
        </p:nvPicPr>
        <p:blipFill>
          <a:blip r:embed="rId2"/>
          <a:stretch>
            <a:fillRect/>
          </a:stretch>
        </p:blipFill>
        <p:spPr>
          <a:xfrm>
            <a:off x="3692118" y="2394516"/>
            <a:ext cx="5450296" cy="4066384"/>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50308" y="3268053"/>
                <a:ext cx="3533549" cy="3000821"/>
              </a:xfrm>
              <a:prstGeom prst="rect">
                <a:avLst/>
              </a:prstGeom>
            </p:spPr>
            <p:txBody>
              <a:bodyPr wrap="square">
                <a:spAutoFit/>
              </a:bodyPr>
              <a:lstStyle/>
              <a:p>
                <a:pPr marL="490855" indent="-347345">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14:m>
                  <m:oMath xmlns:m="http://schemas.openxmlformats.org/officeDocument/2006/math">
                    <m:r>
                      <a:rPr lang="en-US" b="1" i="1" dirty="0">
                        <a:latin typeface="Cambria Math" panose="02040503050406030204" charset="0"/>
                        <a:ea typeface="MS Mincho" charset="0"/>
                        <a:cs typeface="Cambria Math" panose="02040503050406030204" charset="0"/>
                      </a:rPr>
                      <m:t>𝜶</m:t>
                    </m:r>
                    <m:r>
                      <a:rPr lang="en-US" b="1" i="1" dirty="0">
                        <a:latin typeface="Cambria Math" panose="02040503050406030204" charset="0"/>
                        <a:ea typeface="MS Mincho" charset="0"/>
                        <a:cs typeface="Cambria Math" panose="02040503050406030204" charset="0"/>
                      </a:rPr>
                      <m:t>_</m:t>
                    </m:r>
                    <m:r>
                      <a:rPr lang="en-US" b="1" i="1" dirty="0">
                        <a:latin typeface="Cambria Math" panose="02040503050406030204" charset="0"/>
                        <a:cs typeface="Cambria Math" panose="02040503050406030204" charset="0"/>
                      </a:rPr>
                      <m:t>𝒉𝒆𝒍𝒊𝒙</m:t>
                    </m:r>
                  </m:oMath>
                </a14:m>
                <a:r>
                  <a:rPr lang="en-US" dirty="0">
                    <a:latin typeface="Times New Roman" panose="02020603050405020304" pitchFamily="18" charset="0"/>
                    <a:cs typeface="Times New Roman" panose="02020603050405020304" pitchFamily="18" charset="0"/>
                  </a:rPr>
                  <a:t>: helical pattern is a result of hydrogen bonds between the coils of helix</a:t>
                </a:r>
              </a:p>
              <a:p>
                <a:pPr marL="490855" indent="-347345">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14:m>
                  <m:oMath xmlns:m="http://schemas.openxmlformats.org/officeDocument/2006/math">
                    <m:r>
                      <a:rPr lang="en-US" b="1" i="1" dirty="0">
                        <a:latin typeface="Cambria Math" panose="02040503050406030204" charset="0"/>
                        <a:ea typeface="MS Mincho" charset="0"/>
                        <a:cs typeface="Cambria Math" panose="02040503050406030204" charset="0"/>
                      </a:rPr>
                      <m:t>𝜷</m:t>
                    </m:r>
                    <m:r>
                      <a:rPr lang="en-US" b="1" i="1" dirty="0">
                        <a:latin typeface="Cambria Math" panose="02040503050406030204" charset="0"/>
                        <a:ea typeface="MS Mincho" charset="0"/>
                        <a:cs typeface="Cambria Math" panose="02040503050406030204" charset="0"/>
                      </a:rPr>
                      <m:t>_</m:t>
                    </m:r>
                    <m:r>
                      <a:rPr lang="en-US" b="1" i="1" dirty="0">
                        <a:latin typeface="Cambria Math" panose="02040503050406030204" charset="0"/>
                        <a:cs typeface="Cambria Math" panose="02040503050406030204" charset="0"/>
                      </a:rPr>
                      <m:t>𝒑𝒍𝒆𝒂𝒕𝒆𝒅</m:t>
                    </m:r>
                    <m:r>
                      <a:rPr lang="en-US" b="1" i="1" dirty="0">
                        <a:latin typeface="Cambria Math" panose="02040503050406030204" charset="0"/>
                        <a:ea typeface="MS Mincho" charset="0"/>
                        <a:cs typeface="Cambria Math" panose="02040503050406030204" charset="0"/>
                      </a:rPr>
                      <m:t> </m:t>
                    </m:r>
                    <m:r>
                      <a:rPr lang="en-US" b="1" i="1" dirty="0">
                        <a:latin typeface="Cambria Math" panose="02040503050406030204" charset="0"/>
                        <a:cs typeface="Cambria Math" panose="02040503050406030204" charset="0"/>
                      </a:rPr>
                      <m:t>𝒔𝒉𝒆𝒆𝒕𝒔</m:t>
                    </m:r>
                  </m:oMath>
                </a14:m>
                <a:r>
                  <a:rPr lang="en-US" dirty="0">
                    <a:latin typeface="Times New Roman" panose="02020603050405020304" pitchFamily="18" charset="0"/>
                    <a:cs typeface="Times New Roman" panose="02020603050405020304" pitchFamily="18" charset="0"/>
                  </a:rPr>
                  <a:t>:- hydrogen bond holds the peptide chain in parallel manner</a:t>
                </a:r>
              </a:p>
            </p:txBody>
          </p:sp>
        </mc:Choice>
        <mc:Fallback xmlns="">
          <p:sp>
            <p:nvSpPr>
              <p:cNvPr id="3" name="Rectangle 2"/>
              <p:cNvSpPr>
                <a:spLocks noRot="1" noChangeAspect="1" noMove="1" noResize="1" noEditPoints="1" noAdjustHandles="1" noChangeArrowheads="1" noChangeShapeType="1" noTextEdit="1"/>
              </p:cNvSpPr>
              <p:nvPr/>
            </p:nvSpPr>
            <p:spPr>
              <a:xfrm>
                <a:off x="50308" y="3268053"/>
                <a:ext cx="3533549" cy="3000821"/>
              </a:xfrm>
              <a:prstGeom prst="rect">
                <a:avLst/>
              </a:prstGeom>
              <a:blipFill>
                <a:blip r:embed="rId3"/>
                <a:stretch>
                  <a:fillRect b="-813"/>
                </a:stretch>
              </a:blipFill>
            </p:spPr>
            <p:txBody>
              <a:bodyPr/>
              <a:lstStyle/>
              <a:p>
                <a:r>
                  <a:rPr lang="en-US">
                    <a:noFill/>
                  </a:rPr>
                  <a:t> </a:t>
                </a:r>
              </a:p>
            </p:txBody>
          </p:sp>
        </mc:Fallback>
      </mc:AlternateContent>
    </p:spTree>
    <p:extLst>
      <p:ext uri="{BB962C8B-B14F-4D97-AF65-F5344CB8AC3E}">
        <p14:creationId xmlns:p14="http://schemas.microsoft.com/office/powerpoint/2010/main" val="2168303053"/>
      </p:ext>
    </p:extLst>
  </p:cSld>
  <p:clrMapOvr>
    <a:masterClrMapping/>
  </p:clrMapOvr>
  <p:transition spd="slow">
    <p:push dir="u"/>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3510" y="152400"/>
            <a:ext cx="7273290" cy="685800"/>
          </a:xfrm>
        </p:spPr>
        <p:txBody>
          <a:bodyPr>
            <a:normAutofit/>
          </a:bodyPr>
          <a:lstStyle/>
          <a:p>
            <a:pPr algn="l"/>
            <a:r>
              <a:rPr lang="en-US" sz="3200" b="1" dirty="0" smtClean="0">
                <a:latin typeface="Times New Roman" panose="02020603050405020304" pitchFamily="18" charset="0"/>
                <a:cs typeface="Times New Roman" panose="02020603050405020304" pitchFamily="18" charset="0"/>
              </a:rPr>
              <a:t>Proteins cont’d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0495" y="1238250"/>
                <a:ext cx="8799195" cy="5391150"/>
              </a:xfrm>
            </p:spPr>
            <p:txBody>
              <a:bodyPr>
                <a:noAutofit/>
              </a:bodyPr>
              <a:lstStyle/>
              <a:p>
                <a:pPr marL="930275" indent="-457200">
                  <a:lnSpc>
                    <a:spcPct val="150000"/>
                  </a:lnSpc>
                  <a:buFont typeface="Wingdings" panose="05000000000000000000" charset="0"/>
                  <a:buChar char="q"/>
                </a:pPr>
                <a:r>
                  <a:rPr lang="en-US" sz="2400" b="0" dirty="0">
                    <a:latin typeface="Times New Roman" panose="02020603050405020304" pitchFamily="18" charset="0"/>
                    <a:cs typeface="Times New Roman" panose="02020603050405020304" pitchFamily="18" charset="0"/>
                  </a:rPr>
                  <a:t> </a:t>
                </a:r>
                <a:r>
                  <a:rPr lang="en-US" sz="2400" b="0" u="sng" dirty="0">
                    <a:latin typeface="Times New Roman" panose="02020603050405020304" pitchFamily="18" charset="0"/>
                    <a:cs typeface="Times New Roman" panose="02020603050405020304" pitchFamily="18" charset="0"/>
                  </a:rPr>
                  <a:t>Secondary structure</a:t>
                </a:r>
                <a:r>
                  <a:rPr lang="en-US" sz="2400" b="0" dirty="0">
                    <a:latin typeface="Times New Roman" panose="02020603050405020304" pitchFamily="18" charset="0"/>
                    <a:cs typeface="Times New Roman" panose="02020603050405020304" pitchFamily="18" charset="0"/>
                  </a:rPr>
                  <a:t>- as the peptide grows longer, the chain begins to bend. </a:t>
                </a:r>
              </a:p>
              <a:p>
                <a:pPr marL="688340" indent="-560705">
                  <a:lnSpc>
                    <a:spcPct val="150000"/>
                  </a:lnSpc>
                  <a:buFont typeface="Wingdings" panose="05000000000000000000" charset="0"/>
                  <a:buChar char="ü"/>
                </a:pPr>
                <a:r>
                  <a:rPr lang="en-US" sz="2400" b="0" dirty="0">
                    <a:latin typeface="Times New Roman" panose="02020603050405020304" pitchFamily="18" charset="0"/>
                    <a:cs typeface="Times New Roman" panose="02020603050405020304" pitchFamily="18" charset="0"/>
                  </a:rPr>
                  <a:t>When the amino group of one section on the peptide moves close to the carbonyl group of an other section, intermolecular </a:t>
                </a:r>
                <a:r>
                  <a:rPr lang="en-US" sz="2400" b="0" dirty="0" smtClean="0">
                    <a:latin typeface="Times New Roman" panose="02020603050405020304" pitchFamily="18" charset="0"/>
                    <a:cs typeface="Times New Roman" panose="02020603050405020304" pitchFamily="18" charset="0"/>
                  </a:rPr>
                  <a:t>bond </a:t>
                </a:r>
                <a:r>
                  <a:rPr lang="en-US" sz="2400" b="0" dirty="0">
                    <a:latin typeface="Times New Roman" panose="02020603050405020304" pitchFamily="18" charset="0"/>
                    <a:cs typeface="Times New Roman" panose="02020603050405020304" pitchFamily="18" charset="0"/>
                  </a:rPr>
                  <a:t>called hydrogen bond develop.</a:t>
                </a:r>
              </a:p>
              <a:p>
                <a:pPr marL="688340" indent="-560705">
                  <a:lnSpc>
                    <a:spcPct val="150000"/>
                  </a:lnSpc>
                  <a:buFont typeface="Wingdings" panose="05000000000000000000" charset="0"/>
                  <a:buChar char="ü"/>
                </a:pPr>
                <a:r>
                  <a:rPr lang="en-US" sz="2400" b="0" dirty="0">
                    <a:latin typeface="Times New Roman" panose="02020603050405020304" pitchFamily="18" charset="0"/>
                    <a:cs typeface="Times New Roman" panose="02020603050405020304" pitchFamily="18" charset="0"/>
                  </a:rPr>
                  <a:t> This intermolecular bond bend the linear section and giving two common types of secondry structure ( </a:t>
                </a:r>
                <a14:m>
                  <m:oMath xmlns:m="http://schemas.openxmlformats.org/officeDocument/2006/math">
                    <m:r>
                      <a:rPr lang="en-US" sz="2400" b="0" i="1" dirty="0" smtClean="0">
                        <a:latin typeface="Cambria Math" panose="02040503050406030204" charset="0"/>
                        <a:ea typeface="MS Mincho" charset="0"/>
                        <a:cs typeface="Cambria Math" panose="02040503050406030204" charset="0"/>
                      </a:rPr>
                      <m:t>𝛼</m:t>
                    </m:r>
                    <m:r>
                      <a:rPr lang="en-US" sz="2400" b="0" i="1" dirty="0">
                        <a:latin typeface="Cambria Math" panose="02040503050406030204" charset="0"/>
                        <a:ea typeface="MS Mincho" charset="0"/>
                        <a:cs typeface="Cambria Math" panose="02040503050406030204" charset="0"/>
                      </a:rPr>
                      <m:t>_</m:t>
                    </m:r>
                    <m:r>
                      <a:rPr lang="en-US" sz="2400" b="0" i="1" dirty="0">
                        <a:latin typeface="Cambria Math" panose="02040503050406030204" charset="0"/>
                        <a:cs typeface="Cambria Math" panose="02040503050406030204" charset="0"/>
                      </a:rPr>
                      <m:t>h𝑒𝑙𝑖𝑥</m:t>
                    </m:r>
                    <m:r>
                      <a:rPr lang="en-US" sz="2400" b="0" i="1" dirty="0">
                        <a:latin typeface="Cambria Math" panose="02040503050406030204" charset="0"/>
                        <a:ea typeface="MS Mincho" charset="0"/>
                        <a:cs typeface="Cambria Math" panose="02040503050406030204" charset="0"/>
                      </a:rPr>
                      <m:t> </m:t>
                    </m:r>
                    <m:r>
                      <a:rPr lang="en-US" sz="2400" b="0" i="1" dirty="0">
                        <a:latin typeface="Cambria Math" panose="02040503050406030204" charset="0"/>
                        <a:cs typeface="Cambria Math" panose="02040503050406030204" charset="0"/>
                      </a:rPr>
                      <m:t>𝑎𝑛𝑑</m:t>
                    </m:r>
                    <m:r>
                      <a:rPr lang="en-US" sz="2400" b="0" i="1" dirty="0">
                        <a:latin typeface="Cambria Math" panose="02040503050406030204" charset="0"/>
                        <a:ea typeface="MS Mincho" charset="0"/>
                        <a:cs typeface="Cambria Math" panose="02040503050406030204" charset="0"/>
                      </a:rPr>
                      <m:t> </m:t>
                    </m:r>
                    <m:r>
                      <a:rPr lang="en-US" sz="2400" b="0" i="1" dirty="0">
                        <a:latin typeface="Cambria Math" panose="02040503050406030204" charset="0"/>
                        <a:ea typeface="MS Mincho" charset="0"/>
                        <a:cs typeface="Cambria Math" panose="02040503050406030204" charset="0"/>
                      </a:rPr>
                      <m:t>𝛽</m:t>
                    </m:r>
                    <m:r>
                      <a:rPr lang="en-US" sz="2400" b="0" i="1" dirty="0">
                        <a:latin typeface="Cambria Math" panose="02040503050406030204" charset="0"/>
                        <a:ea typeface="MS Mincho" charset="0"/>
                        <a:cs typeface="Cambria Math" panose="02040503050406030204" charset="0"/>
                      </a:rPr>
                      <m:t>_</m:t>
                    </m:r>
                    <m:r>
                      <a:rPr lang="en-US" sz="2400" b="0" i="1" dirty="0">
                        <a:latin typeface="Cambria Math" panose="02040503050406030204" charset="0"/>
                        <a:cs typeface="Cambria Math" panose="02040503050406030204" charset="0"/>
                      </a:rPr>
                      <m:t>𝑝𝑙𝑒𝑎𝑡𝑒𝑑</m:t>
                    </m:r>
                    <m:r>
                      <a:rPr lang="en-US" sz="2400" b="0" i="1" dirty="0">
                        <a:latin typeface="Cambria Math" panose="02040503050406030204" charset="0"/>
                        <a:ea typeface="MS Mincho" charset="0"/>
                        <a:cs typeface="Cambria Math" panose="02040503050406030204" charset="0"/>
                      </a:rPr>
                      <m:t> </m:t>
                    </m:r>
                    <m:r>
                      <a:rPr lang="en-US" sz="2400" b="0" i="1" dirty="0">
                        <a:latin typeface="Cambria Math" panose="02040503050406030204" charset="0"/>
                        <a:cs typeface="Cambria Math" panose="02040503050406030204" charset="0"/>
                      </a:rPr>
                      <m:t>𝑠h𝑒𝑒𝑡𝑠</m:t>
                    </m:r>
                    <m:r>
                      <a:rPr lang="en-US" sz="2400" b="0" i="1" dirty="0">
                        <a:latin typeface="Cambria Math" panose="02040503050406030204" charset="0"/>
                        <a:cs typeface="Cambria Math" panose="02040503050406030204" charset="0"/>
                      </a:rPr>
                      <m:t>)</m:t>
                    </m:r>
                  </m:oMath>
                </a14:m>
                <a:endParaRPr lang="en-US" sz="2400" b="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0495" y="1238250"/>
                <a:ext cx="8799195" cy="5391150"/>
              </a:xfrm>
              <a:blipFill>
                <a:blip r:embed="rId2"/>
                <a:stretch>
                  <a:fillRect r="-1386"/>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796E5D1F-AD71-4468-8BAF-9C079CEC6AC7}" type="slidenum">
              <a:rPr lang="en-US" smtClean="0"/>
              <a:t>44</a:t>
            </a:fld>
            <a:endParaRPr lang="en-US"/>
          </a:p>
        </p:txBody>
      </p:sp>
    </p:spTree>
    <p:extLst>
      <p:ext uri="{BB962C8B-B14F-4D97-AF65-F5344CB8AC3E}">
        <p14:creationId xmlns:p14="http://schemas.microsoft.com/office/powerpoint/2010/main" val="4079960514"/>
      </p:ext>
    </p:extLst>
  </p:cSld>
  <p:clrMapOvr>
    <a:masterClrMapping/>
  </p:clrMapOvr>
  <p:transition spd="slow">
    <p:push dir="u"/>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Text Box 2"/>
          <p:cNvSpPr txBox="1">
            <a:spLocks noChangeArrowheads="1"/>
          </p:cNvSpPr>
          <p:nvPr/>
        </p:nvSpPr>
        <p:spPr bwMode="auto">
          <a:xfrm>
            <a:off x="222250" y="821334"/>
            <a:ext cx="8616950" cy="3332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ts val="800"/>
              </a:spcBef>
              <a:tabLst>
                <a:tab pos="1082675" algn="l"/>
                <a:tab pos="1997075" algn="l"/>
                <a:tab pos="2911475" algn="l"/>
                <a:tab pos="3825875" algn="l"/>
                <a:tab pos="4740275" algn="l"/>
                <a:tab pos="5654675" algn="l"/>
                <a:tab pos="6569075" algn="l"/>
                <a:tab pos="7483475" algn="l"/>
                <a:tab pos="8397875" algn="l"/>
                <a:tab pos="9312275" algn="l"/>
                <a:tab pos="10226675" algn="l"/>
              </a:tabLst>
              <a:defRPr sz="3200">
                <a:solidFill>
                  <a:srgbClr val="000000"/>
                </a:solidFill>
                <a:latin typeface="Arial" charset="0"/>
                <a:ea typeface="ＭＳ Ｐゴシック" pitchFamily="34" charset="-128"/>
                <a:cs typeface="Microsoft YaHei" pitchFamily="34" charset="-122"/>
              </a:defRPr>
            </a:lvl1pPr>
            <a:lvl2pPr marL="914400" indent="-514350" eaLnBrk="0" hangingPunct="0">
              <a:spcBef>
                <a:spcPts val="700"/>
              </a:spcBef>
              <a:tabLst>
                <a:tab pos="1082675" algn="l"/>
                <a:tab pos="1997075" algn="l"/>
                <a:tab pos="2911475" algn="l"/>
                <a:tab pos="3825875" algn="l"/>
                <a:tab pos="4740275" algn="l"/>
                <a:tab pos="5654675" algn="l"/>
                <a:tab pos="6569075" algn="l"/>
                <a:tab pos="7483475" algn="l"/>
                <a:tab pos="8397875" algn="l"/>
                <a:tab pos="9312275" algn="l"/>
                <a:tab pos="10226675" algn="l"/>
              </a:tabLst>
              <a:defRPr sz="2800">
                <a:solidFill>
                  <a:srgbClr val="000000"/>
                </a:solidFill>
                <a:latin typeface="Arial" charset="0"/>
                <a:ea typeface="ＭＳ Ｐゴシック" pitchFamily="34" charset="-128"/>
                <a:cs typeface="Microsoft YaHei" pitchFamily="34" charset="-122"/>
              </a:defRPr>
            </a:lvl2pPr>
            <a:lvl3pPr eaLnBrk="0" hangingPunct="0">
              <a:spcBef>
                <a:spcPts val="600"/>
              </a:spcBef>
              <a:tabLst>
                <a:tab pos="1082675" algn="l"/>
                <a:tab pos="1997075" algn="l"/>
                <a:tab pos="2911475" algn="l"/>
                <a:tab pos="3825875" algn="l"/>
                <a:tab pos="4740275" algn="l"/>
                <a:tab pos="5654675" algn="l"/>
                <a:tab pos="6569075" algn="l"/>
                <a:tab pos="7483475" algn="l"/>
                <a:tab pos="8397875" algn="l"/>
                <a:tab pos="9312275" algn="l"/>
                <a:tab pos="10226675" algn="l"/>
              </a:tabLst>
              <a:defRPr sz="2400">
                <a:solidFill>
                  <a:srgbClr val="000000"/>
                </a:solidFill>
                <a:latin typeface="Arial" charset="0"/>
                <a:ea typeface="ＭＳ Ｐゴシック" pitchFamily="34" charset="-128"/>
                <a:cs typeface="Microsoft YaHei" pitchFamily="34" charset="-122"/>
              </a:defRPr>
            </a:lvl3pPr>
            <a:lvl4pPr eaLnBrk="0" hangingPunct="0">
              <a:spcBef>
                <a:spcPts val="500"/>
              </a:spcBef>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charset="0"/>
                <a:ea typeface="ＭＳ Ｐゴシック" pitchFamily="34" charset="-128"/>
                <a:cs typeface="Microsoft YaHei" pitchFamily="34" charset="-122"/>
              </a:defRPr>
            </a:lvl4pPr>
            <a:lvl5pPr eaLnBrk="0" hangingPunct="0">
              <a:spcBef>
                <a:spcPts val="500"/>
              </a:spcBef>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charset="0"/>
                <a:ea typeface="ＭＳ Ｐゴシック" pitchFamily="34" charset="-128"/>
                <a:cs typeface="Microsoft YaHei" pitchFamily="34" charset="-122"/>
              </a:defRPr>
            </a:lvl5pPr>
            <a:lvl6pPr marL="2514600" indent="-228600" defTabSz="457200" eaLnBrk="0" fontAlgn="base" hangingPunct="0">
              <a:spcBef>
                <a:spcPts val="500"/>
              </a:spcBef>
              <a:spcAft>
                <a:spcPct val="0"/>
              </a:spcAft>
              <a:buClr>
                <a:srgbClr val="000000"/>
              </a:buClr>
              <a:buSzPct val="100000"/>
              <a:buFont typeface="Times New Roman" pitchFamily="18" charset="0"/>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charset="0"/>
                <a:ea typeface="ＭＳ Ｐゴシック" pitchFamily="34" charset="-128"/>
                <a:cs typeface="Microsoft YaHei" pitchFamily="34" charset="-122"/>
              </a:defRPr>
            </a:lvl6pPr>
            <a:lvl7pPr marL="2971800" indent="-228600" defTabSz="457200" eaLnBrk="0" fontAlgn="base" hangingPunct="0">
              <a:spcBef>
                <a:spcPts val="500"/>
              </a:spcBef>
              <a:spcAft>
                <a:spcPct val="0"/>
              </a:spcAft>
              <a:buClr>
                <a:srgbClr val="000000"/>
              </a:buClr>
              <a:buSzPct val="100000"/>
              <a:buFont typeface="Times New Roman" pitchFamily="18" charset="0"/>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charset="0"/>
                <a:ea typeface="ＭＳ Ｐゴシック" pitchFamily="34" charset="-128"/>
                <a:cs typeface="Microsoft YaHei" pitchFamily="34" charset="-122"/>
              </a:defRPr>
            </a:lvl7pPr>
            <a:lvl8pPr marL="3429000" indent="-228600" defTabSz="457200" eaLnBrk="0" fontAlgn="base" hangingPunct="0">
              <a:spcBef>
                <a:spcPts val="500"/>
              </a:spcBef>
              <a:spcAft>
                <a:spcPct val="0"/>
              </a:spcAft>
              <a:buClr>
                <a:srgbClr val="000000"/>
              </a:buClr>
              <a:buSzPct val="100000"/>
              <a:buFont typeface="Times New Roman" pitchFamily="18" charset="0"/>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charset="0"/>
                <a:ea typeface="ＭＳ Ｐゴシック" pitchFamily="34" charset="-128"/>
                <a:cs typeface="Microsoft YaHei" pitchFamily="34" charset="-122"/>
              </a:defRPr>
            </a:lvl8pPr>
            <a:lvl9pPr marL="3886200" indent="-228600" defTabSz="457200" eaLnBrk="0" fontAlgn="base" hangingPunct="0">
              <a:spcBef>
                <a:spcPts val="500"/>
              </a:spcBef>
              <a:spcAft>
                <a:spcPct val="0"/>
              </a:spcAft>
              <a:buClr>
                <a:srgbClr val="000000"/>
              </a:buClr>
              <a:buSzPct val="100000"/>
              <a:buFont typeface="Times New Roman" pitchFamily="18" charset="0"/>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charset="0"/>
                <a:ea typeface="ＭＳ Ｐゴシック" pitchFamily="34" charset="-128"/>
                <a:cs typeface="Microsoft YaHei" pitchFamily="34" charset="-122"/>
              </a:defRPr>
            </a:lvl9pPr>
          </a:lstStyle>
          <a:p>
            <a:pPr marL="514350" marR="0" lvl="0" indent="-514350" algn="l" defTabSz="457200" rtl="0" eaLnBrk="1" fontAlgn="base" latinLnBrk="0" hangingPunct="1">
              <a:lnSpc>
                <a:spcPct val="100000"/>
              </a:lnSpc>
              <a:spcBef>
                <a:spcPts val="800"/>
              </a:spcBef>
              <a:spcAft>
                <a:spcPct val="0"/>
              </a:spcAft>
              <a:buClr>
                <a:srgbClr val="000000"/>
              </a:buClr>
              <a:buSzPct val="100000"/>
              <a:buFont typeface="+mj-lt"/>
              <a:buAutoNum type="arabicParenR" startAt="3"/>
              <a:tabLst>
                <a:tab pos="1082675" algn="l"/>
                <a:tab pos="1997075" algn="l"/>
                <a:tab pos="2911475" algn="l"/>
                <a:tab pos="3825875" algn="l"/>
                <a:tab pos="4740275" algn="l"/>
                <a:tab pos="5654675" algn="l"/>
                <a:tab pos="6569075" algn="l"/>
                <a:tab pos="7483475" algn="l"/>
                <a:tab pos="8397875" algn="l"/>
                <a:tab pos="9312275" algn="l"/>
                <a:tab pos="10226675" algn="l"/>
              </a:tabLst>
              <a:defRPr/>
            </a:pPr>
            <a:r>
              <a:rPr kumimoji="0" lang="en-US" altLang="en-US" sz="2400" b="1" i="0" u="none" strike="noStrike" kern="1200" cap="none" spc="0" normalizeH="0" baseline="0" noProof="0" dirty="0" smtClean="0">
                <a:ln>
                  <a:noFill/>
                </a:ln>
                <a:solidFill>
                  <a:schemeClr val="accent2"/>
                </a:solidFill>
                <a:effectLst/>
                <a:uLnTx/>
                <a:uFillTx/>
                <a:latin typeface="Times New Roman" panose="02020603050405020304" pitchFamily="18" charset="0"/>
                <a:cs typeface="Times New Roman" panose="02020603050405020304" pitchFamily="18" charset="0"/>
              </a:rPr>
              <a:t>Tertiary structure</a:t>
            </a:r>
            <a:r>
              <a:rPr kumimoji="0" lang="en-US" altLang="en-US" sz="2400" b="0" i="0" u="none" strike="noStrike" kern="1200" cap="none" spc="0" normalizeH="0" baseline="0" noProof="0" dirty="0" smtClean="0">
                <a:ln>
                  <a:noFill/>
                </a:ln>
                <a:solidFill>
                  <a:schemeClr val="accent2"/>
                </a:solidFill>
                <a:effectLst/>
                <a:uLnTx/>
                <a:uFillTx/>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final folded shape of a globular protein</a:t>
            </a:r>
          </a:p>
          <a:p>
            <a:pPr marL="857250" marR="0" lvl="1" indent="-457200" algn="l" defTabSz="457200" rtl="0" eaLnBrk="1" fontAlgn="base" latinLnBrk="0" hangingPunct="1">
              <a:lnSpc>
                <a:spcPct val="100000"/>
              </a:lnSpc>
              <a:spcBef>
                <a:spcPts val="700"/>
              </a:spcBef>
              <a:spcAft>
                <a:spcPct val="0"/>
              </a:spcAft>
              <a:buClr>
                <a:srgbClr val="000000"/>
              </a:buClr>
              <a:buSzPct val="100000"/>
              <a:buFont typeface="Arial" panose="020B0604020202020204" pitchFamily="34" charset="0"/>
              <a:buChar char="•"/>
              <a:tabLst>
                <a:tab pos="1082675" algn="l"/>
                <a:tab pos="1997075" algn="l"/>
                <a:tab pos="2911475" algn="l"/>
                <a:tab pos="3825875" algn="l"/>
                <a:tab pos="4740275" algn="l"/>
                <a:tab pos="5654675" algn="l"/>
                <a:tab pos="6569075" algn="l"/>
                <a:tab pos="7483475" algn="l"/>
                <a:tab pos="8397875" algn="l"/>
                <a:tab pos="9312275" algn="l"/>
                <a:tab pos="10226675" algn="l"/>
              </a:tabLst>
              <a:defRPr/>
            </a:pP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Stabilized by a number of </a:t>
            </a:r>
            <a:r>
              <a:rPr kumimoji="0" lang="en-US" altLang="en-US" sz="2400" b="1" i="1"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forces</a:t>
            </a: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 (H-bonds, covalent bonds, ionic bonds, hydrophobic interactions)</a:t>
            </a:r>
          </a:p>
          <a:p>
            <a:pPr marL="857250" marR="0" lvl="1" indent="-457200" algn="l" defTabSz="457200" rtl="0" eaLnBrk="1" fontAlgn="base" latinLnBrk="0" hangingPunct="1">
              <a:lnSpc>
                <a:spcPct val="100000"/>
              </a:lnSpc>
              <a:spcBef>
                <a:spcPts val="700"/>
              </a:spcBef>
              <a:spcAft>
                <a:spcPct val="0"/>
              </a:spcAft>
              <a:buClr>
                <a:srgbClr val="000000"/>
              </a:buClr>
              <a:buSzPct val="100000"/>
              <a:buFont typeface="Arial" panose="020B0604020202020204" pitchFamily="34" charset="0"/>
              <a:buChar char="•"/>
              <a:tabLst>
                <a:tab pos="1082675" algn="l"/>
                <a:tab pos="1997075" algn="l"/>
                <a:tab pos="2911475" algn="l"/>
                <a:tab pos="3825875" algn="l"/>
                <a:tab pos="4740275" algn="l"/>
                <a:tab pos="5654675" algn="l"/>
                <a:tab pos="6569075" algn="l"/>
                <a:tab pos="7483475" algn="l"/>
                <a:tab pos="8397875" algn="l"/>
                <a:tab pos="9312275" algn="l"/>
                <a:tab pos="10226675" algn="l"/>
              </a:tabLst>
              <a:defRPr/>
            </a:pP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The final level of structure for proteins consists of only a single polypeptide chain</a:t>
            </a:r>
          </a:p>
          <a:p>
            <a:pPr marL="0" marR="0" lvl="0" indent="0" algn="l" defTabSz="457200" rtl="0" eaLnBrk="1" fontAlgn="base" latinLnBrk="0" hangingPunct="1">
              <a:lnSpc>
                <a:spcPct val="100000"/>
              </a:lnSpc>
              <a:spcBef>
                <a:spcPts val="800"/>
              </a:spcBef>
              <a:spcAft>
                <a:spcPct val="0"/>
              </a:spcAft>
              <a:buClr>
                <a:srgbClr val="000000"/>
              </a:buClr>
              <a:buSzPct val="100000"/>
              <a:buFont typeface="Times New Roman" panose="02020603050405020304" pitchFamily="18" charset="0"/>
              <a:buNone/>
              <a:tabLst>
                <a:tab pos="1082675" algn="l"/>
                <a:tab pos="1997075" algn="l"/>
                <a:tab pos="2911475" algn="l"/>
                <a:tab pos="3825875" algn="l"/>
                <a:tab pos="4740275" algn="l"/>
                <a:tab pos="5654675" algn="l"/>
                <a:tab pos="6569075" algn="l"/>
                <a:tab pos="7483475" algn="l"/>
                <a:tab pos="8397875" algn="l"/>
                <a:tab pos="9312275" algn="l"/>
                <a:tab pos="10226675" algn="l"/>
              </a:tabLst>
              <a:defRPr/>
            </a:pPr>
            <a:endParaRPr kumimoji="0" lang="en-US" altLang="en-US" sz="28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endParaRPr>
          </a:p>
        </p:txBody>
      </p:sp>
      <p:pic>
        <p:nvPicPr>
          <p:cNvPr id="7" name="Picture 6"/>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381355" y="3172512"/>
            <a:ext cx="2928711" cy="328463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a:stretch>
            <a:fillRect/>
          </a:stretch>
        </p:blipFill>
        <p:spPr>
          <a:xfrm>
            <a:off x="341550" y="3298282"/>
            <a:ext cx="4261293" cy="3043781"/>
          </a:xfrm>
          <a:prstGeom prst="rect">
            <a:avLst/>
          </a:prstGeom>
        </p:spPr>
      </p:pic>
      <p:sp>
        <p:nvSpPr>
          <p:cNvPr id="3" name="Slide Number Placeholder 2"/>
          <p:cNvSpPr>
            <a:spLocks noGrp="1"/>
          </p:cNvSpPr>
          <p:nvPr>
            <p:ph type="sldNum" idx="12"/>
          </p:nvPr>
        </p:nvSpPr>
        <p:spPr>
          <a:xfrm>
            <a:off x="7121525" y="6342063"/>
            <a:ext cx="2022475" cy="474662"/>
          </a:xfrm>
        </p:spPr>
        <p:txBody>
          <a:bodyPr/>
          <a:lstStyle/>
          <a:p>
            <a:pPr algn="r"/>
            <a:fld id="{CBC8E836-46D0-4C27-A431-744E806473CB}" type="slidenum">
              <a:rPr lang="en-US" altLang="en-US" smtClean="0"/>
              <a:pPr algn="r"/>
              <a:t>45</a:t>
            </a:fld>
            <a:endParaRPr lang="en-US" altLang="en-US" dirty="0"/>
          </a:p>
        </p:txBody>
      </p:sp>
    </p:spTree>
    <p:extLst>
      <p:ext uri="{BB962C8B-B14F-4D97-AF65-F5344CB8AC3E}">
        <p14:creationId xmlns:p14="http://schemas.microsoft.com/office/powerpoint/2010/main" val="2023969869"/>
      </p:ext>
    </p:extLst>
  </p:cSld>
  <p:clrMapOvr>
    <a:masterClrMapping/>
  </p:clrMapOvr>
  <p:transition spd="slow">
    <p:push dir="u"/>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204788" y="936000"/>
            <a:ext cx="8573452" cy="1604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4350" indent="-514350" eaLnBrk="0" hangingPunct="0">
              <a:spcBef>
                <a:spcPts val="800"/>
              </a:spcBef>
              <a:tabLst>
                <a:tab pos="1082675" algn="l"/>
                <a:tab pos="1997075" algn="l"/>
                <a:tab pos="2911475" algn="l"/>
                <a:tab pos="3825875" algn="l"/>
                <a:tab pos="4740275" algn="l"/>
                <a:tab pos="5654675" algn="l"/>
                <a:tab pos="6569075" algn="l"/>
                <a:tab pos="7483475" algn="l"/>
                <a:tab pos="8397875" algn="l"/>
                <a:tab pos="9312275" algn="l"/>
                <a:tab pos="10226675" algn="l"/>
              </a:tabLst>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tabLst>
                <a:tab pos="1082675" algn="l"/>
                <a:tab pos="1997075" algn="l"/>
                <a:tab pos="2911475" algn="l"/>
                <a:tab pos="3825875" algn="l"/>
                <a:tab pos="4740275" algn="l"/>
                <a:tab pos="5654675" algn="l"/>
                <a:tab pos="6569075" algn="l"/>
                <a:tab pos="7483475" algn="l"/>
                <a:tab pos="8397875" algn="l"/>
                <a:tab pos="9312275" algn="l"/>
                <a:tab pos="10226675" algn="l"/>
              </a:tabLst>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tabLst>
                <a:tab pos="1082675" algn="l"/>
                <a:tab pos="1997075" algn="l"/>
                <a:tab pos="2911475" algn="l"/>
                <a:tab pos="3825875" algn="l"/>
                <a:tab pos="4740275" algn="l"/>
                <a:tab pos="5654675" algn="l"/>
                <a:tab pos="6569075" algn="l"/>
                <a:tab pos="7483475" algn="l"/>
                <a:tab pos="8397875" algn="l"/>
                <a:tab pos="9312275" algn="l"/>
                <a:tab pos="10226675" algn="l"/>
              </a:tabLst>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514350" marR="0" lvl="0" indent="-514350" algn="l" defTabSz="457200" rtl="0" eaLnBrk="1" fontAlgn="base" latinLnBrk="0" hangingPunct="1">
              <a:lnSpc>
                <a:spcPct val="100000"/>
              </a:lnSpc>
              <a:spcBef>
                <a:spcPts val="800"/>
              </a:spcBef>
              <a:spcAft>
                <a:spcPct val="0"/>
              </a:spcAft>
              <a:buClr>
                <a:srgbClr val="000000"/>
              </a:buClr>
              <a:buSzPct val="100000"/>
              <a:buFont typeface="Arial" panose="020B0604020202020204" pitchFamily="34" charset="0"/>
              <a:buAutoNum type="arabicParenR" startAt="4"/>
              <a:tabLst>
                <a:tab pos="1082675" algn="l"/>
                <a:tab pos="1997075" algn="l"/>
                <a:tab pos="2911475" algn="l"/>
                <a:tab pos="3825875" algn="l"/>
                <a:tab pos="4740275" algn="l"/>
                <a:tab pos="5654675" algn="l"/>
                <a:tab pos="6569075" algn="l"/>
                <a:tab pos="7483475" algn="l"/>
                <a:tab pos="8397875" algn="l"/>
                <a:tab pos="9312275" algn="l"/>
                <a:tab pos="10226675" algn="l"/>
              </a:tabLst>
              <a:defRPr/>
            </a:pPr>
            <a:r>
              <a:rPr kumimoji="0" lang="en-US" altLang="en-US" sz="2800" b="1" i="0" u="none" strike="noStrike" kern="1200" cap="none" spc="0" normalizeH="0" baseline="0" noProof="0" dirty="0" smtClean="0">
                <a:ln>
                  <a:noFill/>
                </a:ln>
                <a:solidFill>
                  <a:schemeClr val="accent2"/>
                </a:solidFill>
                <a:effectLst/>
                <a:uLnTx/>
                <a:uFillTx/>
                <a:latin typeface="Times New Roman" panose="02020603050405020304" pitchFamily="18" charset="0"/>
                <a:cs typeface="Times New Roman" panose="02020603050405020304" pitchFamily="18" charset="0"/>
              </a:rPr>
              <a:t>Quaternary structure: </a:t>
            </a: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arrangement of individual chains (subunits) in a protein with </a:t>
            </a:r>
            <a:r>
              <a:rPr kumimoji="0" lang="en-US" altLang="en-US" sz="2400" b="1" i="1"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2 or more </a:t>
            </a: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rPr>
              <a:t>polypeptide chains</a:t>
            </a:r>
          </a:p>
        </p:txBody>
      </p:sp>
      <p:pic>
        <p:nvPicPr>
          <p:cNvPr id="2" name="Picture 1"/>
          <p:cNvPicPr>
            <a:picLocks noChangeAspect="1"/>
          </p:cNvPicPr>
          <p:nvPr/>
        </p:nvPicPr>
        <p:blipFill>
          <a:blip r:embed="rId3"/>
          <a:stretch>
            <a:fillRect/>
          </a:stretch>
        </p:blipFill>
        <p:spPr>
          <a:xfrm>
            <a:off x="561814" y="2348178"/>
            <a:ext cx="3828346" cy="3774425"/>
          </a:xfrm>
          <a:prstGeom prst="rect">
            <a:avLst/>
          </a:prstGeom>
        </p:spPr>
      </p:pic>
      <p:pic>
        <p:nvPicPr>
          <p:cNvPr id="3" name="Picture 2"/>
          <p:cNvPicPr>
            <a:picLocks noChangeAspect="1"/>
          </p:cNvPicPr>
          <p:nvPr/>
        </p:nvPicPr>
        <p:blipFill rotWithShape="1">
          <a:blip r:embed="rId4"/>
          <a:srcRect r="31214"/>
          <a:stretch/>
        </p:blipFill>
        <p:spPr>
          <a:xfrm rot="16200000">
            <a:off x="4681325" y="2878518"/>
            <a:ext cx="3503762" cy="2326042"/>
          </a:xfrm>
          <a:prstGeom prst="rect">
            <a:avLst/>
          </a:prstGeom>
        </p:spPr>
      </p:pic>
      <p:sp>
        <p:nvSpPr>
          <p:cNvPr id="4" name="Slide Number Placeholder 3"/>
          <p:cNvSpPr>
            <a:spLocks noGrp="1"/>
          </p:cNvSpPr>
          <p:nvPr>
            <p:ph type="sldNum" idx="12"/>
          </p:nvPr>
        </p:nvSpPr>
        <p:spPr>
          <a:xfrm>
            <a:off x="7011988" y="6311900"/>
            <a:ext cx="2132012" cy="474663"/>
          </a:xfrm>
        </p:spPr>
        <p:txBody>
          <a:bodyPr/>
          <a:lstStyle/>
          <a:p>
            <a:pPr algn="r"/>
            <a:fld id="{CBC8E836-46D0-4C27-A431-744E806473CB}" type="slidenum">
              <a:rPr lang="en-US" altLang="en-US" smtClean="0"/>
              <a:pPr algn="r"/>
              <a:t>46</a:t>
            </a:fld>
            <a:endParaRPr lang="en-US" altLang="en-US"/>
          </a:p>
        </p:txBody>
      </p:sp>
    </p:spTree>
    <p:extLst>
      <p:ext uri="{BB962C8B-B14F-4D97-AF65-F5344CB8AC3E}">
        <p14:creationId xmlns:p14="http://schemas.microsoft.com/office/powerpoint/2010/main" val="2967515537"/>
      </p:ext>
    </p:extLst>
  </p:cSld>
  <p:clrMapOvr>
    <a:masterClrMapping/>
  </p:clrMapOvr>
  <p:transition spd="slow">
    <p:push dir="u"/>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pPr>
              <a:defRPr/>
            </a:pPr>
            <a:r>
              <a:rPr lang="en-US" smtClean="0"/>
              <a:t>www.hu.edu.et</a:t>
            </a:r>
            <a:endParaRPr lang="en-US"/>
          </a:p>
        </p:txBody>
      </p:sp>
      <p:sp>
        <p:nvSpPr>
          <p:cNvPr id="3" name="Footer Placeholder 2"/>
          <p:cNvSpPr>
            <a:spLocks noGrp="1"/>
          </p:cNvSpPr>
          <p:nvPr>
            <p:ph type="ftr" idx="11"/>
          </p:nvPr>
        </p:nvSpPr>
        <p:spPr/>
        <p:txBody>
          <a:bodyPr/>
          <a:lstStyle/>
          <a:p>
            <a:pPr>
              <a:defRPr/>
            </a:pPr>
            <a:r>
              <a:rPr lang="en-US" smtClean="0"/>
              <a:t>Ever to Excel!</a:t>
            </a:r>
            <a:endParaRPr lang="en-US"/>
          </a:p>
        </p:txBody>
      </p:sp>
      <p:sp>
        <p:nvSpPr>
          <p:cNvPr id="4" name="Slide Number Placeholder 3"/>
          <p:cNvSpPr>
            <a:spLocks noGrp="1"/>
          </p:cNvSpPr>
          <p:nvPr>
            <p:ph type="sldNum" idx="12"/>
          </p:nvPr>
        </p:nvSpPr>
        <p:spPr/>
        <p:txBody>
          <a:bodyPr/>
          <a:lstStyle/>
          <a:p>
            <a:pPr>
              <a:defRPr/>
            </a:pPr>
            <a:fld id="{662CB6B0-DFB5-4A57-992B-6A9D766DFFF1}" type="slidenum">
              <a:rPr lang="en-US" smtClean="0"/>
              <a:pPr>
                <a:defRPr/>
              </a:pPr>
              <a:t>47</a:t>
            </a:fld>
            <a:endParaRPr lang="en-US"/>
          </a:p>
        </p:txBody>
      </p:sp>
      <p:pic>
        <p:nvPicPr>
          <p:cNvPr id="5" name="Picture 4"/>
          <p:cNvPicPr>
            <a:picLocks noChangeAspect="1"/>
          </p:cNvPicPr>
          <p:nvPr/>
        </p:nvPicPr>
        <p:blipFill>
          <a:blip r:embed="rId2"/>
          <a:stretch>
            <a:fillRect/>
          </a:stretch>
        </p:blipFill>
        <p:spPr>
          <a:xfrm>
            <a:off x="1822465" y="0"/>
            <a:ext cx="5383007" cy="6630289"/>
          </a:xfrm>
          <a:prstGeom prst="rect">
            <a:avLst/>
          </a:prstGeom>
        </p:spPr>
      </p:pic>
    </p:spTree>
    <p:extLst>
      <p:ext uri="{BB962C8B-B14F-4D97-AF65-F5344CB8AC3E}">
        <p14:creationId xmlns:p14="http://schemas.microsoft.com/office/powerpoint/2010/main" val="3810009190"/>
      </p:ext>
    </p:extLst>
  </p:cSld>
  <p:clrMapOvr>
    <a:masterClrMapping/>
  </p:clrMapOvr>
  <p:transition spd="slow">
    <p:push dir="u"/>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200" dirty="0" smtClean="0"/>
              <a:t>Nucleic Acids</a:t>
            </a:r>
            <a:endParaRPr lang="en-US" sz="3200" dirty="0"/>
          </a:p>
        </p:txBody>
      </p:sp>
      <p:sp>
        <p:nvSpPr>
          <p:cNvPr id="6" name="Content Placeholder 5"/>
          <p:cNvSpPr>
            <a:spLocks noGrp="1"/>
          </p:cNvSpPr>
          <p:nvPr>
            <p:ph idx="1"/>
          </p:nvPr>
        </p:nvSpPr>
        <p:spPr>
          <a:xfrm>
            <a:off x="243841" y="900115"/>
            <a:ext cx="8441374" cy="5246687"/>
          </a:xfrm>
        </p:spPr>
        <p:txBody>
          <a:bodyPr/>
          <a:lstStyle/>
          <a:p>
            <a:pPr marL="228600" lvl="0" indent="-228600" defTabSz="914400" fontAlgn="auto">
              <a:lnSpc>
                <a:spcPct val="90000"/>
              </a:lnSpc>
              <a:spcBef>
                <a:spcPts val="1000"/>
              </a:spcBef>
              <a:spcAft>
                <a:spcPts val="0"/>
              </a:spcAft>
              <a:buClr>
                <a:srgbClr val="C00000"/>
              </a:buClr>
              <a:buSzTx/>
              <a:buFont typeface="Wingdings" pitchFamily="2" charset="2"/>
              <a:buChar char="§"/>
            </a:pPr>
            <a:r>
              <a:rPr lang="en-US" altLang="en-US" sz="2400" b="0" kern="1200" dirty="0">
                <a:solidFill>
                  <a:srgbClr val="000000"/>
                </a:solidFill>
                <a:latin typeface="+mj-lt"/>
              </a:rPr>
              <a:t>Nucleic acids are </a:t>
            </a:r>
            <a:r>
              <a:rPr lang="en-US" altLang="en-US" sz="2400" kern="1200" dirty="0">
                <a:solidFill>
                  <a:srgbClr val="000000"/>
                </a:solidFill>
                <a:latin typeface="+mj-lt"/>
              </a:rPr>
              <a:t>polymers of nucleotides that store and transmit genetic information.</a:t>
            </a:r>
          </a:p>
          <a:p>
            <a:pPr marL="0" lvl="0" indent="0" defTabSz="914400" fontAlgn="auto">
              <a:lnSpc>
                <a:spcPct val="90000"/>
              </a:lnSpc>
              <a:spcBef>
                <a:spcPts val="1000"/>
              </a:spcBef>
              <a:spcAft>
                <a:spcPts val="0"/>
              </a:spcAft>
              <a:buClr>
                <a:srgbClr val="C00000"/>
              </a:buClr>
              <a:buSzTx/>
            </a:pPr>
            <a:r>
              <a:rPr lang="en-US" altLang="en-US" sz="2400" b="0" kern="1200" dirty="0">
                <a:solidFill>
                  <a:srgbClr val="000000"/>
                </a:solidFill>
                <a:latin typeface="+mj-lt"/>
              </a:rPr>
              <a:t>The two main types of nucleic acids are:</a:t>
            </a:r>
          </a:p>
          <a:p>
            <a:pPr marL="228600" lvl="0" indent="-228600" defTabSz="914400" fontAlgn="auto">
              <a:lnSpc>
                <a:spcPct val="90000"/>
              </a:lnSpc>
              <a:spcBef>
                <a:spcPts val="1000"/>
              </a:spcBef>
              <a:spcAft>
                <a:spcPts val="0"/>
              </a:spcAft>
              <a:buClr>
                <a:srgbClr val="C00000"/>
              </a:buClr>
              <a:buSzTx/>
              <a:buFont typeface="Wingdings" pitchFamily="2" charset="2"/>
              <a:buChar char="§"/>
            </a:pPr>
            <a:r>
              <a:rPr lang="en-US" altLang="en-US" sz="2400" kern="1200" dirty="0" smtClean="0">
                <a:solidFill>
                  <a:schemeClr val="accent2"/>
                </a:solidFill>
                <a:latin typeface="+mj-lt"/>
              </a:rPr>
              <a:t>Deoxyribonucleic </a:t>
            </a:r>
            <a:r>
              <a:rPr lang="en-US" altLang="en-US" sz="2400" kern="1200" dirty="0">
                <a:solidFill>
                  <a:schemeClr val="accent2"/>
                </a:solidFill>
                <a:latin typeface="+mj-lt"/>
              </a:rPr>
              <a:t>acid (DNA) </a:t>
            </a:r>
            <a:r>
              <a:rPr lang="en-US" altLang="en-US" sz="2400" b="0" kern="1200" dirty="0">
                <a:solidFill>
                  <a:srgbClr val="000000"/>
                </a:solidFill>
                <a:latin typeface="+mj-lt"/>
              </a:rPr>
              <a:t>holds the genetic information in all cellular organisms and some viruses.</a:t>
            </a:r>
          </a:p>
          <a:p>
            <a:pPr marL="228600" lvl="0" indent="-228600" defTabSz="914400" fontAlgn="auto">
              <a:lnSpc>
                <a:spcPct val="90000"/>
              </a:lnSpc>
              <a:spcBef>
                <a:spcPts val="1000"/>
              </a:spcBef>
              <a:spcAft>
                <a:spcPts val="0"/>
              </a:spcAft>
              <a:buClr>
                <a:srgbClr val="C00000"/>
              </a:buClr>
              <a:buSzTx/>
              <a:buFont typeface="Wingdings" pitchFamily="2" charset="2"/>
              <a:buChar char="§"/>
            </a:pPr>
            <a:r>
              <a:rPr lang="en-US" altLang="en-US" sz="2400" kern="1200" dirty="0">
                <a:solidFill>
                  <a:schemeClr val="accent2"/>
                </a:solidFill>
                <a:latin typeface="+mj-lt"/>
              </a:rPr>
              <a:t>Ribonucleic acid (RNA) </a:t>
            </a:r>
            <a:r>
              <a:rPr lang="en-US" altLang="en-US" sz="2400" b="0" kern="1200" dirty="0">
                <a:solidFill>
                  <a:srgbClr val="000000"/>
                </a:solidFill>
                <a:latin typeface="+mj-lt"/>
              </a:rPr>
              <a:t>is the genetic material in some </a:t>
            </a:r>
            <a:r>
              <a:rPr lang="en-US" altLang="en-US" sz="2400" b="0" kern="1200" dirty="0" smtClean="0">
                <a:solidFill>
                  <a:srgbClr val="000000"/>
                </a:solidFill>
                <a:latin typeface="+mj-lt"/>
              </a:rPr>
              <a:t>viruses</a:t>
            </a:r>
          </a:p>
          <a:p>
            <a:pPr marL="0" lvl="0" indent="0" defTabSz="914400" fontAlgn="auto">
              <a:lnSpc>
                <a:spcPct val="90000"/>
              </a:lnSpc>
              <a:spcBef>
                <a:spcPts val="1000"/>
              </a:spcBef>
              <a:spcAft>
                <a:spcPts val="0"/>
              </a:spcAft>
              <a:buClr>
                <a:srgbClr val="C00000"/>
              </a:buClr>
              <a:buSzTx/>
            </a:pPr>
            <a:r>
              <a:rPr lang="en-US" altLang="en-US" sz="2400" b="0" kern="1200" dirty="0">
                <a:solidFill>
                  <a:srgbClr val="000000"/>
                </a:solidFill>
                <a:latin typeface="+mj-lt"/>
              </a:rPr>
              <a:t>Each nucleotide consists of three parts: </a:t>
            </a:r>
            <a:endParaRPr lang="en-US" altLang="en-US" sz="2400" b="0" kern="1200" dirty="0" smtClean="0">
              <a:solidFill>
                <a:srgbClr val="000000"/>
              </a:solidFill>
              <a:latin typeface="+mj-lt"/>
            </a:endParaRPr>
          </a:p>
          <a:p>
            <a:pPr marL="942975" lvl="2" indent="-342900" defTabSz="914400" fontAlgn="auto">
              <a:lnSpc>
                <a:spcPct val="90000"/>
              </a:lnSpc>
              <a:spcBef>
                <a:spcPts val="1000"/>
              </a:spcBef>
              <a:spcAft>
                <a:spcPts val="0"/>
              </a:spcAft>
              <a:buClr>
                <a:srgbClr val="C00000"/>
              </a:buClr>
              <a:buSzTx/>
              <a:buFont typeface="Wingdings" panose="05000000000000000000" pitchFamily="2" charset="2"/>
              <a:buChar char="ü"/>
            </a:pPr>
            <a:r>
              <a:rPr lang="en-US" altLang="en-US" sz="2400" b="1" kern="1200" dirty="0" smtClean="0">
                <a:solidFill>
                  <a:srgbClr val="002060"/>
                </a:solidFill>
              </a:rPr>
              <a:t>a </a:t>
            </a:r>
            <a:r>
              <a:rPr lang="en-US" altLang="en-US" sz="2400" b="1" kern="1200" dirty="0">
                <a:solidFill>
                  <a:srgbClr val="002060"/>
                </a:solidFill>
              </a:rPr>
              <a:t>five-carbon sugar, </a:t>
            </a:r>
            <a:endParaRPr lang="en-US" altLang="en-US" sz="2400" b="1" kern="1200" dirty="0" smtClean="0">
              <a:solidFill>
                <a:srgbClr val="002060"/>
              </a:solidFill>
            </a:endParaRPr>
          </a:p>
          <a:p>
            <a:pPr marL="942975" lvl="2" indent="-342900" defTabSz="914400" fontAlgn="auto">
              <a:lnSpc>
                <a:spcPct val="90000"/>
              </a:lnSpc>
              <a:spcBef>
                <a:spcPts val="1000"/>
              </a:spcBef>
              <a:spcAft>
                <a:spcPts val="0"/>
              </a:spcAft>
              <a:buClr>
                <a:srgbClr val="C00000"/>
              </a:buClr>
              <a:buSzTx/>
              <a:buFont typeface="Wingdings" panose="05000000000000000000" pitchFamily="2" charset="2"/>
              <a:buChar char="ü"/>
            </a:pPr>
            <a:r>
              <a:rPr lang="en-US" altLang="en-US" sz="2400" b="1" kern="1200" dirty="0" smtClean="0">
                <a:solidFill>
                  <a:srgbClr val="002060"/>
                </a:solidFill>
              </a:rPr>
              <a:t>a </a:t>
            </a:r>
            <a:r>
              <a:rPr lang="en-US" altLang="en-US" sz="2400" b="1" kern="1200" dirty="0">
                <a:solidFill>
                  <a:srgbClr val="002060"/>
                </a:solidFill>
              </a:rPr>
              <a:t>phosphate group, and a </a:t>
            </a:r>
            <a:endParaRPr lang="en-US" altLang="en-US" sz="2400" b="1" kern="1200" dirty="0" smtClean="0">
              <a:solidFill>
                <a:srgbClr val="002060"/>
              </a:solidFill>
            </a:endParaRPr>
          </a:p>
          <a:p>
            <a:pPr marL="942975" lvl="2" indent="-342900" defTabSz="914400" fontAlgn="auto">
              <a:lnSpc>
                <a:spcPct val="90000"/>
              </a:lnSpc>
              <a:spcBef>
                <a:spcPts val="1000"/>
              </a:spcBef>
              <a:spcAft>
                <a:spcPts val="0"/>
              </a:spcAft>
              <a:buClr>
                <a:srgbClr val="C00000"/>
              </a:buClr>
              <a:buSzTx/>
              <a:buFont typeface="Wingdings" panose="05000000000000000000" pitchFamily="2" charset="2"/>
              <a:buChar char="ü"/>
            </a:pPr>
            <a:r>
              <a:rPr lang="en-US" altLang="en-US" sz="2400" b="1" kern="1200" dirty="0" smtClean="0">
                <a:solidFill>
                  <a:srgbClr val="002060"/>
                </a:solidFill>
              </a:rPr>
              <a:t>nitrogenous </a:t>
            </a:r>
            <a:r>
              <a:rPr lang="en-US" altLang="en-US" sz="2400" b="1" kern="1200" dirty="0">
                <a:solidFill>
                  <a:srgbClr val="002060"/>
                </a:solidFill>
              </a:rPr>
              <a:t>base.</a:t>
            </a:r>
          </a:p>
          <a:p>
            <a:pPr marL="228600" lvl="0" indent="-228600" defTabSz="914400" fontAlgn="auto">
              <a:lnSpc>
                <a:spcPct val="90000"/>
              </a:lnSpc>
              <a:spcBef>
                <a:spcPts val="1000"/>
              </a:spcBef>
              <a:spcAft>
                <a:spcPts val="0"/>
              </a:spcAft>
              <a:buClr>
                <a:srgbClr val="C00000"/>
              </a:buClr>
              <a:buSzTx/>
              <a:buFont typeface="Wingdings" pitchFamily="2" charset="2"/>
              <a:buChar char="§"/>
            </a:pPr>
            <a:endParaRPr lang="en-US" sz="2400" dirty="0">
              <a:latin typeface="+mj-lt"/>
            </a:endParaRPr>
          </a:p>
        </p:txBody>
      </p:sp>
      <p:sp>
        <p:nvSpPr>
          <p:cNvPr id="2" name="Date Placeholder 1"/>
          <p:cNvSpPr>
            <a:spLocks noGrp="1"/>
          </p:cNvSpPr>
          <p:nvPr>
            <p:ph type="dt" sz="half" idx="10"/>
          </p:nvPr>
        </p:nvSpPr>
        <p:spPr/>
        <p:txBody>
          <a:bodyPr/>
          <a:lstStyle/>
          <a:p>
            <a:pPr>
              <a:defRPr/>
            </a:pPr>
            <a:r>
              <a:rPr lang="en-US" smtClean="0"/>
              <a:t>www.hu.edu.et</a:t>
            </a:r>
            <a:endParaRPr lang="en-US"/>
          </a:p>
        </p:txBody>
      </p:sp>
      <p:sp>
        <p:nvSpPr>
          <p:cNvPr id="3" name="Footer Placeholder 2"/>
          <p:cNvSpPr>
            <a:spLocks noGrp="1"/>
          </p:cNvSpPr>
          <p:nvPr>
            <p:ph type="ftr" sz="quarter" idx="11"/>
          </p:nvPr>
        </p:nvSpPr>
        <p:spPr/>
        <p:txBody>
          <a:bodyPr/>
          <a:lstStyle/>
          <a:p>
            <a:pPr>
              <a:defRPr/>
            </a:pPr>
            <a:r>
              <a:rPr lang="en-US" smtClean="0"/>
              <a:t>Ever to Excel!</a:t>
            </a:r>
            <a:endParaRPr lang="en-US"/>
          </a:p>
        </p:txBody>
      </p:sp>
      <p:sp>
        <p:nvSpPr>
          <p:cNvPr id="4" name="Slide Number Placeholder 3"/>
          <p:cNvSpPr>
            <a:spLocks noGrp="1"/>
          </p:cNvSpPr>
          <p:nvPr>
            <p:ph type="sldNum" sz="quarter" idx="12"/>
          </p:nvPr>
        </p:nvSpPr>
        <p:spPr/>
        <p:txBody>
          <a:bodyPr/>
          <a:lstStyle/>
          <a:p>
            <a:pPr>
              <a:defRPr/>
            </a:pPr>
            <a:fld id="{662CB6B0-DFB5-4A57-992B-6A9D766DFFF1}" type="slidenum">
              <a:rPr lang="en-US" smtClean="0"/>
              <a:pPr>
                <a:defRPr/>
              </a:pPr>
              <a:t>48</a:t>
            </a:fld>
            <a:endParaRPr lang="en-US"/>
          </a:p>
        </p:txBody>
      </p:sp>
      <p:pic>
        <p:nvPicPr>
          <p:cNvPr id="7" name="Picture 6"/>
          <p:cNvPicPr>
            <a:picLocks noChangeAspect="1"/>
          </p:cNvPicPr>
          <p:nvPr/>
        </p:nvPicPr>
        <p:blipFill>
          <a:blip r:embed="rId2"/>
          <a:stretch>
            <a:fillRect/>
          </a:stretch>
        </p:blipFill>
        <p:spPr>
          <a:xfrm>
            <a:off x="5305109" y="3662048"/>
            <a:ext cx="3738881" cy="2889567"/>
          </a:xfrm>
          <a:prstGeom prst="rect">
            <a:avLst/>
          </a:prstGeom>
          <a:ln>
            <a:solidFill>
              <a:schemeClr val="accent1"/>
            </a:solidFill>
          </a:ln>
        </p:spPr>
      </p:pic>
    </p:spTree>
    <p:extLst>
      <p:ext uri="{BB962C8B-B14F-4D97-AF65-F5344CB8AC3E}">
        <p14:creationId xmlns:p14="http://schemas.microsoft.com/office/powerpoint/2010/main" val="1817398542"/>
      </p:ext>
    </p:extLst>
  </p:cSld>
  <p:clrMapOvr>
    <a:masterClrMapping/>
  </p:clrMapOvr>
  <p:transition spd="slow">
    <p:push dir="u"/>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a:xfrm>
            <a:off x="203200" y="900115"/>
            <a:ext cx="8778239" cy="5246687"/>
          </a:xfrm>
        </p:spPr>
        <p:txBody>
          <a:bodyPr/>
          <a:lstStyle/>
          <a:p>
            <a:r>
              <a:rPr lang="en-US" sz="2400" dirty="0" smtClean="0">
                <a:latin typeface="+mj-lt"/>
              </a:rPr>
              <a:t>Differences </a:t>
            </a:r>
            <a:r>
              <a:rPr lang="en-US" sz="2400" dirty="0">
                <a:latin typeface="+mj-lt"/>
              </a:rPr>
              <a:t>in the structure of the sugars in DNA and RNA</a:t>
            </a:r>
          </a:p>
          <a:p>
            <a:pPr marL="342900" indent="-342900">
              <a:buFont typeface="Arial" panose="020B0604020202020204" pitchFamily="34" charset="0"/>
              <a:buChar char="•"/>
            </a:pPr>
            <a:r>
              <a:rPr lang="en-US" sz="2400" b="0" dirty="0">
                <a:solidFill>
                  <a:schemeClr val="tx1"/>
                </a:solidFill>
                <a:latin typeface="+mj-lt"/>
              </a:rPr>
              <a:t>DNA’s sugar, called </a:t>
            </a:r>
            <a:r>
              <a:rPr lang="en-US" sz="2400" dirty="0">
                <a:solidFill>
                  <a:schemeClr val="tx1"/>
                </a:solidFill>
                <a:latin typeface="+mj-lt"/>
              </a:rPr>
              <a:t>deoxyribose</a:t>
            </a:r>
            <a:r>
              <a:rPr lang="en-US" sz="2400" b="0" dirty="0">
                <a:solidFill>
                  <a:schemeClr val="tx1"/>
                </a:solidFill>
                <a:latin typeface="+mj-lt"/>
              </a:rPr>
              <a:t>, has a hydrogen atom at </a:t>
            </a:r>
            <a:r>
              <a:rPr lang="en-US" sz="2400" dirty="0">
                <a:solidFill>
                  <a:schemeClr val="tx1"/>
                </a:solidFill>
                <a:latin typeface="+mj-lt"/>
              </a:rPr>
              <a:t>2`</a:t>
            </a:r>
            <a:r>
              <a:rPr lang="en-US" sz="2400" b="0" dirty="0">
                <a:solidFill>
                  <a:schemeClr val="tx1"/>
                </a:solidFill>
                <a:latin typeface="+mj-lt"/>
              </a:rPr>
              <a:t>  position and contains one oxygen atom fewer </a:t>
            </a:r>
            <a:r>
              <a:rPr lang="en-US" sz="2400" b="0" dirty="0" smtClean="0">
                <a:solidFill>
                  <a:schemeClr val="tx1"/>
                </a:solidFill>
                <a:latin typeface="+mj-lt"/>
              </a:rPr>
              <a:t>overall whereas</a:t>
            </a:r>
            <a:endParaRPr lang="en-US" sz="2400" b="0" dirty="0">
              <a:solidFill>
                <a:schemeClr val="tx1"/>
              </a:solidFill>
              <a:latin typeface="+mj-lt"/>
            </a:endParaRPr>
          </a:p>
          <a:p>
            <a:pPr marL="342900" indent="-342900">
              <a:buFont typeface="Arial" panose="020B0604020202020204" pitchFamily="34" charset="0"/>
              <a:buChar char="•"/>
            </a:pPr>
            <a:r>
              <a:rPr lang="en-US" sz="2400" b="0" dirty="0" smtClean="0">
                <a:solidFill>
                  <a:schemeClr val="tx1"/>
                </a:solidFill>
                <a:latin typeface="+mj-lt"/>
              </a:rPr>
              <a:t>RNA’s </a:t>
            </a:r>
            <a:r>
              <a:rPr lang="en-US" sz="2400" b="0" dirty="0">
                <a:solidFill>
                  <a:schemeClr val="tx1"/>
                </a:solidFill>
                <a:latin typeface="+mj-lt"/>
              </a:rPr>
              <a:t>ribose sugar has a </a:t>
            </a:r>
            <a:r>
              <a:rPr lang="en-US" sz="2400" dirty="0">
                <a:solidFill>
                  <a:schemeClr val="tx1"/>
                </a:solidFill>
                <a:latin typeface="+mj-lt"/>
              </a:rPr>
              <a:t>hydroxyl group </a:t>
            </a:r>
            <a:r>
              <a:rPr lang="en-US" sz="2400" b="0" dirty="0">
                <a:solidFill>
                  <a:schemeClr val="tx1"/>
                </a:solidFill>
                <a:latin typeface="+mj-lt"/>
              </a:rPr>
              <a:t>attached to the </a:t>
            </a:r>
            <a:r>
              <a:rPr lang="en-US" sz="2400" dirty="0">
                <a:solidFill>
                  <a:schemeClr val="tx1"/>
                </a:solidFill>
                <a:latin typeface="+mj-lt"/>
              </a:rPr>
              <a:t>2`</a:t>
            </a:r>
            <a:r>
              <a:rPr lang="en-US" sz="2400" b="0" dirty="0">
                <a:solidFill>
                  <a:schemeClr val="tx1"/>
                </a:solidFill>
                <a:latin typeface="+mj-lt"/>
              </a:rPr>
              <a:t>‐carbon  atom, </a:t>
            </a:r>
          </a:p>
          <a:p>
            <a:endParaRPr lang="en-US" sz="2400" dirty="0">
              <a:latin typeface="+mj-lt"/>
            </a:endParaRPr>
          </a:p>
        </p:txBody>
      </p:sp>
      <p:sp>
        <p:nvSpPr>
          <p:cNvPr id="4" name="Date Placeholder 3"/>
          <p:cNvSpPr>
            <a:spLocks noGrp="1"/>
          </p:cNvSpPr>
          <p:nvPr>
            <p:ph type="dt" sz="half" idx="10"/>
          </p:nvPr>
        </p:nvSpPr>
        <p:spPr/>
        <p:txBody>
          <a:bodyPr/>
          <a:lstStyle/>
          <a:p>
            <a:fld id="{0BC26C9F-A62A-42A1-A6DA-995F6E018183}"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49</a:t>
            </a:fld>
            <a:endParaRPr lang="en-US"/>
          </a:p>
        </p:txBody>
      </p:sp>
      <p:pic>
        <p:nvPicPr>
          <p:cNvPr id="8" name="Picture 7"/>
          <p:cNvPicPr>
            <a:picLocks noChangeAspect="1"/>
          </p:cNvPicPr>
          <p:nvPr/>
        </p:nvPicPr>
        <p:blipFill rotWithShape="1">
          <a:blip r:embed="rId2"/>
          <a:srcRect b="18537"/>
          <a:stretch/>
        </p:blipFill>
        <p:spPr>
          <a:xfrm>
            <a:off x="1361585" y="3052927"/>
            <a:ext cx="6047756" cy="2880513"/>
          </a:xfrm>
          <a:prstGeom prst="rect">
            <a:avLst/>
          </a:prstGeom>
        </p:spPr>
      </p:pic>
    </p:spTree>
    <p:extLst>
      <p:ext uri="{BB962C8B-B14F-4D97-AF65-F5344CB8AC3E}">
        <p14:creationId xmlns:p14="http://schemas.microsoft.com/office/powerpoint/2010/main" val="147961636"/>
      </p:ext>
    </p:extLst>
  </p:cSld>
  <p:clrMapOvr>
    <a:masterClrMapping/>
  </p:clrMapOvr>
  <p:transition spd="slow">
    <p:push dir="u"/>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a:xfrm>
            <a:off x="223521" y="900115"/>
            <a:ext cx="4016365" cy="5246687"/>
          </a:xfrm>
        </p:spPr>
        <p:txBody>
          <a:bodyPr/>
          <a:lstStyle/>
          <a:p>
            <a:r>
              <a:rPr lang="en-US" sz="2400" dirty="0">
                <a:solidFill>
                  <a:schemeClr val="accent2"/>
                </a:solidFill>
                <a:latin typeface="+mj-lt"/>
              </a:rPr>
              <a:t>There are two families of nitrogenous bases: </a:t>
            </a:r>
          </a:p>
          <a:p>
            <a:pPr marL="342900" indent="-342900">
              <a:buFont typeface="Arial" panose="020B0604020202020204" pitchFamily="34" charset="0"/>
              <a:buChar char="•"/>
            </a:pPr>
            <a:r>
              <a:rPr lang="en-US" sz="2400" dirty="0" smtClean="0">
                <a:solidFill>
                  <a:srgbClr val="FF0000"/>
                </a:solidFill>
                <a:latin typeface="+mj-lt"/>
              </a:rPr>
              <a:t>The purines: </a:t>
            </a:r>
            <a:r>
              <a:rPr lang="en-US" sz="2400" b="0" dirty="0" smtClean="0">
                <a:latin typeface="+mj-lt"/>
              </a:rPr>
              <a:t>adenine </a:t>
            </a:r>
            <a:r>
              <a:rPr lang="en-US" sz="2400" b="0" dirty="0">
                <a:latin typeface="+mj-lt"/>
              </a:rPr>
              <a:t>and guanine in both DNA and </a:t>
            </a:r>
            <a:r>
              <a:rPr lang="en-US" sz="2400" b="0" dirty="0" smtClean="0">
                <a:latin typeface="+mj-lt"/>
              </a:rPr>
              <a:t>RNA.</a:t>
            </a:r>
          </a:p>
          <a:p>
            <a:pPr marL="342900" indent="-342900">
              <a:buFont typeface="Arial" panose="020B0604020202020204" pitchFamily="34" charset="0"/>
              <a:buChar char="•"/>
            </a:pPr>
            <a:r>
              <a:rPr lang="en-US" sz="2400" dirty="0" smtClean="0">
                <a:solidFill>
                  <a:srgbClr val="FF0000"/>
                </a:solidFill>
                <a:latin typeface="+mj-lt"/>
              </a:rPr>
              <a:t>The pyrimidines: </a:t>
            </a:r>
            <a:r>
              <a:rPr lang="en-US" sz="2400" b="0" dirty="0">
                <a:latin typeface="+mj-lt"/>
              </a:rPr>
              <a:t>are cytosine and uracil in RNA; uracil is replaced by thymine in DNA.</a:t>
            </a:r>
          </a:p>
          <a:p>
            <a:endParaRPr lang="en-US" sz="2400" b="0" dirty="0">
              <a:latin typeface="+mj-lt"/>
            </a:endParaRPr>
          </a:p>
        </p:txBody>
      </p:sp>
      <p:sp>
        <p:nvSpPr>
          <p:cNvPr id="4" name="Date Placeholder 3"/>
          <p:cNvSpPr>
            <a:spLocks noGrp="1"/>
          </p:cNvSpPr>
          <p:nvPr>
            <p:ph type="dt" sz="half" idx="10"/>
          </p:nvPr>
        </p:nvSpPr>
        <p:spPr/>
        <p:txBody>
          <a:bodyPr/>
          <a:lstStyle/>
          <a:p>
            <a:fld id="{1C441094-2402-4563-8E46-2A5D2A1AEC12}"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50</a:t>
            </a:fld>
            <a:endParaRPr lang="en-US"/>
          </a:p>
        </p:txBody>
      </p:sp>
      <p:pic>
        <p:nvPicPr>
          <p:cNvPr id="8" name="Picture 7"/>
          <p:cNvPicPr>
            <a:picLocks noChangeAspect="1"/>
          </p:cNvPicPr>
          <p:nvPr/>
        </p:nvPicPr>
        <p:blipFill rotWithShape="1">
          <a:blip r:embed="rId2"/>
          <a:srcRect l="50446" b="4869"/>
          <a:stretch/>
        </p:blipFill>
        <p:spPr>
          <a:xfrm>
            <a:off x="4168766" y="1103313"/>
            <a:ext cx="4902528" cy="4967590"/>
          </a:xfrm>
          <a:prstGeom prst="rect">
            <a:avLst/>
          </a:prstGeom>
        </p:spPr>
      </p:pic>
    </p:spTree>
    <p:extLst>
      <p:ext uri="{BB962C8B-B14F-4D97-AF65-F5344CB8AC3E}">
        <p14:creationId xmlns:p14="http://schemas.microsoft.com/office/powerpoint/2010/main" val="3723460640"/>
      </p:ext>
    </p:extLst>
  </p:cSld>
  <p:clrMapOvr>
    <a:masterClrMapping/>
  </p:clrMapOvr>
  <p:transition spd="slow">
    <p:push dir="u"/>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223520" y="752047"/>
            <a:ext cx="8707120" cy="1620655"/>
          </a:xfrm>
          <a:prstGeom prst="rect">
            <a:avLst/>
          </a:prstGeom>
        </p:spPr>
        <p:txBody>
          <a:bodyPr vert="horz" wrap="square" lIns="0" tIns="78441" rIns="0" bIns="0" rtlCol="0">
            <a:spAutoFit/>
          </a:bodyPr>
          <a:lstStyle/>
          <a:p>
            <a:pPr marL="11206">
              <a:spcBef>
                <a:spcPts val="618"/>
              </a:spcBef>
            </a:pPr>
            <a:r>
              <a:rPr sz="2400" b="1" spc="-119" dirty="0">
                <a:solidFill>
                  <a:srgbClr val="FF0000"/>
                </a:solidFill>
                <a:latin typeface="+mj-lt"/>
                <a:cs typeface="Trebuchet MS"/>
              </a:rPr>
              <a:t>Polynucleotide</a:t>
            </a:r>
            <a:r>
              <a:rPr sz="2400" b="1" spc="-180" dirty="0">
                <a:solidFill>
                  <a:srgbClr val="FF0000"/>
                </a:solidFill>
                <a:latin typeface="+mj-lt"/>
                <a:cs typeface="Trebuchet MS"/>
              </a:rPr>
              <a:t> </a:t>
            </a:r>
            <a:r>
              <a:rPr sz="2400" b="1" spc="-110" dirty="0">
                <a:solidFill>
                  <a:srgbClr val="FF0000"/>
                </a:solidFill>
                <a:latin typeface="+mj-lt"/>
                <a:cs typeface="Trebuchet MS"/>
              </a:rPr>
              <a:t>strands</a:t>
            </a:r>
            <a:endParaRPr sz="2400" dirty="0">
              <a:solidFill>
                <a:srgbClr val="FF0000"/>
              </a:solidFill>
              <a:latin typeface="+mj-lt"/>
              <a:cs typeface="Trebuchet MS"/>
            </a:endParaRPr>
          </a:p>
          <a:p>
            <a:pPr marL="251585" marR="5603" indent="-240939" algn="just">
              <a:spcBef>
                <a:spcPts val="529"/>
              </a:spcBef>
              <a:buClr>
                <a:srgbClr val="D34817"/>
              </a:buClr>
              <a:buSzPct val="83333"/>
              <a:buFont typeface="Arial"/>
              <a:buChar char="●"/>
              <a:tabLst>
                <a:tab pos="252146" algn="l"/>
              </a:tabLst>
            </a:pPr>
            <a:r>
              <a:rPr lang="en-GB" sz="2400" spc="-199" dirty="0">
                <a:latin typeface="+mj-lt"/>
                <a:cs typeface="Arimo"/>
              </a:rPr>
              <a:t>composed</a:t>
            </a:r>
            <a:r>
              <a:rPr sz="2400" spc="-66" dirty="0">
                <a:latin typeface="+mj-lt"/>
                <a:cs typeface="Arimo"/>
              </a:rPr>
              <a:t> </a:t>
            </a:r>
            <a:r>
              <a:rPr sz="2400" spc="-4" dirty="0">
                <a:latin typeface="+mj-lt"/>
                <a:cs typeface="Arimo"/>
              </a:rPr>
              <a:t>of </a:t>
            </a:r>
            <a:r>
              <a:rPr sz="2400" spc="-115" dirty="0">
                <a:latin typeface="+mj-lt"/>
                <a:cs typeface="Arimo"/>
              </a:rPr>
              <a:t>many </a:t>
            </a:r>
            <a:r>
              <a:rPr sz="2400" spc="-75" dirty="0">
                <a:latin typeface="+mj-lt"/>
                <a:cs typeface="Arimo"/>
              </a:rPr>
              <a:t>nucleotides </a:t>
            </a:r>
            <a:r>
              <a:rPr sz="2400" spc="-88" dirty="0">
                <a:latin typeface="+mj-lt"/>
                <a:cs typeface="Arimo"/>
              </a:rPr>
              <a:t>connected by </a:t>
            </a:r>
            <a:r>
              <a:rPr lang="en-GB" sz="2400" b="1" spc="-75" dirty="0">
                <a:latin typeface="+mj-lt"/>
                <a:cs typeface="Arimo"/>
              </a:rPr>
              <a:t>phosphodiester</a:t>
            </a:r>
            <a:r>
              <a:rPr lang="en-GB" sz="2400" spc="-75" dirty="0">
                <a:latin typeface="+mj-lt"/>
                <a:cs typeface="Arimo"/>
              </a:rPr>
              <a:t> </a:t>
            </a:r>
            <a:r>
              <a:rPr lang="en-GB" sz="2400" b="1" spc="-110" dirty="0">
                <a:latin typeface="+mj-lt"/>
                <a:cs typeface="Arimo"/>
              </a:rPr>
              <a:t>linkages</a:t>
            </a:r>
            <a:r>
              <a:rPr lang="en-GB" sz="2400" spc="-110" dirty="0">
                <a:latin typeface="+mj-lt"/>
                <a:cs typeface="Arimo"/>
              </a:rPr>
              <a:t> b</a:t>
            </a:r>
            <a:r>
              <a:rPr lang="en-GB" sz="2400" spc="-84" dirty="0">
                <a:latin typeface="+mj-lt"/>
                <a:cs typeface="Arimo"/>
              </a:rPr>
              <a:t>etween </a:t>
            </a:r>
            <a:r>
              <a:rPr sz="2400" b="1" spc="-207" dirty="0">
                <a:latin typeface="+mj-lt"/>
                <a:cs typeface="Arimo"/>
              </a:rPr>
              <a:t>5</a:t>
            </a:r>
            <a:r>
              <a:rPr sz="2400" b="1" spc="-207" dirty="0" smtClean="0">
                <a:latin typeface="+mj-lt"/>
                <a:cs typeface="Arimo"/>
              </a:rPr>
              <a:t>`</a:t>
            </a:r>
            <a:r>
              <a:rPr sz="2400" b="1" spc="-207" dirty="0" smtClean="0">
                <a:latin typeface="+mj-lt"/>
                <a:cs typeface="Noto Sans Mono CJK JP Bold"/>
              </a:rPr>
              <a:t>‐</a:t>
            </a:r>
            <a:r>
              <a:rPr sz="2400" b="1" spc="-207" dirty="0" smtClean="0">
                <a:latin typeface="+mj-lt"/>
                <a:cs typeface="Arimo"/>
              </a:rPr>
              <a:t>phosphate </a:t>
            </a:r>
            <a:r>
              <a:rPr sz="2400" b="1" spc="-79" dirty="0">
                <a:latin typeface="+mj-lt"/>
                <a:cs typeface="Arimo"/>
              </a:rPr>
              <a:t>group </a:t>
            </a:r>
            <a:r>
              <a:rPr sz="2400" spc="-4" dirty="0">
                <a:latin typeface="+mj-lt"/>
                <a:cs typeface="Arimo"/>
              </a:rPr>
              <a:t>of </a:t>
            </a:r>
            <a:r>
              <a:rPr sz="2400" spc="-84" dirty="0">
                <a:latin typeface="+mj-lt"/>
                <a:cs typeface="Arimo"/>
              </a:rPr>
              <a:t>one </a:t>
            </a:r>
            <a:r>
              <a:rPr sz="2400" spc="-57" dirty="0">
                <a:latin typeface="+mj-lt"/>
                <a:cs typeface="Arimo"/>
              </a:rPr>
              <a:t>nucleotide </a:t>
            </a:r>
            <a:r>
              <a:rPr lang="en-GB" sz="2400" spc="18" dirty="0">
                <a:latin typeface="+mj-lt"/>
                <a:cs typeface="Arimo"/>
              </a:rPr>
              <a:t>and </a:t>
            </a:r>
            <a:r>
              <a:rPr sz="2400" b="1" spc="-243" dirty="0">
                <a:latin typeface="+mj-lt"/>
                <a:cs typeface="Arimo"/>
              </a:rPr>
              <a:t>3`</a:t>
            </a:r>
            <a:r>
              <a:rPr sz="2400" b="1" spc="-243" dirty="0">
                <a:latin typeface="+mj-lt"/>
                <a:cs typeface="Noto Sans Mono CJK JP Bold"/>
              </a:rPr>
              <a:t>‐</a:t>
            </a:r>
            <a:r>
              <a:rPr sz="2400" b="1" spc="-243" dirty="0">
                <a:latin typeface="+mj-lt"/>
                <a:cs typeface="Arimo"/>
              </a:rPr>
              <a:t>carbon </a:t>
            </a:r>
            <a:r>
              <a:rPr sz="2400" spc="-4" dirty="0">
                <a:latin typeface="+mj-lt"/>
                <a:cs typeface="Arimo"/>
              </a:rPr>
              <a:t>of </a:t>
            </a:r>
            <a:r>
              <a:rPr sz="2400" spc="-26" dirty="0">
                <a:latin typeface="+mj-lt"/>
                <a:cs typeface="Arimo"/>
              </a:rPr>
              <a:t>the </a:t>
            </a:r>
            <a:r>
              <a:rPr sz="2400" spc="-66" dirty="0">
                <a:latin typeface="+mj-lt"/>
                <a:cs typeface="Arimo"/>
              </a:rPr>
              <a:t>next</a:t>
            </a:r>
            <a:r>
              <a:rPr sz="2400" spc="-256" dirty="0">
                <a:latin typeface="+mj-lt"/>
                <a:cs typeface="Arimo"/>
              </a:rPr>
              <a:t> </a:t>
            </a:r>
            <a:r>
              <a:rPr sz="2400" spc="-57" dirty="0">
                <a:latin typeface="+mj-lt"/>
                <a:cs typeface="Arimo"/>
              </a:rPr>
              <a:t>nucleotide</a:t>
            </a:r>
            <a:endParaRPr lang="en-GB" sz="2400" spc="-57" dirty="0">
              <a:latin typeface="+mj-lt"/>
              <a:cs typeface="Arimo"/>
            </a:endParaRPr>
          </a:p>
        </p:txBody>
      </p:sp>
      <p:sp>
        <p:nvSpPr>
          <p:cNvPr id="12" name="object 12"/>
          <p:cNvSpPr txBox="1">
            <a:spLocks noGrp="1"/>
          </p:cNvSpPr>
          <p:nvPr>
            <p:ph type="sldNum" sz="quarter" idx="4294967295"/>
          </p:nvPr>
        </p:nvSpPr>
        <p:spPr>
          <a:xfrm>
            <a:off x="3249168" y="6631305"/>
            <a:ext cx="285115" cy="22669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chemeClr val="bg1"/>
                </a:solidFill>
                <a:latin typeface="Trebuchet MS"/>
                <a:ea typeface="+mn-ea"/>
                <a:cs typeface="Trebuchet M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660"/>
              </a:lnSpc>
            </a:pPr>
            <a:fld id="{81D60167-4931-47E6-BA6A-407CBD079E47}" type="slidenum">
              <a:rPr lang="en-GB" spc="85" smtClean="0"/>
              <a:pPr marL="38100">
                <a:lnSpc>
                  <a:spcPts val="1660"/>
                </a:lnSpc>
              </a:pPr>
              <a:t>51</a:t>
            </a:fld>
            <a:endParaRPr spc="75" dirty="0"/>
          </a:p>
        </p:txBody>
      </p:sp>
      <p:sp>
        <p:nvSpPr>
          <p:cNvPr id="13" name="Rectangle 12">
            <a:extLst>
              <a:ext uri="{FF2B5EF4-FFF2-40B4-BE49-F238E27FC236}">
                <a16:creationId xmlns:a16="http://schemas.microsoft.com/office/drawing/2014/main" id="{31F14C4D-975E-44A2-A42F-764893677193}"/>
              </a:ext>
            </a:extLst>
          </p:cNvPr>
          <p:cNvSpPr/>
          <p:nvPr/>
        </p:nvSpPr>
        <p:spPr>
          <a:xfrm>
            <a:off x="92587" y="4162567"/>
            <a:ext cx="5777271" cy="2308324"/>
          </a:xfrm>
          <a:prstGeom prst="rect">
            <a:avLst/>
          </a:prstGeom>
        </p:spPr>
        <p:txBody>
          <a:bodyPr wrap="square">
            <a:spAutoFit/>
          </a:bodyPr>
          <a:lstStyle/>
          <a:p>
            <a:r>
              <a:rPr lang="en-US" sz="2400" b="1" dirty="0">
                <a:solidFill>
                  <a:srgbClr val="0000FF"/>
                </a:solidFill>
                <a:latin typeface="+mj-lt"/>
              </a:rPr>
              <a:t>Nucleic acid polarity</a:t>
            </a:r>
          </a:p>
          <a:p>
            <a:r>
              <a:rPr lang="en-US" sz="2400" dirty="0" smtClean="0">
                <a:latin typeface="+mj-lt"/>
              </a:rPr>
              <a:t>The </a:t>
            </a:r>
            <a:r>
              <a:rPr lang="en-US" sz="2400" dirty="0">
                <a:latin typeface="+mj-lt"/>
              </a:rPr>
              <a:t>two </a:t>
            </a:r>
            <a:r>
              <a:rPr lang="en-US" sz="2400" dirty="0" smtClean="0">
                <a:latin typeface="+mj-lt"/>
              </a:rPr>
              <a:t>ends </a:t>
            </a:r>
            <a:r>
              <a:rPr lang="en-US" sz="2400" dirty="0">
                <a:latin typeface="+mj-lt"/>
              </a:rPr>
              <a:t>of the strands are different with </a:t>
            </a:r>
          </a:p>
          <a:p>
            <a:pPr marL="301625" indent="-184150">
              <a:buFont typeface="Arial" panose="020B0604020202020204" pitchFamily="34" charset="0"/>
              <a:buChar char="•"/>
            </a:pPr>
            <a:r>
              <a:rPr lang="en-US" sz="2400" dirty="0">
                <a:latin typeface="+mj-lt"/>
              </a:rPr>
              <a:t>a phosphate group attached to  the 5`‐carbon (5’ end)</a:t>
            </a:r>
          </a:p>
          <a:p>
            <a:pPr marL="301625" indent="-184150">
              <a:buFont typeface="Arial" panose="020B0604020202020204" pitchFamily="34" charset="0"/>
              <a:buChar char="•"/>
            </a:pPr>
            <a:r>
              <a:rPr lang="en-US" sz="2400" dirty="0">
                <a:latin typeface="+mj-lt"/>
              </a:rPr>
              <a:t>OH attached to the 3`‐carbon atom of the sugar (3’ end)</a:t>
            </a:r>
          </a:p>
        </p:txBody>
      </p:sp>
      <p:pic>
        <p:nvPicPr>
          <p:cNvPr id="3" name="Picture 2">
            <a:extLst>
              <a:ext uri="{FF2B5EF4-FFF2-40B4-BE49-F238E27FC236}">
                <a16:creationId xmlns:a16="http://schemas.microsoft.com/office/drawing/2014/main" id="{DB701C09-0997-4BFC-8D61-DD83F70B19E0}"/>
              </a:ext>
            </a:extLst>
          </p:cNvPr>
          <p:cNvPicPr>
            <a:picLocks noChangeAspect="1"/>
          </p:cNvPicPr>
          <p:nvPr/>
        </p:nvPicPr>
        <p:blipFill>
          <a:blip r:embed="rId2"/>
          <a:stretch>
            <a:fillRect/>
          </a:stretch>
        </p:blipFill>
        <p:spPr>
          <a:xfrm>
            <a:off x="5869858" y="2011010"/>
            <a:ext cx="3274142" cy="4775200"/>
          </a:xfrm>
          <a:prstGeom prst="rect">
            <a:avLst/>
          </a:prstGeom>
          <a:ln>
            <a:solidFill>
              <a:schemeClr val="tx1"/>
            </a:solidFill>
          </a:ln>
        </p:spPr>
      </p:pic>
      <p:sp>
        <p:nvSpPr>
          <p:cNvPr id="5" name="Rectangle 4">
            <a:extLst>
              <a:ext uri="{FF2B5EF4-FFF2-40B4-BE49-F238E27FC236}">
                <a16:creationId xmlns:a16="http://schemas.microsoft.com/office/drawing/2014/main" id="{6A3B3B69-3DBC-4F93-851D-D8A5379E771A}"/>
              </a:ext>
            </a:extLst>
          </p:cNvPr>
          <p:cNvSpPr/>
          <p:nvPr/>
        </p:nvSpPr>
        <p:spPr>
          <a:xfrm>
            <a:off x="92587" y="2432494"/>
            <a:ext cx="5084097" cy="1569660"/>
          </a:xfrm>
          <a:prstGeom prst="rect">
            <a:avLst/>
          </a:prstGeom>
        </p:spPr>
        <p:txBody>
          <a:bodyPr wrap="square">
            <a:spAutoFit/>
          </a:bodyPr>
          <a:lstStyle/>
          <a:p>
            <a:pPr marL="251585" marR="5603" lvl="0" indent="-240939">
              <a:spcBef>
                <a:spcPts val="529"/>
              </a:spcBef>
              <a:buClr>
                <a:srgbClr val="D34817"/>
              </a:buClr>
              <a:buSzPct val="83333"/>
              <a:buFont typeface="Arial"/>
              <a:buChar char="●"/>
              <a:tabLst>
                <a:tab pos="252146" algn="l"/>
              </a:tabLst>
            </a:pPr>
            <a:r>
              <a:rPr lang="en-US" sz="2400" dirty="0">
                <a:solidFill>
                  <a:prstClr val="black"/>
                </a:solidFill>
                <a:latin typeface="+mj-lt"/>
                <a:cs typeface="Arimo"/>
              </a:rPr>
              <a:t>its </a:t>
            </a:r>
            <a:r>
              <a:rPr lang="en-US" sz="2400" b="1" dirty="0">
                <a:solidFill>
                  <a:prstClr val="black"/>
                </a:solidFill>
                <a:latin typeface="+mj-lt"/>
                <a:cs typeface="Arimo"/>
              </a:rPr>
              <a:t>backbone </a:t>
            </a:r>
            <a:r>
              <a:rPr lang="en-US" sz="2400" dirty="0">
                <a:solidFill>
                  <a:prstClr val="black"/>
                </a:solidFill>
                <a:latin typeface="+mj-lt"/>
                <a:cs typeface="Arimo"/>
              </a:rPr>
              <a:t>is composed of  alternating </a:t>
            </a:r>
            <a:r>
              <a:rPr lang="en-US" sz="2400" b="1" u="sng" dirty="0">
                <a:solidFill>
                  <a:prstClr val="black"/>
                </a:solidFill>
                <a:latin typeface="+mj-lt"/>
                <a:cs typeface="Arimo"/>
              </a:rPr>
              <a:t>sugars</a:t>
            </a:r>
            <a:r>
              <a:rPr lang="en-US" sz="2400" dirty="0">
                <a:solidFill>
                  <a:prstClr val="black"/>
                </a:solidFill>
                <a:latin typeface="+mj-lt"/>
                <a:cs typeface="Arimo"/>
              </a:rPr>
              <a:t> and </a:t>
            </a:r>
            <a:r>
              <a:rPr lang="en-US" sz="2400" b="1" u="sng" dirty="0">
                <a:solidFill>
                  <a:prstClr val="black"/>
                </a:solidFill>
                <a:latin typeface="+mj-lt"/>
                <a:cs typeface="Arimo"/>
              </a:rPr>
              <a:t>phosphates</a:t>
            </a:r>
            <a:r>
              <a:rPr lang="en-US" sz="2400" dirty="0">
                <a:solidFill>
                  <a:prstClr val="black"/>
                </a:solidFill>
                <a:latin typeface="+mj-lt"/>
                <a:cs typeface="Arimo"/>
              </a:rPr>
              <a:t> and the bases project away from  the long axis of the strand.</a:t>
            </a:r>
          </a:p>
        </p:txBody>
      </p:sp>
    </p:spTree>
    <p:extLst>
      <p:ext uri="{BB962C8B-B14F-4D97-AF65-F5344CB8AC3E}">
        <p14:creationId xmlns:p14="http://schemas.microsoft.com/office/powerpoint/2010/main" val="2510336297"/>
      </p:ext>
    </p:extLst>
  </p:cSld>
  <p:clrMapOvr>
    <a:masterClrMapping/>
  </p:clrMapOvr>
  <p:transition spd="slow">
    <p:push dir="u"/>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Date Placeholder 3"/>
          <p:cNvSpPr>
            <a:spLocks noGrp="1"/>
          </p:cNvSpPr>
          <p:nvPr>
            <p:ph type="dt" sz="half" idx="10"/>
          </p:nvPr>
        </p:nvSpPr>
        <p:spPr/>
        <p:txBody>
          <a:bodyPr/>
          <a:lstStyle/>
          <a:p>
            <a:fld id="{5F50F402-98A5-4C20-B77B-82E05F67B602}"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52</a:t>
            </a:fld>
            <a:endParaRPr lang="en-US"/>
          </a:p>
        </p:txBody>
      </p:sp>
      <p:sp>
        <p:nvSpPr>
          <p:cNvPr id="8" name="Rectangle 3"/>
          <p:cNvSpPr txBox="1">
            <a:spLocks noChangeArrowheads="1"/>
          </p:cNvSpPr>
          <p:nvPr/>
        </p:nvSpPr>
        <p:spPr bwMode="auto">
          <a:xfrm>
            <a:off x="75407" y="1298522"/>
            <a:ext cx="7623251" cy="52530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marL="257175" indent="-257175" algn="l" defTabSz="342900" rtl="0" eaLnBrk="1" fontAlgn="base" hangingPunct="1">
              <a:spcBef>
                <a:spcPts val="525"/>
              </a:spcBef>
              <a:spcAft>
                <a:spcPct val="0"/>
              </a:spcAft>
              <a:buClr>
                <a:srgbClr val="000000"/>
              </a:buClr>
              <a:buSzPct val="100000"/>
              <a:buFont typeface="Times New Roman" panose="02020603050405020304" pitchFamily="18" charset="0"/>
              <a:defRPr sz="2100" b="1">
                <a:solidFill>
                  <a:srgbClr val="2B166E"/>
                </a:solidFill>
                <a:latin typeface="+mn-lt"/>
                <a:ea typeface="+mn-ea"/>
                <a:cs typeface="+mn-cs"/>
              </a:defRPr>
            </a:lvl1pPr>
            <a:lvl2pPr marL="557213" indent="-214313" algn="l" defTabSz="342900" rtl="0" eaLnBrk="1" fontAlgn="base" hangingPunct="1">
              <a:spcBef>
                <a:spcPts val="525"/>
              </a:spcBef>
              <a:spcAft>
                <a:spcPct val="0"/>
              </a:spcAft>
              <a:buClr>
                <a:srgbClr val="000000"/>
              </a:buClr>
              <a:buSzPct val="100000"/>
              <a:buFont typeface="Times New Roman" panose="02020603050405020304" pitchFamily="18" charset="0"/>
              <a:defRPr sz="2100">
                <a:solidFill>
                  <a:srgbClr val="2B166E"/>
                </a:solidFill>
                <a:latin typeface="+mj-lt"/>
                <a:ea typeface="+mn-ea"/>
              </a:defRPr>
            </a:lvl2pPr>
            <a:lvl3pPr marL="857250" indent="-171450" algn="l" defTabSz="342900" rtl="0" eaLnBrk="1" fontAlgn="base" hangingPunct="1">
              <a:spcBef>
                <a:spcPts val="450"/>
              </a:spcBef>
              <a:spcAft>
                <a:spcPct val="0"/>
              </a:spcAft>
              <a:buClr>
                <a:srgbClr val="000000"/>
              </a:buClr>
              <a:buSzPct val="100000"/>
              <a:buFont typeface="Times New Roman" panose="02020603050405020304" pitchFamily="18" charset="0"/>
              <a:defRPr sz="1800">
                <a:solidFill>
                  <a:srgbClr val="2B166E"/>
                </a:solidFill>
                <a:latin typeface="+mj-lt"/>
                <a:ea typeface="+mn-ea"/>
              </a:defRPr>
            </a:lvl3pPr>
            <a:lvl4pPr marL="12001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4pPr>
            <a:lvl5pPr marL="1543050" indent="-171450" algn="l" defTabSz="342900" rtl="0" eaLnBrk="1" fontAlgn="base" hangingPunct="1">
              <a:spcBef>
                <a:spcPts val="375"/>
              </a:spcBef>
              <a:spcAft>
                <a:spcPct val="0"/>
              </a:spcAft>
              <a:buClr>
                <a:srgbClr val="000000"/>
              </a:buClr>
              <a:buSzPct val="100000"/>
              <a:buFont typeface="Times New Roman" panose="02020603050405020304" pitchFamily="18" charset="0"/>
              <a:defRPr sz="1500">
                <a:solidFill>
                  <a:srgbClr val="2B166E"/>
                </a:solidFill>
                <a:latin typeface="+mj-lt"/>
                <a:ea typeface="+mn-ea"/>
              </a:defRPr>
            </a:lvl5pPr>
            <a:lvl6pPr marL="18859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6pPr>
            <a:lvl7pPr marL="22288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7pPr>
            <a:lvl8pPr marL="25717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8pPr>
            <a:lvl9pPr marL="2914650" indent="-171450" algn="l" defTabSz="342900" rtl="0" eaLnBrk="1" fontAlgn="base" hangingPunct="1">
              <a:spcBef>
                <a:spcPts val="375"/>
              </a:spcBef>
              <a:spcAft>
                <a:spcPct val="0"/>
              </a:spcAft>
              <a:buClr>
                <a:srgbClr val="000000"/>
              </a:buClr>
              <a:buSzPct val="100000"/>
              <a:buFont typeface="Times New Roman" pitchFamily="16" charset="0"/>
              <a:defRPr sz="1500">
                <a:solidFill>
                  <a:srgbClr val="2B166E"/>
                </a:solidFill>
                <a:latin typeface="+mj-lt"/>
                <a:ea typeface="+mn-ea"/>
              </a:defRPr>
            </a:lvl9pPr>
          </a:lstStyle>
          <a:p>
            <a:pPr marL="342900" indent="-342900">
              <a:buFont typeface="Arial" panose="020B0604020202020204" pitchFamily="34" charset="0"/>
              <a:buChar char="•"/>
            </a:pPr>
            <a:r>
              <a:rPr lang="en-US" altLang="en-US" sz="2400" b="0" kern="0" dirty="0">
                <a:solidFill>
                  <a:schemeClr val="tx1"/>
                </a:solidFill>
                <a:latin typeface="+mj-lt"/>
              </a:rPr>
              <a:t>deduced by </a:t>
            </a:r>
            <a:r>
              <a:rPr lang="en-US" altLang="en-US" sz="2400" kern="0" dirty="0">
                <a:solidFill>
                  <a:schemeClr val="tx1"/>
                </a:solidFill>
                <a:latin typeface="+mj-lt"/>
              </a:rPr>
              <a:t>James Watson </a:t>
            </a:r>
            <a:r>
              <a:rPr lang="en-US" altLang="en-US" sz="2400" b="0" kern="0" dirty="0">
                <a:solidFill>
                  <a:schemeClr val="tx1"/>
                </a:solidFill>
                <a:latin typeface="+mj-lt"/>
              </a:rPr>
              <a:t>and  </a:t>
            </a:r>
            <a:r>
              <a:rPr lang="en-US" altLang="en-US" sz="2400" kern="0" dirty="0">
                <a:solidFill>
                  <a:schemeClr val="tx1"/>
                </a:solidFill>
                <a:latin typeface="+mj-lt"/>
              </a:rPr>
              <a:t>Francis Crick </a:t>
            </a:r>
            <a:r>
              <a:rPr lang="en-US" altLang="en-US" sz="2400" b="0" kern="0" dirty="0">
                <a:solidFill>
                  <a:schemeClr val="tx1"/>
                </a:solidFill>
                <a:latin typeface="+mj-lt"/>
              </a:rPr>
              <a:t>in 1953.</a:t>
            </a:r>
          </a:p>
          <a:p>
            <a:pPr marL="342900" indent="-342900">
              <a:buFont typeface="Arial" panose="020B0604020202020204" pitchFamily="34" charset="0"/>
              <a:buChar char="•"/>
            </a:pPr>
            <a:r>
              <a:rPr lang="en-US" altLang="en-US" sz="2400" b="0" kern="0" dirty="0" smtClean="0">
                <a:solidFill>
                  <a:schemeClr val="tx1"/>
                </a:solidFill>
                <a:latin typeface="+mj-lt"/>
              </a:rPr>
              <a:t>A DNA molecule </a:t>
            </a:r>
            <a:r>
              <a:rPr lang="en-US" altLang="en-US" sz="2400" kern="0" dirty="0" smtClean="0">
                <a:solidFill>
                  <a:schemeClr val="tx1"/>
                </a:solidFill>
                <a:latin typeface="+mj-lt"/>
              </a:rPr>
              <a:t>has two polynucleotides </a:t>
            </a:r>
            <a:r>
              <a:rPr lang="en-US" altLang="en-US" sz="2400" b="0" kern="0" dirty="0" smtClean="0">
                <a:solidFill>
                  <a:schemeClr val="tx1"/>
                </a:solidFill>
                <a:latin typeface="+mj-lt"/>
              </a:rPr>
              <a:t>spiraling around an imaginary axis, forming a double helix</a:t>
            </a:r>
          </a:p>
          <a:p>
            <a:pPr marL="342900" indent="-342900">
              <a:buFont typeface="Arial" panose="020B0604020202020204" pitchFamily="34" charset="0"/>
              <a:buChar char="•"/>
            </a:pPr>
            <a:r>
              <a:rPr lang="en-US" altLang="en-US" sz="2400" b="0" kern="0" dirty="0" smtClean="0">
                <a:solidFill>
                  <a:schemeClr val="tx1"/>
                </a:solidFill>
                <a:latin typeface="+mj-lt"/>
              </a:rPr>
              <a:t>In the DNA double helix, the two backbones run in opposite </a:t>
            </a:r>
            <a:r>
              <a:rPr lang="en-US" altLang="en-US" sz="2400" kern="0" dirty="0" smtClean="0">
                <a:solidFill>
                  <a:schemeClr val="tx1"/>
                </a:solidFill>
                <a:latin typeface="+mj-lt"/>
              </a:rPr>
              <a:t>5</a:t>
            </a:r>
            <a:r>
              <a:rPr lang="en-US" altLang="en-US" sz="2400" kern="0" dirty="0" smtClean="0">
                <a:solidFill>
                  <a:schemeClr val="tx1"/>
                </a:solidFill>
                <a:latin typeface="+mj-lt"/>
                <a:sym typeface="Symbol" panose="05050102010706020507" pitchFamily="18" charset="2"/>
              </a:rPr>
              <a:t></a:t>
            </a:r>
            <a:r>
              <a:rPr lang="en-US" altLang="en-US" sz="2400" kern="0" dirty="0" smtClean="0">
                <a:solidFill>
                  <a:schemeClr val="tx1"/>
                </a:solidFill>
                <a:latin typeface="+mj-lt"/>
              </a:rPr>
              <a:t> → 3</a:t>
            </a:r>
            <a:r>
              <a:rPr lang="en-US" altLang="en-US" sz="2400" kern="0" dirty="0" smtClean="0">
                <a:solidFill>
                  <a:schemeClr val="tx1"/>
                </a:solidFill>
                <a:latin typeface="+mj-lt"/>
                <a:sym typeface="Symbol" panose="05050102010706020507" pitchFamily="18" charset="2"/>
              </a:rPr>
              <a:t></a:t>
            </a:r>
            <a:r>
              <a:rPr lang="en-US" altLang="en-US" sz="2400" kern="0" dirty="0" smtClean="0">
                <a:solidFill>
                  <a:schemeClr val="tx1"/>
                </a:solidFill>
                <a:latin typeface="+mj-lt"/>
              </a:rPr>
              <a:t> </a:t>
            </a:r>
            <a:r>
              <a:rPr lang="en-US" altLang="en-US" sz="2400" b="0" kern="0" dirty="0" smtClean="0">
                <a:solidFill>
                  <a:schemeClr val="tx1"/>
                </a:solidFill>
                <a:latin typeface="+mj-lt"/>
              </a:rPr>
              <a:t>directions from each other, an arrangement referred to as </a:t>
            </a:r>
            <a:r>
              <a:rPr lang="en-US" altLang="en-US" sz="2400" kern="0" dirty="0" smtClean="0">
                <a:solidFill>
                  <a:schemeClr val="tx1"/>
                </a:solidFill>
                <a:latin typeface="+mj-lt"/>
              </a:rPr>
              <a:t>antiparallel</a:t>
            </a:r>
          </a:p>
          <a:p>
            <a:pPr marL="342900" indent="-342900">
              <a:buFont typeface="Arial" panose="020B0604020202020204" pitchFamily="34" charset="0"/>
              <a:buChar char="•"/>
            </a:pPr>
            <a:r>
              <a:rPr lang="en-US" altLang="en-US" sz="2400" b="0" kern="0" dirty="0" smtClean="0">
                <a:solidFill>
                  <a:schemeClr val="tx1"/>
                </a:solidFill>
                <a:latin typeface="+mj-lt"/>
              </a:rPr>
              <a:t>The </a:t>
            </a:r>
            <a:r>
              <a:rPr lang="en-US" altLang="en-US" sz="2400" b="0" kern="0" dirty="0">
                <a:solidFill>
                  <a:schemeClr val="tx1"/>
                </a:solidFill>
                <a:latin typeface="+mj-lt"/>
              </a:rPr>
              <a:t>strands are joined </a:t>
            </a:r>
            <a:r>
              <a:rPr lang="en-US" altLang="en-US" sz="2400" kern="0" dirty="0">
                <a:solidFill>
                  <a:schemeClr val="tx1"/>
                </a:solidFill>
                <a:latin typeface="+mj-lt"/>
              </a:rPr>
              <a:t>non-covalently by hydrogen bonding </a:t>
            </a:r>
          </a:p>
          <a:p>
            <a:pPr marL="642938" lvl="1" indent="-342900">
              <a:buFont typeface="Wingdings" panose="05000000000000000000" pitchFamily="2" charset="2"/>
              <a:buChar char="ü"/>
            </a:pPr>
            <a:r>
              <a:rPr lang="en-US" altLang="en-US" sz="2400" b="1" kern="0" dirty="0">
                <a:solidFill>
                  <a:schemeClr val="tx1"/>
                </a:solidFill>
                <a:latin typeface="+mj-lt"/>
              </a:rPr>
              <a:t>two hydrogen bonds</a:t>
            </a:r>
            <a:r>
              <a:rPr lang="en-US" altLang="en-US" sz="2400" b="0" kern="0" dirty="0">
                <a:solidFill>
                  <a:schemeClr val="tx1"/>
                </a:solidFill>
                <a:latin typeface="+mj-lt"/>
              </a:rPr>
              <a:t> between Adenine thymine and </a:t>
            </a:r>
          </a:p>
          <a:p>
            <a:pPr marL="642938" lvl="1" indent="-342900">
              <a:buFont typeface="Wingdings" panose="05000000000000000000" pitchFamily="2" charset="2"/>
              <a:buChar char="ü"/>
            </a:pPr>
            <a:r>
              <a:rPr lang="en-US" altLang="en-US" sz="2400" b="1" kern="0" dirty="0" smtClean="0">
                <a:solidFill>
                  <a:schemeClr val="tx1"/>
                </a:solidFill>
                <a:latin typeface="+mj-lt"/>
              </a:rPr>
              <a:t>three </a:t>
            </a:r>
            <a:r>
              <a:rPr lang="en-US" altLang="en-US" sz="2400" b="1" kern="0" dirty="0">
                <a:solidFill>
                  <a:schemeClr val="tx1"/>
                </a:solidFill>
                <a:latin typeface="+mj-lt"/>
              </a:rPr>
              <a:t>hydrogen  bonds </a:t>
            </a:r>
            <a:r>
              <a:rPr lang="en-US" altLang="en-US" sz="2400" b="0" kern="0" dirty="0">
                <a:solidFill>
                  <a:schemeClr val="tx1"/>
                </a:solidFill>
                <a:latin typeface="+mj-lt"/>
              </a:rPr>
              <a:t>between cytosine with guanine</a:t>
            </a:r>
          </a:p>
          <a:p>
            <a:pPr marL="342900" indent="-342900">
              <a:buFont typeface="Arial" panose="020B0604020202020204" pitchFamily="34" charset="0"/>
              <a:buChar char="•"/>
            </a:pPr>
            <a:r>
              <a:rPr lang="en-US" altLang="en-US" sz="2400" b="0" kern="0" dirty="0" smtClean="0">
                <a:solidFill>
                  <a:schemeClr val="tx1"/>
                </a:solidFill>
                <a:latin typeface="+mj-lt"/>
              </a:rPr>
              <a:t>The two polynucleotide strands of a DNA molecules are </a:t>
            </a:r>
            <a:r>
              <a:rPr lang="en-US" altLang="en-US" sz="2400" kern="0" dirty="0" smtClean="0">
                <a:solidFill>
                  <a:srgbClr val="FF0000"/>
                </a:solidFill>
                <a:latin typeface="+mj-lt"/>
              </a:rPr>
              <a:t>not identical but </a:t>
            </a:r>
            <a:r>
              <a:rPr lang="en-US" altLang="en-US" sz="2400" kern="0" dirty="0">
                <a:solidFill>
                  <a:srgbClr val="FF0000"/>
                </a:solidFill>
                <a:latin typeface="+mj-lt"/>
              </a:rPr>
              <a:t>complementary. </a:t>
            </a:r>
          </a:p>
          <a:p>
            <a:pPr marL="342900" indent="-342900">
              <a:buFont typeface="Arial" panose="020B0604020202020204" pitchFamily="34" charset="0"/>
              <a:buChar char="•"/>
            </a:pPr>
            <a:endParaRPr lang="en-US" altLang="en-US" sz="2400" b="0" kern="0" dirty="0">
              <a:solidFill>
                <a:schemeClr val="tx1"/>
              </a:solidFill>
              <a:latin typeface="+mj-lt"/>
            </a:endParaRPr>
          </a:p>
        </p:txBody>
      </p:sp>
      <p:pic>
        <p:nvPicPr>
          <p:cNvPr id="10" name="Picture 9"/>
          <p:cNvPicPr>
            <a:picLocks noChangeAspect="1"/>
          </p:cNvPicPr>
          <p:nvPr/>
        </p:nvPicPr>
        <p:blipFill rotWithShape="1">
          <a:blip r:embed="rId2"/>
          <a:srcRect l="56264"/>
          <a:stretch/>
        </p:blipFill>
        <p:spPr>
          <a:xfrm>
            <a:off x="7579360" y="1374517"/>
            <a:ext cx="1453168" cy="4462659"/>
          </a:xfrm>
          <a:prstGeom prst="rect">
            <a:avLst/>
          </a:prstGeom>
          <a:ln>
            <a:solidFill>
              <a:schemeClr val="tx1"/>
            </a:solidFill>
          </a:ln>
        </p:spPr>
      </p:pic>
      <p:sp>
        <p:nvSpPr>
          <p:cNvPr id="11" name="Rectangle 2"/>
          <p:cNvSpPr txBox="1">
            <a:spLocks noChangeArrowheads="1"/>
          </p:cNvSpPr>
          <p:nvPr/>
        </p:nvSpPr>
        <p:spPr bwMode="auto">
          <a:xfrm>
            <a:off x="75407" y="818391"/>
            <a:ext cx="8534400" cy="48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lvl1pPr marL="450850" indent="-450850" algn="l" rtl="0" fontAlgn="base">
              <a:lnSpc>
                <a:spcPct val="90000"/>
              </a:lnSpc>
              <a:spcBef>
                <a:spcPct val="0"/>
              </a:spcBef>
              <a:spcAft>
                <a:spcPct val="0"/>
              </a:spcAft>
              <a:defRPr sz="3000" b="1" kern="1200">
                <a:solidFill>
                  <a:schemeClr val="tx2"/>
                </a:solidFill>
                <a:latin typeface="+mj-lt"/>
                <a:ea typeface="+mj-ea"/>
                <a:cs typeface="+mj-cs"/>
              </a:defRPr>
            </a:lvl1pPr>
            <a:lvl2pPr marL="450850" indent="-450850" algn="l" rtl="0" fontAlgn="base">
              <a:lnSpc>
                <a:spcPct val="90000"/>
              </a:lnSpc>
              <a:spcBef>
                <a:spcPct val="0"/>
              </a:spcBef>
              <a:spcAft>
                <a:spcPct val="0"/>
              </a:spcAft>
              <a:defRPr sz="3000" b="1">
                <a:solidFill>
                  <a:schemeClr val="tx2"/>
                </a:solidFill>
                <a:latin typeface="Times New Roman" panose="02020603050405020304" pitchFamily="18" charset="0"/>
                <a:cs typeface="Arial" panose="020B0604020202020204" pitchFamily="34" charset="0"/>
              </a:defRPr>
            </a:lvl2pPr>
            <a:lvl3pPr marL="450850" indent="-450850" algn="l" rtl="0" fontAlgn="base">
              <a:lnSpc>
                <a:spcPct val="90000"/>
              </a:lnSpc>
              <a:spcBef>
                <a:spcPct val="0"/>
              </a:spcBef>
              <a:spcAft>
                <a:spcPct val="0"/>
              </a:spcAft>
              <a:defRPr sz="3000" b="1">
                <a:solidFill>
                  <a:schemeClr val="tx2"/>
                </a:solidFill>
                <a:latin typeface="Times New Roman" panose="02020603050405020304" pitchFamily="18" charset="0"/>
                <a:cs typeface="Arial" panose="020B0604020202020204" pitchFamily="34" charset="0"/>
              </a:defRPr>
            </a:lvl3pPr>
            <a:lvl4pPr marL="450850" indent="-450850" algn="l" rtl="0" fontAlgn="base">
              <a:lnSpc>
                <a:spcPct val="90000"/>
              </a:lnSpc>
              <a:spcBef>
                <a:spcPct val="0"/>
              </a:spcBef>
              <a:spcAft>
                <a:spcPct val="0"/>
              </a:spcAft>
              <a:defRPr sz="3000" b="1">
                <a:solidFill>
                  <a:schemeClr val="tx2"/>
                </a:solidFill>
                <a:latin typeface="Times New Roman" panose="02020603050405020304" pitchFamily="18" charset="0"/>
                <a:cs typeface="Arial" panose="020B0604020202020204" pitchFamily="34" charset="0"/>
              </a:defRPr>
            </a:lvl4pPr>
            <a:lvl5pPr marL="450850" indent="-450850" algn="l" rtl="0" fontAlgn="base">
              <a:lnSpc>
                <a:spcPct val="90000"/>
              </a:lnSpc>
              <a:spcBef>
                <a:spcPct val="0"/>
              </a:spcBef>
              <a:spcAft>
                <a:spcPct val="0"/>
              </a:spcAft>
              <a:defRPr sz="3000" b="1">
                <a:solidFill>
                  <a:schemeClr val="tx2"/>
                </a:solidFill>
                <a:latin typeface="Times New Roman" panose="02020603050405020304" pitchFamily="18" charset="0"/>
                <a:cs typeface="Arial" panose="020B0604020202020204" pitchFamily="34" charset="0"/>
              </a:defRPr>
            </a:lvl5pPr>
            <a:lvl6pPr marL="908050" indent="-450850" algn="l" rtl="0" fontAlgn="base">
              <a:lnSpc>
                <a:spcPct val="90000"/>
              </a:lnSpc>
              <a:spcBef>
                <a:spcPct val="0"/>
              </a:spcBef>
              <a:spcAft>
                <a:spcPct val="0"/>
              </a:spcAft>
              <a:defRPr sz="3000" b="1">
                <a:solidFill>
                  <a:schemeClr val="tx2"/>
                </a:solidFill>
                <a:latin typeface="Times New Roman" panose="02020603050405020304" pitchFamily="18" charset="0"/>
                <a:cs typeface="Arial" panose="020B0604020202020204" pitchFamily="34" charset="0"/>
              </a:defRPr>
            </a:lvl6pPr>
            <a:lvl7pPr marL="1365250" indent="-450850" algn="l" rtl="0" fontAlgn="base">
              <a:lnSpc>
                <a:spcPct val="90000"/>
              </a:lnSpc>
              <a:spcBef>
                <a:spcPct val="0"/>
              </a:spcBef>
              <a:spcAft>
                <a:spcPct val="0"/>
              </a:spcAft>
              <a:defRPr sz="3000" b="1">
                <a:solidFill>
                  <a:schemeClr val="tx2"/>
                </a:solidFill>
                <a:latin typeface="Times New Roman" panose="02020603050405020304" pitchFamily="18" charset="0"/>
                <a:cs typeface="Arial" panose="020B0604020202020204" pitchFamily="34" charset="0"/>
              </a:defRPr>
            </a:lvl7pPr>
            <a:lvl8pPr marL="1822450" indent="-450850" algn="l" rtl="0" fontAlgn="base">
              <a:lnSpc>
                <a:spcPct val="90000"/>
              </a:lnSpc>
              <a:spcBef>
                <a:spcPct val="0"/>
              </a:spcBef>
              <a:spcAft>
                <a:spcPct val="0"/>
              </a:spcAft>
              <a:defRPr sz="3000" b="1">
                <a:solidFill>
                  <a:schemeClr val="tx2"/>
                </a:solidFill>
                <a:latin typeface="Times New Roman" panose="02020603050405020304" pitchFamily="18" charset="0"/>
                <a:cs typeface="Arial" panose="020B0604020202020204" pitchFamily="34" charset="0"/>
              </a:defRPr>
            </a:lvl8pPr>
            <a:lvl9pPr marL="2279650" indent="-450850" algn="l" rtl="0" fontAlgn="base">
              <a:lnSpc>
                <a:spcPct val="90000"/>
              </a:lnSpc>
              <a:spcBef>
                <a:spcPct val="0"/>
              </a:spcBef>
              <a:spcAft>
                <a:spcPct val="0"/>
              </a:spcAft>
              <a:defRPr sz="3000" b="1">
                <a:solidFill>
                  <a:schemeClr val="tx2"/>
                </a:solidFill>
                <a:latin typeface="Times New Roman" panose="02020603050405020304" pitchFamily="18" charset="0"/>
                <a:cs typeface="Arial" panose="020B0604020202020204" pitchFamily="34" charset="0"/>
              </a:defRPr>
            </a:lvl9pPr>
          </a:lstStyle>
          <a:p>
            <a:pPr marL="450850" marR="0" lvl="0" indent="-450850" algn="l" defTabSz="914400" rtl="0" eaLnBrk="1" fontAlgn="base" latinLnBrk="0" hangingPunct="1">
              <a:lnSpc>
                <a:spcPct val="90000"/>
              </a:lnSpc>
              <a:spcBef>
                <a:spcPct val="0"/>
              </a:spcBef>
              <a:spcAft>
                <a:spcPct val="0"/>
              </a:spcAft>
              <a:buClrTx/>
              <a:buSzTx/>
              <a:buFontTx/>
              <a:buNone/>
              <a:tabLst/>
              <a:defRPr/>
            </a:pPr>
            <a:r>
              <a:rPr kumimoji="0" lang="en-US" altLang="en-US" sz="2800" b="1" i="0" u="none" strike="noStrike" kern="1200" cap="none" spc="0" normalizeH="0" baseline="0" noProof="0" dirty="0" smtClean="0">
                <a:ln>
                  <a:noFill/>
                </a:ln>
                <a:solidFill>
                  <a:srgbClr val="333399"/>
                </a:solidFill>
                <a:effectLst/>
                <a:uLnTx/>
                <a:uFillTx/>
                <a:latin typeface="Times New Roman"/>
                <a:ea typeface="+mj-ea"/>
                <a:cs typeface="Arial"/>
              </a:rPr>
              <a:t>The DNA Double Helix</a:t>
            </a:r>
            <a:endParaRPr kumimoji="0" lang="en-US" altLang="en-US" sz="2800" b="0" i="0" u="none" strike="noStrike" kern="1200" cap="none" spc="0" normalizeH="0" baseline="0" noProof="0" dirty="0" smtClean="0">
              <a:ln>
                <a:noFill/>
              </a:ln>
              <a:solidFill>
                <a:srgbClr val="034694"/>
              </a:solidFill>
              <a:effectLst/>
              <a:uLnTx/>
              <a:uFillTx/>
              <a:latin typeface="Times New Roman"/>
              <a:ea typeface="+mj-ea"/>
              <a:cs typeface="Arial"/>
            </a:endParaRPr>
          </a:p>
        </p:txBody>
      </p:sp>
    </p:spTree>
    <p:extLst>
      <p:ext uri="{BB962C8B-B14F-4D97-AF65-F5344CB8AC3E}">
        <p14:creationId xmlns:p14="http://schemas.microsoft.com/office/powerpoint/2010/main" val="1765873737"/>
      </p:ext>
    </p:extLst>
  </p:cSld>
  <p:clrMapOvr>
    <a:masterClrMapping/>
  </p:clrMapOvr>
  <p:transition spd="slow">
    <p:push dir="u"/>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a:xfrm>
            <a:off x="223520" y="833120"/>
            <a:ext cx="8918894" cy="5101912"/>
          </a:xfrm>
        </p:spPr>
        <p:txBody>
          <a:bodyPr/>
          <a:lstStyle/>
          <a:p>
            <a:pPr marL="0" indent="0"/>
            <a:r>
              <a:rPr lang="en-US" altLang="en-US" sz="2800" dirty="0">
                <a:solidFill>
                  <a:srgbClr val="0070C0"/>
                </a:solidFill>
                <a:latin typeface="+mj-lt"/>
              </a:rPr>
              <a:t>R</a:t>
            </a:r>
            <a:r>
              <a:rPr lang="en-US" altLang="en-US" sz="2800" dirty="0">
                <a:latin typeface="+mj-lt"/>
              </a:rPr>
              <a:t>ibo</a:t>
            </a:r>
            <a:r>
              <a:rPr lang="en-US" altLang="en-US" sz="2800" dirty="0">
                <a:solidFill>
                  <a:srgbClr val="0070C0"/>
                </a:solidFill>
                <a:latin typeface="+mj-lt"/>
              </a:rPr>
              <a:t>n</a:t>
            </a:r>
            <a:r>
              <a:rPr lang="en-US" altLang="en-US" sz="2800" dirty="0">
                <a:latin typeface="+mj-lt"/>
              </a:rPr>
              <a:t>ucleic </a:t>
            </a:r>
            <a:r>
              <a:rPr lang="en-US" altLang="en-US" sz="2800" dirty="0">
                <a:solidFill>
                  <a:srgbClr val="0070C0"/>
                </a:solidFill>
                <a:latin typeface="+mj-lt"/>
              </a:rPr>
              <a:t>A</a:t>
            </a:r>
            <a:r>
              <a:rPr lang="en-US" altLang="en-US" sz="2800" dirty="0">
                <a:latin typeface="+mj-lt"/>
              </a:rPr>
              <a:t>cid (</a:t>
            </a:r>
            <a:r>
              <a:rPr lang="en-US" altLang="en-US" sz="2800" dirty="0">
                <a:solidFill>
                  <a:srgbClr val="0070C0"/>
                </a:solidFill>
                <a:latin typeface="+mj-lt"/>
              </a:rPr>
              <a:t>RNA</a:t>
            </a:r>
            <a:r>
              <a:rPr lang="en-US" altLang="en-US" sz="2800" dirty="0">
                <a:latin typeface="+mj-lt"/>
              </a:rPr>
              <a:t>)</a:t>
            </a:r>
          </a:p>
          <a:p>
            <a:pPr marL="341313" lvl="0" indent="-341313" defTabSz="457200">
              <a:spcBef>
                <a:spcPts val="800"/>
              </a:spcBef>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400" b="0" kern="1200" dirty="0">
                <a:solidFill>
                  <a:srgbClr val="000000"/>
                </a:solidFill>
                <a:latin typeface="+mj-lt"/>
                <a:cs typeface="Times New Roman" panose="02020603050405020304" pitchFamily="18" charset="0"/>
              </a:rPr>
              <a:t>RNA similar to DNA except</a:t>
            </a:r>
          </a:p>
          <a:p>
            <a:pPr marL="741363" lvl="1" indent="-284163" defTabSz="457200">
              <a:spcBef>
                <a:spcPts val="700"/>
              </a:spcBef>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400" kern="1200" dirty="0">
                <a:solidFill>
                  <a:srgbClr val="000000"/>
                </a:solidFill>
                <a:cs typeface="Times New Roman" panose="02020603050405020304" pitchFamily="18" charset="0"/>
              </a:rPr>
              <a:t>Contains </a:t>
            </a:r>
            <a:r>
              <a:rPr lang="en-US" altLang="en-US" sz="2400" b="1" kern="1200" dirty="0">
                <a:solidFill>
                  <a:srgbClr val="0070C0"/>
                </a:solidFill>
                <a:cs typeface="Times New Roman" panose="02020603050405020304" pitchFamily="18" charset="0"/>
              </a:rPr>
              <a:t>ribose</a:t>
            </a:r>
            <a:r>
              <a:rPr lang="en-US" altLang="en-US" sz="2400" kern="1200" dirty="0">
                <a:solidFill>
                  <a:srgbClr val="000000"/>
                </a:solidFill>
                <a:cs typeface="Times New Roman" panose="02020603050405020304" pitchFamily="18" charset="0"/>
              </a:rPr>
              <a:t> </a:t>
            </a:r>
            <a:r>
              <a:rPr lang="en-US" altLang="en-US" sz="2400" b="1" i="1" kern="1200" dirty="0">
                <a:solidFill>
                  <a:srgbClr val="000000"/>
                </a:solidFill>
                <a:cs typeface="Times New Roman" panose="02020603050405020304" pitchFamily="18" charset="0"/>
              </a:rPr>
              <a:t>instead</a:t>
            </a:r>
            <a:r>
              <a:rPr lang="en-US" altLang="en-US" sz="2400" kern="1200" dirty="0">
                <a:solidFill>
                  <a:srgbClr val="000000"/>
                </a:solidFill>
                <a:cs typeface="Times New Roman" panose="02020603050405020304" pitchFamily="18" charset="0"/>
              </a:rPr>
              <a:t> of </a:t>
            </a:r>
            <a:r>
              <a:rPr lang="en-US" altLang="en-US" sz="2400" b="1" kern="1200" dirty="0">
                <a:solidFill>
                  <a:srgbClr val="0070C0"/>
                </a:solidFill>
                <a:cs typeface="Times New Roman" panose="02020603050405020304" pitchFamily="18" charset="0"/>
              </a:rPr>
              <a:t>deoxyribose</a:t>
            </a:r>
          </a:p>
          <a:p>
            <a:pPr marL="741363" lvl="1" indent="-284163" defTabSz="457200">
              <a:spcBef>
                <a:spcPts val="700"/>
              </a:spcBef>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400" kern="1200" dirty="0">
                <a:solidFill>
                  <a:srgbClr val="000000"/>
                </a:solidFill>
                <a:cs typeface="Times New Roman" panose="02020603050405020304" pitchFamily="18" charset="0"/>
              </a:rPr>
              <a:t>Contains </a:t>
            </a:r>
            <a:r>
              <a:rPr lang="en-US" altLang="en-US" sz="2400" b="1" kern="1200" dirty="0">
                <a:solidFill>
                  <a:srgbClr val="7030A0"/>
                </a:solidFill>
                <a:cs typeface="Times New Roman" panose="02020603050405020304" pitchFamily="18" charset="0"/>
              </a:rPr>
              <a:t>uracil</a:t>
            </a:r>
            <a:r>
              <a:rPr lang="en-US" altLang="en-US" sz="2400" kern="1200" dirty="0">
                <a:solidFill>
                  <a:srgbClr val="000000"/>
                </a:solidFill>
                <a:cs typeface="Times New Roman" panose="02020603050405020304" pitchFamily="18" charset="0"/>
              </a:rPr>
              <a:t> </a:t>
            </a:r>
            <a:r>
              <a:rPr lang="en-US" altLang="en-US" sz="2400" b="1" i="1" kern="1200" dirty="0">
                <a:solidFill>
                  <a:srgbClr val="000000"/>
                </a:solidFill>
                <a:cs typeface="Times New Roman" panose="02020603050405020304" pitchFamily="18" charset="0"/>
              </a:rPr>
              <a:t>instead</a:t>
            </a:r>
            <a:r>
              <a:rPr lang="en-US" altLang="en-US" sz="2400" kern="1200" dirty="0">
                <a:solidFill>
                  <a:srgbClr val="000000"/>
                </a:solidFill>
                <a:cs typeface="Times New Roman" panose="02020603050405020304" pitchFamily="18" charset="0"/>
              </a:rPr>
              <a:t> of </a:t>
            </a:r>
            <a:r>
              <a:rPr lang="en-US" altLang="en-US" sz="2400" b="1" kern="1200" dirty="0">
                <a:solidFill>
                  <a:srgbClr val="7030A0"/>
                </a:solidFill>
                <a:cs typeface="Times New Roman" panose="02020603050405020304" pitchFamily="18" charset="0"/>
              </a:rPr>
              <a:t>thymine</a:t>
            </a:r>
          </a:p>
          <a:p>
            <a:pPr marL="341313" lvl="0" indent="-341313" defTabSz="457200">
              <a:spcBef>
                <a:spcPts val="800"/>
              </a:spcBef>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400" b="0" kern="1200" dirty="0">
                <a:solidFill>
                  <a:srgbClr val="000000"/>
                </a:solidFill>
                <a:latin typeface="+mj-lt"/>
                <a:cs typeface="Times New Roman" panose="02020603050405020304" pitchFamily="18" charset="0"/>
              </a:rPr>
              <a:t>Single stranded</a:t>
            </a:r>
          </a:p>
          <a:p>
            <a:pPr marL="341313" lvl="0" indent="-341313" defTabSz="457200">
              <a:spcBef>
                <a:spcPts val="800"/>
              </a:spcBef>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400" b="0" kern="1200" dirty="0">
                <a:solidFill>
                  <a:srgbClr val="000000"/>
                </a:solidFill>
                <a:latin typeface="+mj-lt"/>
                <a:cs typeface="Times New Roman" panose="02020603050405020304" pitchFamily="18" charset="0"/>
              </a:rPr>
              <a:t>RNA  plays many roles in the cell</a:t>
            </a:r>
          </a:p>
          <a:p>
            <a:pPr marL="741363" lvl="1" indent="-284163" defTabSz="457200">
              <a:spcBef>
                <a:spcPts val="800"/>
              </a:spcBef>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400" b="1" kern="1200" dirty="0">
                <a:solidFill>
                  <a:srgbClr val="000000"/>
                </a:solidFill>
                <a:cs typeface="Times New Roman" panose="02020603050405020304" pitchFamily="18" charset="0"/>
              </a:rPr>
              <a:t>Messenger RNA (mRNA)</a:t>
            </a:r>
            <a:r>
              <a:rPr lang="en-US" altLang="en-US" sz="2400" kern="1200" dirty="0">
                <a:solidFill>
                  <a:srgbClr val="000000"/>
                </a:solidFill>
                <a:cs typeface="Times New Roman" panose="02020603050405020304" pitchFamily="18" charset="0"/>
              </a:rPr>
              <a:t>: DNA encodes the information to make proteins, mRNA relays this info to the structures that make proteins</a:t>
            </a:r>
          </a:p>
          <a:p>
            <a:pPr marL="741363" lvl="1" indent="-284163" defTabSz="457200">
              <a:spcBef>
                <a:spcPts val="800"/>
              </a:spcBef>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nb-NO" altLang="en-US" sz="2400" b="1" kern="1200" dirty="0">
                <a:solidFill>
                  <a:srgbClr val="000000"/>
                </a:solidFill>
                <a:cs typeface="Times New Roman" panose="02020603050405020304" pitchFamily="18" charset="0"/>
              </a:rPr>
              <a:t>Ribosomal RNA (rRNA): </a:t>
            </a:r>
            <a:r>
              <a:rPr lang="nb-NO" altLang="en-US" sz="2400" kern="1200" dirty="0">
                <a:solidFill>
                  <a:srgbClr val="000000"/>
                </a:solidFill>
                <a:cs typeface="Times New Roman" panose="02020603050405020304" pitchFamily="18" charset="0"/>
              </a:rPr>
              <a:t>make structure of Rbosome (Protein synthesizing machinary)</a:t>
            </a:r>
          </a:p>
          <a:p>
            <a:pPr marL="741363" lvl="1" indent="-284163" defTabSz="457200">
              <a:spcBef>
                <a:spcPts val="800"/>
              </a:spcBef>
              <a:buFont typeface="Arial" panose="020B0604020202020204" pitchFamily="34"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nb-NO" altLang="en-US" sz="2400" b="1" kern="1200" dirty="0">
                <a:solidFill>
                  <a:srgbClr val="000000"/>
                </a:solidFill>
                <a:cs typeface="Times New Roman" panose="02020603050405020304" pitchFamily="18" charset="0"/>
              </a:rPr>
              <a:t>Transfer RNA (tRNA): </a:t>
            </a:r>
            <a:r>
              <a:rPr lang="nb-NO" altLang="en-US" sz="2400" kern="1200" dirty="0">
                <a:solidFill>
                  <a:srgbClr val="000000"/>
                </a:solidFill>
                <a:cs typeface="Times New Roman" panose="02020603050405020304" pitchFamily="18" charset="0"/>
              </a:rPr>
              <a:t>also involved in protein synthesis by decoding codons in the mRNA into amionoacids</a:t>
            </a:r>
            <a:endParaRPr lang="en-US" altLang="en-US" sz="2400" kern="1200" dirty="0">
              <a:solidFill>
                <a:srgbClr val="000000"/>
              </a:solidFill>
              <a:cs typeface="Times New Roman" panose="02020603050405020304" pitchFamily="18" charset="0"/>
            </a:endParaRPr>
          </a:p>
          <a:p>
            <a:endParaRPr lang="en-US" sz="2400" b="0" dirty="0">
              <a:latin typeface="+mj-lt"/>
            </a:endParaRPr>
          </a:p>
        </p:txBody>
      </p:sp>
      <p:sp>
        <p:nvSpPr>
          <p:cNvPr id="4" name="Date Placeholder 3"/>
          <p:cNvSpPr>
            <a:spLocks noGrp="1"/>
          </p:cNvSpPr>
          <p:nvPr>
            <p:ph type="dt" sz="half" idx="10"/>
          </p:nvPr>
        </p:nvSpPr>
        <p:spPr/>
        <p:txBody>
          <a:bodyPr/>
          <a:lstStyle/>
          <a:p>
            <a:fld id="{EBCC0549-3C0B-4B13-AB87-41C1FFC24621}"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53</a:t>
            </a:fld>
            <a:endParaRPr lang="en-US"/>
          </a:p>
        </p:txBody>
      </p:sp>
    </p:spTree>
    <p:extLst>
      <p:ext uri="{BB962C8B-B14F-4D97-AF65-F5344CB8AC3E}">
        <p14:creationId xmlns:p14="http://schemas.microsoft.com/office/powerpoint/2010/main" val="1986348197"/>
      </p:ext>
    </p:extLst>
  </p:cSld>
  <p:clrMapOvr>
    <a:masterClrMapping/>
  </p:clrMapOvr>
  <p:transition spd="slow">
    <p:push dir="u"/>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Date Placeholder 3"/>
          <p:cNvSpPr>
            <a:spLocks noGrp="1"/>
          </p:cNvSpPr>
          <p:nvPr>
            <p:ph type="dt" sz="half" idx="10"/>
          </p:nvPr>
        </p:nvSpPr>
        <p:spPr/>
        <p:txBody>
          <a:bodyPr/>
          <a:lstStyle/>
          <a:p>
            <a:fld id="{041B1E32-3D10-4C5D-911A-408F5D840588}"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54</a:t>
            </a:fld>
            <a:endParaRPr lang="en-US"/>
          </a:p>
        </p:txBody>
      </p:sp>
      <p:pic>
        <p:nvPicPr>
          <p:cNvPr id="7" name="Picture 2" descr="Lecture 10 Nucleic acids DNA RNA Types of"/>
          <p:cNvPicPr>
            <a:picLocks noChangeAspect="1" noChangeArrowheads="1"/>
          </p:cNvPicPr>
          <p:nvPr/>
        </p:nvPicPr>
        <p:blipFill rotWithShape="1">
          <a:blip r:embed="rId2">
            <a:extLst>
              <a:ext uri="{28A0092B-C50C-407E-A947-70E740481C1C}">
                <a14:useLocalDpi xmlns:a14="http://schemas.microsoft.com/office/drawing/2010/main" val="0"/>
              </a:ext>
            </a:extLst>
          </a:blip>
          <a:srcRect t="5303" b="2845"/>
          <a:stretch/>
        </p:blipFill>
        <p:spPr bwMode="auto">
          <a:xfrm>
            <a:off x="860746" y="900115"/>
            <a:ext cx="7940580" cy="54702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877040"/>
      </p:ext>
    </p:extLst>
  </p:cSld>
  <p:clrMapOvr>
    <a:masterClrMapping/>
  </p:clrMapOvr>
  <p:transition spd="slow">
    <p:push dir="u"/>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1"/>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8E9388BE-3BA7-4435-8B1B-C425268862DF}" type="slidenum">
              <a:rPr kumimoji="0" lang="en-US" altLang="en-US" sz="14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t>55</a:t>
            </a:fld>
            <a:endParaRPr kumimoji="0" lang="en-US" altLang="en-US" sz="14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pic>
        <p:nvPicPr>
          <p:cNvPr id="36868" name="Picture 105" descr="rav83074_03_17--new03"/>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052763" y="314325"/>
            <a:ext cx="4652962"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9" name="Picture 108" descr="rav83074_03_17--new0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071813" y="3657600"/>
            <a:ext cx="4610100" cy="307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0" name="Picture 104" descr="rav83074_03_17--new01"/>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3033713" y="354013"/>
            <a:ext cx="4648200"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1" name="Picture 106" descr="rav83074_03_17--new02"/>
          <p:cNvPicPr>
            <a:picLocks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2998788" y="314325"/>
            <a:ext cx="4683125"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2" name="Picture 101" descr="2"/>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3062288" y="3819525"/>
            <a:ext cx="4638675" cy="281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3" name="Rectangle 114"/>
          <p:cNvSpPr>
            <a:spLocks noChangeArrowheads="1"/>
          </p:cNvSpPr>
          <p:nvPr/>
        </p:nvSpPr>
        <p:spPr bwMode="auto">
          <a:xfrm>
            <a:off x="6002338" y="800100"/>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874" name="Rectangle 115"/>
          <p:cNvSpPr>
            <a:spLocks noChangeArrowheads="1"/>
          </p:cNvSpPr>
          <p:nvPr/>
        </p:nvSpPr>
        <p:spPr bwMode="auto">
          <a:xfrm>
            <a:off x="5180013" y="374650"/>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875" name="Rectangle 116"/>
          <p:cNvSpPr>
            <a:spLocks noChangeArrowheads="1"/>
          </p:cNvSpPr>
          <p:nvPr/>
        </p:nvSpPr>
        <p:spPr bwMode="auto">
          <a:xfrm>
            <a:off x="4640263" y="669925"/>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876" name="Rectangle 117"/>
          <p:cNvSpPr>
            <a:spLocks noChangeArrowheads="1"/>
          </p:cNvSpPr>
          <p:nvPr/>
        </p:nvSpPr>
        <p:spPr bwMode="auto">
          <a:xfrm>
            <a:off x="7291388" y="1377950"/>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877" name="Rectangle 118"/>
          <p:cNvSpPr>
            <a:spLocks noChangeArrowheads="1"/>
          </p:cNvSpPr>
          <p:nvPr/>
        </p:nvSpPr>
        <p:spPr bwMode="auto">
          <a:xfrm>
            <a:off x="7478713" y="2771775"/>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878" name="Rectangle 119"/>
          <p:cNvSpPr>
            <a:spLocks noChangeArrowheads="1"/>
          </p:cNvSpPr>
          <p:nvPr/>
        </p:nvSpPr>
        <p:spPr bwMode="auto">
          <a:xfrm>
            <a:off x="6367463" y="2895600"/>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879" name="Rectangle 121"/>
          <p:cNvSpPr>
            <a:spLocks noChangeArrowheads="1"/>
          </p:cNvSpPr>
          <p:nvPr/>
        </p:nvSpPr>
        <p:spPr bwMode="auto">
          <a:xfrm>
            <a:off x="5605463" y="2971800"/>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880" name="Rectangle 128"/>
          <p:cNvSpPr>
            <a:spLocks noChangeArrowheads="1"/>
          </p:cNvSpPr>
          <p:nvPr/>
        </p:nvSpPr>
        <p:spPr bwMode="auto">
          <a:xfrm>
            <a:off x="4843463" y="2352675"/>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881" name="Rectangle 129"/>
          <p:cNvSpPr>
            <a:spLocks noChangeArrowheads="1"/>
          </p:cNvSpPr>
          <p:nvPr/>
        </p:nvSpPr>
        <p:spPr bwMode="auto">
          <a:xfrm>
            <a:off x="4090988" y="1133475"/>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882" name="Rectangle 130"/>
          <p:cNvSpPr>
            <a:spLocks noChangeArrowheads="1"/>
          </p:cNvSpPr>
          <p:nvPr/>
        </p:nvSpPr>
        <p:spPr bwMode="auto">
          <a:xfrm>
            <a:off x="3506788" y="561975"/>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883" name="Rectangle 131"/>
          <p:cNvSpPr>
            <a:spLocks noChangeArrowheads="1"/>
          </p:cNvSpPr>
          <p:nvPr/>
        </p:nvSpPr>
        <p:spPr bwMode="auto">
          <a:xfrm>
            <a:off x="3757613" y="1949450"/>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884" name="Rectangle 132"/>
          <p:cNvSpPr>
            <a:spLocks noChangeArrowheads="1"/>
          </p:cNvSpPr>
          <p:nvPr/>
        </p:nvSpPr>
        <p:spPr bwMode="auto">
          <a:xfrm>
            <a:off x="3246438" y="2638425"/>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885" name="Rectangle 133"/>
          <p:cNvSpPr>
            <a:spLocks noChangeArrowheads="1"/>
          </p:cNvSpPr>
          <p:nvPr/>
        </p:nvSpPr>
        <p:spPr bwMode="auto">
          <a:xfrm>
            <a:off x="4465638" y="1749425"/>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886" name="Rectangle 134"/>
          <p:cNvSpPr>
            <a:spLocks noChangeArrowheads="1"/>
          </p:cNvSpPr>
          <p:nvPr/>
        </p:nvSpPr>
        <p:spPr bwMode="auto">
          <a:xfrm>
            <a:off x="6894513" y="2127250"/>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887" name="Rectangle 135"/>
          <p:cNvSpPr>
            <a:spLocks noChangeArrowheads="1"/>
          </p:cNvSpPr>
          <p:nvPr/>
        </p:nvSpPr>
        <p:spPr bwMode="auto">
          <a:xfrm>
            <a:off x="6497638" y="1479550"/>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888" name="Rectangle 243"/>
          <p:cNvSpPr>
            <a:spLocks noChangeArrowheads="1"/>
          </p:cNvSpPr>
          <p:nvPr/>
        </p:nvSpPr>
        <p:spPr bwMode="auto">
          <a:xfrm>
            <a:off x="3224213" y="1009650"/>
            <a:ext cx="88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G</a:t>
            </a:r>
          </a:p>
        </p:txBody>
      </p:sp>
      <p:sp>
        <p:nvSpPr>
          <p:cNvPr id="36889" name="Rectangle 244"/>
          <p:cNvSpPr>
            <a:spLocks noChangeArrowheads="1"/>
          </p:cNvSpPr>
          <p:nvPr/>
        </p:nvSpPr>
        <p:spPr bwMode="auto">
          <a:xfrm>
            <a:off x="3268663" y="1657350"/>
            <a:ext cx="825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p>
        </p:txBody>
      </p:sp>
      <p:sp>
        <p:nvSpPr>
          <p:cNvPr id="36890" name="Rectangle 245"/>
          <p:cNvSpPr>
            <a:spLocks noChangeArrowheads="1"/>
          </p:cNvSpPr>
          <p:nvPr/>
        </p:nvSpPr>
        <p:spPr bwMode="auto">
          <a:xfrm>
            <a:off x="5465763" y="1209675"/>
            <a:ext cx="88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G</a:t>
            </a:r>
          </a:p>
        </p:txBody>
      </p:sp>
      <p:sp>
        <p:nvSpPr>
          <p:cNvPr id="36891" name="Rectangle 248"/>
          <p:cNvSpPr>
            <a:spLocks noChangeArrowheads="1"/>
          </p:cNvSpPr>
          <p:nvPr/>
        </p:nvSpPr>
        <p:spPr bwMode="auto">
          <a:xfrm>
            <a:off x="5507038" y="1946275"/>
            <a:ext cx="825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p>
        </p:txBody>
      </p:sp>
      <p:sp>
        <p:nvSpPr>
          <p:cNvPr id="36892" name="Rectangle 250"/>
          <p:cNvSpPr>
            <a:spLocks noChangeArrowheads="1"/>
          </p:cNvSpPr>
          <p:nvPr/>
        </p:nvSpPr>
        <p:spPr bwMode="auto">
          <a:xfrm>
            <a:off x="4935538" y="828675"/>
            <a:ext cx="698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T</a:t>
            </a:r>
          </a:p>
        </p:txBody>
      </p:sp>
      <p:sp>
        <p:nvSpPr>
          <p:cNvPr id="36893" name="Rectangle 251"/>
          <p:cNvSpPr>
            <a:spLocks noChangeArrowheads="1"/>
          </p:cNvSpPr>
          <p:nvPr/>
        </p:nvSpPr>
        <p:spPr bwMode="auto">
          <a:xfrm>
            <a:off x="4951413" y="1384300"/>
            <a:ext cx="825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A</a:t>
            </a:r>
          </a:p>
        </p:txBody>
      </p:sp>
      <p:sp>
        <p:nvSpPr>
          <p:cNvPr id="36894" name="Rectangle 252"/>
          <p:cNvSpPr>
            <a:spLocks noChangeArrowheads="1"/>
          </p:cNvSpPr>
          <p:nvPr/>
        </p:nvSpPr>
        <p:spPr bwMode="auto">
          <a:xfrm>
            <a:off x="3754438" y="1174750"/>
            <a:ext cx="825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A</a:t>
            </a:r>
          </a:p>
        </p:txBody>
      </p:sp>
      <p:sp>
        <p:nvSpPr>
          <p:cNvPr id="36895" name="Rectangle 253"/>
          <p:cNvSpPr>
            <a:spLocks noChangeArrowheads="1"/>
          </p:cNvSpPr>
          <p:nvPr/>
        </p:nvSpPr>
        <p:spPr bwMode="auto">
          <a:xfrm>
            <a:off x="6548438" y="2371725"/>
            <a:ext cx="825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A</a:t>
            </a:r>
          </a:p>
        </p:txBody>
      </p:sp>
      <p:sp>
        <p:nvSpPr>
          <p:cNvPr id="36896" name="Rectangle 254"/>
          <p:cNvSpPr>
            <a:spLocks noChangeArrowheads="1"/>
          </p:cNvSpPr>
          <p:nvPr/>
        </p:nvSpPr>
        <p:spPr bwMode="auto">
          <a:xfrm>
            <a:off x="6043613" y="1882775"/>
            <a:ext cx="825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A</a:t>
            </a:r>
          </a:p>
        </p:txBody>
      </p:sp>
      <p:sp>
        <p:nvSpPr>
          <p:cNvPr id="36897" name="Rectangle 257"/>
          <p:cNvSpPr>
            <a:spLocks noChangeArrowheads="1"/>
          </p:cNvSpPr>
          <p:nvPr/>
        </p:nvSpPr>
        <p:spPr bwMode="auto">
          <a:xfrm>
            <a:off x="6100763" y="2454275"/>
            <a:ext cx="698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T</a:t>
            </a:r>
          </a:p>
        </p:txBody>
      </p:sp>
      <p:sp>
        <p:nvSpPr>
          <p:cNvPr id="36898" name="Rectangle 258"/>
          <p:cNvSpPr>
            <a:spLocks noChangeArrowheads="1"/>
          </p:cNvSpPr>
          <p:nvPr/>
        </p:nvSpPr>
        <p:spPr bwMode="auto">
          <a:xfrm>
            <a:off x="3751263" y="901700"/>
            <a:ext cx="698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T</a:t>
            </a:r>
          </a:p>
        </p:txBody>
      </p:sp>
      <p:sp>
        <p:nvSpPr>
          <p:cNvPr id="36899" name="Rectangle 259"/>
          <p:cNvSpPr>
            <a:spLocks noChangeArrowheads="1"/>
          </p:cNvSpPr>
          <p:nvPr/>
        </p:nvSpPr>
        <p:spPr bwMode="auto">
          <a:xfrm>
            <a:off x="7259638" y="2200275"/>
            <a:ext cx="88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G</a:t>
            </a:r>
          </a:p>
        </p:txBody>
      </p:sp>
      <p:sp>
        <p:nvSpPr>
          <p:cNvPr id="36900" name="Line 262"/>
          <p:cNvSpPr>
            <a:spLocks noChangeShapeType="1"/>
          </p:cNvSpPr>
          <p:nvPr/>
        </p:nvSpPr>
        <p:spPr bwMode="auto">
          <a:xfrm flipH="1">
            <a:off x="5900738" y="679450"/>
            <a:ext cx="828675" cy="0"/>
          </a:xfrm>
          <a:prstGeom prst="line">
            <a:avLst/>
          </a:prstGeom>
          <a:noFill/>
          <a:ln w="22225">
            <a:solidFill>
              <a:srgbClr val="FFFFFF"/>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01" name="Line 263"/>
          <p:cNvSpPr>
            <a:spLocks noChangeShapeType="1"/>
          </p:cNvSpPr>
          <p:nvPr/>
        </p:nvSpPr>
        <p:spPr bwMode="auto">
          <a:xfrm flipH="1">
            <a:off x="5900738" y="679450"/>
            <a:ext cx="8286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02" name="Line 266"/>
          <p:cNvSpPr>
            <a:spLocks noChangeShapeType="1"/>
          </p:cNvSpPr>
          <p:nvPr/>
        </p:nvSpPr>
        <p:spPr bwMode="auto">
          <a:xfrm flipV="1">
            <a:off x="4557713" y="1841500"/>
            <a:ext cx="803275" cy="1206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03" name="Line 267"/>
          <p:cNvSpPr>
            <a:spLocks noChangeShapeType="1"/>
          </p:cNvSpPr>
          <p:nvPr/>
        </p:nvSpPr>
        <p:spPr bwMode="auto">
          <a:xfrm flipH="1">
            <a:off x="4557713" y="2286000"/>
            <a:ext cx="1416050" cy="7620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04" name="Line 269"/>
          <p:cNvSpPr>
            <a:spLocks noChangeShapeType="1"/>
          </p:cNvSpPr>
          <p:nvPr/>
        </p:nvSpPr>
        <p:spPr bwMode="auto">
          <a:xfrm flipH="1">
            <a:off x="4300538" y="1692275"/>
            <a:ext cx="704850" cy="6588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05" name="Line 278"/>
          <p:cNvSpPr>
            <a:spLocks noChangeShapeType="1"/>
          </p:cNvSpPr>
          <p:nvPr/>
        </p:nvSpPr>
        <p:spPr bwMode="auto">
          <a:xfrm flipH="1" flipV="1">
            <a:off x="3344863" y="962025"/>
            <a:ext cx="957262" cy="1400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06" name="Text Box 281"/>
          <p:cNvSpPr txBox="1">
            <a:spLocks noChangeArrowheads="1"/>
          </p:cNvSpPr>
          <p:nvPr/>
        </p:nvSpPr>
        <p:spPr bwMode="auto">
          <a:xfrm>
            <a:off x="4157663" y="2378075"/>
            <a:ext cx="42862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Bases</a:t>
            </a:r>
          </a:p>
        </p:txBody>
      </p:sp>
      <p:sp>
        <p:nvSpPr>
          <p:cNvPr id="36907" name="Text Box 283"/>
          <p:cNvSpPr txBox="1">
            <a:spLocks noChangeArrowheads="1"/>
          </p:cNvSpPr>
          <p:nvPr/>
        </p:nvSpPr>
        <p:spPr bwMode="auto">
          <a:xfrm>
            <a:off x="3875088" y="3035300"/>
            <a:ext cx="110807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Hydrogen bonding</a:t>
            </a:r>
          </a:p>
        </p:txBody>
      </p:sp>
      <p:sp>
        <p:nvSpPr>
          <p:cNvPr id="36908" name="Text Box 284"/>
          <p:cNvSpPr txBox="1">
            <a:spLocks noChangeArrowheads="1"/>
          </p:cNvSpPr>
          <p:nvPr/>
        </p:nvSpPr>
        <p:spPr bwMode="auto">
          <a:xfrm>
            <a:off x="3846513" y="3190875"/>
            <a:ext cx="157797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Occurs between base-pairs</a:t>
            </a:r>
          </a:p>
        </p:txBody>
      </p:sp>
      <p:pic>
        <p:nvPicPr>
          <p:cNvPr id="36909" name="Picture 289" descr="rav83074_0317_10"/>
          <p:cNvPicPr>
            <a:picLocks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3062288" y="3819525"/>
            <a:ext cx="462915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10" name="Rectangle 120"/>
          <p:cNvSpPr>
            <a:spLocks noChangeArrowheads="1"/>
          </p:cNvSpPr>
          <p:nvPr/>
        </p:nvSpPr>
        <p:spPr bwMode="auto">
          <a:xfrm>
            <a:off x="7539038" y="6048375"/>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911" name="Rectangle 122"/>
          <p:cNvSpPr>
            <a:spLocks noChangeArrowheads="1"/>
          </p:cNvSpPr>
          <p:nvPr/>
        </p:nvSpPr>
        <p:spPr bwMode="auto">
          <a:xfrm>
            <a:off x="5643563" y="4095750"/>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912" name="Rectangle 123"/>
          <p:cNvSpPr>
            <a:spLocks noChangeArrowheads="1"/>
          </p:cNvSpPr>
          <p:nvPr/>
        </p:nvSpPr>
        <p:spPr bwMode="auto">
          <a:xfrm>
            <a:off x="4916488" y="3835400"/>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913" name="Rectangle 124"/>
          <p:cNvSpPr>
            <a:spLocks noChangeArrowheads="1"/>
          </p:cNvSpPr>
          <p:nvPr/>
        </p:nvSpPr>
        <p:spPr bwMode="auto">
          <a:xfrm>
            <a:off x="4164013" y="3867150"/>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914" name="Rectangle 125"/>
          <p:cNvSpPr>
            <a:spLocks noChangeArrowheads="1"/>
          </p:cNvSpPr>
          <p:nvPr/>
        </p:nvSpPr>
        <p:spPr bwMode="auto">
          <a:xfrm>
            <a:off x="6253163" y="4676775"/>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915" name="Rectangle 126"/>
          <p:cNvSpPr>
            <a:spLocks noChangeArrowheads="1"/>
          </p:cNvSpPr>
          <p:nvPr/>
        </p:nvSpPr>
        <p:spPr bwMode="auto">
          <a:xfrm>
            <a:off x="6938963" y="5476875"/>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916" name="Rectangle 127"/>
          <p:cNvSpPr>
            <a:spLocks noChangeArrowheads="1"/>
          </p:cNvSpPr>
          <p:nvPr/>
        </p:nvSpPr>
        <p:spPr bwMode="auto">
          <a:xfrm>
            <a:off x="3455988" y="4187825"/>
            <a:ext cx="762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a:t>
            </a:r>
          </a:p>
        </p:txBody>
      </p:sp>
      <p:sp>
        <p:nvSpPr>
          <p:cNvPr id="36917" name="Rectangle 246"/>
          <p:cNvSpPr>
            <a:spLocks noChangeArrowheads="1"/>
          </p:cNvSpPr>
          <p:nvPr/>
        </p:nvSpPr>
        <p:spPr bwMode="auto">
          <a:xfrm>
            <a:off x="5153025" y="4433888"/>
            <a:ext cx="88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G</a:t>
            </a:r>
          </a:p>
        </p:txBody>
      </p:sp>
      <p:sp>
        <p:nvSpPr>
          <p:cNvPr id="36918" name="Rectangle 247"/>
          <p:cNvSpPr>
            <a:spLocks noChangeArrowheads="1"/>
          </p:cNvSpPr>
          <p:nvPr/>
        </p:nvSpPr>
        <p:spPr bwMode="auto">
          <a:xfrm>
            <a:off x="7072313" y="6448425"/>
            <a:ext cx="88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G</a:t>
            </a:r>
          </a:p>
        </p:txBody>
      </p:sp>
      <p:sp>
        <p:nvSpPr>
          <p:cNvPr id="36919" name="Rectangle 249"/>
          <p:cNvSpPr>
            <a:spLocks noChangeArrowheads="1"/>
          </p:cNvSpPr>
          <p:nvPr/>
        </p:nvSpPr>
        <p:spPr bwMode="auto">
          <a:xfrm>
            <a:off x="4681538" y="4171950"/>
            <a:ext cx="825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C</a:t>
            </a:r>
          </a:p>
        </p:txBody>
      </p:sp>
      <p:sp>
        <p:nvSpPr>
          <p:cNvPr id="36920" name="Rectangle 255"/>
          <p:cNvSpPr>
            <a:spLocks noChangeArrowheads="1"/>
          </p:cNvSpPr>
          <p:nvPr/>
        </p:nvSpPr>
        <p:spPr bwMode="auto">
          <a:xfrm>
            <a:off x="3965575" y="4449763"/>
            <a:ext cx="825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A</a:t>
            </a:r>
          </a:p>
        </p:txBody>
      </p:sp>
      <p:sp>
        <p:nvSpPr>
          <p:cNvPr id="36921" name="Rectangle 256"/>
          <p:cNvSpPr>
            <a:spLocks noChangeArrowheads="1"/>
          </p:cNvSpPr>
          <p:nvPr/>
        </p:nvSpPr>
        <p:spPr bwMode="auto">
          <a:xfrm>
            <a:off x="5802313" y="5019675"/>
            <a:ext cx="825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A</a:t>
            </a:r>
          </a:p>
        </p:txBody>
      </p:sp>
      <p:sp>
        <p:nvSpPr>
          <p:cNvPr id="36922" name="Rectangle 260"/>
          <p:cNvSpPr>
            <a:spLocks noChangeArrowheads="1"/>
          </p:cNvSpPr>
          <p:nvPr/>
        </p:nvSpPr>
        <p:spPr bwMode="auto">
          <a:xfrm>
            <a:off x="6399213" y="5502275"/>
            <a:ext cx="825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U</a:t>
            </a:r>
          </a:p>
        </p:txBody>
      </p:sp>
      <p:sp>
        <p:nvSpPr>
          <p:cNvPr id="36923" name="Rectangle 261"/>
          <p:cNvSpPr>
            <a:spLocks noChangeArrowheads="1"/>
          </p:cNvSpPr>
          <p:nvPr/>
        </p:nvSpPr>
        <p:spPr bwMode="auto">
          <a:xfrm>
            <a:off x="3344863" y="4741863"/>
            <a:ext cx="825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U</a:t>
            </a:r>
          </a:p>
        </p:txBody>
      </p:sp>
      <p:sp>
        <p:nvSpPr>
          <p:cNvPr id="36924" name="Line 272"/>
          <p:cNvSpPr>
            <a:spLocks noChangeShapeType="1"/>
          </p:cNvSpPr>
          <p:nvPr/>
        </p:nvSpPr>
        <p:spPr bwMode="auto">
          <a:xfrm flipH="1">
            <a:off x="5989638" y="4492625"/>
            <a:ext cx="492125" cy="0"/>
          </a:xfrm>
          <a:prstGeom prst="line">
            <a:avLst/>
          </a:prstGeom>
          <a:noFill/>
          <a:ln w="22225">
            <a:solidFill>
              <a:srgbClr val="FFFFFF"/>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25" name="Line 273"/>
          <p:cNvSpPr>
            <a:spLocks noChangeShapeType="1"/>
          </p:cNvSpPr>
          <p:nvPr/>
        </p:nvSpPr>
        <p:spPr bwMode="auto">
          <a:xfrm flipH="1">
            <a:off x="5989638" y="4492625"/>
            <a:ext cx="4921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26" name="Line 276"/>
          <p:cNvSpPr>
            <a:spLocks noChangeShapeType="1"/>
          </p:cNvSpPr>
          <p:nvPr/>
        </p:nvSpPr>
        <p:spPr bwMode="auto">
          <a:xfrm flipV="1">
            <a:off x="5380038" y="5165725"/>
            <a:ext cx="387350" cy="457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27" name="Line 277"/>
          <p:cNvSpPr>
            <a:spLocks noChangeShapeType="1"/>
          </p:cNvSpPr>
          <p:nvPr/>
        </p:nvSpPr>
        <p:spPr bwMode="auto">
          <a:xfrm flipH="1">
            <a:off x="5380038" y="5622925"/>
            <a:ext cx="1016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28" name="Text Box 290"/>
          <p:cNvSpPr txBox="1">
            <a:spLocks noChangeArrowheads="1"/>
          </p:cNvSpPr>
          <p:nvPr/>
        </p:nvSpPr>
        <p:spPr bwMode="auto">
          <a:xfrm>
            <a:off x="5005388" y="5534025"/>
            <a:ext cx="42862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Bases</a:t>
            </a:r>
          </a:p>
        </p:txBody>
      </p:sp>
      <p:sp>
        <p:nvSpPr>
          <p:cNvPr id="36929" name="Line 296"/>
          <p:cNvSpPr>
            <a:spLocks noChangeShapeType="1"/>
          </p:cNvSpPr>
          <p:nvPr/>
        </p:nvSpPr>
        <p:spPr bwMode="auto">
          <a:xfrm>
            <a:off x="3208338" y="16065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30" name="Line 297"/>
          <p:cNvSpPr>
            <a:spLocks noChangeShapeType="1"/>
          </p:cNvSpPr>
          <p:nvPr/>
        </p:nvSpPr>
        <p:spPr bwMode="auto">
          <a:xfrm>
            <a:off x="3208338" y="16065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31" name="Freeform 298"/>
          <p:cNvSpPr>
            <a:spLocks/>
          </p:cNvSpPr>
          <p:nvPr/>
        </p:nvSpPr>
        <p:spPr bwMode="auto">
          <a:xfrm>
            <a:off x="3195638" y="1593850"/>
            <a:ext cx="25400" cy="25400"/>
          </a:xfrm>
          <a:custGeom>
            <a:avLst/>
            <a:gdLst>
              <a:gd name="T0" fmla="*/ 2147483647 w 16"/>
              <a:gd name="T1" fmla="*/ 2147483647 h 16"/>
              <a:gd name="T2" fmla="*/ 2147483647 w 16"/>
              <a:gd name="T3" fmla="*/ 2147483647 h 16"/>
              <a:gd name="T4" fmla="*/ 2147483647 w 16"/>
              <a:gd name="T5" fmla="*/ 2147483647 h 16"/>
              <a:gd name="T6" fmla="*/ 2147483647 w 16"/>
              <a:gd name="T7" fmla="*/ 2147483647 h 16"/>
              <a:gd name="T8" fmla="*/ 2147483647 w 16"/>
              <a:gd name="T9" fmla="*/ 2147483647 h 16"/>
              <a:gd name="T10" fmla="*/ 2147483647 w 16"/>
              <a:gd name="T11" fmla="*/ 2147483647 h 16"/>
              <a:gd name="T12" fmla="*/ 2147483647 w 16"/>
              <a:gd name="T13" fmla="*/ 2147483647 h 16"/>
              <a:gd name="T14" fmla="*/ 2147483647 w 16"/>
              <a:gd name="T15" fmla="*/ 0 h 16"/>
              <a:gd name="T16" fmla="*/ 2147483647 w 16"/>
              <a:gd name="T17" fmla="*/ 0 h 16"/>
              <a:gd name="T18" fmla="*/ 2147483647 w 16"/>
              <a:gd name="T19" fmla="*/ 0 h 16"/>
              <a:gd name="T20" fmla="*/ 2147483647 w 16"/>
              <a:gd name="T21" fmla="*/ 0 h 16"/>
              <a:gd name="T22" fmla="*/ 2147483647 w 16"/>
              <a:gd name="T23" fmla="*/ 2147483647 h 16"/>
              <a:gd name="T24" fmla="*/ 0 w 16"/>
              <a:gd name="T25" fmla="*/ 2147483647 h 16"/>
              <a:gd name="T26" fmla="*/ 0 w 16"/>
              <a:gd name="T27" fmla="*/ 2147483647 h 16"/>
              <a:gd name="T28" fmla="*/ 0 w 16"/>
              <a:gd name="T29" fmla="*/ 2147483647 h 16"/>
              <a:gd name="T30" fmla="*/ 2147483647 w 16"/>
              <a:gd name="T31" fmla="*/ 2147483647 h 16"/>
              <a:gd name="T32" fmla="*/ 2147483647 w 16"/>
              <a:gd name="T33" fmla="*/ 2147483647 h 16"/>
              <a:gd name="T34" fmla="*/ 2147483647 w 16"/>
              <a:gd name="T35" fmla="*/ 2147483647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6"/>
              <a:gd name="T56" fmla="*/ 16 w 16"/>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6">
                <a:moveTo>
                  <a:pt x="6" y="16"/>
                </a:moveTo>
                <a:lnTo>
                  <a:pt x="6" y="16"/>
                </a:lnTo>
                <a:lnTo>
                  <a:pt x="10" y="16"/>
                </a:lnTo>
                <a:lnTo>
                  <a:pt x="14" y="14"/>
                </a:lnTo>
                <a:lnTo>
                  <a:pt x="16" y="8"/>
                </a:lnTo>
                <a:lnTo>
                  <a:pt x="16" y="4"/>
                </a:lnTo>
                <a:lnTo>
                  <a:pt x="14" y="2"/>
                </a:lnTo>
                <a:lnTo>
                  <a:pt x="12" y="0"/>
                </a:lnTo>
                <a:lnTo>
                  <a:pt x="8" y="0"/>
                </a:lnTo>
                <a:lnTo>
                  <a:pt x="4" y="0"/>
                </a:lnTo>
                <a:lnTo>
                  <a:pt x="2" y="2"/>
                </a:lnTo>
                <a:lnTo>
                  <a:pt x="0" y="8"/>
                </a:lnTo>
                <a:lnTo>
                  <a:pt x="0" y="12"/>
                </a:lnTo>
                <a:lnTo>
                  <a:pt x="0" y="14"/>
                </a:lnTo>
                <a:lnTo>
                  <a:pt x="4" y="16"/>
                </a:lnTo>
                <a:lnTo>
                  <a:pt x="6" y="16"/>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32" name="Line 299"/>
          <p:cNvSpPr>
            <a:spLocks noChangeShapeType="1"/>
          </p:cNvSpPr>
          <p:nvPr/>
        </p:nvSpPr>
        <p:spPr bwMode="auto">
          <a:xfrm>
            <a:off x="3208338" y="15303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33" name="Line 300"/>
          <p:cNvSpPr>
            <a:spLocks noChangeShapeType="1"/>
          </p:cNvSpPr>
          <p:nvPr/>
        </p:nvSpPr>
        <p:spPr bwMode="auto">
          <a:xfrm>
            <a:off x="3208338" y="15303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34" name="Freeform 301"/>
          <p:cNvSpPr>
            <a:spLocks/>
          </p:cNvSpPr>
          <p:nvPr/>
        </p:nvSpPr>
        <p:spPr bwMode="auto">
          <a:xfrm>
            <a:off x="3195638" y="1514475"/>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2147483647 h 18"/>
              <a:gd name="T16" fmla="*/ 2147483647 w 16"/>
              <a:gd name="T17" fmla="*/ 0 h 18"/>
              <a:gd name="T18" fmla="*/ 2147483647 w 16"/>
              <a:gd name="T19" fmla="*/ 0 h 18"/>
              <a:gd name="T20" fmla="*/ 2147483647 w 16"/>
              <a:gd name="T21" fmla="*/ 2147483647 h 18"/>
              <a:gd name="T22" fmla="*/ 2147483647 w 16"/>
              <a:gd name="T23" fmla="*/ 2147483647 h 18"/>
              <a:gd name="T24" fmla="*/ 0 w 16"/>
              <a:gd name="T25" fmla="*/ 2147483647 h 18"/>
              <a:gd name="T26" fmla="*/ 0 w 16"/>
              <a:gd name="T27" fmla="*/ 2147483647 h 18"/>
              <a:gd name="T28" fmla="*/ 0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6" y="18"/>
                </a:moveTo>
                <a:lnTo>
                  <a:pt x="6" y="18"/>
                </a:lnTo>
                <a:lnTo>
                  <a:pt x="10" y="18"/>
                </a:lnTo>
                <a:lnTo>
                  <a:pt x="14" y="16"/>
                </a:lnTo>
                <a:lnTo>
                  <a:pt x="16" y="10"/>
                </a:lnTo>
                <a:lnTo>
                  <a:pt x="16" y="6"/>
                </a:lnTo>
                <a:lnTo>
                  <a:pt x="14" y="4"/>
                </a:lnTo>
                <a:lnTo>
                  <a:pt x="12" y="2"/>
                </a:lnTo>
                <a:lnTo>
                  <a:pt x="8" y="0"/>
                </a:lnTo>
                <a:lnTo>
                  <a:pt x="4" y="2"/>
                </a:lnTo>
                <a:lnTo>
                  <a:pt x="2" y="4"/>
                </a:lnTo>
                <a:lnTo>
                  <a:pt x="0" y="10"/>
                </a:lnTo>
                <a:lnTo>
                  <a:pt x="0" y="12"/>
                </a:lnTo>
                <a:lnTo>
                  <a:pt x="0" y="16"/>
                </a:lnTo>
                <a:lnTo>
                  <a:pt x="4" y="18"/>
                </a:lnTo>
                <a:lnTo>
                  <a:pt x="6"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35" name="Line 302"/>
          <p:cNvSpPr>
            <a:spLocks noChangeShapeType="1"/>
          </p:cNvSpPr>
          <p:nvPr/>
        </p:nvSpPr>
        <p:spPr bwMode="auto">
          <a:xfrm>
            <a:off x="3208338" y="14509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36" name="Line 303"/>
          <p:cNvSpPr>
            <a:spLocks noChangeShapeType="1"/>
          </p:cNvSpPr>
          <p:nvPr/>
        </p:nvSpPr>
        <p:spPr bwMode="auto">
          <a:xfrm>
            <a:off x="3208338" y="14509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37" name="Freeform 304"/>
          <p:cNvSpPr>
            <a:spLocks/>
          </p:cNvSpPr>
          <p:nvPr/>
        </p:nvSpPr>
        <p:spPr bwMode="auto">
          <a:xfrm>
            <a:off x="3195638" y="1438275"/>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0 h 18"/>
              <a:gd name="T16" fmla="*/ 2147483647 w 16"/>
              <a:gd name="T17" fmla="*/ 0 h 18"/>
              <a:gd name="T18" fmla="*/ 2147483647 w 16"/>
              <a:gd name="T19" fmla="*/ 0 h 18"/>
              <a:gd name="T20" fmla="*/ 2147483647 w 16"/>
              <a:gd name="T21" fmla="*/ 0 h 18"/>
              <a:gd name="T22" fmla="*/ 2147483647 w 16"/>
              <a:gd name="T23" fmla="*/ 2147483647 h 18"/>
              <a:gd name="T24" fmla="*/ 0 w 16"/>
              <a:gd name="T25" fmla="*/ 2147483647 h 18"/>
              <a:gd name="T26" fmla="*/ 0 w 16"/>
              <a:gd name="T27" fmla="*/ 2147483647 h 18"/>
              <a:gd name="T28" fmla="*/ 0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6" y="18"/>
                </a:moveTo>
                <a:lnTo>
                  <a:pt x="6" y="18"/>
                </a:lnTo>
                <a:lnTo>
                  <a:pt x="10" y="16"/>
                </a:lnTo>
                <a:lnTo>
                  <a:pt x="14" y="16"/>
                </a:lnTo>
                <a:lnTo>
                  <a:pt x="16" y="8"/>
                </a:lnTo>
                <a:lnTo>
                  <a:pt x="16" y="6"/>
                </a:lnTo>
                <a:lnTo>
                  <a:pt x="14" y="2"/>
                </a:lnTo>
                <a:lnTo>
                  <a:pt x="12" y="0"/>
                </a:lnTo>
                <a:lnTo>
                  <a:pt x="8" y="0"/>
                </a:lnTo>
                <a:lnTo>
                  <a:pt x="4" y="0"/>
                </a:lnTo>
                <a:lnTo>
                  <a:pt x="2" y="2"/>
                </a:lnTo>
                <a:lnTo>
                  <a:pt x="0" y="8"/>
                </a:lnTo>
                <a:lnTo>
                  <a:pt x="0" y="12"/>
                </a:lnTo>
                <a:lnTo>
                  <a:pt x="0" y="16"/>
                </a:lnTo>
                <a:lnTo>
                  <a:pt x="4" y="16"/>
                </a:lnTo>
                <a:lnTo>
                  <a:pt x="6"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38" name="Line 305"/>
          <p:cNvSpPr>
            <a:spLocks noChangeShapeType="1"/>
          </p:cNvSpPr>
          <p:nvPr/>
        </p:nvSpPr>
        <p:spPr bwMode="auto">
          <a:xfrm>
            <a:off x="3208338" y="13747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39" name="Line 306"/>
          <p:cNvSpPr>
            <a:spLocks noChangeShapeType="1"/>
          </p:cNvSpPr>
          <p:nvPr/>
        </p:nvSpPr>
        <p:spPr bwMode="auto">
          <a:xfrm>
            <a:off x="3208338" y="13747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40" name="Freeform 307"/>
          <p:cNvSpPr>
            <a:spLocks/>
          </p:cNvSpPr>
          <p:nvPr/>
        </p:nvSpPr>
        <p:spPr bwMode="auto">
          <a:xfrm>
            <a:off x="3195638" y="1362075"/>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0 h 18"/>
              <a:gd name="T16" fmla="*/ 2147483647 w 16"/>
              <a:gd name="T17" fmla="*/ 0 h 18"/>
              <a:gd name="T18" fmla="*/ 2147483647 w 16"/>
              <a:gd name="T19" fmla="*/ 0 h 18"/>
              <a:gd name="T20" fmla="*/ 2147483647 w 16"/>
              <a:gd name="T21" fmla="*/ 0 h 18"/>
              <a:gd name="T22" fmla="*/ 2147483647 w 16"/>
              <a:gd name="T23" fmla="*/ 2147483647 h 18"/>
              <a:gd name="T24" fmla="*/ 0 w 16"/>
              <a:gd name="T25" fmla="*/ 2147483647 h 18"/>
              <a:gd name="T26" fmla="*/ 0 w 16"/>
              <a:gd name="T27" fmla="*/ 2147483647 h 18"/>
              <a:gd name="T28" fmla="*/ 0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6" y="18"/>
                </a:moveTo>
                <a:lnTo>
                  <a:pt x="6" y="18"/>
                </a:lnTo>
                <a:lnTo>
                  <a:pt x="10" y="16"/>
                </a:lnTo>
                <a:lnTo>
                  <a:pt x="14" y="14"/>
                </a:lnTo>
                <a:lnTo>
                  <a:pt x="16" y="8"/>
                </a:lnTo>
                <a:lnTo>
                  <a:pt x="16" y="6"/>
                </a:lnTo>
                <a:lnTo>
                  <a:pt x="14" y="2"/>
                </a:lnTo>
                <a:lnTo>
                  <a:pt x="12" y="0"/>
                </a:lnTo>
                <a:lnTo>
                  <a:pt x="8" y="0"/>
                </a:lnTo>
                <a:lnTo>
                  <a:pt x="4" y="0"/>
                </a:lnTo>
                <a:lnTo>
                  <a:pt x="2" y="2"/>
                </a:lnTo>
                <a:lnTo>
                  <a:pt x="0" y="8"/>
                </a:lnTo>
                <a:lnTo>
                  <a:pt x="0" y="12"/>
                </a:lnTo>
                <a:lnTo>
                  <a:pt x="0" y="14"/>
                </a:lnTo>
                <a:lnTo>
                  <a:pt x="4" y="16"/>
                </a:lnTo>
                <a:lnTo>
                  <a:pt x="6"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41" name="Line 308"/>
          <p:cNvSpPr>
            <a:spLocks noChangeShapeType="1"/>
          </p:cNvSpPr>
          <p:nvPr/>
        </p:nvSpPr>
        <p:spPr bwMode="auto">
          <a:xfrm>
            <a:off x="3208338" y="12985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42" name="Line 309"/>
          <p:cNvSpPr>
            <a:spLocks noChangeShapeType="1"/>
          </p:cNvSpPr>
          <p:nvPr/>
        </p:nvSpPr>
        <p:spPr bwMode="auto">
          <a:xfrm>
            <a:off x="3208338" y="12985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43" name="Freeform 310"/>
          <p:cNvSpPr>
            <a:spLocks/>
          </p:cNvSpPr>
          <p:nvPr/>
        </p:nvSpPr>
        <p:spPr bwMode="auto">
          <a:xfrm>
            <a:off x="3195638" y="1285875"/>
            <a:ext cx="25400" cy="25400"/>
          </a:xfrm>
          <a:custGeom>
            <a:avLst/>
            <a:gdLst>
              <a:gd name="T0" fmla="*/ 2147483647 w 16"/>
              <a:gd name="T1" fmla="*/ 2147483647 h 16"/>
              <a:gd name="T2" fmla="*/ 2147483647 w 16"/>
              <a:gd name="T3" fmla="*/ 2147483647 h 16"/>
              <a:gd name="T4" fmla="*/ 2147483647 w 16"/>
              <a:gd name="T5" fmla="*/ 2147483647 h 16"/>
              <a:gd name="T6" fmla="*/ 2147483647 w 16"/>
              <a:gd name="T7" fmla="*/ 2147483647 h 16"/>
              <a:gd name="T8" fmla="*/ 2147483647 w 16"/>
              <a:gd name="T9" fmla="*/ 2147483647 h 16"/>
              <a:gd name="T10" fmla="*/ 2147483647 w 16"/>
              <a:gd name="T11" fmla="*/ 2147483647 h 16"/>
              <a:gd name="T12" fmla="*/ 2147483647 w 16"/>
              <a:gd name="T13" fmla="*/ 2147483647 h 16"/>
              <a:gd name="T14" fmla="*/ 2147483647 w 16"/>
              <a:gd name="T15" fmla="*/ 0 h 16"/>
              <a:gd name="T16" fmla="*/ 2147483647 w 16"/>
              <a:gd name="T17" fmla="*/ 0 h 16"/>
              <a:gd name="T18" fmla="*/ 2147483647 w 16"/>
              <a:gd name="T19" fmla="*/ 0 h 16"/>
              <a:gd name="T20" fmla="*/ 2147483647 w 16"/>
              <a:gd name="T21" fmla="*/ 0 h 16"/>
              <a:gd name="T22" fmla="*/ 2147483647 w 16"/>
              <a:gd name="T23" fmla="*/ 2147483647 h 16"/>
              <a:gd name="T24" fmla="*/ 0 w 16"/>
              <a:gd name="T25" fmla="*/ 2147483647 h 16"/>
              <a:gd name="T26" fmla="*/ 0 w 16"/>
              <a:gd name="T27" fmla="*/ 2147483647 h 16"/>
              <a:gd name="T28" fmla="*/ 0 w 16"/>
              <a:gd name="T29" fmla="*/ 2147483647 h 16"/>
              <a:gd name="T30" fmla="*/ 2147483647 w 16"/>
              <a:gd name="T31" fmla="*/ 2147483647 h 16"/>
              <a:gd name="T32" fmla="*/ 2147483647 w 16"/>
              <a:gd name="T33" fmla="*/ 2147483647 h 16"/>
              <a:gd name="T34" fmla="*/ 2147483647 w 16"/>
              <a:gd name="T35" fmla="*/ 2147483647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6"/>
              <a:gd name="T56" fmla="*/ 16 w 16"/>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6">
                <a:moveTo>
                  <a:pt x="6" y="16"/>
                </a:moveTo>
                <a:lnTo>
                  <a:pt x="6" y="16"/>
                </a:lnTo>
                <a:lnTo>
                  <a:pt x="10" y="16"/>
                </a:lnTo>
                <a:lnTo>
                  <a:pt x="14" y="14"/>
                </a:lnTo>
                <a:lnTo>
                  <a:pt x="16" y="8"/>
                </a:lnTo>
                <a:lnTo>
                  <a:pt x="16" y="4"/>
                </a:lnTo>
                <a:lnTo>
                  <a:pt x="14" y="2"/>
                </a:lnTo>
                <a:lnTo>
                  <a:pt x="12" y="0"/>
                </a:lnTo>
                <a:lnTo>
                  <a:pt x="8" y="0"/>
                </a:lnTo>
                <a:lnTo>
                  <a:pt x="4" y="0"/>
                </a:lnTo>
                <a:lnTo>
                  <a:pt x="2" y="2"/>
                </a:lnTo>
                <a:lnTo>
                  <a:pt x="0" y="8"/>
                </a:lnTo>
                <a:lnTo>
                  <a:pt x="0" y="12"/>
                </a:lnTo>
                <a:lnTo>
                  <a:pt x="0" y="14"/>
                </a:lnTo>
                <a:lnTo>
                  <a:pt x="4" y="16"/>
                </a:lnTo>
                <a:lnTo>
                  <a:pt x="6" y="16"/>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44" name="Line 311"/>
          <p:cNvSpPr>
            <a:spLocks noChangeShapeType="1"/>
          </p:cNvSpPr>
          <p:nvPr/>
        </p:nvSpPr>
        <p:spPr bwMode="auto">
          <a:xfrm>
            <a:off x="3208338" y="12223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45" name="Line 312"/>
          <p:cNvSpPr>
            <a:spLocks noChangeShapeType="1"/>
          </p:cNvSpPr>
          <p:nvPr/>
        </p:nvSpPr>
        <p:spPr bwMode="auto">
          <a:xfrm>
            <a:off x="3208338" y="12223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46" name="Freeform 313"/>
          <p:cNvSpPr>
            <a:spLocks/>
          </p:cNvSpPr>
          <p:nvPr/>
        </p:nvSpPr>
        <p:spPr bwMode="auto">
          <a:xfrm>
            <a:off x="3195638" y="1206500"/>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2147483647 h 18"/>
              <a:gd name="T16" fmla="*/ 2147483647 w 16"/>
              <a:gd name="T17" fmla="*/ 0 h 18"/>
              <a:gd name="T18" fmla="*/ 2147483647 w 16"/>
              <a:gd name="T19" fmla="*/ 0 h 18"/>
              <a:gd name="T20" fmla="*/ 2147483647 w 16"/>
              <a:gd name="T21" fmla="*/ 2147483647 h 18"/>
              <a:gd name="T22" fmla="*/ 2147483647 w 16"/>
              <a:gd name="T23" fmla="*/ 2147483647 h 18"/>
              <a:gd name="T24" fmla="*/ 0 w 16"/>
              <a:gd name="T25" fmla="*/ 2147483647 h 18"/>
              <a:gd name="T26" fmla="*/ 0 w 16"/>
              <a:gd name="T27" fmla="*/ 2147483647 h 18"/>
              <a:gd name="T28" fmla="*/ 0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6" y="18"/>
                </a:moveTo>
                <a:lnTo>
                  <a:pt x="6" y="18"/>
                </a:lnTo>
                <a:lnTo>
                  <a:pt x="10" y="18"/>
                </a:lnTo>
                <a:lnTo>
                  <a:pt x="14" y="16"/>
                </a:lnTo>
                <a:lnTo>
                  <a:pt x="16" y="10"/>
                </a:lnTo>
                <a:lnTo>
                  <a:pt x="16" y="6"/>
                </a:lnTo>
                <a:lnTo>
                  <a:pt x="14" y="4"/>
                </a:lnTo>
                <a:lnTo>
                  <a:pt x="12" y="2"/>
                </a:lnTo>
                <a:lnTo>
                  <a:pt x="8" y="0"/>
                </a:lnTo>
                <a:lnTo>
                  <a:pt x="4" y="2"/>
                </a:lnTo>
                <a:lnTo>
                  <a:pt x="2" y="4"/>
                </a:lnTo>
                <a:lnTo>
                  <a:pt x="0" y="10"/>
                </a:lnTo>
                <a:lnTo>
                  <a:pt x="0" y="12"/>
                </a:lnTo>
                <a:lnTo>
                  <a:pt x="0" y="16"/>
                </a:lnTo>
                <a:lnTo>
                  <a:pt x="4" y="18"/>
                </a:lnTo>
                <a:lnTo>
                  <a:pt x="6"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47" name="Line 314"/>
          <p:cNvSpPr>
            <a:spLocks noChangeShapeType="1"/>
          </p:cNvSpPr>
          <p:nvPr/>
        </p:nvSpPr>
        <p:spPr bwMode="auto">
          <a:xfrm>
            <a:off x="3309938" y="15525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48" name="Line 315"/>
          <p:cNvSpPr>
            <a:spLocks noChangeShapeType="1"/>
          </p:cNvSpPr>
          <p:nvPr/>
        </p:nvSpPr>
        <p:spPr bwMode="auto">
          <a:xfrm>
            <a:off x="3309938" y="15525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49" name="Freeform 316"/>
          <p:cNvSpPr>
            <a:spLocks/>
          </p:cNvSpPr>
          <p:nvPr/>
        </p:nvSpPr>
        <p:spPr bwMode="auto">
          <a:xfrm>
            <a:off x="3297238" y="1539875"/>
            <a:ext cx="25400" cy="25400"/>
          </a:xfrm>
          <a:custGeom>
            <a:avLst/>
            <a:gdLst>
              <a:gd name="T0" fmla="*/ 2147483647 w 16"/>
              <a:gd name="T1" fmla="*/ 2147483647 h 16"/>
              <a:gd name="T2" fmla="*/ 2147483647 w 16"/>
              <a:gd name="T3" fmla="*/ 2147483647 h 16"/>
              <a:gd name="T4" fmla="*/ 2147483647 w 16"/>
              <a:gd name="T5" fmla="*/ 2147483647 h 16"/>
              <a:gd name="T6" fmla="*/ 2147483647 w 16"/>
              <a:gd name="T7" fmla="*/ 2147483647 h 16"/>
              <a:gd name="T8" fmla="*/ 2147483647 w 16"/>
              <a:gd name="T9" fmla="*/ 2147483647 h 16"/>
              <a:gd name="T10" fmla="*/ 2147483647 w 16"/>
              <a:gd name="T11" fmla="*/ 2147483647 h 16"/>
              <a:gd name="T12" fmla="*/ 2147483647 w 16"/>
              <a:gd name="T13" fmla="*/ 2147483647 h 16"/>
              <a:gd name="T14" fmla="*/ 2147483647 w 16"/>
              <a:gd name="T15" fmla="*/ 0 h 16"/>
              <a:gd name="T16" fmla="*/ 2147483647 w 16"/>
              <a:gd name="T17" fmla="*/ 0 h 16"/>
              <a:gd name="T18" fmla="*/ 2147483647 w 16"/>
              <a:gd name="T19" fmla="*/ 0 h 16"/>
              <a:gd name="T20" fmla="*/ 2147483647 w 16"/>
              <a:gd name="T21" fmla="*/ 0 h 16"/>
              <a:gd name="T22" fmla="*/ 2147483647 w 16"/>
              <a:gd name="T23" fmla="*/ 2147483647 h 16"/>
              <a:gd name="T24" fmla="*/ 0 w 16"/>
              <a:gd name="T25" fmla="*/ 2147483647 h 16"/>
              <a:gd name="T26" fmla="*/ 0 w 16"/>
              <a:gd name="T27" fmla="*/ 2147483647 h 16"/>
              <a:gd name="T28" fmla="*/ 2147483647 w 16"/>
              <a:gd name="T29" fmla="*/ 2147483647 h 16"/>
              <a:gd name="T30" fmla="*/ 2147483647 w 16"/>
              <a:gd name="T31" fmla="*/ 2147483647 h 16"/>
              <a:gd name="T32" fmla="*/ 2147483647 w 16"/>
              <a:gd name="T33" fmla="*/ 2147483647 h 16"/>
              <a:gd name="T34" fmla="*/ 2147483647 w 16"/>
              <a:gd name="T35" fmla="*/ 2147483647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6"/>
              <a:gd name="T56" fmla="*/ 16 w 16"/>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6">
                <a:moveTo>
                  <a:pt x="8" y="16"/>
                </a:moveTo>
                <a:lnTo>
                  <a:pt x="8" y="16"/>
                </a:lnTo>
                <a:lnTo>
                  <a:pt x="10" y="16"/>
                </a:lnTo>
                <a:lnTo>
                  <a:pt x="14" y="14"/>
                </a:lnTo>
                <a:lnTo>
                  <a:pt x="16" y="8"/>
                </a:lnTo>
                <a:lnTo>
                  <a:pt x="16" y="4"/>
                </a:lnTo>
                <a:lnTo>
                  <a:pt x="14" y="2"/>
                </a:lnTo>
                <a:lnTo>
                  <a:pt x="12" y="0"/>
                </a:lnTo>
                <a:lnTo>
                  <a:pt x="8" y="0"/>
                </a:lnTo>
                <a:lnTo>
                  <a:pt x="6" y="0"/>
                </a:lnTo>
                <a:lnTo>
                  <a:pt x="2" y="2"/>
                </a:lnTo>
                <a:lnTo>
                  <a:pt x="0" y="8"/>
                </a:lnTo>
                <a:lnTo>
                  <a:pt x="0" y="12"/>
                </a:lnTo>
                <a:lnTo>
                  <a:pt x="2" y="14"/>
                </a:lnTo>
                <a:lnTo>
                  <a:pt x="4" y="16"/>
                </a:lnTo>
                <a:lnTo>
                  <a:pt x="8" y="16"/>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50" name="Line 317"/>
          <p:cNvSpPr>
            <a:spLocks noChangeShapeType="1"/>
          </p:cNvSpPr>
          <p:nvPr/>
        </p:nvSpPr>
        <p:spPr bwMode="auto">
          <a:xfrm>
            <a:off x="3309938" y="14763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51" name="Line 318"/>
          <p:cNvSpPr>
            <a:spLocks noChangeShapeType="1"/>
          </p:cNvSpPr>
          <p:nvPr/>
        </p:nvSpPr>
        <p:spPr bwMode="auto">
          <a:xfrm>
            <a:off x="3309938" y="14763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52" name="Freeform 319"/>
          <p:cNvSpPr>
            <a:spLocks/>
          </p:cNvSpPr>
          <p:nvPr/>
        </p:nvSpPr>
        <p:spPr bwMode="auto">
          <a:xfrm>
            <a:off x="3297238" y="1460500"/>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2147483647 h 18"/>
              <a:gd name="T16" fmla="*/ 2147483647 w 16"/>
              <a:gd name="T17" fmla="*/ 0 h 18"/>
              <a:gd name="T18" fmla="*/ 2147483647 w 16"/>
              <a:gd name="T19" fmla="*/ 0 h 18"/>
              <a:gd name="T20" fmla="*/ 2147483647 w 16"/>
              <a:gd name="T21" fmla="*/ 2147483647 h 18"/>
              <a:gd name="T22" fmla="*/ 2147483647 w 16"/>
              <a:gd name="T23" fmla="*/ 2147483647 h 18"/>
              <a:gd name="T24" fmla="*/ 0 w 16"/>
              <a:gd name="T25" fmla="*/ 2147483647 h 18"/>
              <a:gd name="T26" fmla="*/ 0 w 16"/>
              <a:gd name="T27" fmla="*/ 2147483647 h 18"/>
              <a:gd name="T28" fmla="*/ 2147483647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8" y="18"/>
                </a:moveTo>
                <a:lnTo>
                  <a:pt x="8" y="18"/>
                </a:lnTo>
                <a:lnTo>
                  <a:pt x="10" y="18"/>
                </a:lnTo>
                <a:lnTo>
                  <a:pt x="14" y="16"/>
                </a:lnTo>
                <a:lnTo>
                  <a:pt x="16" y="10"/>
                </a:lnTo>
                <a:lnTo>
                  <a:pt x="16" y="6"/>
                </a:lnTo>
                <a:lnTo>
                  <a:pt x="14" y="4"/>
                </a:lnTo>
                <a:lnTo>
                  <a:pt x="12" y="2"/>
                </a:lnTo>
                <a:lnTo>
                  <a:pt x="8" y="0"/>
                </a:lnTo>
                <a:lnTo>
                  <a:pt x="6" y="2"/>
                </a:lnTo>
                <a:lnTo>
                  <a:pt x="2"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53" name="Line 320"/>
          <p:cNvSpPr>
            <a:spLocks noChangeShapeType="1"/>
          </p:cNvSpPr>
          <p:nvPr/>
        </p:nvSpPr>
        <p:spPr bwMode="auto">
          <a:xfrm>
            <a:off x="3309938" y="14001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54" name="Line 321"/>
          <p:cNvSpPr>
            <a:spLocks noChangeShapeType="1"/>
          </p:cNvSpPr>
          <p:nvPr/>
        </p:nvSpPr>
        <p:spPr bwMode="auto">
          <a:xfrm>
            <a:off x="3309938" y="14001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55" name="Freeform 322"/>
          <p:cNvSpPr>
            <a:spLocks/>
          </p:cNvSpPr>
          <p:nvPr/>
        </p:nvSpPr>
        <p:spPr bwMode="auto">
          <a:xfrm>
            <a:off x="3297238" y="1384300"/>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2147483647 h 18"/>
              <a:gd name="T16" fmla="*/ 2147483647 w 16"/>
              <a:gd name="T17" fmla="*/ 0 h 18"/>
              <a:gd name="T18" fmla="*/ 2147483647 w 16"/>
              <a:gd name="T19" fmla="*/ 0 h 18"/>
              <a:gd name="T20" fmla="*/ 2147483647 w 16"/>
              <a:gd name="T21" fmla="*/ 2147483647 h 18"/>
              <a:gd name="T22" fmla="*/ 2147483647 w 16"/>
              <a:gd name="T23" fmla="*/ 2147483647 h 18"/>
              <a:gd name="T24" fmla="*/ 0 w 16"/>
              <a:gd name="T25" fmla="*/ 2147483647 h 18"/>
              <a:gd name="T26" fmla="*/ 0 w 16"/>
              <a:gd name="T27" fmla="*/ 2147483647 h 18"/>
              <a:gd name="T28" fmla="*/ 2147483647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8" y="18"/>
                </a:moveTo>
                <a:lnTo>
                  <a:pt x="8" y="18"/>
                </a:lnTo>
                <a:lnTo>
                  <a:pt x="10" y="18"/>
                </a:lnTo>
                <a:lnTo>
                  <a:pt x="14" y="16"/>
                </a:lnTo>
                <a:lnTo>
                  <a:pt x="16" y="10"/>
                </a:lnTo>
                <a:lnTo>
                  <a:pt x="16" y="6"/>
                </a:lnTo>
                <a:lnTo>
                  <a:pt x="14" y="4"/>
                </a:lnTo>
                <a:lnTo>
                  <a:pt x="12" y="2"/>
                </a:lnTo>
                <a:lnTo>
                  <a:pt x="8" y="0"/>
                </a:lnTo>
                <a:lnTo>
                  <a:pt x="6" y="2"/>
                </a:lnTo>
                <a:lnTo>
                  <a:pt x="2"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56" name="Line 323"/>
          <p:cNvSpPr>
            <a:spLocks noChangeShapeType="1"/>
          </p:cNvSpPr>
          <p:nvPr/>
        </p:nvSpPr>
        <p:spPr bwMode="auto">
          <a:xfrm>
            <a:off x="3309938" y="13208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57" name="Line 324"/>
          <p:cNvSpPr>
            <a:spLocks noChangeShapeType="1"/>
          </p:cNvSpPr>
          <p:nvPr/>
        </p:nvSpPr>
        <p:spPr bwMode="auto">
          <a:xfrm>
            <a:off x="3309938" y="13208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58" name="Freeform 325"/>
          <p:cNvSpPr>
            <a:spLocks/>
          </p:cNvSpPr>
          <p:nvPr/>
        </p:nvSpPr>
        <p:spPr bwMode="auto">
          <a:xfrm>
            <a:off x="3297238" y="1308100"/>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0 h 18"/>
              <a:gd name="T16" fmla="*/ 2147483647 w 16"/>
              <a:gd name="T17" fmla="*/ 0 h 18"/>
              <a:gd name="T18" fmla="*/ 2147483647 w 16"/>
              <a:gd name="T19" fmla="*/ 0 h 18"/>
              <a:gd name="T20" fmla="*/ 2147483647 w 16"/>
              <a:gd name="T21" fmla="*/ 0 h 18"/>
              <a:gd name="T22" fmla="*/ 2147483647 w 16"/>
              <a:gd name="T23" fmla="*/ 2147483647 h 18"/>
              <a:gd name="T24" fmla="*/ 0 w 16"/>
              <a:gd name="T25" fmla="*/ 2147483647 h 18"/>
              <a:gd name="T26" fmla="*/ 0 w 16"/>
              <a:gd name="T27" fmla="*/ 2147483647 h 18"/>
              <a:gd name="T28" fmla="*/ 2147483647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8" y="18"/>
                </a:moveTo>
                <a:lnTo>
                  <a:pt x="8" y="18"/>
                </a:lnTo>
                <a:lnTo>
                  <a:pt x="10" y="16"/>
                </a:lnTo>
                <a:lnTo>
                  <a:pt x="14" y="14"/>
                </a:lnTo>
                <a:lnTo>
                  <a:pt x="16" y="8"/>
                </a:lnTo>
                <a:lnTo>
                  <a:pt x="16" y="6"/>
                </a:lnTo>
                <a:lnTo>
                  <a:pt x="14" y="2"/>
                </a:lnTo>
                <a:lnTo>
                  <a:pt x="12" y="0"/>
                </a:lnTo>
                <a:lnTo>
                  <a:pt x="8" y="0"/>
                </a:lnTo>
                <a:lnTo>
                  <a:pt x="6" y="0"/>
                </a:lnTo>
                <a:lnTo>
                  <a:pt x="2"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59" name="Line 326"/>
          <p:cNvSpPr>
            <a:spLocks noChangeShapeType="1"/>
          </p:cNvSpPr>
          <p:nvPr/>
        </p:nvSpPr>
        <p:spPr bwMode="auto">
          <a:xfrm>
            <a:off x="3309938" y="12446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60" name="Line 327"/>
          <p:cNvSpPr>
            <a:spLocks noChangeShapeType="1"/>
          </p:cNvSpPr>
          <p:nvPr/>
        </p:nvSpPr>
        <p:spPr bwMode="auto">
          <a:xfrm>
            <a:off x="3309938" y="12446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61" name="Freeform 328"/>
          <p:cNvSpPr>
            <a:spLocks/>
          </p:cNvSpPr>
          <p:nvPr/>
        </p:nvSpPr>
        <p:spPr bwMode="auto">
          <a:xfrm>
            <a:off x="3297238" y="1231900"/>
            <a:ext cx="25400" cy="25400"/>
          </a:xfrm>
          <a:custGeom>
            <a:avLst/>
            <a:gdLst>
              <a:gd name="T0" fmla="*/ 2147483647 w 16"/>
              <a:gd name="T1" fmla="*/ 2147483647 h 16"/>
              <a:gd name="T2" fmla="*/ 2147483647 w 16"/>
              <a:gd name="T3" fmla="*/ 2147483647 h 16"/>
              <a:gd name="T4" fmla="*/ 2147483647 w 16"/>
              <a:gd name="T5" fmla="*/ 2147483647 h 16"/>
              <a:gd name="T6" fmla="*/ 2147483647 w 16"/>
              <a:gd name="T7" fmla="*/ 2147483647 h 16"/>
              <a:gd name="T8" fmla="*/ 2147483647 w 16"/>
              <a:gd name="T9" fmla="*/ 2147483647 h 16"/>
              <a:gd name="T10" fmla="*/ 2147483647 w 16"/>
              <a:gd name="T11" fmla="*/ 2147483647 h 16"/>
              <a:gd name="T12" fmla="*/ 2147483647 w 16"/>
              <a:gd name="T13" fmla="*/ 2147483647 h 16"/>
              <a:gd name="T14" fmla="*/ 2147483647 w 16"/>
              <a:gd name="T15" fmla="*/ 0 h 16"/>
              <a:gd name="T16" fmla="*/ 2147483647 w 16"/>
              <a:gd name="T17" fmla="*/ 0 h 16"/>
              <a:gd name="T18" fmla="*/ 2147483647 w 16"/>
              <a:gd name="T19" fmla="*/ 0 h 16"/>
              <a:gd name="T20" fmla="*/ 2147483647 w 16"/>
              <a:gd name="T21" fmla="*/ 0 h 16"/>
              <a:gd name="T22" fmla="*/ 2147483647 w 16"/>
              <a:gd name="T23" fmla="*/ 2147483647 h 16"/>
              <a:gd name="T24" fmla="*/ 0 w 16"/>
              <a:gd name="T25" fmla="*/ 2147483647 h 16"/>
              <a:gd name="T26" fmla="*/ 0 w 16"/>
              <a:gd name="T27" fmla="*/ 2147483647 h 16"/>
              <a:gd name="T28" fmla="*/ 2147483647 w 16"/>
              <a:gd name="T29" fmla="*/ 2147483647 h 16"/>
              <a:gd name="T30" fmla="*/ 2147483647 w 16"/>
              <a:gd name="T31" fmla="*/ 2147483647 h 16"/>
              <a:gd name="T32" fmla="*/ 2147483647 w 16"/>
              <a:gd name="T33" fmla="*/ 2147483647 h 16"/>
              <a:gd name="T34" fmla="*/ 2147483647 w 16"/>
              <a:gd name="T35" fmla="*/ 2147483647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6"/>
              <a:gd name="T56" fmla="*/ 16 w 16"/>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6">
                <a:moveTo>
                  <a:pt x="8" y="16"/>
                </a:moveTo>
                <a:lnTo>
                  <a:pt x="8" y="16"/>
                </a:lnTo>
                <a:lnTo>
                  <a:pt x="10" y="16"/>
                </a:lnTo>
                <a:lnTo>
                  <a:pt x="14" y="14"/>
                </a:lnTo>
                <a:lnTo>
                  <a:pt x="16" y="8"/>
                </a:lnTo>
                <a:lnTo>
                  <a:pt x="16" y="4"/>
                </a:lnTo>
                <a:lnTo>
                  <a:pt x="14" y="2"/>
                </a:lnTo>
                <a:lnTo>
                  <a:pt x="12" y="0"/>
                </a:lnTo>
                <a:lnTo>
                  <a:pt x="8" y="0"/>
                </a:lnTo>
                <a:lnTo>
                  <a:pt x="6" y="0"/>
                </a:lnTo>
                <a:lnTo>
                  <a:pt x="2" y="2"/>
                </a:lnTo>
                <a:lnTo>
                  <a:pt x="0" y="8"/>
                </a:lnTo>
                <a:lnTo>
                  <a:pt x="0" y="12"/>
                </a:lnTo>
                <a:lnTo>
                  <a:pt x="2" y="14"/>
                </a:lnTo>
                <a:lnTo>
                  <a:pt x="4" y="16"/>
                </a:lnTo>
                <a:lnTo>
                  <a:pt x="8" y="16"/>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62" name="Line 329"/>
          <p:cNvSpPr>
            <a:spLocks noChangeShapeType="1"/>
          </p:cNvSpPr>
          <p:nvPr/>
        </p:nvSpPr>
        <p:spPr bwMode="auto">
          <a:xfrm>
            <a:off x="3411538" y="16033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63" name="Line 330"/>
          <p:cNvSpPr>
            <a:spLocks noChangeShapeType="1"/>
          </p:cNvSpPr>
          <p:nvPr/>
        </p:nvSpPr>
        <p:spPr bwMode="auto">
          <a:xfrm>
            <a:off x="3411538" y="16033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64" name="Freeform 331"/>
          <p:cNvSpPr>
            <a:spLocks/>
          </p:cNvSpPr>
          <p:nvPr/>
        </p:nvSpPr>
        <p:spPr bwMode="auto">
          <a:xfrm>
            <a:off x="3395663" y="1587500"/>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65" name="Line 332"/>
          <p:cNvSpPr>
            <a:spLocks noChangeShapeType="1"/>
          </p:cNvSpPr>
          <p:nvPr/>
        </p:nvSpPr>
        <p:spPr bwMode="auto">
          <a:xfrm>
            <a:off x="3411538" y="15240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66" name="Line 333"/>
          <p:cNvSpPr>
            <a:spLocks noChangeShapeType="1"/>
          </p:cNvSpPr>
          <p:nvPr/>
        </p:nvSpPr>
        <p:spPr bwMode="auto">
          <a:xfrm>
            <a:off x="3411538" y="15240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67" name="Freeform 334"/>
          <p:cNvSpPr>
            <a:spLocks/>
          </p:cNvSpPr>
          <p:nvPr/>
        </p:nvSpPr>
        <p:spPr bwMode="auto">
          <a:xfrm>
            <a:off x="3395663" y="1511300"/>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0 h 18"/>
              <a:gd name="T16" fmla="*/ 2147483647 w 18"/>
              <a:gd name="T17" fmla="*/ 0 h 18"/>
              <a:gd name="T18" fmla="*/ 2147483647 w 18"/>
              <a:gd name="T19" fmla="*/ 0 h 18"/>
              <a:gd name="T20" fmla="*/ 2147483647 w 18"/>
              <a:gd name="T21" fmla="*/ 0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6"/>
                </a:lnTo>
                <a:lnTo>
                  <a:pt x="14" y="14"/>
                </a:lnTo>
                <a:lnTo>
                  <a:pt x="18" y="8"/>
                </a:lnTo>
                <a:lnTo>
                  <a:pt x="18" y="6"/>
                </a:lnTo>
                <a:lnTo>
                  <a:pt x="16" y="2"/>
                </a:lnTo>
                <a:lnTo>
                  <a:pt x="14" y="0"/>
                </a:lnTo>
                <a:lnTo>
                  <a:pt x="10" y="0"/>
                </a:lnTo>
                <a:lnTo>
                  <a:pt x="6" y="0"/>
                </a:lnTo>
                <a:lnTo>
                  <a:pt x="4"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68" name="Line 335"/>
          <p:cNvSpPr>
            <a:spLocks noChangeShapeType="1"/>
          </p:cNvSpPr>
          <p:nvPr/>
        </p:nvSpPr>
        <p:spPr bwMode="auto">
          <a:xfrm>
            <a:off x="3411538" y="14478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69" name="Line 336"/>
          <p:cNvSpPr>
            <a:spLocks noChangeShapeType="1"/>
          </p:cNvSpPr>
          <p:nvPr/>
        </p:nvSpPr>
        <p:spPr bwMode="auto">
          <a:xfrm>
            <a:off x="3411538" y="14478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70" name="Freeform 337"/>
          <p:cNvSpPr>
            <a:spLocks/>
          </p:cNvSpPr>
          <p:nvPr/>
        </p:nvSpPr>
        <p:spPr bwMode="auto">
          <a:xfrm>
            <a:off x="3395663" y="1435100"/>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0 h 18"/>
              <a:gd name="T16" fmla="*/ 2147483647 w 18"/>
              <a:gd name="T17" fmla="*/ 0 h 18"/>
              <a:gd name="T18" fmla="*/ 2147483647 w 18"/>
              <a:gd name="T19" fmla="*/ 0 h 18"/>
              <a:gd name="T20" fmla="*/ 2147483647 w 18"/>
              <a:gd name="T21" fmla="*/ 0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6"/>
                </a:lnTo>
                <a:lnTo>
                  <a:pt x="14" y="14"/>
                </a:lnTo>
                <a:lnTo>
                  <a:pt x="18" y="8"/>
                </a:lnTo>
                <a:lnTo>
                  <a:pt x="18" y="6"/>
                </a:lnTo>
                <a:lnTo>
                  <a:pt x="16" y="2"/>
                </a:lnTo>
                <a:lnTo>
                  <a:pt x="14" y="0"/>
                </a:lnTo>
                <a:lnTo>
                  <a:pt x="10" y="0"/>
                </a:lnTo>
                <a:lnTo>
                  <a:pt x="6" y="0"/>
                </a:lnTo>
                <a:lnTo>
                  <a:pt x="4"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71" name="Line 338"/>
          <p:cNvSpPr>
            <a:spLocks noChangeShapeType="1"/>
          </p:cNvSpPr>
          <p:nvPr/>
        </p:nvSpPr>
        <p:spPr bwMode="auto">
          <a:xfrm>
            <a:off x="3411538" y="13716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72" name="Line 339"/>
          <p:cNvSpPr>
            <a:spLocks noChangeShapeType="1"/>
          </p:cNvSpPr>
          <p:nvPr/>
        </p:nvSpPr>
        <p:spPr bwMode="auto">
          <a:xfrm>
            <a:off x="3411538" y="13716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73" name="Freeform 340"/>
          <p:cNvSpPr>
            <a:spLocks/>
          </p:cNvSpPr>
          <p:nvPr/>
        </p:nvSpPr>
        <p:spPr bwMode="auto">
          <a:xfrm>
            <a:off x="3395663" y="135572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74" name="Line 341"/>
          <p:cNvSpPr>
            <a:spLocks noChangeShapeType="1"/>
          </p:cNvSpPr>
          <p:nvPr/>
        </p:nvSpPr>
        <p:spPr bwMode="auto">
          <a:xfrm>
            <a:off x="3411538" y="12954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75" name="Line 342"/>
          <p:cNvSpPr>
            <a:spLocks noChangeShapeType="1"/>
          </p:cNvSpPr>
          <p:nvPr/>
        </p:nvSpPr>
        <p:spPr bwMode="auto">
          <a:xfrm>
            <a:off x="3411538" y="12954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76" name="Freeform 343"/>
          <p:cNvSpPr>
            <a:spLocks/>
          </p:cNvSpPr>
          <p:nvPr/>
        </p:nvSpPr>
        <p:spPr bwMode="auto">
          <a:xfrm>
            <a:off x="3395663" y="127952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77" name="Line 344"/>
          <p:cNvSpPr>
            <a:spLocks noChangeShapeType="1"/>
          </p:cNvSpPr>
          <p:nvPr/>
        </p:nvSpPr>
        <p:spPr bwMode="auto">
          <a:xfrm>
            <a:off x="3411538" y="121602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78" name="Line 345"/>
          <p:cNvSpPr>
            <a:spLocks noChangeShapeType="1"/>
          </p:cNvSpPr>
          <p:nvPr/>
        </p:nvSpPr>
        <p:spPr bwMode="auto">
          <a:xfrm>
            <a:off x="3411538" y="121602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79" name="Freeform 346"/>
          <p:cNvSpPr>
            <a:spLocks/>
          </p:cNvSpPr>
          <p:nvPr/>
        </p:nvSpPr>
        <p:spPr bwMode="auto">
          <a:xfrm>
            <a:off x="3395663" y="120332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0 h 18"/>
              <a:gd name="T16" fmla="*/ 2147483647 w 18"/>
              <a:gd name="T17" fmla="*/ 0 h 18"/>
              <a:gd name="T18" fmla="*/ 2147483647 w 18"/>
              <a:gd name="T19" fmla="*/ 0 h 18"/>
              <a:gd name="T20" fmla="*/ 2147483647 w 18"/>
              <a:gd name="T21" fmla="*/ 0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6"/>
                </a:lnTo>
                <a:lnTo>
                  <a:pt x="14" y="14"/>
                </a:lnTo>
                <a:lnTo>
                  <a:pt x="18" y="8"/>
                </a:lnTo>
                <a:lnTo>
                  <a:pt x="18" y="6"/>
                </a:lnTo>
                <a:lnTo>
                  <a:pt x="16" y="2"/>
                </a:lnTo>
                <a:lnTo>
                  <a:pt x="14" y="0"/>
                </a:lnTo>
                <a:lnTo>
                  <a:pt x="10" y="0"/>
                </a:lnTo>
                <a:lnTo>
                  <a:pt x="6" y="0"/>
                </a:lnTo>
                <a:lnTo>
                  <a:pt x="4"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80" name="Line 347"/>
          <p:cNvSpPr>
            <a:spLocks noChangeShapeType="1"/>
          </p:cNvSpPr>
          <p:nvPr/>
        </p:nvSpPr>
        <p:spPr bwMode="auto">
          <a:xfrm>
            <a:off x="3411538" y="113982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81" name="Line 348"/>
          <p:cNvSpPr>
            <a:spLocks noChangeShapeType="1"/>
          </p:cNvSpPr>
          <p:nvPr/>
        </p:nvSpPr>
        <p:spPr bwMode="auto">
          <a:xfrm>
            <a:off x="3414713" y="11430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82" name="Freeform 349"/>
          <p:cNvSpPr>
            <a:spLocks/>
          </p:cNvSpPr>
          <p:nvPr/>
        </p:nvSpPr>
        <p:spPr bwMode="auto">
          <a:xfrm>
            <a:off x="3395663" y="1127125"/>
            <a:ext cx="28575" cy="25400"/>
          </a:xfrm>
          <a:custGeom>
            <a:avLst/>
            <a:gdLst>
              <a:gd name="T0" fmla="*/ 2147483647 w 18"/>
              <a:gd name="T1" fmla="*/ 2147483647 h 16"/>
              <a:gd name="T2" fmla="*/ 2147483647 w 18"/>
              <a:gd name="T3" fmla="*/ 2147483647 h 16"/>
              <a:gd name="T4" fmla="*/ 2147483647 w 18"/>
              <a:gd name="T5" fmla="*/ 2147483647 h 16"/>
              <a:gd name="T6" fmla="*/ 2147483647 w 18"/>
              <a:gd name="T7" fmla="*/ 2147483647 h 16"/>
              <a:gd name="T8" fmla="*/ 2147483647 w 18"/>
              <a:gd name="T9" fmla="*/ 2147483647 h 16"/>
              <a:gd name="T10" fmla="*/ 2147483647 w 18"/>
              <a:gd name="T11" fmla="*/ 2147483647 h 16"/>
              <a:gd name="T12" fmla="*/ 2147483647 w 18"/>
              <a:gd name="T13" fmla="*/ 2147483647 h 16"/>
              <a:gd name="T14" fmla="*/ 2147483647 w 18"/>
              <a:gd name="T15" fmla="*/ 0 h 16"/>
              <a:gd name="T16" fmla="*/ 2147483647 w 18"/>
              <a:gd name="T17" fmla="*/ 0 h 16"/>
              <a:gd name="T18" fmla="*/ 2147483647 w 18"/>
              <a:gd name="T19" fmla="*/ 0 h 16"/>
              <a:gd name="T20" fmla="*/ 2147483647 w 18"/>
              <a:gd name="T21" fmla="*/ 0 h 16"/>
              <a:gd name="T22" fmla="*/ 2147483647 w 18"/>
              <a:gd name="T23" fmla="*/ 2147483647 h 16"/>
              <a:gd name="T24" fmla="*/ 0 w 18"/>
              <a:gd name="T25" fmla="*/ 2147483647 h 16"/>
              <a:gd name="T26" fmla="*/ 0 w 18"/>
              <a:gd name="T27" fmla="*/ 2147483647 h 16"/>
              <a:gd name="T28" fmla="*/ 2147483647 w 18"/>
              <a:gd name="T29" fmla="*/ 2147483647 h 16"/>
              <a:gd name="T30" fmla="*/ 2147483647 w 18"/>
              <a:gd name="T31" fmla="*/ 2147483647 h 16"/>
              <a:gd name="T32" fmla="*/ 2147483647 w 18"/>
              <a:gd name="T33" fmla="*/ 2147483647 h 16"/>
              <a:gd name="T34" fmla="*/ 2147483647 w 18"/>
              <a:gd name="T35" fmla="*/ 2147483647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6"/>
              <a:gd name="T56" fmla="*/ 18 w 18"/>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6">
                <a:moveTo>
                  <a:pt x="8" y="16"/>
                </a:moveTo>
                <a:lnTo>
                  <a:pt x="8" y="16"/>
                </a:lnTo>
                <a:lnTo>
                  <a:pt x="12" y="16"/>
                </a:lnTo>
                <a:lnTo>
                  <a:pt x="14" y="14"/>
                </a:lnTo>
                <a:lnTo>
                  <a:pt x="18" y="8"/>
                </a:lnTo>
                <a:lnTo>
                  <a:pt x="18" y="4"/>
                </a:lnTo>
                <a:lnTo>
                  <a:pt x="16" y="2"/>
                </a:lnTo>
                <a:lnTo>
                  <a:pt x="14" y="0"/>
                </a:lnTo>
                <a:lnTo>
                  <a:pt x="10" y="0"/>
                </a:lnTo>
                <a:lnTo>
                  <a:pt x="6" y="0"/>
                </a:lnTo>
                <a:lnTo>
                  <a:pt x="4" y="2"/>
                </a:lnTo>
                <a:lnTo>
                  <a:pt x="0" y="8"/>
                </a:lnTo>
                <a:lnTo>
                  <a:pt x="0" y="12"/>
                </a:lnTo>
                <a:lnTo>
                  <a:pt x="2" y="14"/>
                </a:lnTo>
                <a:lnTo>
                  <a:pt x="4" y="16"/>
                </a:lnTo>
                <a:lnTo>
                  <a:pt x="8" y="16"/>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83" name="Line 350"/>
          <p:cNvSpPr>
            <a:spLocks noChangeShapeType="1"/>
          </p:cNvSpPr>
          <p:nvPr/>
        </p:nvSpPr>
        <p:spPr bwMode="auto">
          <a:xfrm>
            <a:off x="4972050" y="131762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84" name="Line 351"/>
          <p:cNvSpPr>
            <a:spLocks noChangeShapeType="1"/>
          </p:cNvSpPr>
          <p:nvPr/>
        </p:nvSpPr>
        <p:spPr bwMode="auto">
          <a:xfrm>
            <a:off x="4972050" y="131762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85" name="Freeform 352"/>
          <p:cNvSpPr>
            <a:spLocks/>
          </p:cNvSpPr>
          <p:nvPr/>
        </p:nvSpPr>
        <p:spPr bwMode="auto">
          <a:xfrm>
            <a:off x="4959350" y="1301750"/>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2147483647 h 18"/>
              <a:gd name="T16" fmla="*/ 2147483647 w 16"/>
              <a:gd name="T17" fmla="*/ 0 h 18"/>
              <a:gd name="T18" fmla="*/ 2147483647 w 16"/>
              <a:gd name="T19" fmla="*/ 0 h 18"/>
              <a:gd name="T20" fmla="*/ 2147483647 w 16"/>
              <a:gd name="T21" fmla="*/ 2147483647 h 18"/>
              <a:gd name="T22" fmla="*/ 2147483647 w 16"/>
              <a:gd name="T23" fmla="*/ 2147483647 h 18"/>
              <a:gd name="T24" fmla="*/ 0 w 16"/>
              <a:gd name="T25" fmla="*/ 2147483647 h 18"/>
              <a:gd name="T26" fmla="*/ 0 w 16"/>
              <a:gd name="T27" fmla="*/ 2147483647 h 18"/>
              <a:gd name="T28" fmla="*/ 2147483647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8" y="18"/>
                </a:moveTo>
                <a:lnTo>
                  <a:pt x="8" y="18"/>
                </a:lnTo>
                <a:lnTo>
                  <a:pt x="12" y="18"/>
                </a:lnTo>
                <a:lnTo>
                  <a:pt x="14" y="16"/>
                </a:lnTo>
                <a:lnTo>
                  <a:pt x="16" y="10"/>
                </a:lnTo>
                <a:lnTo>
                  <a:pt x="16" y="6"/>
                </a:lnTo>
                <a:lnTo>
                  <a:pt x="16" y="4"/>
                </a:lnTo>
                <a:lnTo>
                  <a:pt x="12" y="2"/>
                </a:lnTo>
                <a:lnTo>
                  <a:pt x="10" y="0"/>
                </a:lnTo>
                <a:lnTo>
                  <a:pt x="6" y="2"/>
                </a:lnTo>
                <a:lnTo>
                  <a:pt x="2"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86" name="Line 353"/>
          <p:cNvSpPr>
            <a:spLocks noChangeShapeType="1"/>
          </p:cNvSpPr>
          <p:nvPr/>
        </p:nvSpPr>
        <p:spPr bwMode="auto">
          <a:xfrm>
            <a:off x="4972050" y="12382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87" name="Line 354"/>
          <p:cNvSpPr>
            <a:spLocks noChangeShapeType="1"/>
          </p:cNvSpPr>
          <p:nvPr/>
        </p:nvSpPr>
        <p:spPr bwMode="auto">
          <a:xfrm>
            <a:off x="4972050" y="12382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88" name="Freeform 355"/>
          <p:cNvSpPr>
            <a:spLocks/>
          </p:cNvSpPr>
          <p:nvPr/>
        </p:nvSpPr>
        <p:spPr bwMode="auto">
          <a:xfrm>
            <a:off x="4959350" y="1225550"/>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0 h 18"/>
              <a:gd name="T16" fmla="*/ 2147483647 w 16"/>
              <a:gd name="T17" fmla="*/ 0 h 18"/>
              <a:gd name="T18" fmla="*/ 2147483647 w 16"/>
              <a:gd name="T19" fmla="*/ 0 h 18"/>
              <a:gd name="T20" fmla="*/ 2147483647 w 16"/>
              <a:gd name="T21" fmla="*/ 0 h 18"/>
              <a:gd name="T22" fmla="*/ 2147483647 w 16"/>
              <a:gd name="T23" fmla="*/ 2147483647 h 18"/>
              <a:gd name="T24" fmla="*/ 0 w 16"/>
              <a:gd name="T25" fmla="*/ 2147483647 h 18"/>
              <a:gd name="T26" fmla="*/ 0 w 16"/>
              <a:gd name="T27" fmla="*/ 2147483647 h 18"/>
              <a:gd name="T28" fmla="*/ 2147483647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8" y="18"/>
                </a:moveTo>
                <a:lnTo>
                  <a:pt x="8" y="18"/>
                </a:lnTo>
                <a:lnTo>
                  <a:pt x="12" y="16"/>
                </a:lnTo>
                <a:lnTo>
                  <a:pt x="14" y="14"/>
                </a:lnTo>
                <a:lnTo>
                  <a:pt x="16" y="8"/>
                </a:lnTo>
                <a:lnTo>
                  <a:pt x="16" y="6"/>
                </a:lnTo>
                <a:lnTo>
                  <a:pt x="16" y="2"/>
                </a:lnTo>
                <a:lnTo>
                  <a:pt x="12" y="0"/>
                </a:lnTo>
                <a:lnTo>
                  <a:pt x="10" y="0"/>
                </a:lnTo>
                <a:lnTo>
                  <a:pt x="6" y="0"/>
                </a:lnTo>
                <a:lnTo>
                  <a:pt x="2"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89" name="Line 356"/>
          <p:cNvSpPr>
            <a:spLocks noChangeShapeType="1"/>
          </p:cNvSpPr>
          <p:nvPr/>
        </p:nvSpPr>
        <p:spPr bwMode="auto">
          <a:xfrm>
            <a:off x="4972050" y="11620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90" name="Line 357"/>
          <p:cNvSpPr>
            <a:spLocks noChangeShapeType="1"/>
          </p:cNvSpPr>
          <p:nvPr/>
        </p:nvSpPr>
        <p:spPr bwMode="auto">
          <a:xfrm>
            <a:off x="4972050" y="11620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91" name="Freeform 358"/>
          <p:cNvSpPr>
            <a:spLocks/>
          </p:cNvSpPr>
          <p:nvPr/>
        </p:nvSpPr>
        <p:spPr bwMode="auto">
          <a:xfrm>
            <a:off x="4959350" y="1149350"/>
            <a:ext cx="25400" cy="25400"/>
          </a:xfrm>
          <a:custGeom>
            <a:avLst/>
            <a:gdLst>
              <a:gd name="T0" fmla="*/ 2147483647 w 16"/>
              <a:gd name="T1" fmla="*/ 2147483647 h 16"/>
              <a:gd name="T2" fmla="*/ 2147483647 w 16"/>
              <a:gd name="T3" fmla="*/ 2147483647 h 16"/>
              <a:gd name="T4" fmla="*/ 2147483647 w 16"/>
              <a:gd name="T5" fmla="*/ 2147483647 h 16"/>
              <a:gd name="T6" fmla="*/ 2147483647 w 16"/>
              <a:gd name="T7" fmla="*/ 2147483647 h 16"/>
              <a:gd name="T8" fmla="*/ 2147483647 w 16"/>
              <a:gd name="T9" fmla="*/ 2147483647 h 16"/>
              <a:gd name="T10" fmla="*/ 2147483647 w 16"/>
              <a:gd name="T11" fmla="*/ 2147483647 h 16"/>
              <a:gd name="T12" fmla="*/ 2147483647 w 16"/>
              <a:gd name="T13" fmla="*/ 2147483647 h 16"/>
              <a:gd name="T14" fmla="*/ 2147483647 w 16"/>
              <a:gd name="T15" fmla="*/ 0 h 16"/>
              <a:gd name="T16" fmla="*/ 2147483647 w 16"/>
              <a:gd name="T17" fmla="*/ 0 h 16"/>
              <a:gd name="T18" fmla="*/ 2147483647 w 16"/>
              <a:gd name="T19" fmla="*/ 0 h 16"/>
              <a:gd name="T20" fmla="*/ 2147483647 w 16"/>
              <a:gd name="T21" fmla="*/ 0 h 16"/>
              <a:gd name="T22" fmla="*/ 2147483647 w 16"/>
              <a:gd name="T23" fmla="*/ 2147483647 h 16"/>
              <a:gd name="T24" fmla="*/ 0 w 16"/>
              <a:gd name="T25" fmla="*/ 2147483647 h 16"/>
              <a:gd name="T26" fmla="*/ 0 w 16"/>
              <a:gd name="T27" fmla="*/ 2147483647 h 16"/>
              <a:gd name="T28" fmla="*/ 2147483647 w 16"/>
              <a:gd name="T29" fmla="*/ 2147483647 h 16"/>
              <a:gd name="T30" fmla="*/ 2147483647 w 16"/>
              <a:gd name="T31" fmla="*/ 2147483647 h 16"/>
              <a:gd name="T32" fmla="*/ 2147483647 w 16"/>
              <a:gd name="T33" fmla="*/ 2147483647 h 16"/>
              <a:gd name="T34" fmla="*/ 2147483647 w 16"/>
              <a:gd name="T35" fmla="*/ 2147483647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6"/>
              <a:gd name="T56" fmla="*/ 16 w 16"/>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6">
                <a:moveTo>
                  <a:pt x="8" y="16"/>
                </a:moveTo>
                <a:lnTo>
                  <a:pt x="8" y="16"/>
                </a:lnTo>
                <a:lnTo>
                  <a:pt x="12" y="16"/>
                </a:lnTo>
                <a:lnTo>
                  <a:pt x="14" y="14"/>
                </a:lnTo>
                <a:lnTo>
                  <a:pt x="16" y="8"/>
                </a:lnTo>
                <a:lnTo>
                  <a:pt x="16" y="4"/>
                </a:lnTo>
                <a:lnTo>
                  <a:pt x="16" y="2"/>
                </a:lnTo>
                <a:lnTo>
                  <a:pt x="12" y="0"/>
                </a:lnTo>
                <a:lnTo>
                  <a:pt x="10" y="0"/>
                </a:lnTo>
                <a:lnTo>
                  <a:pt x="6" y="0"/>
                </a:lnTo>
                <a:lnTo>
                  <a:pt x="2" y="2"/>
                </a:lnTo>
                <a:lnTo>
                  <a:pt x="0" y="8"/>
                </a:lnTo>
                <a:lnTo>
                  <a:pt x="0" y="12"/>
                </a:lnTo>
                <a:lnTo>
                  <a:pt x="2" y="14"/>
                </a:lnTo>
                <a:lnTo>
                  <a:pt x="4" y="16"/>
                </a:lnTo>
                <a:lnTo>
                  <a:pt x="8" y="16"/>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92" name="Line 359"/>
          <p:cNvSpPr>
            <a:spLocks noChangeShapeType="1"/>
          </p:cNvSpPr>
          <p:nvPr/>
        </p:nvSpPr>
        <p:spPr bwMode="auto">
          <a:xfrm>
            <a:off x="4972050" y="10858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93" name="Line 360"/>
          <p:cNvSpPr>
            <a:spLocks noChangeShapeType="1"/>
          </p:cNvSpPr>
          <p:nvPr/>
        </p:nvSpPr>
        <p:spPr bwMode="auto">
          <a:xfrm>
            <a:off x="4972050" y="10858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94" name="Freeform 361"/>
          <p:cNvSpPr>
            <a:spLocks/>
          </p:cNvSpPr>
          <p:nvPr/>
        </p:nvSpPr>
        <p:spPr bwMode="auto">
          <a:xfrm>
            <a:off x="4959350" y="1069975"/>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2147483647 h 18"/>
              <a:gd name="T16" fmla="*/ 2147483647 w 16"/>
              <a:gd name="T17" fmla="*/ 0 h 18"/>
              <a:gd name="T18" fmla="*/ 2147483647 w 16"/>
              <a:gd name="T19" fmla="*/ 0 h 18"/>
              <a:gd name="T20" fmla="*/ 2147483647 w 16"/>
              <a:gd name="T21" fmla="*/ 2147483647 h 18"/>
              <a:gd name="T22" fmla="*/ 2147483647 w 16"/>
              <a:gd name="T23" fmla="*/ 2147483647 h 18"/>
              <a:gd name="T24" fmla="*/ 0 w 16"/>
              <a:gd name="T25" fmla="*/ 2147483647 h 18"/>
              <a:gd name="T26" fmla="*/ 0 w 16"/>
              <a:gd name="T27" fmla="*/ 2147483647 h 18"/>
              <a:gd name="T28" fmla="*/ 2147483647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8" y="18"/>
                </a:moveTo>
                <a:lnTo>
                  <a:pt x="8" y="18"/>
                </a:lnTo>
                <a:lnTo>
                  <a:pt x="12" y="18"/>
                </a:lnTo>
                <a:lnTo>
                  <a:pt x="14" y="16"/>
                </a:lnTo>
                <a:lnTo>
                  <a:pt x="16" y="10"/>
                </a:lnTo>
                <a:lnTo>
                  <a:pt x="16" y="6"/>
                </a:lnTo>
                <a:lnTo>
                  <a:pt x="16" y="4"/>
                </a:lnTo>
                <a:lnTo>
                  <a:pt x="12" y="2"/>
                </a:lnTo>
                <a:lnTo>
                  <a:pt x="10" y="0"/>
                </a:lnTo>
                <a:lnTo>
                  <a:pt x="6" y="2"/>
                </a:lnTo>
                <a:lnTo>
                  <a:pt x="2"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95" name="Line 362"/>
          <p:cNvSpPr>
            <a:spLocks noChangeShapeType="1"/>
          </p:cNvSpPr>
          <p:nvPr/>
        </p:nvSpPr>
        <p:spPr bwMode="auto">
          <a:xfrm>
            <a:off x="4972050" y="10064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96" name="Line 363"/>
          <p:cNvSpPr>
            <a:spLocks noChangeShapeType="1"/>
          </p:cNvSpPr>
          <p:nvPr/>
        </p:nvSpPr>
        <p:spPr bwMode="auto">
          <a:xfrm>
            <a:off x="4972050" y="10064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97" name="Freeform 364"/>
          <p:cNvSpPr>
            <a:spLocks/>
          </p:cNvSpPr>
          <p:nvPr/>
        </p:nvSpPr>
        <p:spPr bwMode="auto">
          <a:xfrm>
            <a:off x="4959350" y="993775"/>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0 h 18"/>
              <a:gd name="T16" fmla="*/ 2147483647 w 16"/>
              <a:gd name="T17" fmla="*/ 0 h 18"/>
              <a:gd name="T18" fmla="*/ 2147483647 w 16"/>
              <a:gd name="T19" fmla="*/ 0 h 18"/>
              <a:gd name="T20" fmla="*/ 2147483647 w 16"/>
              <a:gd name="T21" fmla="*/ 0 h 18"/>
              <a:gd name="T22" fmla="*/ 2147483647 w 16"/>
              <a:gd name="T23" fmla="*/ 2147483647 h 18"/>
              <a:gd name="T24" fmla="*/ 0 w 16"/>
              <a:gd name="T25" fmla="*/ 2147483647 h 18"/>
              <a:gd name="T26" fmla="*/ 0 w 16"/>
              <a:gd name="T27" fmla="*/ 2147483647 h 18"/>
              <a:gd name="T28" fmla="*/ 2147483647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8" y="18"/>
                </a:moveTo>
                <a:lnTo>
                  <a:pt x="8" y="18"/>
                </a:lnTo>
                <a:lnTo>
                  <a:pt x="12" y="16"/>
                </a:lnTo>
                <a:lnTo>
                  <a:pt x="14" y="14"/>
                </a:lnTo>
                <a:lnTo>
                  <a:pt x="16" y="8"/>
                </a:lnTo>
                <a:lnTo>
                  <a:pt x="16" y="6"/>
                </a:lnTo>
                <a:lnTo>
                  <a:pt x="16" y="2"/>
                </a:lnTo>
                <a:lnTo>
                  <a:pt x="12" y="0"/>
                </a:lnTo>
                <a:lnTo>
                  <a:pt x="10" y="0"/>
                </a:lnTo>
                <a:lnTo>
                  <a:pt x="6" y="0"/>
                </a:lnTo>
                <a:lnTo>
                  <a:pt x="2"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98" name="Line 365"/>
          <p:cNvSpPr>
            <a:spLocks noChangeShapeType="1"/>
          </p:cNvSpPr>
          <p:nvPr/>
        </p:nvSpPr>
        <p:spPr bwMode="auto">
          <a:xfrm>
            <a:off x="5064125" y="13652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6999" name="Line 366"/>
          <p:cNvSpPr>
            <a:spLocks noChangeShapeType="1"/>
          </p:cNvSpPr>
          <p:nvPr/>
        </p:nvSpPr>
        <p:spPr bwMode="auto">
          <a:xfrm>
            <a:off x="5064125" y="13652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00" name="Freeform 367"/>
          <p:cNvSpPr>
            <a:spLocks/>
          </p:cNvSpPr>
          <p:nvPr/>
        </p:nvSpPr>
        <p:spPr bwMode="auto">
          <a:xfrm>
            <a:off x="5051425" y="134937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01" name="Line 368"/>
          <p:cNvSpPr>
            <a:spLocks noChangeShapeType="1"/>
          </p:cNvSpPr>
          <p:nvPr/>
        </p:nvSpPr>
        <p:spPr bwMode="auto">
          <a:xfrm>
            <a:off x="5064125" y="12858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02" name="Line 369"/>
          <p:cNvSpPr>
            <a:spLocks noChangeShapeType="1"/>
          </p:cNvSpPr>
          <p:nvPr/>
        </p:nvSpPr>
        <p:spPr bwMode="auto">
          <a:xfrm>
            <a:off x="5064125" y="12858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03" name="Freeform 370"/>
          <p:cNvSpPr>
            <a:spLocks/>
          </p:cNvSpPr>
          <p:nvPr/>
        </p:nvSpPr>
        <p:spPr bwMode="auto">
          <a:xfrm>
            <a:off x="5051425" y="127317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0 h 18"/>
              <a:gd name="T16" fmla="*/ 2147483647 w 18"/>
              <a:gd name="T17" fmla="*/ 0 h 18"/>
              <a:gd name="T18" fmla="*/ 2147483647 w 18"/>
              <a:gd name="T19" fmla="*/ 0 h 18"/>
              <a:gd name="T20" fmla="*/ 2147483647 w 18"/>
              <a:gd name="T21" fmla="*/ 0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6"/>
                </a:lnTo>
                <a:lnTo>
                  <a:pt x="14" y="14"/>
                </a:lnTo>
                <a:lnTo>
                  <a:pt x="18" y="8"/>
                </a:lnTo>
                <a:lnTo>
                  <a:pt x="18" y="6"/>
                </a:lnTo>
                <a:lnTo>
                  <a:pt x="16" y="2"/>
                </a:lnTo>
                <a:lnTo>
                  <a:pt x="14" y="0"/>
                </a:lnTo>
                <a:lnTo>
                  <a:pt x="10" y="0"/>
                </a:lnTo>
                <a:lnTo>
                  <a:pt x="6" y="0"/>
                </a:lnTo>
                <a:lnTo>
                  <a:pt x="4"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04" name="Line 371"/>
          <p:cNvSpPr>
            <a:spLocks noChangeShapeType="1"/>
          </p:cNvSpPr>
          <p:nvPr/>
        </p:nvSpPr>
        <p:spPr bwMode="auto">
          <a:xfrm>
            <a:off x="5064125" y="12096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05" name="Line 372"/>
          <p:cNvSpPr>
            <a:spLocks noChangeShapeType="1"/>
          </p:cNvSpPr>
          <p:nvPr/>
        </p:nvSpPr>
        <p:spPr bwMode="auto">
          <a:xfrm>
            <a:off x="5064125" y="12096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06" name="Freeform 373"/>
          <p:cNvSpPr>
            <a:spLocks/>
          </p:cNvSpPr>
          <p:nvPr/>
        </p:nvSpPr>
        <p:spPr bwMode="auto">
          <a:xfrm>
            <a:off x="5051425" y="1196975"/>
            <a:ext cx="28575" cy="25400"/>
          </a:xfrm>
          <a:custGeom>
            <a:avLst/>
            <a:gdLst>
              <a:gd name="T0" fmla="*/ 2147483647 w 18"/>
              <a:gd name="T1" fmla="*/ 2147483647 h 16"/>
              <a:gd name="T2" fmla="*/ 2147483647 w 18"/>
              <a:gd name="T3" fmla="*/ 2147483647 h 16"/>
              <a:gd name="T4" fmla="*/ 2147483647 w 18"/>
              <a:gd name="T5" fmla="*/ 2147483647 h 16"/>
              <a:gd name="T6" fmla="*/ 2147483647 w 18"/>
              <a:gd name="T7" fmla="*/ 2147483647 h 16"/>
              <a:gd name="T8" fmla="*/ 2147483647 w 18"/>
              <a:gd name="T9" fmla="*/ 2147483647 h 16"/>
              <a:gd name="T10" fmla="*/ 2147483647 w 18"/>
              <a:gd name="T11" fmla="*/ 2147483647 h 16"/>
              <a:gd name="T12" fmla="*/ 2147483647 w 18"/>
              <a:gd name="T13" fmla="*/ 2147483647 h 16"/>
              <a:gd name="T14" fmla="*/ 2147483647 w 18"/>
              <a:gd name="T15" fmla="*/ 0 h 16"/>
              <a:gd name="T16" fmla="*/ 2147483647 w 18"/>
              <a:gd name="T17" fmla="*/ 0 h 16"/>
              <a:gd name="T18" fmla="*/ 2147483647 w 18"/>
              <a:gd name="T19" fmla="*/ 0 h 16"/>
              <a:gd name="T20" fmla="*/ 2147483647 w 18"/>
              <a:gd name="T21" fmla="*/ 0 h 16"/>
              <a:gd name="T22" fmla="*/ 2147483647 w 18"/>
              <a:gd name="T23" fmla="*/ 2147483647 h 16"/>
              <a:gd name="T24" fmla="*/ 0 w 18"/>
              <a:gd name="T25" fmla="*/ 2147483647 h 16"/>
              <a:gd name="T26" fmla="*/ 0 w 18"/>
              <a:gd name="T27" fmla="*/ 2147483647 h 16"/>
              <a:gd name="T28" fmla="*/ 2147483647 w 18"/>
              <a:gd name="T29" fmla="*/ 2147483647 h 16"/>
              <a:gd name="T30" fmla="*/ 2147483647 w 18"/>
              <a:gd name="T31" fmla="*/ 2147483647 h 16"/>
              <a:gd name="T32" fmla="*/ 2147483647 w 18"/>
              <a:gd name="T33" fmla="*/ 2147483647 h 16"/>
              <a:gd name="T34" fmla="*/ 2147483647 w 18"/>
              <a:gd name="T35" fmla="*/ 2147483647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6"/>
              <a:gd name="T56" fmla="*/ 18 w 18"/>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6">
                <a:moveTo>
                  <a:pt x="8" y="16"/>
                </a:moveTo>
                <a:lnTo>
                  <a:pt x="8" y="16"/>
                </a:lnTo>
                <a:lnTo>
                  <a:pt x="12" y="16"/>
                </a:lnTo>
                <a:lnTo>
                  <a:pt x="14" y="14"/>
                </a:lnTo>
                <a:lnTo>
                  <a:pt x="18" y="8"/>
                </a:lnTo>
                <a:lnTo>
                  <a:pt x="18" y="4"/>
                </a:lnTo>
                <a:lnTo>
                  <a:pt x="16" y="2"/>
                </a:lnTo>
                <a:lnTo>
                  <a:pt x="14" y="0"/>
                </a:lnTo>
                <a:lnTo>
                  <a:pt x="10" y="0"/>
                </a:lnTo>
                <a:lnTo>
                  <a:pt x="6" y="0"/>
                </a:lnTo>
                <a:lnTo>
                  <a:pt x="4" y="2"/>
                </a:lnTo>
                <a:lnTo>
                  <a:pt x="0" y="8"/>
                </a:lnTo>
                <a:lnTo>
                  <a:pt x="0" y="12"/>
                </a:lnTo>
                <a:lnTo>
                  <a:pt x="2" y="14"/>
                </a:lnTo>
                <a:lnTo>
                  <a:pt x="4" y="16"/>
                </a:lnTo>
                <a:lnTo>
                  <a:pt x="8" y="16"/>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07" name="Line 374"/>
          <p:cNvSpPr>
            <a:spLocks noChangeShapeType="1"/>
          </p:cNvSpPr>
          <p:nvPr/>
        </p:nvSpPr>
        <p:spPr bwMode="auto">
          <a:xfrm>
            <a:off x="5064125" y="11334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08" name="Line 375"/>
          <p:cNvSpPr>
            <a:spLocks noChangeShapeType="1"/>
          </p:cNvSpPr>
          <p:nvPr/>
        </p:nvSpPr>
        <p:spPr bwMode="auto">
          <a:xfrm>
            <a:off x="5064125" y="11334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09" name="Freeform 376"/>
          <p:cNvSpPr>
            <a:spLocks/>
          </p:cNvSpPr>
          <p:nvPr/>
        </p:nvSpPr>
        <p:spPr bwMode="auto">
          <a:xfrm>
            <a:off x="5051425" y="1117600"/>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10" name="Line 377"/>
          <p:cNvSpPr>
            <a:spLocks noChangeShapeType="1"/>
          </p:cNvSpPr>
          <p:nvPr/>
        </p:nvSpPr>
        <p:spPr bwMode="auto">
          <a:xfrm>
            <a:off x="5064125" y="10572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11" name="Line 378"/>
          <p:cNvSpPr>
            <a:spLocks noChangeShapeType="1"/>
          </p:cNvSpPr>
          <p:nvPr/>
        </p:nvSpPr>
        <p:spPr bwMode="auto">
          <a:xfrm>
            <a:off x="5064125" y="10572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12" name="Freeform 379"/>
          <p:cNvSpPr>
            <a:spLocks/>
          </p:cNvSpPr>
          <p:nvPr/>
        </p:nvSpPr>
        <p:spPr bwMode="auto">
          <a:xfrm>
            <a:off x="5051425" y="1041400"/>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13" name="Line 380"/>
          <p:cNvSpPr>
            <a:spLocks noChangeShapeType="1"/>
          </p:cNvSpPr>
          <p:nvPr/>
        </p:nvSpPr>
        <p:spPr bwMode="auto">
          <a:xfrm>
            <a:off x="5064125" y="9779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14" name="Line 381"/>
          <p:cNvSpPr>
            <a:spLocks noChangeShapeType="1"/>
          </p:cNvSpPr>
          <p:nvPr/>
        </p:nvSpPr>
        <p:spPr bwMode="auto">
          <a:xfrm>
            <a:off x="5064125" y="9779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15" name="Freeform 382"/>
          <p:cNvSpPr>
            <a:spLocks/>
          </p:cNvSpPr>
          <p:nvPr/>
        </p:nvSpPr>
        <p:spPr bwMode="auto">
          <a:xfrm>
            <a:off x="5051425" y="965200"/>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0 h 18"/>
              <a:gd name="T16" fmla="*/ 2147483647 w 18"/>
              <a:gd name="T17" fmla="*/ 0 h 18"/>
              <a:gd name="T18" fmla="*/ 2147483647 w 18"/>
              <a:gd name="T19" fmla="*/ 0 h 18"/>
              <a:gd name="T20" fmla="*/ 2147483647 w 18"/>
              <a:gd name="T21" fmla="*/ 0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6"/>
                </a:lnTo>
                <a:lnTo>
                  <a:pt x="14" y="14"/>
                </a:lnTo>
                <a:lnTo>
                  <a:pt x="18" y="8"/>
                </a:lnTo>
                <a:lnTo>
                  <a:pt x="18" y="6"/>
                </a:lnTo>
                <a:lnTo>
                  <a:pt x="16" y="2"/>
                </a:lnTo>
                <a:lnTo>
                  <a:pt x="14" y="0"/>
                </a:lnTo>
                <a:lnTo>
                  <a:pt x="10" y="0"/>
                </a:lnTo>
                <a:lnTo>
                  <a:pt x="6" y="0"/>
                </a:lnTo>
                <a:lnTo>
                  <a:pt x="4"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16" name="Line 383"/>
          <p:cNvSpPr>
            <a:spLocks noChangeShapeType="1"/>
          </p:cNvSpPr>
          <p:nvPr/>
        </p:nvSpPr>
        <p:spPr bwMode="auto">
          <a:xfrm>
            <a:off x="5432425" y="19367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17" name="Line 384"/>
          <p:cNvSpPr>
            <a:spLocks noChangeShapeType="1"/>
          </p:cNvSpPr>
          <p:nvPr/>
        </p:nvSpPr>
        <p:spPr bwMode="auto">
          <a:xfrm>
            <a:off x="5432425" y="19367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18" name="Line 386"/>
          <p:cNvSpPr>
            <a:spLocks noChangeShapeType="1"/>
          </p:cNvSpPr>
          <p:nvPr/>
        </p:nvSpPr>
        <p:spPr bwMode="auto">
          <a:xfrm>
            <a:off x="5432425" y="18605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19" name="Line 387"/>
          <p:cNvSpPr>
            <a:spLocks noChangeShapeType="1"/>
          </p:cNvSpPr>
          <p:nvPr/>
        </p:nvSpPr>
        <p:spPr bwMode="auto">
          <a:xfrm>
            <a:off x="5432425" y="18605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20" name="Freeform 388"/>
          <p:cNvSpPr>
            <a:spLocks/>
          </p:cNvSpPr>
          <p:nvPr/>
        </p:nvSpPr>
        <p:spPr bwMode="auto">
          <a:xfrm>
            <a:off x="5419725" y="1847850"/>
            <a:ext cx="28575" cy="25400"/>
          </a:xfrm>
          <a:custGeom>
            <a:avLst/>
            <a:gdLst>
              <a:gd name="T0" fmla="*/ 2147483647 w 18"/>
              <a:gd name="T1" fmla="*/ 2147483647 h 16"/>
              <a:gd name="T2" fmla="*/ 2147483647 w 18"/>
              <a:gd name="T3" fmla="*/ 2147483647 h 16"/>
              <a:gd name="T4" fmla="*/ 2147483647 w 18"/>
              <a:gd name="T5" fmla="*/ 2147483647 h 16"/>
              <a:gd name="T6" fmla="*/ 2147483647 w 18"/>
              <a:gd name="T7" fmla="*/ 2147483647 h 16"/>
              <a:gd name="T8" fmla="*/ 2147483647 w 18"/>
              <a:gd name="T9" fmla="*/ 2147483647 h 16"/>
              <a:gd name="T10" fmla="*/ 2147483647 w 18"/>
              <a:gd name="T11" fmla="*/ 2147483647 h 16"/>
              <a:gd name="T12" fmla="*/ 2147483647 w 18"/>
              <a:gd name="T13" fmla="*/ 2147483647 h 16"/>
              <a:gd name="T14" fmla="*/ 2147483647 w 18"/>
              <a:gd name="T15" fmla="*/ 0 h 16"/>
              <a:gd name="T16" fmla="*/ 2147483647 w 18"/>
              <a:gd name="T17" fmla="*/ 0 h 16"/>
              <a:gd name="T18" fmla="*/ 2147483647 w 18"/>
              <a:gd name="T19" fmla="*/ 0 h 16"/>
              <a:gd name="T20" fmla="*/ 2147483647 w 18"/>
              <a:gd name="T21" fmla="*/ 0 h 16"/>
              <a:gd name="T22" fmla="*/ 2147483647 w 18"/>
              <a:gd name="T23" fmla="*/ 2147483647 h 16"/>
              <a:gd name="T24" fmla="*/ 0 w 18"/>
              <a:gd name="T25" fmla="*/ 2147483647 h 16"/>
              <a:gd name="T26" fmla="*/ 0 w 18"/>
              <a:gd name="T27" fmla="*/ 2147483647 h 16"/>
              <a:gd name="T28" fmla="*/ 2147483647 w 18"/>
              <a:gd name="T29" fmla="*/ 2147483647 h 16"/>
              <a:gd name="T30" fmla="*/ 2147483647 w 18"/>
              <a:gd name="T31" fmla="*/ 2147483647 h 16"/>
              <a:gd name="T32" fmla="*/ 2147483647 w 18"/>
              <a:gd name="T33" fmla="*/ 2147483647 h 16"/>
              <a:gd name="T34" fmla="*/ 2147483647 w 18"/>
              <a:gd name="T35" fmla="*/ 2147483647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6"/>
              <a:gd name="T56" fmla="*/ 18 w 18"/>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6">
                <a:moveTo>
                  <a:pt x="8" y="16"/>
                </a:moveTo>
                <a:lnTo>
                  <a:pt x="8" y="16"/>
                </a:lnTo>
                <a:lnTo>
                  <a:pt x="12" y="16"/>
                </a:lnTo>
                <a:lnTo>
                  <a:pt x="14" y="14"/>
                </a:lnTo>
                <a:lnTo>
                  <a:pt x="18" y="8"/>
                </a:lnTo>
                <a:lnTo>
                  <a:pt x="18" y="4"/>
                </a:lnTo>
                <a:lnTo>
                  <a:pt x="16" y="2"/>
                </a:lnTo>
                <a:lnTo>
                  <a:pt x="14" y="0"/>
                </a:lnTo>
                <a:lnTo>
                  <a:pt x="10" y="0"/>
                </a:lnTo>
                <a:lnTo>
                  <a:pt x="6" y="0"/>
                </a:lnTo>
                <a:lnTo>
                  <a:pt x="2" y="2"/>
                </a:lnTo>
                <a:lnTo>
                  <a:pt x="0" y="8"/>
                </a:lnTo>
                <a:lnTo>
                  <a:pt x="0" y="12"/>
                </a:lnTo>
                <a:lnTo>
                  <a:pt x="2" y="14"/>
                </a:lnTo>
                <a:lnTo>
                  <a:pt x="4" y="16"/>
                </a:lnTo>
                <a:lnTo>
                  <a:pt x="8" y="16"/>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21" name="Line 389"/>
          <p:cNvSpPr>
            <a:spLocks noChangeShapeType="1"/>
          </p:cNvSpPr>
          <p:nvPr/>
        </p:nvSpPr>
        <p:spPr bwMode="auto">
          <a:xfrm>
            <a:off x="5432425" y="17843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22" name="Line 390"/>
          <p:cNvSpPr>
            <a:spLocks noChangeShapeType="1"/>
          </p:cNvSpPr>
          <p:nvPr/>
        </p:nvSpPr>
        <p:spPr bwMode="auto">
          <a:xfrm>
            <a:off x="5432425" y="17843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23" name="Freeform 391"/>
          <p:cNvSpPr>
            <a:spLocks/>
          </p:cNvSpPr>
          <p:nvPr/>
        </p:nvSpPr>
        <p:spPr bwMode="auto">
          <a:xfrm>
            <a:off x="5419725" y="176847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2"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24" name="Line 392"/>
          <p:cNvSpPr>
            <a:spLocks noChangeShapeType="1"/>
          </p:cNvSpPr>
          <p:nvPr/>
        </p:nvSpPr>
        <p:spPr bwMode="auto">
          <a:xfrm>
            <a:off x="5432425" y="17081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25" name="Line 393"/>
          <p:cNvSpPr>
            <a:spLocks noChangeShapeType="1"/>
          </p:cNvSpPr>
          <p:nvPr/>
        </p:nvSpPr>
        <p:spPr bwMode="auto">
          <a:xfrm>
            <a:off x="5432425" y="17081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26" name="Freeform 394"/>
          <p:cNvSpPr>
            <a:spLocks/>
          </p:cNvSpPr>
          <p:nvPr/>
        </p:nvSpPr>
        <p:spPr bwMode="auto">
          <a:xfrm>
            <a:off x="5419725" y="169227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2"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27" name="Line 395"/>
          <p:cNvSpPr>
            <a:spLocks noChangeShapeType="1"/>
          </p:cNvSpPr>
          <p:nvPr/>
        </p:nvSpPr>
        <p:spPr bwMode="auto">
          <a:xfrm>
            <a:off x="5432425" y="16287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28" name="Line 396"/>
          <p:cNvSpPr>
            <a:spLocks noChangeShapeType="1"/>
          </p:cNvSpPr>
          <p:nvPr/>
        </p:nvSpPr>
        <p:spPr bwMode="auto">
          <a:xfrm>
            <a:off x="5432425" y="16287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29" name="Freeform 397"/>
          <p:cNvSpPr>
            <a:spLocks/>
          </p:cNvSpPr>
          <p:nvPr/>
        </p:nvSpPr>
        <p:spPr bwMode="auto">
          <a:xfrm>
            <a:off x="5419725" y="161607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0 h 18"/>
              <a:gd name="T16" fmla="*/ 2147483647 w 18"/>
              <a:gd name="T17" fmla="*/ 0 h 18"/>
              <a:gd name="T18" fmla="*/ 2147483647 w 18"/>
              <a:gd name="T19" fmla="*/ 0 h 18"/>
              <a:gd name="T20" fmla="*/ 2147483647 w 18"/>
              <a:gd name="T21" fmla="*/ 0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6"/>
                </a:lnTo>
                <a:lnTo>
                  <a:pt x="14" y="14"/>
                </a:lnTo>
                <a:lnTo>
                  <a:pt x="18" y="8"/>
                </a:lnTo>
                <a:lnTo>
                  <a:pt x="18" y="6"/>
                </a:lnTo>
                <a:lnTo>
                  <a:pt x="16" y="2"/>
                </a:lnTo>
                <a:lnTo>
                  <a:pt x="14" y="0"/>
                </a:lnTo>
                <a:lnTo>
                  <a:pt x="10" y="0"/>
                </a:lnTo>
                <a:lnTo>
                  <a:pt x="6" y="0"/>
                </a:lnTo>
                <a:lnTo>
                  <a:pt x="2"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30" name="Line 398"/>
          <p:cNvSpPr>
            <a:spLocks noChangeShapeType="1"/>
          </p:cNvSpPr>
          <p:nvPr/>
        </p:nvSpPr>
        <p:spPr bwMode="auto">
          <a:xfrm>
            <a:off x="5432425" y="15525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31" name="Line 399"/>
          <p:cNvSpPr>
            <a:spLocks noChangeShapeType="1"/>
          </p:cNvSpPr>
          <p:nvPr/>
        </p:nvSpPr>
        <p:spPr bwMode="auto">
          <a:xfrm>
            <a:off x="5432425" y="15525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32" name="Freeform 400"/>
          <p:cNvSpPr>
            <a:spLocks/>
          </p:cNvSpPr>
          <p:nvPr/>
        </p:nvSpPr>
        <p:spPr bwMode="auto">
          <a:xfrm>
            <a:off x="5419725" y="1539875"/>
            <a:ext cx="28575" cy="25400"/>
          </a:xfrm>
          <a:custGeom>
            <a:avLst/>
            <a:gdLst>
              <a:gd name="T0" fmla="*/ 2147483647 w 18"/>
              <a:gd name="T1" fmla="*/ 2147483647 h 16"/>
              <a:gd name="T2" fmla="*/ 2147483647 w 18"/>
              <a:gd name="T3" fmla="*/ 2147483647 h 16"/>
              <a:gd name="T4" fmla="*/ 2147483647 w 18"/>
              <a:gd name="T5" fmla="*/ 2147483647 h 16"/>
              <a:gd name="T6" fmla="*/ 2147483647 w 18"/>
              <a:gd name="T7" fmla="*/ 2147483647 h 16"/>
              <a:gd name="T8" fmla="*/ 2147483647 w 18"/>
              <a:gd name="T9" fmla="*/ 2147483647 h 16"/>
              <a:gd name="T10" fmla="*/ 2147483647 w 18"/>
              <a:gd name="T11" fmla="*/ 2147483647 h 16"/>
              <a:gd name="T12" fmla="*/ 2147483647 w 18"/>
              <a:gd name="T13" fmla="*/ 2147483647 h 16"/>
              <a:gd name="T14" fmla="*/ 2147483647 w 18"/>
              <a:gd name="T15" fmla="*/ 0 h 16"/>
              <a:gd name="T16" fmla="*/ 2147483647 w 18"/>
              <a:gd name="T17" fmla="*/ 0 h 16"/>
              <a:gd name="T18" fmla="*/ 2147483647 w 18"/>
              <a:gd name="T19" fmla="*/ 0 h 16"/>
              <a:gd name="T20" fmla="*/ 2147483647 w 18"/>
              <a:gd name="T21" fmla="*/ 0 h 16"/>
              <a:gd name="T22" fmla="*/ 2147483647 w 18"/>
              <a:gd name="T23" fmla="*/ 2147483647 h 16"/>
              <a:gd name="T24" fmla="*/ 0 w 18"/>
              <a:gd name="T25" fmla="*/ 2147483647 h 16"/>
              <a:gd name="T26" fmla="*/ 0 w 18"/>
              <a:gd name="T27" fmla="*/ 2147483647 h 16"/>
              <a:gd name="T28" fmla="*/ 2147483647 w 18"/>
              <a:gd name="T29" fmla="*/ 2147483647 h 16"/>
              <a:gd name="T30" fmla="*/ 2147483647 w 18"/>
              <a:gd name="T31" fmla="*/ 2147483647 h 16"/>
              <a:gd name="T32" fmla="*/ 2147483647 w 18"/>
              <a:gd name="T33" fmla="*/ 2147483647 h 16"/>
              <a:gd name="T34" fmla="*/ 2147483647 w 18"/>
              <a:gd name="T35" fmla="*/ 2147483647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6"/>
              <a:gd name="T56" fmla="*/ 18 w 18"/>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6">
                <a:moveTo>
                  <a:pt x="8" y="16"/>
                </a:moveTo>
                <a:lnTo>
                  <a:pt x="8" y="16"/>
                </a:lnTo>
                <a:lnTo>
                  <a:pt x="12" y="16"/>
                </a:lnTo>
                <a:lnTo>
                  <a:pt x="14" y="14"/>
                </a:lnTo>
                <a:lnTo>
                  <a:pt x="18" y="8"/>
                </a:lnTo>
                <a:lnTo>
                  <a:pt x="18" y="4"/>
                </a:lnTo>
                <a:lnTo>
                  <a:pt x="16" y="2"/>
                </a:lnTo>
                <a:lnTo>
                  <a:pt x="14" y="0"/>
                </a:lnTo>
                <a:lnTo>
                  <a:pt x="10" y="0"/>
                </a:lnTo>
                <a:lnTo>
                  <a:pt x="6" y="0"/>
                </a:lnTo>
                <a:lnTo>
                  <a:pt x="2" y="2"/>
                </a:lnTo>
                <a:lnTo>
                  <a:pt x="0" y="8"/>
                </a:lnTo>
                <a:lnTo>
                  <a:pt x="0" y="12"/>
                </a:lnTo>
                <a:lnTo>
                  <a:pt x="2" y="14"/>
                </a:lnTo>
                <a:lnTo>
                  <a:pt x="4" y="16"/>
                </a:lnTo>
                <a:lnTo>
                  <a:pt x="8" y="16"/>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33" name="Line 401"/>
          <p:cNvSpPr>
            <a:spLocks noChangeShapeType="1"/>
          </p:cNvSpPr>
          <p:nvPr/>
        </p:nvSpPr>
        <p:spPr bwMode="auto">
          <a:xfrm>
            <a:off x="5432425" y="14763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34" name="Line 402"/>
          <p:cNvSpPr>
            <a:spLocks noChangeShapeType="1"/>
          </p:cNvSpPr>
          <p:nvPr/>
        </p:nvSpPr>
        <p:spPr bwMode="auto">
          <a:xfrm>
            <a:off x="5432425" y="14763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35" name="Freeform 403"/>
          <p:cNvSpPr>
            <a:spLocks/>
          </p:cNvSpPr>
          <p:nvPr/>
        </p:nvSpPr>
        <p:spPr bwMode="auto">
          <a:xfrm>
            <a:off x="5419725" y="1460500"/>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2"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36" name="Line 404"/>
          <p:cNvSpPr>
            <a:spLocks noChangeShapeType="1"/>
          </p:cNvSpPr>
          <p:nvPr/>
        </p:nvSpPr>
        <p:spPr bwMode="auto">
          <a:xfrm>
            <a:off x="5432425" y="13970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37" name="Line 405"/>
          <p:cNvSpPr>
            <a:spLocks noChangeShapeType="1"/>
          </p:cNvSpPr>
          <p:nvPr/>
        </p:nvSpPr>
        <p:spPr bwMode="auto">
          <a:xfrm>
            <a:off x="5432425" y="13970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38" name="Freeform 406"/>
          <p:cNvSpPr>
            <a:spLocks/>
          </p:cNvSpPr>
          <p:nvPr/>
        </p:nvSpPr>
        <p:spPr bwMode="auto">
          <a:xfrm>
            <a:off x="5419725" y="1384300"/>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0 h 18"/>
              <a:gd name="T16" fmla="*/ 2147483647 w 18"/>
              <a:gd name="T17" fmla="*/ 0 h 18"/>
              <a:gd name="T18" fmla="*/ 2147483647 w 18"/>
              <a:gd name="T19" fmla="*/ 0 h 18"/>
              <a:gd name="T20" fmla="*/ 2147483647 w 18"/>
              <a:gd name="T21" fmla="*/ 0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6"/>
                </a:lnTo>
                <a:lnTo>
                  <a:pt x="14" y="14"/>
                </a:lnTo>
                <a:lnTo>
                  <a:pt x="18" y="8"/>
                </a:lnTo>
                <a:lnTo>
                  <a:pt x="18" y="6"/>
                </a:lnTo>
                <a:lnTo>
                  <a:pt x="16" y="2"/>
                </a:lnTo>
                <a:lnTo>
                  <a:pt x="14" y="0"/>
                </a:lnTo>
                <a:lnTo>
                  <a:pt x="10" y="0"/>
                </a:lnTo>
                <a:lnTo>
                  <a:pt x="6" y="0"/>
                </a:lnTo>
                <a:lnTo>
                  <a:pt x="2"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39" name="Line 407"/>
          <p:cNvSpPr>
            <a:spLocks noChangeShapeType="1"/>
          </p:cNvSpPr>
          <p:nvPr/>
        </p:nvSpPr>
        <p:spPr bwMode="auto">
          <a:xfrm>
            <a:off x="5556250" y="18732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40" name="Line 408"/>
          <p:cNvSpPr>
            <a:spLocks noChangeShapeType="1"/>
          </p:cNvSpPr>
          <p:nvPr/>
        </p:nvSpPr>
        <p:spPr bwMode="auto">
          <a:xfrm>
            <a:off x="5556250" y="18732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41" name="Freeform 409"/>
          <p:cNvSpPr>
            <a:spLocks/>
          </p:cNvSpPr>
          <p:nvPr/>
        </p:nvSpPr>
        <p:spPr bwMode="auto">
          <a:xfrm>
            <a:off x="5543550" y="185737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42" name="Line 410"/>
          <p:cNvSpPr>
            <a:spLocks noChangeShapeType="1"/>
          </p:cNvSpPr>
          <p:nvPr/>
        </p:nvSpPr>
        <p:spPr bwMode="auto">
          <a:xfrm>
            <a:off x="5556250" y="17970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43" name="Line 411"/>
          <p:cNvSpPr>
            <a:spLocks noChangeShapeType="1"/>
          </p:cNvSpPr>
          <p:nvPr/>
        </p:nvSpPr>
        <p:spPr bwMode="auto">
          <a:xfrm>
            <a:off x="5556250" y="17970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44" name="Freeform 412"/>
          <p:cNvSpPr>
            <a:spLocks/>
          </p:cNvSpPr>
          <p:nvPr/>
        </p:nvSpPr>
        <p:spPr bwMode="auto">
          <a:xfrm>
            <a:off x="5543550" y="178117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45" name="Line 413"/>
          <p:cNvSpPr>
            <a:spLocks noChangeShapeType="1"/>
          </p:cNvSpPr>
          <p:nvPr/>
        </p:nvSpPr>
        <p:spPr bwMode="auto">
          <a:xfrm>
            <a:off x="5556250" y="17176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46" name="Line 414"/>
          <p:cNvSpPr>
            <a:spLocks noChangeShapeType="1"/>
          </p:cNvSpPr>
          <p:nvPr/>
        </p:nvSpPr>
        <p:spPr bwMode="auto">
          <a:xfrm>
            <a:off x="5556250" y="17176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47" name="Freeform 415"/>
          <p:cNvSpPr>
            <a:spLocks/>
          </p:cNvSpPr>
          <p:nvPr/>
        </p:nvSpPr>
        <p:spPr bwMode="auto">
          <a:xfrm>
            <a:off x="5543550" y="170497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0 h 18"/>
              <a:gd name="T16" fmla="*/ 2147483647 w 18"/>
              <a:gd name="T17" fmla="*/ 0 h 18"/>
              <a:gd name="T18" fmla="*/ 2147483647 w 18"/>
              <a:gd name="T19" fmla="*/ 0 h 18"/>
              <a:gd name="T20" fmla="*/ 2147483647 w 18"/>
              <a:gd name="T21" fmla="*/ 0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6"/>
                </a:lnTo>
                <a:lnTo>
                  <a:pt x="14" y="14"/>
                </a:lnTo>
                <a:lnTo>
                  <a:pt x="18" y="8"/>
                </a:lnTo>
                <a:lnTo>
                  <a:pt x="18" y="6"/>
                </a:lnTo>
                <a:lnTo>
                  <a:pt x="16" y="2"/>
                </a:lnTo>
                <a:lnTo>
                  <a:pt x="14" y="0"/>
                </a:lnTo>
                <a:lnTo>
                  <a:pt x="10" y="0"/>
                </a:lnTo>
                <a:lnTo>
                  <a:pt x="6" y="0"/>
                </a:lnTo>
                <a:lnTo>
                  <a:pt x="4"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48" name="Line 416"/>
          <p:cNvSpPr>
            <a:spLocks noChangeShapeType="1"/>
          </p:cNvSpPr>
          <p:nvPr/>
        </p:nvSpPr>
        <p:spPr bwMode="auto">
          <a:xfrm>
            <a:off x="5556250" y="16414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49" name="Line 417"/>
          <p:cNvSpPr>
            <a:spLocks noChangeShapeType="1"/>
          </p:cNvSpPr>
          <p:nvPr/>
        </p:nvSpPr>
        <p:spPr bwMode="auto">
          <a:xfrm>
            <a:off x="5556250" y="16414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50" name="Freeform 418"/>
          <p:cNvSpPr>
            <a:spLocks/>
          </p:cNvSpPr>
          <p:nvPr/>
        </p:nvSpPr>
        <p:spPr bwMode="auto">
          <a:xfrm>
            <a:off x="5543550" y="1628775"/>
            <a:ext cx="28575" cy="25400"/>
          </a:xfrm>
          <a:custGeom>
            <a:avLst/>
            <a:gdLst>
              <a:gd name="T0" fmla="*/ 2147483647 w 18"/>
              <a:gd name="T1" fmla="*/ 2147483647 h 16"/>
              <a:gd name="T2" fmla="*/ 2147483647 w 18"/>
              <a:gd name="T3" fmla="*/ 2147483647 h 16"/>
              <a:gd name="T4" fmla="*/ 2147483647 w 18"/>
              <a:gd name="T5" fmla="*/ 2147483647 h 16"/>
              <a:gd name="T6" fmla="*/ 2147483647 w 18"/>
              <a:gd name="T7" fmla="*/ 2147483647 h 16"/>
              <a:gd name="T8" fmla="*/ 2147483647 w 18"/>
              <a:gd name="T9" fmla="*/ 2147483647 h 16"/>
              <a:gd name="T10" fmla="*/ 2147483647 w 18"/>
              <a:gd name="T11" fmla="*/ 2147483647 h 16"/>
              <a:gd name="T12" fmla="*/ 2147483647 w 18"/>
              <a:gd name="T13" fmla="*/ 2147483647 h 16"/>
              <a:gd name="T14" fmla="*/ 2147483647 w 18"/>
              <a:gd name="T15" fmla="*/ 0 h 16"/>
              <a:gd name="T16" fmla="*/ 2147483647 w 18"/>
              <a:gd name="T17" fmla="*/ 0 h 16"/>
              <a:gd name="T18" fmla="*/ 2147483647 w 18"/>
              <a:gd name="T19" fmla="*/ 0 h 16"/>
              <a:gd name="T20" fmla="*/ 2147483647 w 18"/>
              <a:gd name="T21" fmla="*/ 0 h 16"/>
              <a:gd name="T22" fmla="*/ 2147483647 w 18"/>
              <a:gd name="T23" fmla="*/ 2147483647 h 16"/>
              <a:gd name="T24" fmla="*/ 0 w 18"/>
              <a:gd name="T25" fmla="*/ 2147483647 h 16"/>
              <a:gd name="T26" fmla="*/ 0 w 18"/>
              <a:gd name="T27" fmla="*/ 2147483647 h 16"/>
              <a:gd name="T28" fmla="*/ 2147483647 w 18"/>
              <a:gd name="T29" fmla="*/ 2147483647 h 16"/>
              <a:gd name="T30" fmla="*/ 2147483647 w 18"/>
              <a:gd name="T31" fmla="*/ 2147483647 h 16"/>
              <a:gd name="T32" fmla="*/ 2147483647 w 18"/>
              <a:gd name="T33" fmla="*/ 2147483647 h 16"/>
              <a:gd name="T34" fmla="*/ 2147483647 w 18"/>
              <a:gd name="T35" fmla="*/ 2147483647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6"/>
              <a:gd name="T56" fmla="*/ 18 w 18"/>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6">
                <a:moveTo>
                  <a:pt x="8" y="16"/>
                </a:moveTo>
                <a:lnTo>
                  <a:pt x="8" y="16"/>
                </a:lnTo>
                <a:lnTo>
                  <a:pt x="12" y="16"/>
                </a:lnTo>
                <a:lnTo>
                  <a:pt x="14" y="14"/>
                </a:lnTo>
                <a:lnTo>
                  <a:pt x="18" y="8"/>
                </a:lnTo>
                <a:lnTo>
                  <a:pt x="18" y="4"/>
                </a:lnTo>
                <a:lnTo>
                  <a:pt x="16" y="2"/>
                </a:lnTo>
                <a:lnTo>
                  <a:pt x="14" y="0"/>
                </a:lnTo>
                <a:lnTo>
                  <a:pt x="10" y="0"/>
                </a:lnTo>
                <a:lnTo>
                  <a:pt x="6" y="0"/>
                </a:lnTo>
                <a:lnTo>
                  <a:pt x="4" y="2"/>
                </a:lnTo>
                <a:lnTo>
                  <a:pt x="0" y="8"/>
                </a:lnTo>
                <a:lnTo>
                  <a:pt x="0" y="12"/>
                </a:lnTo>
                <a:lnTo>
                  <a:pt x="2" y="14"/>
                </a:lnTo>
                <a:lnTo>
                  <a:pt x="4" y="16"/>
                </a:lnTo>
                <a:lnTo>
                  <a:pt x="8" y="16"/>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51" name="Line 419"/>
          <p:cNvSpPr>
            <a:spLocks noChangeShapeType="1"/>
          </p:cNvSpPr>
          <p:nvPr/>
        </p:nvSpPr>
        <p:spPr bwMode="auto">
          <a:xfrm>
            <a:off x="5556250" y="15652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52" name="Line 420"/>
          <p:cNvSpPr>
            <a:spLocks noChangeShapeType="1"/>
          </p:cNvSpPr>
          <p:nvPr/>
        </p:nvSpPr>
        <p:spPr bwMode="auto">
          <a:xfrm>
            <a:off x="5556250" y="15652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53" name="Freeform 421"/>
          <p:cNvSpPr>
            <a:spLocks/>
          </p:cNvSpPr>
          <p:nvPr/>
        </p:nvSpPr>
        <p:spPr bwMode="auto">
          <a:xfrm>
            <a:off x="5543550" y="1549400"/>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54" name="Line 422"/>
          <p:cNvSpPr>
            <a:spLocks noChangeShapeType="1"/>
          </p:cNvSpPr>
          <p:nvPr/>
        </p:nvSpPr>
        <p:spPr bwMode="auto">
          <a:xfrm>
            <a:off x="5556250" y="14890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55" name="Line 423"/>
          <p:cNvSpPr>
            <a:spLocks noChangeShapeType="1"/>
          </p:cNvSpPr>
          <p:nvPr/>
        </p:nvSpPr>
        <p:spPr bwMode="auto">
          <a:xfrm>
            <a:off x="5556250" y="14890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56" name="Freeform 424"/>
          <p:cNvSpPr>
            <a:spLocks/>
          </p:cNvSpPr>
          <p:nvPr/>
        </p:nvSpPr>
        <p:spPr bwMode="auto">
          <a:xfrm>
            <a:off x="5543550" y="1473200"/>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57" name="Line 425"/>
          <p:cNvSpPr>
            <a:spLocks noChangeShapeType="1"/>
          </p:cNvSpPr>
          <p:nvPr/>
        </p:nvSpPr>
        <p:spPr bwMode="auto">
          <a:xfrm>
            <a:off x="5556250" y="14097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58" name="Line 426"/>
          <p:cNvSpPr>
            <a:spLocks noChangeShapeType="1"/>
          </p:cNvSpPr>
          <p:nvPr/>
        </p:nvSpPr>
        <p:spPr bwMode="auto">
          <a:xfrm>
            <a:off x="5556250" y="14097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59" name="Freeform 427"/>
          <p:cNvSpPr>
            <a:spLocks/>
          </p:cNvSpPr>
          <p:nvPr/>
        </p:nvSpPr>
        <p:spPr bwMode="auto">
          <a:xfrm>
            <a:off x="5543550" y="1397000"/>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0 h 18"/>
              <a:gd name="T16" fmla="*/ 2147483647 w 18"/>
              <a:gd name="T17" fmla="*/ 0 h 18"/>
              <a:gd name="T18" fmla="*/ 2147483647 w 18"/>
              <a:gd name="T19" fmla="*/ 0 h 18"/>
              <a:gd name="T20" fmla="*/ 2147483647 w 18"/>
              <a:gd name="T21" fmla="*/ 0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6"/>
                </a:lnTo>
                <a:lnTo>
                  <a:pt x="14" y="14"/>
                </a:lnTo>
                <a:lnTo>
                  <a:pt x="18" y="8"/>
                </a:lnTo>
                <a:lnTo>
                  <a:pt x="18" y="6"/>
                </a:lnTo>
                <a:lnTo>
                  <a:pt x="16" y="2"/>
                </a:lnTo>
                <a:lnTo>
                  <a:pt x="14" y="0"/>
                </a:lnTo>
                <a:lnTo>
                  <a:pt x="10" y="0"/>
                </a:lnTo>
                <a:lnTo>
                  <a:pt x="6" y="0"/>
                </a:lnTo>
                <a:lnTo>
                  <a:pt x="4"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60" name="Line 428"/>
          <p:cNvSpPr>
            <a:spLocks noChangeShapeType="1"/>
          </p:cNvSpPr>
          <p:nvPr/>
        </p:nvSpPr>
        <p:spPr bwMode="auto">
          <a:xfrm>
            <a:off x="5664200" y="190182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61" name="Line 429"/>
          <p:cNvSpPr>
            <a:spLocks noChangeShapeType="1"/>
          </p:cNvSpPr>
          <p:nvPr/>
        </p:nvSpPr>
        <p:spPr bwMode="auto">
          <a:xfrm>
            <a:off x="5664200" y="190182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62" name="Freeform 430"/>
          <p:cNvSpPr>
            <a:spLocks/>
          </p:cNvSpPr>
          <p:nvPr/>
        </p:nvSpPr>
        <p:spPr bwMode="auto">
          <a:xfrm>
            <a:off x="5648325" y="1885950"/>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63" name="Line 431"/>
          <p:cNvSpPr>
            <a:spLocks noChangeShapeType="1"/>
          </p:cNvSpPr>
          <p:nvPr/>
        </p:nvSpPr>
        <p:spPr bwMode="auto">
          <a:xfrm>
            <a:off x="5664200" y="18224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64" name="Line 432"/>
          <p:cNvSpPr>
            <a:spLocks noChangeShapeType="1"/>
          </p:cNvSpPr>
          <p:nvPr/>
        </p:nvSpPr>
        <p:spPr bwMode="auto">
          <a:xfrm>
            <a:off x="5664200" y="18224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65" name="Freeform 433"/>
          <p:cNvSpPr>
            <a:spLocks/>
          </p:cNvSpPr>
          <p:nvPr/>
        </p:nvSpPr>
        <p:spPr bwMode="auto">
          <a:xfrm>
            <a:off x="5648325" y="1809750"/>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0 h 18"/>
              <a:gd name="T16" fmla="*/ 2147483647 w 18"/>
              <a:gd name="T17" fmla="*/ 0 h 18"/>
              <a:gd name="T18" fmla="*/ 2147483647 w 18"/>
              <a:gd name="T19" fmla="*/ 0 h 18"/>
              <a:gd name="T20" fmla="*/ 2147483647 w 18"/>
              <a:gd name="T21" fmla="*/ 0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6"/>
                </a:lnTo>
                <a:lnTo>
                  <a:pt x="14" y="14"/>
                </a:lnTo>
                <a:lnTo>
                  <a:pt x="18" y="8"/>
                </a:lnTo>
                <a:lnTo>
                  <a:pt x="18" y="6"/>
                </a:lnTo>
                <a:lnTo>
                  <a:pt x="16" y="2"/>
                </a:lnTo>
                <a:lnTo>
                  <a:pt x="14" y="0"/>
                </a:lnTo>
                <a:lnTo>
                  <a:pt x="10" y="0"/>
                </a:lnTo>
                <a:lnTo>
                  <a:pt x="6" y="0"/>
                </a:lnTo>
                <a:lnTo>
                  <a:pt x="4"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66" name="Line 434"/>
          <p:cNvSpPr>
            <a:spLocks noChangeShapeType="1"/>
          </p:cNvSpPr>
          <p:nvPr/>
        </p:nvSpPr>
        <p:spPr bwMode="auto">
          <a:xfrm>
            <a:off x="5664200" y="17462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67" name="Line 435"/>
          <p:cNvSpPr>
            <a:spLocks noChangeShapeType="1"/>
          </p:cNvSpPr>
          <p:nvPr/>
        </p:nvSpPr>
        <p:spPr bwMode="auto">
          <a:xfrm>
            <a:off x="5664200" y="17462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68" name="Freeform 436"/>
          <p:cNvSpPr>
            <a:spLocks/>
          </p:cNvSpPr>
          <p:nvPr/>
        </p:nvSpPr>
        <p:spPr bwMode="auto">
          <a:xfrm>
            <a:off x="5648325" y="1733550"/>
            <a:ext cx="28575" cy="25400"/>
          </a:xfrm>
          <a:custGeom>
            <a:avLst/>
            <a:gdLst>
              <a:gd name="T0" fmla="*/ 2147483647 w 18"/>
              <a:gd name="T1" fmla="*/ 2147483647 h 16"/>
              <a:gd name="T2" fmla="*/ 2147483647 w 18"/>
              <a:gd name="T3" fmla="*/ 2147483647 h 16"/>
              <a:gd name="T4" fmla="*/ 2147483647 w 18"/>
              <a:gd name="T5" fmla="*/ 2147483647 h 16"/>
              <a:gd name="T6" fmla="*/ 2147483647 w 18"/>
              <a:gd name="T7" fmla="*/ 2147483647 h 16"/>
              <a:gd name="T8" fmla="*/ 2147483647 w 18"/>
              <a:gd name="T9" fmla="*/ 2147483647 h 16"/>
              <a:gd name="T10" fmla="*/ 2147483647 w 18"/>
              <a:gd name="T11" fmla="*/ 2147483647 h 16"/>
              <a:gd name="T12" fmla="*/ 2147483647 w 18"/>
              <a:gd name="T13" fmla="*/ 2147483647 h 16"/>
              <a:gd name="T14" fmla="*/ 2147483647 w 18"/>
              <a:gd name="T15" fmla="*/ 0 h 16"/>
              <a:gd name="T16" fmla="*/ 2147483647 w 18"/>
              <a:gd name="T17" fmla="*/ 0 h 16"/>
              <a:gd name="T18" fmla="*/ 2147483647 w 18"/>
              <a:gd name="T19" fmla="*/ 0 h 16"/>
              <a:gd name="T20" fmla="*/ 2147483647 w 18"/>
              <a:gd name="T21" fmla="*/ 0 h 16"/>
              <a:gd name="T22" fmla="*/ 2147483647 w 18"/>
              <a:gd name="T23" fmla="*/ 2147483647 h 16"/>
              <a:gd name="T24" fmla="*/ 0 w 18"/>
              <a:gd name="T25" fmla="*/ 2147483647 h 16"/>
              <a:gd name="T26" fmla="*/ 0 w 18"/>
              <a:gd name="T27" fmla="*/ 2147483647 h 16"/>
              <a:gd name="T28" fmla="*/ 2147483647 w 18"/>
              <a:gd name="T29" fmla="*/ 2147483647 h 16"/>
              <a:gd name="T30" fmla="*/ 2147483647 w 18"/>
              <a:gd name="T31" fmla="*/ 2147483647 h 16"/>
              <a:gd name="T32" fmla="*/ 2147483647 w 18"/>
              <a:gd name="T33" fmla="*/ 2147483647 h 16"/>
              <a:gd name="T34" fmla="*/ 2147483647 w 18"/>
              <a:gd name="T35" fmla="*/ 2147483647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6"/>
              <a:gd name="T56" fmla="*/ 18 w 18"/>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6">
                <a:moveTo>
                  <a:pt x="8" y="16"/>
                </a:moveTo>
                <a:lnTo>
                  <a:pt x="8" y="16"/>
                </a:lnTo>
                <a:lnTo>
                  <a:pt x="12" y="16"/>
                </a:lnTo>
                <a:lnTo>
                  <a:pt x="14" y="14"/>
                </a:lnTo>
                <a:lnTo>
                  <a:pt x="18" y="8"/>
                </a:lnTo>
                <a:lnTo>
                  <a:pt x="18" y="4"/>
                </a:lnTo>
                <a:lnTo>
                  <a:pt x="16" y="2"/>
                </a:lnTo>
                <a:lnTo>
                  <a:pt x="14" y="0"/>
                </a:lnTo>
                <a:lnTo>
                  <a:pt x="10" y="0"/>
                </a:lnTo>
                <a:lnTo>
                  <a:pt x="6" y="0"/>
                </a:lnTo>
                <a:lnTo>
                  <a:pt x="4" y="2"/>
                </a:lnTo>
                <a:lnTo>
                  <a:pt x="0" y="8"/>
                </a:lnTo>
                <a:lnTo>
                  <a:pt x="0" y="12"/>
                </a:lnTo>
                <a:lnTo>
                  <a:pt x="2" y="14"/>
                </a:lnTo>
                <a:lnTo>
                  <a:pt x="4" y="16"/>
                </a:lnTo>
                <a:lnTo>
                  <a:pt x="8" y="16"/>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69" name="Line 437"/>
          <p:cNvSpPr>
            <a:spLocks noChangeShapeType="1"/>
          </p:cNvSpPr>
          <p:nvPr/>
        </p:nvSpPr>
        <p:spPr bwMode="auto">
          <a:xfrm>
            <a:off x="5664200" y="16700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70" name="Line 438"/>
          <p:cNvSpPr>
            <a:spLocks noChangeShapeType="1"/>
          </p:cNvSpPr>
          <p:nvPr/>
        </p:nvSpPr>
        <p:spPr bwMode="auto">
          <a:xfrm>
            <a:off x="5664200" y="16700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71" name="Freeform 439"/>
          <p:cNvSpPr>
            <a:spLocks/>
          </p:cNvSpPr>
          <p:nvPr/>
        </p:nvSpPr>
        <p:spPr bwMode="auto">
          <a:xfrm>
            <a:off x="5648325" y="165417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72" name="Line 440"/>
          <p:cNvSpPr>
            <a:spLocks noChangeShapeType="1"/>
          </p:cNvSpPr>
          <p:nvPr/>
        </p:nvSpPr>
        <p:spPr bwMode="auto">
          <a:xfrm>
            <a:off x="5664200" y="15938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73" name="Line 441"/>
          <p:cNvSpPr>
            <a:spLocks noChangeShapeType="1"/>
          </p:cNvSpPr>
          <p:nvPr/>
        </p:nvSpPr>
        <p:spPr bwMode="auto">
          <a:xfrm>
            <a:off x="5664200" y="15938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74" name="Freeform 442"/>
          <p:cNvSpPr>
            <a:spLocks/>
          </p:cNvSpPr>
          <p:nvPr/>
        </p:nvSpPr>
        <p:spPr bwMode="auto">
          <a:xfrm>
            <a:off x="5648325" y="157797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75" name="Line 443"/>
          <p:cNvSpPr>
            <a:spLocks noChangeShapeType="1"/>
          </p:cNvSpPr>
          <p:nvPr/>
        </p:nvSpPr>
        <p:spPr bwMode="auto">
          <a:xfrm>
            <a:off x="5664200" y="15144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76" name="Line 444"/>
          <p:cNvSpPr>
            <a:spLocks noChangeShapeType="1"/>
          </p:cNvSpPr>
          <p:nvPr/>
        </p:nvSpPr>
        <p:spPr bwMode="auto">
          <a:xfrm>
            <a:off x="5664200" y="15144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77" name="Freeform 445"/>
          <p:cNvSpPr>
            <a:spLocks/>
          </p:cNvSpPr>
          <p:nvPr/>
        </p:nvSpPr>
        <p:spPr bwMode="auto">
          <a:xfrm>
            <a:off x="5648325" y="150177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0 h 18"/>
              <a:gd name="T16" fmla="*/ 2147483647 w 18"/>
              <a:gd name="T17" fmla="*/ 0 h 18"/>
              <a:gd name="T18" fmla="*/ 2147483647 w 18"/>
              <a:gd name="T19" fmla="*/ 0 h 18"/>
              <a:gd name="T20" fmla="*/ 2147483647 w 18"/>
              <a:gd name="T21" fmla="*/ 0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6"/>
                </a:lnTo>
                <a:lnTo>
                  <a:pt x="14" y="14"/>
                </a:lnTo>
                <a:lnTo>
                  <a:pt x="18" y="8"/>
                </a:lnTo>
                <a:lnTo>
                  <a:pt x="18" y="6"/>
                </a:lnTo>
                <a:lnTo>
                  <a:pt x="16" y="2"/>
                </a:lnTo>
                <a:lnTo>
                  <a:pt x="14" y="0"/>
                </a:lnTo>
                <a:lnTo>
                  <a:pt x="10" y="0"/>
                </a:lnTo>
                <a:lnTo>
                  <a:pt x="6" y="0"/>
                </a:lnTo>
                <a:lnTo>
                  <a:pt x="4"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78" name="Line 446"/>
          <p:cNvSpPr>
            <a:spLocks noChangeShapeType="1"/>
          </p:cNvSpPr>
          <p:nvPr/>
        </p:nvSpPr>
        <p:spPr bwMode="auto">
          <a:xfrm>
            <a:off x="5664200" y="14382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79" name="Line 447"/>
          <p:cNvSpPr>
            <a:spLocks noChangeShapeType="1"/>
          </p:cNvSpPr>
          <p:nvPr/>
        </p:nvSpPr>
        <p:spPr bwMode="auto">
          <a:xfrm>
            <a:off x="5664200" y="14382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80" name="Freeform 448"/>
          <p:cNvSpPr>
            <a:spLocks/>
          </p:cNvSpPr>
          <p:nvPr/>
        </p:nvSpPr>
        <p:spPr bwMode="auto">
          <a:xfrm>
            <a:off x="5648325" y="1425575"/>
            <a:ext cx="28575" cy="25400"/>
          </a:xfrm>
          <a:custGeom>
            <a:avLst/>
            <a:gdLst>
              <a:gd name="T0" fmla="*/ 2147483647 w 18"/>
              <a:gd name="T1" fmla="*/ 2147483647 h 16"/>
              <a:gd name="T2" fmla="*/ 2147483647 w 18"/>
              <a:gd name="T3" fmla="*/ 2147483647 h 16"/>
              <a:gd name="T4" fmla="*/ 2147483647 w 18"/>
              <a:gd name="T5" fmla="*/ 2147483647 h 16"/>
              <a:gd name="T6" fmla="*/ 2147483647 w 18"/>
              <a:gd name="T7" fmla="*/ 2147483647 h 16"/>
              <a:gd name="T8" fmla="*/ 2147483647 w 18"/>
              <a:gd name="T9" fmla="*/ 2147483647 h 16"/>
              <a:gd name="T10" fmla="*/ 2147483647 w 18"/>
              <a:gd name="T11" fmla="*/ 2147483647 h 16"/>
              <a:gd name="T12" fmla="*/ 2147483647 w 18"/>
              <a:gd name="T13" fmla="*/ 2147483647 h 16"/>
              <a:gd name="T14" fmla="*/ 2147483647 w 18"/>
              <a:gd name="T15" fmla="*/ 0 h 16"/>
              <a:gd name="T16" fmla="*/ 2147483647 w 18"/>
              <a:gd name="T17" fmla="*/ 0 h 16"/>
              <a:gd name="T18" fmla="*/ 2147483647 w 18"/>
              <a:gd name="T19" fmla="*/ 0 h 16"/>
              <a:gd name="T20" fmla="*/ 2147483647 w 18"/>
              <a:gd name="T21" fmla="*/ 0 h 16"/>
              <a:gd name="T22" fmla="*/ 2147483647 w 18"/>
              <a:gd name="T23" fmla="*/ 2147483647 h 16"/>
              <a:gd name="T24" fmla="*/ 0 w 18"/>
              <a:gd name="T25" fmla="*/ 2147483647 h 16"/>
              <a:gd name="T26" fmla="*/ 0 w 18"/>
              <a:gd name="T27" fmla="*/ 2147483647 h 16"/>
              <a:gd name="T28" fmla="*/ 2147483647 w 18"/>
              <a:gd name="T29" fmla="*/ 2147483647 h 16"/>
              <a:gd name="T30" fmla="*/ 2147483647 w 18"/>
              <a:gd name="T31" fmla="*/ 2147483647 h 16"/>
              <a:gd name="T32" fmla="*/ 2147483647 w 18"/>
              <a:gd name="T33" fmla="*/ 2147483647 h 16"/>
              <a:gd name="T34" fmla="*/ 2147483647 w 18"/>
              <a:gd name="T35" fmla="*/ 2147483647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6"/>
              <a:gd name="T56" fmla="*/ 18 w 18"/>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6">
                <a:moveTo>
                  <a:pt x="8" y="16"/>
                </a:moveTo>
                <a:lnTo>
                  <a:pt x="8" y="16"/>
                </a:lnTo>
                <a:lnTo>
                  <a:pt x="12" y="16"/>
                </a:lnTo>
                <a:lnTo>
                  <a:pt x="14" y="14"/>
                </a:lnTo>
                <a:lnTo>
                  <a:pt x="18" y="8"/>
                </a:lnTo>
                <a:lnTo>
                  <a:pt x="18" y="4"/>
                </a:lnTo>
                <a:lnTo>
                  <a:pt x="16" y="2"/>
                </a:lnTo>
                <a:lnTo>
                  <a:pt x="14" y="0"/>
                </a:lnTo>
                <a:lnTo>
                  <a:pt x="10" y="0"/>
                </a:lnTo>
                <a:lnTo>
                  <a:pt x="6" y="0"/>
                </a:lnTo>
                <a:lnTo>
                  <a:pt x="4" y="2"/>
                </a:lnTo>
                <a:lnTo>
                  <a:pt x="0" y="8"/>
                </a:lnTo>
                <a:lnTo>
                  <a:pt x="0" y="12"/>
                </a:lnTo>
                <a:lnTo>
                  <a:pt x="2" y="14"/>
                </a:lnTo>
                <a:lnTo>
                  <a:pt x="4" y="16"/>
                </a:lnTo>
                <a:lnTo>
                  <a:pt x="8" y="16"/>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81" name="Line 449"/>
          <p:cNvSpPr>
            <a:spLocks noChangeShapeType="1"/>
          </p:cNvSpPr>
          <p:nvPr/>
        </p:nvSpPr>
        <p:spPr bwMode="auto">
          <a:xfrm>
            <a:off x="5664200" y="13620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82" name="Line 450"/>
          <p:cNvSpPr>
            <a:spLocks noChangeShapeType="1"/>
          </p:cNvSpPr>
          <p:nvPr/>
        </p:nvSpPr>
        <p:spPr bwMode="auto">
          <a:xfrm>
            <a:off x="5664200" y="13620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83" name="Freeform 451"/>
          <p:cNvSpPr>
            <a:spLocks/>
          </p:cNvSpPr>
          <p:nvPr/>
        </p:nvSpPr>
        <p:spPr bwMode="auto">
          <a:xfrm>
            <a:off x="5648325" y="1346200"/>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84" name="Line 452"/>
          <p:cNvSpPr>
            <a:spLocks noChangeShapeType="1"/>
          </p:cNvSpPr>
          <p:nvPr/>
        </p:nvSpPr>
        <p:spPr bwMode="auto">
          <a:xfrm>
            <a:off x="6013450" y="238601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85" name="Line 453"/>
          <p:cNvSpPr>
            <a:spLocks noChangeShapeType="1"/>
          </p:cNvSpPr>
          <p:nvPr/>
        </p:nvSpPr>
        <p:spPr bwMode="auto">
          <a:xfrm>
            <a:off x="6013450" y="238601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86" name="Freeform 454"/>
          <p:cNvSpPr>
            <a:spLocks/>
          </p:cNvSpPr>
          <p:nvPr/>
        </p:nvSpPr>
        <p:spPr bwMode="auto">
          <a:xfrm>
            <a:off x="5997575" y="2370138"/>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87" name="Line 455"/>
          <p:cNvSpPr>
            <a:spLocks noChangeShapeType="1"/>
          </p:cNvSpPr>
          <p:nvPr/>
        </p:nvSpPr>
        <p:spPr bwMode="auto">
          <a:xfrm>
            <a:off x="6013450" y="23066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88" name="Line 456"/>
          <p:cNvSpPr>
            <a:spLocks noChangeShapeType="1"/>
          </p:cNvSpPr>
          <p:nvPr/>
        </p:nvSpPr>
        <p:spPr bwMode="auto">
          <a:xfrm>
            <a:off x="6013450" y="23066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89" name="Freeform 457"/>
          <p:cNvSpPr>
            <a:spLocks/>
          </p:cNvSpPr>
          <p:nvPr/>
        </p:nvSpPr>
        <p:spPr bwMode="auto">
          <a:xfrm>
            <a:off x="5997575" y="2293938"/>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0 h 18"/>
              <a:gd name="T16" fmla="*/ 2147483647 w 18"/>
              <a:gd name="T17" fmla="*/ 0 h 18"/>
              <a:gd name="T18" fmla="*/ 2147483647 w 18"/>
              <a:gd name="T19" fmla="*/ 0 h 18"/>
              <a:gd name="T20" fmla="*/ 2147483647 w 18"/>
              <a:gd name="T21" fmla="*/ 0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6"/>
                </a:lnTo>
                <a:lnTo>
                  <a:pt x="14" y="14"/>
                </a:lnTo>
                <a:lnTo>
                  <a:pt x="18" y="8"/>
                </a:lnTo>
                <a:lnTo>
                  <a:pt x="18" y="6"/>
                </a:lnTo>
                <a:lnTo>
                  <a:pt x="16" y="2"/>
                </a:lnTo>
                <a:lnTo>
                  <a:pt x="14" y="0"/>
                </a:lnTo>
                <a:lnTo>
                  <a:pt x="10" y="0"/>
                </a:lnTo>
                <a:lnTo>
                  <a:pt x="6" y="0"/>
                </a:lnTo>
                <a:lnTo>
                  <a:pt x="4"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90" name="Line 458"/>
          <p:cNvSpPr>
            <a:spLocks noChangeShapeType="1"/>
          </p:cNvSpPr>
          <p:nvPr/>
        </p:nvSpPr>
        <p:spPr bwMode="auto">
          <a:xfrm>
            <a:off x="6013450" y="22304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91" name="Line 459"/>
          <p:cNvSpPr>
            <a:spLocks noChangeShapeType="1"/>
          </p:cNvSpPr>
          <p:nvPr/>
        </p:nvSpPr>
        <p:spPr bwMode="auto">
          <a:xfrm>
            <a:off x="6013450" y="22304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92" name="Freeform 460"/>
          <p:cNvSpPr>
            <a:spLocks/>
          </p:cNvSpPr>
          <p:nvPr/>
        </p:nvSpPr>
        <p:spPr bwMode="auto">
          <a:xfrm>
            <a:off x="5997575" y="2217738"/>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0 h 18"/>
              <a:gd name="T16" fmla="*/ 2147483647 w 18"/>
              <a:gd name="T17" fmla="*/ 0 h 18"/>
              <a:gd name="T18" fmla="*/ 2147483647 w 18"/>
              <a:gd name="T19" fmla="*/ 0 h 18"/>
              <a:gd name="T20" fmla="*/ 2147483647 w 18"/>
              <a:gd name="T21" fmla="*/ 0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6"/>
                </a:lnTo>
                <a:lnTo>
                  <a:pt x="14" y="14"/>
                </a:lnTo>
                <a:lnTo>
                  <a:pt x="18" y="8"/>
                </a:lnTo>
                <a:lnTo>
                  <a:pt x="18" y="6"/>
                </a:lnTo>
                <a:lnTo>
                  <a:pt x="16" y="2"/>
                </a:lnTo>
                <a:lnTo>
                  <a:pt x="14" y="0"/>
                </a:lnTo>
                <a:lnTo>
                  <a:pt x="10" y="0"/>
                </a:lnTo>
                <a:lnTo>
                  <a:pt x="6" y="0"/>
                </a:lnTo>
                <a:lnTo>
                  <a:pt x="4"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93" name="Line 461"/>
          <p:cNvSpPr>
            <a:spLocks noChangeShapeType="1"/>
          </p:cNvSpPr>
          <p:nvPr/>
        </p:nvSpPr>
        <p:spPr bwMode="auto">
          <a:xfrm>
            <a:off x="6013450" y="21542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94" name="Line 462"/>
          <p:cNvSpPr>
            <a:spLocks noChangeShapeType="1"/>
          </p:cNvSpPr>
          <p:nvPr/>
        </p:nvSpPr>
        <p:spPr bwMode="auto">
          <a:xfrm>
            <a:off x="6013450" y="21542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95" name="Freeform 463"/>
          <p:cNvSpPr>
            <a:spLocks/>
          </p:cNvSpPr>
          <p:nvPr/>
        </p:nvSpPr>
        <p:spPr bwMode="auto">
          <a:xfrm>
            <a:off x="5997575" y="2141538"/>
            <a:ext cx="28575" cy="25400"/>
          </a:xfrm>
          <a:custGeom>
            <a:avLst/>
            <a:gdLst>
              <a:gd name="T0" fmla="*/ 2147483647 w 18"/>
              <a:gd name="T1" fmla="*/ 2147483647 h 16"/>
              <a:gd name="T2" fmla="*/ 2147483647 w 18"/>
              <a:gd name="T3" fmla="*/ 2147483647 h 16"/>
              <a:gd name="T4" fmla="*/ 2147483647 w 18"/>
              <a:gd name="T5" fmla="*/ 2147483647 h 16"/>
              <a:gd name="T6" fmla="*/ 2147483647 w 18"/>
              <a:gd name="T7" fmla="*/ 2147483647 h 16"/>
              <a:gd name="T8" fmla="*/ 2147483647 w 18"/>
              <a:gd name="T9" fmla="*/ 2147483647 h 16"/>
              <a:gd name="T10" fmla="*/ 2147483647 w 18"/>
              <a:gd name="T11" fmla="*/ 2147483647 h 16"/>
              <a:gd name="T12" fmla="*/ 2147483647 w 18"/>
              <a:gd name="T13" fmla="*/ 2147483647 h 16"/>
              <a:gd name="T14" fmla="*/ 2147483647 w 18"/>
              <a:gd name="T15" fmla="*/ 0 h 16"/>
              <a:gd name="T16" fmla="*/ 2147483647 w 18"/>
              <a:gd name="T17" fmla="*/ 0 h 16"/>
              <a:gd name="T18" fmla="*/ 2147483647 w 18"/>
              <a:gd name="T19" fmla="*/ 0 h 16"/>
              <a:gd name="T20" fmla="*/ 2147483647 w 18"/>
              <a:gd name="T21" fmla="*/ 0 h 16"/>
              <a:gd name="T22" fmla="*/ 2147483647 w 18"/>
              <a:gd name="T23" fmla="*/ 2147483647 h 16"/>
              <a:gd name="T24" fmla="*/ 0 w 18"/>
              <a:gd name="T25" fmla="*/ 2147483647 h 16"/>
              <a:gd name="T26" fmla="*/ 0 w 18"/>
              <a:gd name="T27" fmla="*/ 2147483647 h 16"/>
              <a:gd name="T28" fmla="*/ 2147483647 w 18"/>
              <a:gd name="T29" fmla="*/ 2147483647 h 16"/>
              <a:gd name="T30" fmla="*/ 2147483647 w 18"/>
              <a:gd name="T31" fmla="*/ 2147483647 h 16"/>
              <a:gd name="T32" fmla="*/ 2147483647 w 18"/>
              <a:gd name="T33" fmla="*/ 2147483647 h 16"/>
              <a:gd name="T34" fmla="*/ 2147483647 w 18"/>
              <a:gd name="T35" fmla="*/ 2147483647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6"/>
              <a:gd name="T56" fmla="*/ 18 w 18"/>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6">
                <a:moveTo>
                  <a:pt x="8" y="16"/>
                </a:moveTo>
                <a:lnTo>
                  <a:pt x="8" y="16"/>
                </a:lnTo>
                <a:lnTo>
                  <a:pt x="12" y="16"/>
                </a:lnTo>
                <a:lnTo>
                  <a:pt x="14" y="14"/>
                </a:lnTo>
                <a:lnTo>
                  <a:pt x="18" y="8"/>
                </a:lnTo>
                <a:lnTo>
                  <a:pt x="18" y="4"/>
                </a:lnTo>
                <a:lnTo>
                  <a:pt x="16" y="2"/>
                </a:lnTo>
                <a:lnTo>
                  <a:pt x="14" y="0"/>
                </a:lnTo>
                <a:lnTo>
                  <a:pt x="10" y="0"/>
                </a:lnTo>
                <a:lnTo>
                  <a:pt x="6" y="0"/>
                </a:lnTo>
                <a:lnTo>
                  <a:pt x="4" y="2"/>
                </a:lnTo>
                <a:lnTo>
                  <a:pt x="0" y="8"/>
                </a:lnTo>
                <a:lnTo>
                  <a:pt x="0" y="12"/>
                </a:lnTo>
                <a:lnTo>
                  <a:pt x="2" y="14"/>
                </a:lnTo>
                <a:lnTo>
                  <a:pt x="4" y="16"/>
                </a:lnTo>
                <a:lnTo>
                  <a:pt x="8" y="16"/>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96" name="Line 464"/>
          <p:cNvSpPr>
            <a:spLocks noChangeShapeType="1"/>
          </p:cNvSpPr>
          <p:nvPr/>
        </p:nvSpPr>
        <p:spPr bwMode="auto">
          <a:xfrm>
            <a:off x="6013450" y="20780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97" name="Line 465"/>
          <p:cNvSpPr>
            <a:spLocks noChangeShapeType="1"/>
          </p:cNvSpPr>
          <p:nvPr/>
        </p:nvSpPr>
        <p:spPr bwMode="auto">
          <a:xfrm>
            <a:off x="6013450" y="20780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98" name="Freeform 466"/>
          <p:cNvSpPr>
            <a:spLocks/>
          </p:cNvSpPr>
          <p:nvPr/>
        </p:nvSpPr>
        <p:spPr bwMode="auto">
          <a:xfrm>
            <a:off x="5997575" y="2062163"/>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099" name="Line 467"/>
          <p:cNvSpPr>
            <a:spLocks noChangeShapeType="1"/>
          </p:cNvSpPr>
          <p:nvPr/>
        </p:nvSpPr>
        <p:spPr bwMode="auto">
          <a:xfrm>
            <a:off x="6130925" y="232886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00" name="Line 468"/>
          <p:cNvSpPr>
            <a:spLocks noChangeShapeType="1"/>
          </p:cNvSpPr>
          <p:nvPr/>
        </p:nvSpPr>
        <p:spPr bwMode="auto">
          <a:xfrm>
            <a:off x="6130925" y="232886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01" name="Freeform 469"/>
          <p:cNvSpPr>
            <a:spLocks/>
          </p:cNvSpPr>
          <p:nvPr/>
        </p:nvSpPr>
        <p:spPr bwMode="auto">
          <a:xfrm>
            <a:off x="6115050" y="2316163"/>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0 h 18"/>
              <a:gd name="T16" fmla="*/ 2147483647 w 18"/>
              <a:gd name="T17" fmla="*/ 0 h 18"/>
              <a:gd name="T18" fmla="*/ 2147483647 w 18"/>
              <a:gd name="T19" fmla="*/ 0 h 18"/>
              <a:gd name="T20" fmla="*/ 2147483647 w 18"/>
              <a:gd name="T21" fmla="*/ 0 h 18"/>
              <a:gd name="T22" fmla="*/ 2147483647 w 18"/>
              <a:gd name="T23" fmla="*/ 2147483647 h 18"/>
              <a:gd name="T24" fmla="*/ 0 w 18"/>
              <a:gd name="T25" fmla="*/ 2147483647 h 18"/>
              <a:gd name="T26" fmla="*/ 2147483647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6"/>
                </a:lnTo>
                <a:lnTo>
                  <a:pt x="16" y="14"/>
                </a:lnTo>
                <a:lnTo>
                  <a:pt x="18" y="8"/>
                </a:lnTo>
                <a:lnTo>
                  <a:pt x="18" y="6"/>
                </a:lnTo>
                <a:lnTo>
                  <a:pt x="16" y="2"/>
                </a:lnTo>
                <a:lnTo>
                  <a:pt x="14" y="0"/>
                </a:lnTo>
                <a:lnTo>
                  <a:pt x="10" y="0"/>
                </a:lnTo>
                <a:lnTo>
                  <a:pt x="6" y="0"/>
                </a:lnTo>
                <a:lnTo>
                  <a:pt x="4" y="2"/>
                </a:lnTo>
                <a:lnTo>
                  <a:pt x="0" y="8"/>
                </a:lnTo>
                <a:lnTo>
                  <a:pt x="2"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02" name="Line 470"/>
          <p:cNvSpPr>
            <a:spLocks noChangeShapeType="1"/>
          </p:cNvSpPr>
          <p:nvPr/>
        </p:nvSpPr>
        <p:spPr bwMode="auto">
          <a:xfrm>
            <a:off x="6130925" y="225266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03" name="Line 471"/>
          <p:cNvSpPr>
            <a:spLocks noChangeShapeType="1"/>
          </p:cNvSpPr>
          <p:nvPr/>
        </p:nvSpPr>
        <p:spPr bwMode="auto">
          <a:xfrm>
            <a:off x="6130925" y="225266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04" name="Freeform 472"/>
          <p:cNvSpPr>
            <a:spLocks/>
          </p:cNvSpPr>
          <p:nvPr/>
        </p:nvSpPr>
        <p:spPr bwMode="auto">
          <a:xfrm>
            <a:off x="6115050" y="2236788"/>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2147483647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6" y="16"/>
                </a:lnTo>
                <a:lnTo>
                  <a:pt x="18" y="10"/>
                </a:lnTo>
                <a:lnTo>
                  <a:pt x="18" y="6"/>
                </a:lnTo>
                <a:lnTo>
                  <a:pt x="16" y="4"/>
                </a:lnTo>
                <a:lnTo>
                  <a:pt x="14" y="2"/>
                </a:lnTo>
                <a:lnTo>
                  <a:pt x="10" y="0"/>
                </a:lnTo>
                <a:lnTo>
                  <a:pt x="6" y="2"/>
                </a:lnTo>
                <a:lnTo>
                  <a:pt x="4" y="4"/>
                </a:lnTo>
                <a:lnTo>
                  <a:pt x="0" y="10"/>
                </a:lnTo>
                <a:lnTo>
                  <a:pt x="2"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05" name="Line 473"/>
          <p:cNvSpPr>
            <a:spLocks noChangeShapeType="1"/>
          </p:cNvSpPr>
          <p:nvPr/>
        </p:nvSpPr>
        <p:spPr bwMode="auto">
          <a:xfrm>
            <a:off x="6130925" y="217646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06" name="Line 474"/>
          <p:cNvSpPr>
            <a:spLocks noChangeShapeType="1"/>
          </p:cNvSpPr>
          <p:nvPr/>
        </p:nvSpPr>
        <p:spPr bwMode="auto">
          <a:xfrm>
            <a:off x="6130925" y="217646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07" name="Freeform 475"/>
          <p:cNvSpPr>
            <a:spLocks/>
          </p:cNvSpPr>
          <p:nvPr/>
        </p:nvSpPr>
        <p:spPr bwMode="auto">
          <a:xfrm>
            <a:off x="6115050" y="2160588"/>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2147483647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6" y="16"/>
                </a:lnTo>
                <a:lnTo>
                  <a:pt x="18" y="10"/>
                </a:lnTo>
                <a:lnTo>
                  <a:pt x="18" y="6"/>
                </a:lnTo>
                <a:lnTo>
                  <a:pt x="16" y="4"/>
                </a:lnTo>
                <a:lnTo>
                  <a:pt x="14" y="2"/>
                </a:lnTo>
                <a:lnTo>
                  <a:pt x="10" y="0"/>
                </a:lnTo>
                <a:lnTo>
                  <a:pt x="6" y="2"/>
                </a:lnTo>
                <a:lnTo>
                  <a:pt x="4" y="4"/>
                </a:lnTo>
                <a:lnTo>
                  <a:pt x="0" y="10"/>
                </a:lnTo>
                <a:lnTo>
                  <a:pt x="2"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08" name="Line 476"/>
          <p:cNvSpPr>
            <a:spLocks noChangeShapeType="1"/>
          </p:cNvSpPr>
          <p:nvPr/>
        </p:nvSpPr>
        <p:spPr bwMode="auto">
          <a:xfrm>
            <a:off x="6130925" y="209708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09" name="Line 477"/>
          <p:cNvSpPr>
            <a:spLocks noChangeShapeType="1"/>
          </p:cNvSpPr>
          <p:nvPr/>
        </p:nvSpPr>
        <p:spPr bwMode="auto">
          <a:xfrm>
            <a:off x="6130925" y="209708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10" name="Freeform 478"/>
          <p:cNvSpPr>
            <a:spLocks/>
          </p:cNvSpPr>
          <p:nvPr/>
        </p:nvSpPr>
        <p:spPr bwMode="auto">
          <a:xfrm>
            <a:off x="6115050" y="2084388"/>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0 h 18"/>
              <a:gd name="T16" fmla="*/ 2147483647 w 18"/>
              <a:gd name="T17" fmla="*/ 0 h 18"/>
              <a:gd name="T18" fmla="*/ 2147483647 w 18"/>
              <a:gd name="T19" fmla="*/ 0 h 18"/>
              <a:gd name="T20" fmla="*/ 2147483647 w 18"/>
              <a:gd name="T21" fmla="*/ 0 h 18"/>
              <a:gd name="T22" fmla="*/ 2147483647 w 18"/>
              <a:gd name="T23" fmla="*/ 2147483647 h 18"/>
              <a:gd name="T24" fmla="*/ 0 w 18"/>
              <a:gd name="T25" fmla="*/ 2147483647 h 18"/>
              <a:gd name="T26" fmla="*/ 2147483647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6"/>
                </a:lnTo>
                <a:lnTo>
                  <a:pt x="16" y="14"/>
                </a:lnTo>
                <a:lnTo>
                  <a:pt x="18" y="8"/>
                </a:lnTo>
                <a:lnTo>
                  <a:pt x="18" y="6"/>
                </a:lnTo>
                <a:lnTo>
                  <a:pt x="16" y="2"/>
                </a:lnTo>
                <a:lnTo>
                  <a:pt x="14" y="0"/>
                </a:lnTo>
                <a:lnTo>
                  <a:pt x="10" y="0"/>
                </a:lnTo>
                <a:lnTo>
                  <a:pt x="6" y="0"/>
                </a:lnTo>
                <a:lnTo>
                  <a:pt x="4" y="2"/>
                </a:lnTo>
                <a:lnTo>
                  <a:pt x="0" y="8"/>
                </a:lnTo>
                <a:lnTo>
                  <a:pt x="2"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11" name="Line 479"/>
          <p:cNvSpPr>
            <a:spLocks noChangeShapeType="1"/>
          </p:cNvSpPr>
          <p:nvPr/>
        </p:nvSpPr>
        <p:spPr bwMode="auto">
          <a:xfrm>
            <a:off x="3813175" y="11128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12" name="Line 480"/>
          <p:cNvSpPr>
            <a:spLocks noChangeShapeType="1"/>
          </p:cNvSpPr>
          <p:nvPr/>
        </p:nvSpPr>
        <p:spPr bwMode="auto">
          <a:xfrm>
            <a:off x="3813175" y="11128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13" name="Freeform 481"/>
          <p:cNvSpPr>
            <a:spLocks/>
          </p:cNvSpPr>
          <p:nvPr/>
        </p:nvSpPr>
        <p:spPr bwMode="auto">
          <a:xfrm>
            <a:off x="3800475" y="1100138"/>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0 h 18"/>
              <a:gd name="T16" fmla="*/ 2147483647 w 16"/>
              <a:gd name="T17" fmla="*/ 0 h 18"/>
              <a:gd name="T18" fmla="*/ 2147483647 w 16"/>
              <a:gd name="T19" fmla="*/ 0 h 18"/>
              <a:gd name="T20" fmla="*/ 2147483647 w 16"/>
              <a:gd name="T21" fmla="*/ 0 h 18"/>
              <a:gd name="T22" fmla="*/ 2147483647 w 16"/>
              <a:gd name="T23" fmla="*/ 2147483647 h 18"/>
              <a:gd name="T24" fmla="*/ 0 w 16"/>
              <a:gd name="T25" fmla="*/ 2147483647 h 18"/>
              <a:gd name="T26" fmla="*/ 0 w 16"/>
              <a:gd name="T27" fmla="*/ 2147483647 h 18"/>
              <a:gd name="T28" fmla="*/ 0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8" y="18"/>
                </a:moveTo>
                <a:lnTo>
                  <a:pt x="8" y="18"/>
                </a:lnTo>
                <a:lnTo>
                  <a:pt x="10" y="16"/>
                </a:lnTo>
                <a:lnTo>
                  <a:pt x="14" y="14"/>
                </a:lnTo>
                <a:lnTo>
                  <a:pt x="16" y="8"/>
                </a:lnTo>
                <a:lnTo>
                  <a:pt x="16" y="6"/>
                </a:lnTo>
                <a:lnTo>
                  <a:pt x="14" y="2"/>
                </a:lnTo>
                <a:lnTo>
                  <a:pt x="12" y="0"/>
                </a:lnTo>
                <a:lnTo>
                  <a:pt x="8" y="0"/>
                </a:lnTo>
                <a:lnTo>
                  <a:pt x="4" y="0"/>
                </a:lnTo>
                <a:lnTo>
                  <a:pt x="2" y="2"/>
                </a:lnTo>
                <a:lnTo>
                  <a:pt x="0" y="8"/>
                </a:lnTo>
                <a:lnTo>
                  <a:pt x="0" y="12"/>
                </a:lnTo>
                <a:lnTo>
                  <a:pt x="0"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14" name="Line 482"/>
          <p:cNvSpPr>
            <a:spLocks noChangeShapeType="1"/>
          </p:cNvSpPr>
          <p:nvPr/>
        </p:nvSpPr>
        <p:spPr bwMode="auto">
          <a:xfrm>
            <a:off x="3743325" y="114458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15" name="Line 483"/>
          <p:cNvSpPr>
            <a:spLocks noChangeShapeType="1"/>
          </p:cNvSpPr>
          <p:nvPr/>
        </p:nvSpPr>
        <p:spPr bwMode="auto">
          <a:xfrm>
            <a:off x="3743325" y="114458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16" name="Freeform 484"/>
          <p:cNvSpPr>
            <a:spLocks/>
          </p:cNvSpPr>
          <p:nvPr/>
        </p:nvSpPr>
        <p:spPr bwMode="auto">
          <a:xfrm>
            <a:off x="3730625" y="1131888"/>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0 h 18"/>
              <a:gd name="T16" fmla="*/ 2147483647 w 16"/>
              <a:gd name="T17" fmla="*/ 0 h 18"/>
              <a:gd name="T18" fmla="*/ 2147483647 w 16"/>
              <a:gd name="T19" fmla="*/ 0 h 18"/>
              <a:gd name="T20" fmla="*/ 2147483647 w 16"/>
              <a:gd name="T21" fmla="*/ 0 h 18"/>
              <a:gd name="T22" fmla="*/ 2147483647 w 16"/>
              <a:gd name="T23" fmla="*/ 2147483647 h 18"/>
              <a:gd name="T24" fmla="*/ 0 w 16"/>
              <a:gd name="T25" fmla="*/ 2147483647 h 18"/>
              <a:gd name="T26" fmla="*/ 0 w 16"/>
              <a:gd name="T27" fmla="*/ 2147483647 h 18"/>
              <a:gd name="T28" fmla="*/ 0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6" y="18"/>
                </a:moveTo>
                <a:lnTo>
                  <a:pt x="6" y="18"/>
                </a:lnTo>
                <a:lnTo>
                  <a:pt x="10" y="16"/>
                </a:lnTo>
                <a:lnTo>
                  <a:pt x="14" y="14"/>
                </a:lnTo>
                <a:lnTo>
                  <a:pt x="16" y="8"/>
                </a:lnTo>
                <a:lnTo>
                  <a:pt x="16" y="6"/>
                </a:lnTo>
                <a:lnTo>
                  <a:pt x="14" y="2"/>
                </a:lnTo>
                <a:lnTo>
                  <a:pt x="12" y="0"/>
                </a:lnTo>
                <a:lnTo>
                  <a:pt x="8" y="0"/>
                </a:lnTo>
                <a:lnTo>
                  <a:pt x="4" y="0"/>
                </a:lnTo>
                <a:lnTo>
                  <a:pt x="2" y="2"/>
                </a:lnTo>
                <a:lnTo>
                  <a:pt x="0" y="8"/>
                </a:lnTo>
                <a:lnTo>
                  <a:pt x="0" y="12"/>
                </a:lnTo>
                <a:lnTo>
                  <a:pt x="0" y="14"/>
                </a:lnTo>
                <a:lnTo>
                  <a:pt x="4" y="16"/>
                </a:lnTo>
                <a:lnTo>
                  <a:pt x="6"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17" name="Line 485"/>
          <p:cNvSpPr>
            <a:spLocks noChangeShapeType="1"/>
          </p:cNvSpPr>
          <p:nvPr/>
        </p:nvSpPr>
        <p:spPr bwMode="auto">
          <a:xfrm>
            <a:off x="3743325" y="106838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18" name="Line 486"/>
          <p:cNvSpPr>
            <a:spLocks noChangeShapeType="1"/>
          </p:cNvSpPr>
          <p:nvPr/>
        </p:nvSpPr>
        <p:spPr bwMode="auto">
          <a:xfrm>
            <a:off x="3743325" y="106838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19" name="Freeform 487"/>
          <p:cNvSpPr>
            <a:spLocks/>
          </p:cNvSpPr>
          <p:nvPr/>
        </p:nvSpPr>
        <p:spPr bwMode="auto">
          <a:xfrm>
            <a:off x="3730625" y="1055688"/>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0 h 18"/>
              <a:gd name="T16" fmla="*/ 2147483647 w 16"/>
              <a:gd name="T17" fmla="*/ 0 h 18"/>
              <a:gd name="T18" fmla="*/ 2147483647 w 16"/>
              <a:gd name="T19" fmla="*/ 0 h 18"/>
              <a:gd name="T20" fmla="*/ 2147483647 w 16"/>
              <a:gd name="T21" fmla="*/ 0 h 18"/>
              <a:gd name="T22" fmla="*/ 2147483647 w 16"/>
              <a:gd name="T23" fmla="*/ 2147483647 h 18"/>
              <a:gd name="T24" fmla="*/ 0 w 16"/>
              <a:gd name="T25" fmla="*/ 2147483647 h 18"/>
              <a:gd name="T26" fmla="*/ 0 w 16"/>
              <a:gd name="T27" fmla="*/ 2147483647 h 18"/>
              <a:gd name="T28" fmla="*/ 0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6" y="18"/>
                </a:moveTo>
                <a:lnTo>
                  <a:pt x="6" y="18"/>
                </a:lnTo>
                <a:lnTo>
                  <a:pt x="10" y="16"/>
                </a:lnTo>
                <a:lnTo>
                  <a:pt x="14" y="14"/>
                </a:lnTo>
                <a:lnTo>
                  <a:pt x="16" y="8"/>
                </a:lnTo>
                <a:lnTo>
                  <a:pt x="16" y="6"/>
                </a:lnTo>
                <a:lnTo>
                  <a:pt x="14" y="2"/>
                </a:lnTo>
                <a:lnTo>
                  <a:pt x="12" y="0"/>
                </a:lnTo>
                <a:lnTo>
                  <a:pt x="8" y="0"/>
                </a:lnTo>
                <a:lnTo>
                  <a:pt x="4" y="0"/>
                </a:lnTo>
                <a:lnTo>
                  <a:pt x="2" y="2"/>
                </a:lnTo>
                <a:lnTo>
                  <a:pt x="0" y="8"/>
                </a:lnTo>
                <a:lnTo>
                  <a:pt x="0" y="12"/>
                </a:lnTo>
                <a:lnTo>
                  <a:pt x="0" y="14"/>
                </a:lnTo>
                <a:lnTo>
                  <a:pt x="4" y="16"/>
                </a:lnTo>
                <a:lnTo>
                  <a:pt x="6"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20" name="Line 488"/>
          <p:cNvSpPr>
            <a:spLocks noChangeShapeType="1"/>
          </p:cNvSpPr>
          <p:nvPr/>
        </p:nvSpPr>
        <p:spPr bwMode="auto">
          <a:xfrm>
            <a:off x="4427538" y="10922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21" name="Line 489"/>
          <p:cNvSpPr>
            <a:spLocks noChangeShapeType="1"/>
          </p:cNvSpPr>
          <p:nvPr/>
        </p:nvSpPr>
        <p:spPr bwMode="auto">
          <a:xfrm>
            <a:off x="4427538" y="10922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22" name="Freeform 490"/>
          <p:cNvSpPr>
            <a:spLocks/>
          </p:cNvSpPr>
          <p:nvPr/>
        </p:nvSpPr>
        <p:spPr bwMode="auto">
          <a:xfrm>
            <a:off x="4414838" y="1076325"/>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2147483647 h 18"/>
              <a:gd name="T16" fmla="*/ 2147483647 w 16"/>
              <a:gd name="T17" fmla="*/ 0 h 18"/>
              <a:gd name="T18" fmla="*/ 2147483647 w 16"/>
              <a:gd name="T19" fmla="*/ 0 h 18"/>
              <a:gd name="T20" fmla="*/ 2147483647 w 16"/>
              <a:gd name="T21" fmla="*/ 2147483647 h 18"/>
              <a:gd name="T22" fmla="*/ 2147483647 w 16"/>
              <a:gd name="T23" fmla="*/ 2147483647 h 18"/>
              <a:gd name="T24" fmla="*/ 0 w 16"/>
              <a:gd name="T25" fmla="*/ 2147483647 h 18"/>
              <a:gd name="T26" fmla="*/ 0 w 16"/>
              <a:gd name="T27" fmla="*/ 2147483647 h 18"/>
              <a:gd name="T28" fmla="*/ 0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6" y="18"/>
                </a:moveTo>
                <a:lnTo>
                  <a:pt x="6" y="18"/>
                </a:lnTo>
                <a:lnTo>
                  <a:pt x="10" y="18"/>
                </a:lnTo>
                <a:lnTo>
                  <a:pt x="14" y="16"/>
                </a:lnTo>
                <a:lnTo>
                  <a:pt x="16" y="10"/>
                </a:lnTo>
                <a:lnTo>
                  <a:pt x="16" y="6"/>
                </a:lnTo>
                <a:lnTo>
                  <a:pt x="14" y="4"/>
                </a:lnTo>
                <a:lnTo>
                  <a:pt x="12" y="2"/>
                </a:lnTo>
                <a:lnTo>
                  <a:pt x="8" y="0"/>
                </a:lnTo>
                <a:lnTo>
                  <a:pt x="4" y="2"/>
                </a:lnTo>
                <a:lnTo>
                  <a:pt x="2" y="4"/>
                </a:lnTo>
                <a:lnTo>
                  <a:pt x="0" y="10"/>
                </a:lnTo>
                <a:lnTo>
                  <a:pt x="0" y="12"/>
                </a:lnTo>
                <a:lnTo>
                  <a:pt x="0" y="16"/>
                </a:lnTo>
                <a:lnTo>
                  <a:pt x="4" y="18"/>
                </a:lnTo>
                <a:lnTo>
                  <a:pt x="6"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23" name="Line 491"/>
          <p:cNvSpPr>
            <a:spLocks noChangeShapeType="1"/>
          </p:cNvSpPr>
          <p:nvPr/>
        </p:nvSpPr>
        <p:spPr bwMode="auto">
          <a:xfrm>
            <a:off x="4491038" y="11366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24" name="Line 492"/>
          <p:cNvSpPr>
            <a:spLocks noChangeShapeType="1"/>
          </p:cNvSpPr>
          <p:nvPr/>
        </p:nvSpPr>
        <p:spPr bwMode="auto">
          <a:xfrm>
            <a:off x="4491038" y="11366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25" name="Freeform 493"/>
          <p:cNvSpPr>
            <a:spLocks/>
          </p:cNvSpPr>
          <p:nvPr/>
        </p:nvSpPr>
        <p:spPr bwMode="auto">
          <a:xfrm>
            <a:off x="4478338" y="112077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26" name="Line 494"/>
          <p:cNvSpPr>
            <a:spLocks noChangeShapeType="1"/>
          </p:cNvSpPr>
          <p:nvPr/>
        </p:nvSpPr>
        <p:spPr bwMode="auto">
          <a:xfrm>
            <a:off x="4491038" y="10572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27" name="Line 495"/>
          <p:cNvSpPr>
            <a:spLocks noChangeShapeType="1"/>
          </p:cNvSpPr>
          <p:nvPr/>
        </p:nvSpPr>
        <p:spPr bwMode="auto">
          <a:xfrm>
            <a:off x="4491038" y="105727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28" name="Freeform 497"/>
          <p:cNvSpPr>
            <a:spLocks/>
          </p:cNvSpPr>
          <p:nvPr/>
        </p:nvSpPr>
        <p:spPr bwMode="auto">
          <a:xfrm>
            <a:off x="4478338" y="104457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0 h 18"/>
              <a:gd name="T16" fmla="*/ 2147483647 w 18"/>
              <a:gd name="T17" fmla="*/ 0 h 18"/>
              <a:gd name="T18" fmla="*/ 2147483647 w 18"/>
              <a:gd name="T19" fmla="*/ 0 h 18"/>
              <a:gd name="T20" fmla="*/ 2147483647 w 18"/>
              <a:gd name="T21" fmla="*/ 0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6"/>
                </a:lnTo>
                <a:lnTo>
                  <a:pt x="14" y="14"/>
                </a:lnTo>
                <a:lnTo>
                  <a:pt x="18" y="8"/>
                </a:lnTo>
                <a:lnTo>
                  <a:pt x="18" y="6"/>
                </a:lnTo>
                <a:lnTo>
                  <a:pt x="16" y="2"/>
                </a:lnTo>
                <a:lnTo>
                  <a:pt x="14" y="0"/>
                </a:lnTo>
                <a:lnTo>
                  <a:pt x="10" y="0"/>
                </a:lnTo>
                <a:lnTo>
                  <a:pt x="6" y="0"/>
                </a:lnTo>
                <a:lnTo>
                  <a:pt x="4"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29" name="Line 498"/>
          <p:cNvSpPr>
            <a:spLocks noChangeShapeType="1"/>
          </p:cNvSpPr>
          <p:nvPr/>
        </p:nvSpPr>
        <p:spPr bwMode="auto">
          <a:xfrm>
            <a:off x="6570663" y="23050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30" name="Line 499"/>
          <p:cNvSpPr>
            <a:spLocks noChangeShapeType="1"/>
          </p:cNvSpPr>
          <p:nvPr/>
        </p:nvSpPr>
        <p:spPr bwMode="auto">
          <a:xfrm>
            <a:off x="6570663" y="23050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31" name="Freeform 500"/>
          <p:cNvSpPr>
            <a:spLocks/>
          </p:cNvSpPr>
          <p:nvPr/>
        </p:nvSpPr>
        <p:spPr bwMode="auto">
          <a:xfrm>
            <a:off x="6557963" y="2292350"/>
            <a:ext cx="25400" cy="25400"/>
          </a:xfrm>
          <a:custGeom>
            <a:avLst/>
            <a:gdLst>
              <a:gd name="T0" fmla="*/ 2147483647 w 16"/>
              <a:gd name="T1" fmla="*/ 2147483647 h 16"/>
              <a:gd name="T2" fmla="*/ 2147483647 w 16"/>
              <a:gd name="T3" fmla="*/ 2147483647 h 16"/>
              <a:gd name="T4" fmla="*/ 2147483647 w 16"/>
              <a:gd name="T5" fmla="*/ 2147483647 h 16"/>
              <a:gd name="T6" fmla="*/ 2147483647 w 16"/>
              <a:gd name="T7" fmla="*/ 2147483647 h 16"/>
              <a:gd name="T8" fmla="*/ 2147483647 w 16"/>
              <a:gd name="T9" fmla="*/ 2147483647 h 16"/>
              <a:gd name="T10" fmla="*/ 2147483647 w 16"/>
              <a:gd name="T11" fmla="*/ 2147483647 h 16"/>
              <a:gd name="T12" fmla="*/ 2147483647 w 16"/>
              <a:gd name="T13" fmla="*/ 2147483647 h 16"/>
              <a:gd name="T14" fmla="*/ 2147483647 w 16"/>
              <a:gd name="T15" fmla="*/ 0 h 16"/>
              <a:gd name="T16" fmla="*/ 2147483647 w 16"/>
              <a:gd name="T17" fmla="*/ 0 h 16"/>
              <a:gd name="T18" fmla="*/ 2147483647 w 16"/>
              <a:gd name="T19" fmla="*/ 0 h 16"/>
              <a:gd name="T20" fmla="*/ 2147483647 w 16"/>
              <a:gd name="T21" fmla="*/ 0 h 16"/>
              <a:gd name="T22" fmla="*/ 2147483647 w 16"/>
              <a:gd name="T23" fmla="*/ 2147483647 h 16"/>
              <a:gd name="T24" fmla="*/ 0 w 16"/>
              <a:gd name="T25" fmla="*/ 2147483647 h 16"/>
              <a:gd name="T26" fmla="*/ 0 w 16"/>
              <a:gd name="T27" fmla="*/ 2147483647 h 16"/>
              <a:gd name="T28" fmla="*/ 2147483647 w 16"/>
              <a:gd name="T29" fmla="*/ 2147483647 h 16"/>
              <a:gd name="T30" fmla="*/ 2147483647 w 16"/>
              <a:gd name="T31" fmla="*/ 2147483647 h 16"/>
              <a:gd name="T32" fmla="*/ 2147483647 w 16"/>
              <a:gd name="T33" fmla="*/ 2147483647 h 16"/>
              <a:gd name="T34" fmla="*/ 2147483647 w 16"/>
              <a:gd name="T35" fmla="*/ 2147483647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6"/>
              <a:gd name="T56" fmla="*/ 16 w 16"/>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6">
                <a:moveTo>
                  <a:pt x="8" y="16"/>
                </a:moveTo>
                <a:lnTo>
                  <a:pt x="8" y="16"/>
                </a:lnTo>
                <a:lnTo>
                  <a:pt x="12" y="16"/>
                </a:lnTo>
                <a:lnTo>
                  <a:pt x="14" y="14"/>
                </a:lnTo>
                <a:lnTo>
                  <a:pt x="16" y="8"/>
                </a:lnTo>
                <a:lnTo>
                  <a:pt x="16" y="4"/>
                </a:lnTo>
                <a:lnTo>
                  <a:pt x="16" y="2"/>
                </a:lnTo>
                <a:lnTo>
                  <a:pt x="12" y="0"/>
                </a:lnTo>
                <a:lnTo>
                  <a:pt x="10" y="0"/>
                </a:lnTo>
                <a:lnTo>
                  <a:pt x="6" y="0"/>
                </a:lnTo>
                <a:lnTo>
                  <a:pt x="2" y="2"/>
                </a:lnTo>
                <a:lnTo>
                  <a:pt x="0" y="8"/>
                </a:lnTo>
                <a:lnTo>
                  <a:pt x="0" y="12"/>
                </a:lnTo>
                <a:lnTo>
                  <a:pt x="2" y="14"/>
                </a:lnTo>
                <a:lnTo>
                  <a:pt x="4" y="16"/>
                </a:lnTo>
                <a:lnTo>
                  <a:pt x="8" y="16"/>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32" name="Line 501"/>
          <p:cNvSpPr>
            <a:spLocks noChangeShapeType="1"/>
          </p:cNvSpPr>
          <p:nvPr/>
        </p:nvSpPr>
        <p:spPr bwMode="auto">
          <a:xfrm>
            <a:off x="6656388" y="23622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33" name="Line 502"/>
          <p:cNvSpPr>
            <a:spLocks noChangeShapeType="1"/>
          </p:cNvSpPr>
          <p:nvPr/>
        </p:nvSpPr>
        <p:spPr bwMode="auto">
          <a:xfrm>
            <a:off x="6656388" y="23622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34" name="Freeform 503"/>
          <p:cNvSpPr>
            <a:spLocks/>
          </p:cNvSpPr>
          <p:nvPr/>
        </p:nvSpPr>
        <p:spPr bwMode="auto">
          <a:xfrm>
            <a:off x="6640513" y="234632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4" y="16"/>
                </a:lnTo>
                <a:lnTo>
                  <a:pt x="18" y="10"/>
                </a:lnTo>
                <a:lnTo>
                  <a:pt x="18" y="6"/>
                </a:lnTo>
                <a:lnTo>
                  <a:pt x="16" y="4"/>
                </a:lnTo>
                <a:lnTo>
                  <a:pt x="14" y="2"/>
                </a:lnTo>
                <a:lnTo>
                  <a:pt x="10" y="0"/>
                </a:lnTo>
                <a:lnTo>
                  <a:pt x="6" y="2"/>
                </a:lnTo>
                <a:lnTo>
                  <a:pt x="4" y="4"/>
                </a:lnTo>
                <a:lnTo>
                  <a:pt x="0" y="10"/>
                </a:lnTo>
                <a:lnTo>
                  <a:pt x="0"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35" name="Line 504"/>
          <p:cNvSpPr>
            <a:spLocks noChangeShapeType="1"/>
          </p:cNvSpPr>
          <p:nvPr/>
        </p:nvSpPr>
        <p:spPr bwMode="auto">
          <a:xfrm>
            <a:off x="6656388" y="228282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36" name="Line 505"/>
          <p:cNvSpPr>
            <a:spLocks noChangeShapeType="1"/>
          </p:cNvSpPr>
          <p:nvPr/>
        </p:nvSpPr>
        <p:spPr bwMode="auto">
          <a:xfrm>
            <a:off x="6656388" y="2282825"/>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37" name="Freeform 506"/>
          <p:cNvSpPr>
            <a:spLocks/>
          </p:cNvSpPr>
          <p:nvPr/>
        </p:nvSpPr>
        <p:spPr bwMode="auto">
          <a:xfrm>
            <a:off x="6640513" y="2270125"/>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0 h 18"/>
              <a:gd name="T16" fmla="*/ 2147483647 w 18"/>
              <a:gd name="T17" fmla="*/ 0 h 18"/>
              <a:gd name="T18" fmla="*/ 2147483647 w 18"/>
              <a:gd name="T19" fmla="*/ 0 h 18"/>
              <a:gd name="T20" fmla="*/ 2147483647 w 18"/>
              <a:gd name="T21" fmla="*/ 0 h 18"/>
              <a:gd name="T22" fmla="*/ 2147483647 w 18"/>
              <a:gd name="T23" fmla="*/ 2147483647 h 18"/>
              <a:gd name="T24" fmla="*/ 0 w 18"/>
              <a:gd name="T25" fmla="*/ 2147483647 h 18"/>
              <a:gd name="T26" fmla="*/ 0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6"/>
                </a:lnTo>
                <a:lnTo>
                  <a:pt x="14" y="14"/>
                </a:lnTo>
                <a:lnTo>
                  <a:pt x="18" y="8"/>
                </a:lnTo>
                <a:lnTo>
                  <a:pt x="18" y="6"/>
                </a:lnTo>
                <a:lnTo>
                  <a:pt x="16" y="2"/>
                </a:lnTo>
                <a:lnTo>
                  <a:pt x="14" y="0"/>
                </a:lnTo>
                <a:lnTo>
                  <a:pt x="10" y="0"/>
                </a:lnTo>
                <a:lnTo>
                  <a:pt x="6" y="0"/>
                </a:lnTo>
                <a:lnTo>
                  <a:pt x="4"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38" name="Line 507"/>
          <p:cNvSpPr>
            <a:spLocks noChangeShapeType="1"/>
          </p:cNvSpPr>
          <p:nvPr/>
        </p:nvSpPr>
        <p:spPr bwMode="auto">
          <a:xfrm>
            <a:off x="7275513" y="243681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39" name="Line 508"/>
          <p:cNvSpPr>
            <a:spLocks noChangeShapeType="1"/>
          </p:cNvSpPr>
          <p:nvPr/>
        </p:nvSpPr>
        <p:spPr bwMode="auto">
          <a:xfrm>
            <a:off x="7275513" y="243681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40" name="Freeform 509"/>
          <p:cNvSpPr>
            <a:spLocks/>
          </p:cNvSpPr>
          <p:nvPr/>
        </p:nvSpPr>
        <p:spPr bwMode="auto">
          <a:xfrm>
            <a:off x="7259638" y="2424113"/>
            <a:ext cx="28575" cy="25400"/>
          </a:xfrm>
          <a:custGeom>
            <a:avLst/>
            <a:gdLst>
              <a:gd name="T0" fmla="*/ 2147483647 w 18"/>
              <a:gd name="T1" fmla="*/ 2147483647 h 16"/>
              <a:gd name="T2" fmla="*/ 2147483647 w 18"/>
              <a:gd name="T3" fmla="*/ 2147483647 h 16"/>
              <a:gd name="T4" fmla="*/ 2147483647 w 18"/>
              <a:gd name="T5" fmla="*/ 2147483647 h 16"/>
              <a:gd name="T6" fmla="*/ 2147483647 w 18"/>
              <a:gd name="T7" fmla="*/ 2147483647 h 16"/>
              <a:gd name="T8" fmla="*/ 2147483647 w 18"/>
              <a:gd name="T9" fmla="*/ 2147483647 h 16"/>
              <a:gd name="T10" fmla="*/ 2147483647 w 18"/>
              <a:gd name="T11" fmla="*/ 2147483647 h 16"/>
              <a:gd name="T12" fmla="*/ 2147483647 w 18"/>
              <a:gd name="T13" fmla="*/ 2147483647 h 16"/>
              <a:gd name="T14" fmla="*/ 2147483647 w 18"/>
              <a:gd name="T15" fmla="*/ 0 h 16"/>
              <a:gd name="T16" fmla="*/ 2147483647 w 18"/>
              <a:gd name="T17" fmla="*/ 0 h 16"/>
              <a:gd name="T18" fmla="*/ 2147483647 w 18"/>
              <a:gd name="T19" fmla="*/ 0 h 16"/>
              <a:gd name="T20" fmla="*/ 2147483647 w 18"/>
              <a:gd name="T21" fmla="*/ 0 h 16"/>
              <a:gd name="T22" fmla="*/ 2147483647 w 18"/>
              <a:gd name="T23" fmla="*/ 2147483647 h 16"/>
              <a:gd name="T24" fmla="*/ 0 w 18"/>
              <a:gd name="T25" fmla="*/ 2147483647 h 16"/>
              <a:gd name="T26" fmla="*/ 2147483647 w 18"/>
              <a:gd name="T27" fmla="*/ 2147483647 h 16"/>
              <a:gd name="T28" fmla="*/ 2147483647 w 18"/>
              <a:gd name="T29" fmla="*/ 2147483647 h 16"/>
              <a:gd name="T30" fmla="*/ 2147483647 w 18"/>
              <a:gd name="T31" fmla="*/ 2147483647 h 16"/>
              <a:gd name="T32" fmla="*/ 2147483647 w 18"/>
              <a:gd name="T33" fmla="*/ 2147483647 h 16"/>
              <a:gd name="T34" fmla="*/ 2147483647 w 18"/>
              <a:gd name="T35" fmla="*/ 2147483647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6"/>
              <a:gd name="T56" fmla="*/ 18 w 18"/>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6">
                <a:moveTo>
                  <a:pt x="8" y="16"/>
                </a:moveTo>
                <a:lnTo>
                  <a:pt x="8" y="16"/>
                </a:lnTo>
                <a:lnTo>
                  <a:pt x="12" y="16"/>
                </a:lnTo>
                <a:lnTo>
                  <a:pt x="16" y="14"/>
                </a:lnTo>
                <a:lnTo>
                  <a:pt x="18" y="8"/>
                </a:lnTo>
                <a:lnTo>
                  <a:pt x="18" y="4"/>
                </a:lnTo>
                <a:lnTo>
                  <a:pt x="16" y="2"/>
                </a:lnTo>
                <a:lnTo>
                  <a:pt x="14" y="0"/>
                </a:lnTo>
                <a:lnTo>
                  <a:pt x="10" y="0"/>
                </a:lnTo>
                <a:lnTo>
                  <a:pt x="6" y="0"/>
                </a:lnTo>
                <a:lnTo>
                  <a:pt x="4" y="2"/>
                </a:lnTo>
                <a:lnTo>
                  <a:pt x="0" y="8"/>
                </a:lnTo>
                <a:lnTo>
                  <a:pt x="2" y="10"/>
                </a:lnTo>
                <a:lnTo>
                  <a:pt x="2" y="14"/>
                </a:lnTo>
                <a:lnTo>
                  <a:pt x="4" y="16"/>
                </a:lnTo>
                <a:lnTo>
                  <a:pt x="8" y="16"/>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41" name="Line 510"/>
          <p:cNvSpPr>
            <a:spLocks noChangeShapeType="1"/>
          </p:cNvSpPr>
          <p:nvPr/>
        </p:nvSpPr>
        <p:spPr bwMode="auto">
          <a:xfrm>
            <a:off x="7275513" y="236061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42" name="Line 511"/>
          <p:cNvSpPr>
            <a:spLocks noChangeShapeType="1"/>
          </p:cNvSpPr>
          <p:nvPr/>
        </p:nvSpPr>
        <p:spPr bwMode="auto">
          <a:xfrm>
            <a:off x="7275513" y="236061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43" name="Freeform 512"/>
          <p:cNvSpPr>
            <a:spLocks/>
          </p:cNvSpPr>
          <p:nvPr/>
        </p:nvSpPr>
        <p:spPr bwMode="auto">
          <a:xfrm>
            <a:off x="7259638" y="2344738"/>
            <a:ext cx="28575" cy="28575"/>
          </a:xfrm>
          <a:custGeom>
            <a:avLst/>
            <a:gdLst>
              <a:gd name="T0" fmla="*/ 2147483647 w 18"/>
              <a:gd name="T1" fmla="*/ 2147483647 h 18"/>
              <a:gd name="T2" fmla="*/ 2147483647 w 18"/>
              <a:gd name="T3" fmla="*/ 2147483647 h 18"/>
              <a:gd name="T4" fmla="*/ 2147483647 w 18"/>
              <a:gd name="T5" fmla="*/ 2147483647 h 18"/>
              <a:gd name="T6" fmla="*/ 2147483647 w 18"/>
              <a:gd name="T7" fmla="*/ 2147483647 h 18"/>
              <a:gd name="T8" fmla="*/ 2147483647 w 18"/>
              <a:gd name="T9" fmla="*/ 2147483647 h 18"/>
              <a:gd name="T10" fmla="*/ 2147483647 w 18"/>
              <a:gd name="T11" fmla="*/ 2147483647 h 18"/>
              <a:gd name="T12" fmla="*/ 2147483647 w 18"/>
              <a:gd name="T13" fmla="*/ 2147483647 h 18"/>
              <a:gd name="T14" fmla="*/ 2147483647 w 18"/>
              <a:gd name="T15" fmla="*/ 2147483647 h 18"/>
              <a:gd name="T16" fmla="*/ 2147483647 w 18"/>
              <a:gd name="T17" fmla="*/ 0 h 18"/>
              <a:gd name="T18" fmla="*/ 2147483647 w 18"/>
              <a:gd name="T19" fmla="*/ 0 h 18"/>
              <a:gd name="T20" fmla="*/ 2147483647 w 18"/>
              <a:gd name="T21" fmla="*/ 2147483647 h 18"/>
              <a:gd name="T22" fmla="*/ 2147483647 w 18"/>
              <a:gd name="T23" fmla="*/ 2147483647 h 18"/>
              <a:gd name="T24" fmla="*/ 0 w 18"/>
              <a:gd name="T25" fmla="*/ 2147483647 h 18"/>
              <a:gd name="T26" fmla="*/ 2147483647 w 18"/>
              <a:gd name="T27" fmla="*/ 2147483647 h 18"/>
              <a:gd name="T28" fmla="*/ 2147483647 w 18"/>
              <a:gd name="T29" fmla="*/ 2147483647 h 18"/>
              <a:gd name="T30" fmla="*/ 2147483647 w 18"/>
              <a:gd name="T31" fmla="*/ 2147483647 h 18"/>
              <a:gd name="T32" fmla="*/ 2147483647 w 18"/>
              <a:gd name="T33" fmla="*/ 2147483647 h 18"/>
              <a:gd name="T34" fmla="*/ 2147483647 w 18"/>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8"/>
              <a:gd name="T56" fmla="*/ 18 w 18"/>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8">
                <a:moveTo>
                  <a:pt x="8" y="18"/>
                </a:moveTo>
                <a:lnTo>
                  <a:pt x="8" y="18"/>
                </a:lnTo>
                <a:lnTo>
                  <a:pt x="12" y="18"/>
                </a:lnTo>
                <a:lnTo>
                  <a:pt x="16" y="16"/>
                </a:lnTo>
                <a:lnTo>
                  <a:pt x="18" y="10"/>
                </a:lnTo>
                <a:lnTo>
                  <a:pt x="18" y="6"/>
                </a:lnTo>
                <a:lnTo>
                  <a:pt x="16" y="4"/>
                </a:lnTo>
                <a:lnTo>
                  <a:pt x="14" y="2"/>
                </a:lnTo>
                <a:lnTo>
                  <a:pt x="10" y="0"/>
                </a:lnTo>
                <a:lnTo>
                  <a:pt x="6" y="2"/>
                </a:lnTo>
                <a:lnTo>
                  <a:pt x="4" y="4"/>
                </a:lnTo>
                <a:lnTo>
                  <a:pt x="0" y="10"/>
                </a:lnTo>
                <a:lnTo>
                  <a:pt x="2" y="12"/>
                </a:lnTo>
                <a:lnTo>
                  <a:pt x="2" y="16"/>
                </a:lnTo>
                <a:lnTo>
                  <a:pt x="4" y="18"/>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44" name="Line 513"/>
          <p:cNvSpPr>
            <a:spLocks noChangeShapeType="1"/>
          </p:cNvSpPr>
          <p:nvPr/>
        </p:nvSpPr>
        <p:spPr bwMode="auto">
          <a:xfrm>
            <a:off x="7335838" y="239236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45" name="Line 514"/>
          <p:cNvSpPr>
            <a:spLocks noChangeShapeType="1"/>
          </p:cNvSpPr>
          <p:nvPr/>
        </p:nvSpPr>
        <p:spPr bwMode="auto">
          <a:xfrm>
            <a:off x="7335838" y="2392363"/>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46" name="Freeform 515"/>
          <p:cNvSpPr>
            <a:spLocks/>
          </p:cNvSpPr>
          <p:nvPr/>
        </p:nvSpPr>
        <p:spPr bwMode="auto">
          <a:xfrm>
            <a:off x="7323138" y="2379663"/>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0 h 18"/>
              <a:gd name="T16" fmla="*/ 2147483647 w 16"/>
              <a:gd name="T17" fmla="*/ 0 h 18"/>
              <a:gd name="T18" fmla="*/ 2147483647 w 16"/>
              <a:gd name="T19" fmla="*/ 0 h 18"/>
              <a:gd name="T20" fmla="*/ 2147483647 w 16"/>
              <a:gd name="T21" fmla="*/ 0 h 18"/>
              <a:gd name="T22" fmla="*/ 2147483647 w 16"/>
              <a:gd name="T23" fmla="*/ 2147483647 h 18"/>
              <a:gd name="T24" fmla="*/ 0 w 16"/>
              <a:gd name="T25" fmla="*/ 2147483647 h 18"/>
              <a:gd name="T26" fmla="*/ 0 w 16"/>
              <a:gd name="T27" fmla="*/ 2147483647 h 18"/>
              <a:gd name="T28" fmla="*/ 2147483647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8" y="18"/>
                </a:moveTo>
                <a:lnTo>
                  <a:pt x="8" y="18"/>
                </a:lnTo>
                <a:lnTo>
                  <a:pt x="12" y="16"/>
                </a:lnTo>
                <a:lnTo>
                  <a:pt x="14" y="14"/>
                </a:lnTo>
                <a:lnTo>
                  <a:pt x="16" y="8"/>
                </a:lnTo>
                <a:lnTo>
                  <a:pt x="16" y="6"/>
                </a:lnTo>
                <a:lnTo>
                  <a:pt x="16" y="2"/>
                </a:lnTo>
                <a:lnTo>
                  <a:pt x="12" y="0"/>
                </a:lnTo>
                <a:lnTo>
                  <a:pt x="10" y="0"/>
                </a:lnTo>
                <a:lnTo>
                  <a:pt x="6" y="0"/>
                </a:lnTo>
                <a:lnTo>
                  <a:pt x="2"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47" name="Line 516"/>
          <p:cNvSpPr>
            <a:spLocks noChangeShapeType="1"/>
          </p:cNvSpPr>
          <p:nvPr/>
        </p:nvSpPr>
        <p:spPr bwMode="auto">
          <a:xfrm>
            <a:off x="7396163" y="242728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48" name="Line 517"/>
          <p:cNvSpPr>
            <a:spLocks noChangeShapeType="1"/>
          </p:cNvSpPr>
          <p:nvPr/>
        </p:nvSpPr>
        <p:spPr bwMode="auto">
          <a:xfrm>
            <a:off x="7396163" y="242728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49" name="Freeform 518"/>
          <p:cNvSpPr>
            <a:spLocks/>
          </p:cNvSpPr>
          <p:nvPr/>
        </p:nvSpPr>
        <p:spPr bwMode="auto">
          <a:xfrm>
            <a:off x="7383463" y="2414588"/>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0 h 18"/>
              <a:gd name="T16" fmla="*/ 2147483647 w 16"/>
              <a:gd name="T17" fmla="*/ 0 h 18"/>
              <a:gd name="T18" fmla="*/ 2147483647 w 16"/>
              <a:gd name="T19" fmla="*/ 0 h 18"/>
              <a:gd name="T20" fmla="*/ 2147483647 w 16"/>
              <a:gd name="T21" fmla="*/ 0 h 18"/>
              <a:gd name="T22" fmla="*/ 2147483647 w 16"/>
              <a:gd name="T23" fmla="*/ 2147483647 h 18"/>
              <a:gd name="T24" fmla="*/ 0 w 16"/>
              <a:gd name="T25" fmla="*/ 2147483647 h 18"/>
              <a:gd name="T26" fmla="*/ 0 w 16"/>
              <a:gd name="T27" fmla="*/ 2147483647 h 18"/>
              <a:gd name="T28" fmla="*/ 2147483647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8" y="18"/>
                </a:moveTo>
                <a:lnTo>
                  <a:pt x="8" y="18"/>
                </a:lnTo>
                <a:lnTo>
                  <a:pt x="12" y="16"/>
                </a:lnTo>
                <a:lnTo>
                  <a:pt x="14" y="14"/>
                </a:lnTo>
                <a:lnTo>
                  <a:pt x="16" y="8"/>
                </a:lnTo>
                <a:lnTo>
                  <a:pt x="16" y="6"/>
                </a:lnTo>
                <a:lnTo>
                  <a:pt x="16" y="2"/>
                </a:lnTo>
                <a:lnTo>
                  <a:pt x="12" y="0"/>
                </a:lnTo>
                <a:lnTo>
                  <a:pt x="10" y="0"/>
                </a:lnTo>
                <a:lnTo>
                  <a:pt x="6" y="0"/>
                </a:lnTo>
                <a:lnTo>
                  <a:pt x="2"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50" name="Line 519"/>
          <p:cNvSpPr>
            <a:spLocks noChangeShapeType="1"/>
          </p:cNvSpPr>
          <p:nvPr/>
        </p:nvSpPr>
        <p:spPr bwMode="auto">
          <a:xfrm>
            <a:off x="7396163" y="235108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51" name="Line 520"/>
          <p:cNvSpPr>
            <a:spLocks noChangeShapeType="1"/>
          </p:cNvSpPr>
          <p:nvPr/>
        </p:nvSpPr>
        <p:spPr bwMode="auto">
          <a:xfrm>
            <a:off x="7396163" y="235108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52" name="Freeform 521"/>
          <p:cNvSpPr>
            <a:spLocks/>
          </p:cNvSpPr>
          <p:nvPr/>
        </p:nvSpPr>
        <p:spPr bwMode="auto">
          <a:xfrm>
            <a:off x="7383463" y="2338388"/>
            <a:ext cx="25400" cy="28575"/>
          </a:xfrm>
          <a:custGeom>
            <a:avLst/>
            <a:gdLst>
              <a:gd name="T0" fmla="*/ 2147483647 w 16"/>
              <a:gd name="T1" fmla="*/ 2147483647 h 18"/>
              <a:gd name="T2" fmla="*/ 2147483647 w 16"/>
              <a:gd name="T3" fmla="*/ 2147483647 h 18"/>
              <a:gd name="T4" fmla="*/ 2147483647 w 16"/>
              <a:gd name="T5" fmla="*/ 2147483647 h 18"/>
              <a:gd name="T6" fmla="*/ 2147483647 w 16"/>
              <a:gd name="T7" fmla="*/ 2147483647 h 18"/>
              <a:gd name="T8" fmla="*/ 2147483647 w 16"/>
              <a:gd name="T9" fmla="*/ 2147483647 h 18"/>
              <a:gd name="T10" fmla="*/ 2147483647 w 16"/>
              <a:gd name="T11" fmla="*/ 2147483647 h 18"/>
              <a:gd name="T12" fmla="*/ 2147483647 w 16"/>
              <a:gd name="T13" fmla="*/ 2147483647 h 18"/>
              <a:gd name="T14" fmla="*/ 2147483647 w 16"/>
              <a:gd name="T15" fmla="*/ 0 h 18"/>
              <a:gd name="T16" fmla="*/ 2147483647 w 16"/>
              <a:gd name="T17" fmla="*/ 0 h 18"/>
              <a:gd name="T18" fmla="*/ 2147483647 w 16"/>
              <a:gd name="T19" fmla="*/ 0 h 18"/>
              <a:gd name="T20" fmla="*/ 2147483647 w 16"/>
              <a:gd name="T21" fmla="*/ 0 h 18"/>
              <a:gd name="T22" fmla="*/ 2147483647 w 16"/>
              <a:gd name="T23" fmla="*/ 2147483647 h 18"/>
              <a:gd name="T24" fmla="*/ 0 w 16"/>
              <a:gd name="T25" fmla="*/ 2147483647 h 18"/>
              <a:gd name="T26" fmla="*/ 0 w 16"/>
              <a:gd name="T27" fmla="*/ 2147483647 h 18"/>
              <a:gd name="T28" fmla="*/ 2147483647 w 16"/>
              <a:gd name="T29" fmla="*/ 2147483647 h 18"/>
              <a:gd name="T30" fmla="*/ 2147483647 w 16"/>
              <a:gd name="T31" fmla="*/ 2147483647 h 18"/>
              <a:gd name="T32" fmla="*/ 2147483647 w 16"/>
              <a:gd name="T33" fmla="*/ 2147483647 h 18"/>
              <a:gd name="T34" fmla="*/ 2147483647 w 16"/>
              <a:gd name="T35" fmla="*/ 2147483647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
              <a:gd name="T55" fmla="*/ 0 h 18"/>
              <a:gd name="T56" fmla="*/ 16 w 16"/>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 h="18">
                <a:moveTo>
                  <a:pt x="8" y="18"/>
                </a:moveTo>
                <a:lnTo>
                  <a:pt x="8" y="18"/>
                </a:lnTo>
                <a:lnTo>
                  <a:pt x="12" y="16"/>
                </a:lnTo>
                <a:lnTo>
                  <a:pt x="14" y="14"/>
                </a:lnTo>
                <a:lnTo>
                  <a:pt x="16" y="8"/>
                </a:lnTo>
                <a:lnTo>
                  <a:pt x="16" y="6"/>
                </a:lnTo>
                <a:lnTo>
                  <a:pt x="16" y="2"/>
                </a:lnTo>
                <a:lnTo>
                  <a:pt x="12" y="0"/>
                </a:lnTo>
                <a:lnTo>
                  <a:pt x="10" y="0"/>
                </a:lnTo>
                <a:lnTo>
                  <a:pt x="6" y="0"/>
                </a:lnTo>
                <a:lnTo>
                  <a:pt x="2" y="2"/>
                </a:lnTo>
                <a:lnTo>
                  <a:pt x="0" y="8"/>
                </a:lnTo>
                <a:lnTo>
                  <a:pt x="0" y="12"/>
                </a:lnTo>
                <a:lnTo>
                  <a:pt x="2" y="14"/>
                </a:lnTo>
                <a:lnTo>
                  <a:pt x="4" y="16"/>
                </a:lnTo>
                <a:lnTo>
                  <a:pt x="8" y="18"/>
                </a:lnTo>
                <a:close/>
              </a:path>
            </a:pathLst>
          </a:custGeom>
          <a:solidFill>
            <a:srgbClr val="C5461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endParaRPr kumimoji="0" lang="en-US" sz="1800" b="0" i="0" u="none" strike="noStrike" kern="1200" cap="none" spc="0" normalizeH="0" baseline="0" noProof="0" smtClean="0">
              <a:ln>
                <a:noFill/>
              </a:ln>
              <a:solidFill>
                <a:srgbClr val="FFFFFF"/>
              </a:solidFill>
              <a:effectLst/>
              <a:uLnTx/>
              <a:uFillTx/>
              <a:latin typeface="Arial" panose="020B0604020202020204" pitchFamily="34" charset="0"/>
              <a:ea typeface="Microsoft YaHei" panose="020B0503020204020204" pitchFamily="34" charset="-122"/>
            </a:endParaRPr>
          </a:p>
        </p:txBody>
      </p:sp>
      <p:sp>
        <p:nvSpPr>
          <p:cNvPr id="37153" name="Text Box 523"/>
          <p:cNvSpPr txBox="1">
            <a:spLocks noChangeArrowheads="1"/>
          </p:cNvSpPr>
          <p:nvPr/>
        </p:nvSpPr>
        <p:spPr bwMode="auto">
          <a:xfrm>
            <a:off x="6767513" y="596900"/>
            <a:ext cx="81597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Deoxyribose-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phosphate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backbone</a:t>
            </a:r>
          </a:p>
        </p:txBody>
      </p:sp>
      <p:sp>
        <p:nvSpPr>
          <p:cNvPr id="37154" name="Text Box 524"/>
          <p:cNvSpPr txBox="1">
            <a:spLocks noChangeArrowheads="1"/>
          </p:cNvSpPr>
          <p:nvPr/>
        </p:nvSpPr>
        <p:spPr bwMode="auto">
          <a:xfrm>
            <a:off x="6513513" y="4419600"/>
            <a:ext cx="108902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Ribose-phosphate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backbone</a:t>
            </a:r>
          </a:p>
        </p:txBody>
      </p:sp>
      <p:sp>
        <p:nvSpPr>
          <p:cNvPr id="37155" name="Text Box 288"/>
          <p:cNvSpPr txBox="1">
            <a:spLocks noChangeArrowheads="1"/>
          </p:cNvSpPr>
          <p:nvPr/>
        </p:nvSpPr>
        <p:spPr bwMode="auto">
          <a:xfrm>
            <a:off x="3186113" y="6477000"/>
            <a:ext cx="33972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RNA</a:t>
            </a:r>
          </a:p>
        </p:txBody>
      </p:sp>
      <p:sp>
        <p:nvSpPr>
          <p:cNvPr id="37156" name="Text Box 282"/>
          <p:cNvSpPr txBox="1">
            <a:spLocks noChangeArrowheads="1"/>
          </p:cNvSpPr>
          <p:nvPr/>
        </p:nvSpPr>
        <p:spPr bwMode="auto">
          <a:xfrm>
            <a:off x="3186113" y="3228975"/>
            <a:ext cx="33972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bIns="0">
            <a:spAutoFit/>
          </a:bodyPr>
          <a:lstStyle>
            <a:lvl1pPr eaLnBrk="0" hangingPunct="0">
              <a:spcBef>
                <a:spcPts val="800"/>
              </a:spcBef>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900" b="1"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rPr>
              <a:t>DNA</a:t>
            </a:r>
          </a:p>
        </p:txBody>
      </p:sp>
      <p:sp>
        <p:nvSpPr>
          <p:cNvPr id="37157" name="TextBox 1"/>
          <p:cNvSpPr txBox="1">
            <a:spLocks noChangeArrowheads="1"/>
          </p:cNvSpPr>
          <p:nvPr/>
        </p:nvSpPr>
        <p:spPr bwMode="auto">
          <a:xfrm>
            <a:off x="228600" y="1066800"/>
            <a:ext cx="27701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r>
              <a:rPr kumimoji="0" lang="en-US" altLang="en-US" sz="2400" b="1" i="0" u="none" strike="noStrike" kern="1200" cap="none" spc="0" normalizeH="0" baseline="0" noProof="0" smtClean="0">
                <a:ln>
                  <a:noFill/>
                </a:ln>
                <a:solidFill>
                  <a:srgbClr val="C00000"/>
                </a:solidFill>
                <a:effectLst/>
                <a:uLnTx/>
                <a:uFillTx/>
                <a:latin typeface="Arial" panose="020B0604020202020204" pitchFamily="34" charset="0"/>
                <a:ea typeface="Microsoft YaHei" panose="020B0503020204020204" pitchFamily="34" charset="-122"/>
              </a:rPr>
              <a:t>DNA</a:t>
            </a:r>
          </a:p>
          <a:p>
            <a:pPr marL="0" marR="0" lvl="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r>
              <a:rPr kumimoji="0" lang="en-US" altLang="en-US" sz="2400" b="1" i="0" u="none" strike="noStrike" kern="1200" cap="none" spc="0" normalizeH="0" baseline="0" noProof="0" smtClean="0">
                <a:ln>
                  <a:noFill/>
                </a:ln>
                <a:solidFill>
                  <a:srgbClr val="C00000"/>
                </a:solidFill>
                <a:effectLst/>
                <a:uLnTx/>
                <a:uFillTx/>
                <a:latin typeface="Arial" panose="020B0604020202020204" pitchFamily="34" charset="0"/>
                <a:ea typeface="Microsoft YaHei" panose="020B0503020204020204" pitchFamily="34" charset="-122"/>
              </a:rPr>
              <a:t>Double Stranded</a:t>
            </a:r>
          </a:p>
          <a:p>
            <a:pPr marL="0" marR="0" lvl="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r>
              <a:rPr kumimoji="0" lang="en-US" altLang="en-US" sz="2400" b="1" i="0" u="none" strike="noStrike" kern="1200" cap="none" spc="0" normalizeH="0" baseline="0" noProof="0" smtClean="0">
                <a:ln>
                  <a:noFill/>
                </a:ln>
                <a:solidFill>
                  <a:srgbClr val="C00000"/>
                </a:solidFill>
                <a:effectLst/>
                <a:uLnTx/>
                <a:uFillTx/>
                <a:latin typeface="Arial" panose="020B0604020202020204" pitchFamily="34" charset="0"/>
                <a:ea typeface="Microsoft YaHei" panose="020B0503020204020204" pitchFamily="34" charset="-122"/>
              </a:rPr>
              <a:t>A</a:t>
            </a:r>
            <a:r>
              <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Microsoft YaHei" panose="020B0503020204020204" pitchFamily="34" charset="-122"/>
              </a:rPr>
              <a:t>T</a:t>
            </a:r>
            <a:r>
              <a:rPr kumimoji="0" lang="en-US" altLang="en-US" sz="2400" b="1" i="0" u="none" strike="noStrike" kern="1200" cap="none" spc="0" normalizeH="0" baseline="0" noProof="0" smtClean="0">
                <a:ln>
                  <a:noFill/>
                </a:ln>
                <a:solidFill>
                  <a:srgbClr val="C00000"/>
                </a:solidFill>
                <a:effectLst/>
                <a:uLnTx/>
                <a:uFillTx/>
                <a:latin typeface="Arial" panose="020B0604020202020204" pitchFamily="34" charset="0"/>
                <a:ea typeface="Microsoft YaHei" panose="020B0503020204020204" pitchFamily="34" charset="-122"/>
              </a:rPr>
              <a:t>GC</a:t>
            </a:r>
          </a:p>
        </p:txBody>
      </p:sp>
      <p:sp>
        <p:nvSpPr>
          <p:cNvPr id="37158" name="TextBox 293"/>
          <p:cNvSpPr txBox="1">
            <a:spLocks noChangeArrowheads="1"/>
          </p:cNvSpPr>
          <p:nvPr/>
        </p:nvSpPr>
        <p:spPr bwMode="auto">
          <a:xfrm>
            <a:off x="228600" y="4191000"/>
            <a:ext cx="27701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r>
              <a:rPr kumimoji="0" lang="en-US" altLang="en-US" sz="2400" b="1" i="0" u="none" strike="noStrike" kern="1200" cap="none" spc="0" normalizeH="0" baseline="0" noProof="0" smtClean="0">
                <a:ln>
                  <a:noFill/>
                </a:ln>
                <a:solidFill>
                  <a:srgbClr val="C00000"/>
                </a:solidFill>
                <a:effectLst/>
                <a:uLnTx/>
                <a:uFillTx/>
                <a:latin typeface="Arial" panose="020B0604020202020204" pitchFamily="34" charset="0"/>
                <a:ea typeface="Microsoft YaHei" panose="020B0503020204020204" pitchFamily="34" charset="-122"/>
              </a:rPr>
              <a:t>RNA</a:t>
            </a:r>
          </a:p>
          <a:p>
            <a:pPr marL="0" marR="0" lvl="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r>
              <a:rPr kumimoji="0" lang="en-US" altLang="en-US" sz="2400" b="1" i="0" u="none" strike="noStrike" kern="1200" cap="none" spc="0" normalizeH="0" baseline="0" noProof="0" smtClean="0">
                <a:ln>
                  <a:noFill/>
                </a:ln>
                <a:solidFill>
                  <a:srgbClr val="C00000"/>
                </a:solidFill>
                <a:effectLst/>
                <a:uLnTx/>
                <a:uFillTx/>
                <a:latin typeface="Arial" panose="020B0604020202020204" pitchFamily="34" charset="0"/>
                <a:ea typeface="Microsoft YaHei" panose="020B0503020204020204" pitchFamily="34" charset="-122"/>
              </a:rPr>
              <a:t>Single Stranded</a:t>
            </a:r>
          </a:p>
          <a:p>
            <a:pPr marL="0" marR="0" lvl="0" indent="0" algn="ctr"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r>
              <a:rPr kumimoji="0" lang="en-US" altLang="en-US" sz="2400" b="1" i="0" u="none" strike="noStrike" kern="1200" cap="none" spc="0" normalizeH="0" baseline="0" noProof="0" smtClean="0">
                <a:ln>
                  <a:noFill/>
                </a:ln>
                <a:solidFill>
                  <a:srgbClr val="C00000"/>
                </a:solidFill>
                <a:effectLst/>
                <a:uLnTx/>
                <a:uFillTx/>
                <a:latin typeface="Arial" panose="020B0604020202020204" pitchFamily="34" charset="0"/>
                <a:ea typeface="Microsoft YaHei" panose="020B0503020204020204" pitchFamily="34" charset="-122"/>
              </a:rPr>
              <a:t>A</a:t>
            </a:r>
            <a:r>
              <a:rPr kumimoji="0" lang="en-US" altLang="en-US" sz="2400" b="1" i="0" u="none" strike="noStrike" kern="1200" cap="none" spc="0" normalizeH="0" baseline="0" noProof="0" smtClean="0">
                <a:ln>
                  <a:noFill/>
                </a:ln>
                <a:solidFill>
                  <a:srgbClr val="000000"/>
                </a:solidFill>
                <a:effectLst/>
                <a:uLnTx/>
                <a:uFillTx/>
                <a:latin typeface="Arial" panose="020B0604020202020204" pitchFamily="34" charset="0"/>
                <a:ea typeface="Microsoft YaHei" panose="020B0503020204020204" pitchFamily="34" charset="-122"/>
              </a:rPr>
              <a:t>U</a:t>
            </a:r>
            <a:r>
              <a:rPr kumimoji="0" lang="en-US" altLang="en-US" sz="2400" b="1" i="0" u="none" strike="noStrike" kern="1200" cap="none" spc="0" normalizeH="0" baseline="0" noProof="0" smtClean="0">
                <a:ln>
                  <a:noFill/>
                </a:ln>
                <a:solidFill>
                  <a:srgbClr val="C00000"/>
                </a:solidFill>
                <a:effectLst/>
                <a:uLnTx/>
                <a:uFillTx/>
                <a:latin typeface="Arial" panose="020B0604020202020204" pitchFamily="34" charset="0"/>
                <a:ea typeface="Microsoft YaHei" panose="020B0503020204020204" pitchFamily="34" charset="-122"/>
              </a:rPr>
              <a:t>GC</a:t>
            </a:r>
          </a:p>
        </p:txBody>
      </p:sp>
    </p:spTree>
    <p:extLst>
      <p:ext uri="{BB962C8B-B14F-4D97-AF65-F5344CB8AC3E}">
        <p14:creationId xmlns:p14="http://schemas.microsoft.com/office/powerpoint/2010/main" val="3563529786"/>
      </p:ext>
    </p:extLst>
  </p:cSld>
  <p:clrMapOvr>
    <a:masterClrMapping/>
  </p:clrMapOvr>
  <p:transition spd="slow">
    <p:push dir="u"/>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42240" y="900115"/>
            <a:ext cx="9000174" cy="5561645"/>
          </a:xfrm>
        </p:spPr>
        <p:txBody>
          <a:bodyPr/>
          <a:lstStyle/>
          <a:p>
            <a:pPr marL="0" lvl="0" indent="0">
              <a:buClr>
                <a:srgbClr val="6CB255"/>
              </a:buClr>
            </a:pPr>
            <a:r>
              <a:rPr lang="nb-NO" sz="3600" dirty="0">
                <a:solidFill>
                  <a:srgbClr val="FF0000"/>
                </a:solidFill>
                <a:latin typeface="Times New Roman" panose="02020603050405020304" pitchFamily="18" charset="0"/>
                <a:ea typeface="+mj-ea"/>
                <a:cs typeface="Times New Roman" panose="02020603050405020304" pitchFamily="18" charset="0"/>
              </a:rPr>
              <a:t>Vitamins</a:t>
            </a:r>
            <a:endParaRPr lang="en-US" sz="2600" b="0" dirty="0" smtClean="0">
              <a:solidFill>
                <a:srgbClr val="000000"/>
              </a:solidFill>
              <a:latin typeface="Times New Roman" panose="02020603050405020304" pitchFamily="18" charset="0"/>
              <a:cs typeface="Times New Roman" panose="02020603050405020304" pitchFamily="18" charset="0"/>
            </a:endParaRPr>
          </a:p>
          <a:p>
            <a:pPr marL="457200" lvl="0" indent="-220663">
              <a:buClr>
                <a:srgbClr val="6CB255"/>
              </a:buClr>
              <a:buFont typeface="Arial" panose="020B0604020202020204" pitchFamily="34" charset="0"/>
              <a:buChar char="•"/>
            </a:pPr>
            <a:r>
              <a:rPr lang="en-US" sz="2600" b="0" dirty="0" smtClean="0">
                <a:solidFill>
                  <a:srgbClr val="000000"/>
                </a:solidFill>
                <a:latin typeface="Times New Roman" panose="02020603050405020304" pitchFamily="18" charset="0"/>
                <a:cs typeface="Times New Roman" panose="02020603050405020304" pitchFamily="18" charset="0"/>
              </a:rPr>
              <a:t>Are  </a:t>
            </a:r>
            <a:r>
              <a:rPr lang="en-US" sz="2600" b="0" dirty="0">
                <a:solidFill>
                  <a:srgbClr val="000000"/>
                </a:solidFill>
                <a:latin typeface="Times New Roman" panose="02020603050405020304" pitchFamily="18" charset="0"/>
                <a:cs typeface="Times New Roman" panose="02020603050405020304" pitchFamily="18" charset="0"/>
              </a:rPr>
              <a:t>essential, organic nutrient needed in small amounts in the diet. They can not be synthesized by human body</a:t>
            </a:r>
          </a:p>
          <a:p>
            <a:pPr marL="457200" lvl="0" indent="-220663">
              <a:buClr>
                <a:srgbClr val="6CB255"/>
              </a:buClr>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needed for normal function, growth and maintenance</a:t>
            </a:r>
            <a:r>
              <a:rPr lang="en-US" sz="2600" b="0" dirty="0">
                <a:solidFill>
                  <a:srgbClr val="000000"/>
                </a:solidFill>
                <a:latin typeface="Times New Roman" panose="02020603050405020304" pitchFamily="18" charset="0"/>
                <a:cs typeface="Times New Roman" panose="02020603050405020304" pitchFamily="18" charset="0"/>
              </a:rPr>
              <a:t>. </a:t>
            </a:r>
          </a:p>
          <a:p>
            <a:pPr marL="457200" lvl="0" indent="-220663">
              <a:buClr>
                <a:srgbClr val="6CB255"/>
              </a:buClr>
              <a:buFont typeface="Arial" panose="020B0604020202020204" pitchFamily="34" charset="0"/>
              <a:buChar char="•"/>
            </a:pPr>
            <a:r>
              <a:rPr lang="en-US" sz="2600" b="0" dirty="0">
                <a:solidFill>
                  <a:srgbClr val="000000"/>
                </a:solidFill>
                <a:latin typeface="Times New Roman" panose="02020603050405020304" pitchFamily="18" charset="0"/>
                <a:cs typeface="Times New Roman" panose="02020603050405020304" pitchFamily="18" charset="0"/>
              </a:rPr>
              <a:t>are important enzyme cofactors</a:t>
            </a:r>
          </a:p>
          <a:p>
            <a:pPr marL="457200" lvl="0" indent="-220663">
              <a:buClr>
                <a:srgbClr val="6CB255"/>
              </a:buClr>
              <a:buFont typeface="Arial" panose="020B0604020202020204" pitchFamily="34" charset="0"/>
              <a:buChar char="•"/>
            </a:pPr>
            <a:r>
              <a:rPr lang="nb-NO" sz="2600" b="0" dirty="0">
                <a:solidFill>
                  <a:srgbClr val="000000"/>
                </a:solidFill>
                <a:latin typeface="Times New Roman" panose="02020603050405020304" pitchFamily="18" charset="0"/>
                <a:cs typeface="Times New Roman" panose="02020603050405020304" pitchFamily="18" charset="0"/>
              </a:rPr>
              <a:t>Inadiquate supply of vitamins leads to deficiency diseases</a:t>
            </a:r>
            <a:endParaRPr lang="en-US" sz="2600" b="0" dirty="0">
              <a:solidFill>
                <a:srgbClr val="000000"/>
              </a:solidFill>
              <a:latin typeface="Times New Roman" panose="02020603050405020304" pitchFamily="18" charset="0"/>
              <a:cs typeface="Times New Roman" panose="02020603050405020304" pitchFamily="18" charset="0"/>
            </a:endParaRPr>
          </a:p>
          <a:p>
            <a:pPr marL="457200" lvl="0" indent="-220663">
              <a:buClr>
                <a:srgbClr val="6CB255"/>
              </a:buClr>
              <a:buFont typeface="Arial" panose="020B0604020202020204" pitchFamily="34" charset="0"/>
              <a:buChar char="•"/>
            </a:pPr>
            <a:r>
              <a:rPr lang="en-US" sz="2600" b="0" dirty="0">
                <a:solidFill>
                  <a:srgbClr val="000000"/>
                </a:solidFill>
                <a:latin typeface="Times New Roman" panose="02020603050405020304" pitchFamily="18" charset="0"/>
                <a:cs typeface="Times New Roman" panose="02020603050405020304" pitchFamily="18" charset="0"/>
              </a:rPr>
              <a:t>They are classified as </a:t>
            </a:r>
            <a:r>
              <a:rPr lang="en-US" sz="2600" dirty="0">
                <a:solidFill>
                  <a:srgbClr val="000000"/>
                </a:solidFill>
                <a:latin typeface="Times New Roman" panose="02020603050405020304" pitchFamily="18" charset="0"/>
                <a:cs typeface="Times New Roman" panose="02020603050405020304" pitchFamily="18" charset="0"/>
              </a:rPr>
              <a:t>fat-soluble</a:t>
            </a:r>
            <a:r>
              <a:rPr lang="en-US" sz="2600" b="0" dirty="0">
                <a:solidFill>
                  <a:srgbClr val="000000"/>
                </a:solidFill>
                <a:latin typeface="Times New Roman" panose="02020603050405020304" pitchFamily="18" charset="0"/>
                <a:cs typeface="Times New Roman" panose="02020603050405020304" pitchFamily="18" charset="0"/>
              </a:rPr>
              <a:t> and </a:t>
            </a:r>
            <a:r>
              <a:rPr lang="en-US" sz="2600" dirty="0">
                <a:solidFill>
                  <a:srgbClr val="000000"/>
                </a:solidFill>
                <a:latin typeface="Times New Roman" panose="02020603050405020304" pitchFamily="18" charset="0"/>
                <a:cs typeface="Times New Roman" panose="02020603050405020304" pitchFamily="18" charset="0"/>
              </a:rPr>
              <a:t>water-soluble</a:t>
            </a:r>
            <a:r>
              <a:rPr lang="en-US" sz="2600" b="0" dirty="0">
                <a:solidFill>
                  <a:srgbClr val="000000"/>
                </a:solidFill>
                <a:latin typeface="Times New Roman" panose="02020603050405020304" pitchFamily="18" charset="0"/>
                <a:cs typeface="Times New Roman" panose="02020603050405020304" pitchFamily="18" charset="0"/>
              </a:rPr>
              <a:t> vitamins. </a:t>
            </a:r>
          </a:p>
          <a:p>
            <a:pPr marL="457200" lvl="0" indent="-220663">
              <a:buClr>
                <a:srgbClr val="6CB255"/>
              </a:buClr>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Water-soluble includes: C and B group. </a:t>
            </a:r>
          </a:p>
          <a:p>
            <a:pPr marL="845820" lvl="1" indent="-457200">
              <a:buClr>
                <a:srgbClr val="6CB255"/>
              </a:buClr>
              <a:buFont typeface="Wingdings" panose="05000000000000000000" pitchFamily="2" charset="2"/>
              <a:buChar char="ü"/>
            </a:pPr>
            <a:r>
              <a:rPr lang="en-US" sz="2600" dirty="0">
                <a:solidFill>
                  <a:srgbClr val="000000"/>
                </a:solidFill>
                <a:latin typeface="Times New Roman" panose="02020603050405020304" pitchFamily="18" charset="0"/>
                <a:cs typeface="Times New Roman" panose="02020603050405020304" pitchFamily="18" charset="0"/>
              </a:rPr>
              <a:t>The B complex vitamins may be sub divided into energy releasing (B1, B2, B6, biotin </a:t>
            </a:r>
            <a:r>
              <a:rPr lang="en-US" sz="2600" dirty="0" err="1">
                <a:solidFill>
                  <a:srgbClr val="000000"/>
                </a:solidFill>
                <a:latin typeface="Times New Roman" panose="02020603050405020304" pitchFamily="18" charset="0"/>
                <a:cs typeface="Times New Roman" panose="02020603050405020304" pitchFamily="18" charset="0"/>
              </a:rPr>
              <a:t>etc</a:t>
            </a:r>
            <a:r>
              <a:rPr lang="en-US" sz="2600" dirty="0">
                <a:solidFill>
                  <a:srgbClr val="000000"/>
                </a:solidFill>
                <a:latin typeface="Times New Roman" panose="02020603050405020304" pitchFamily="18" charset="0"/>
                <a:cs typeface="Times New Roman" panose="02020603050405020304" pitchFamily="18" charset="0"/>
              </a:rPr>
              <a:t>) and hematopoietic (folic acid and B12).</a:t>
            </a:r>
          </a:p>
          <a:p>
            <a:pPr marL="457200" lvl="0" indent="-457200">
              <a:buClr>
                <a:srgbClr val="6CB255"/>
              </a:buClr>
              <a:buFont typeface="Arial" panose="020B0604020202020204" pitchFamily="34" charset="0"/>
              <a:buChar char="•"/>
            </a:pPr>
            <a:r>
              <a:rPr lang="en-US" sz="2600" dirty="0">
                <a:solidFill>
                  <a:srgbClr val="000000"/>
                </a:solidFill>
                <a:latin typeface="Times New Roman" panose="02020603050405020304" pitchFamily="18" charset="0"/>
                <a:cs typeface="Times New Roman" panose="02020603050405020304" pitchFamily="18" charset="0"/>
              </a:rPr>
              <a:t>Fat-soluble includes: A, D, E and K </a:t>
            </a:r>
          </a:p>
          <a:p>
            <a:endParaRPr lang="en-US" dirty="0"/>
          </a:p>
        </p:txBody>
      </p:sp>
      <p:sp>
        <p:nvSpPr>
          <p:cNvPr id="2" name="Date Placeholder 1"/>
          <p:cNvSpPr>
            <a:spLocks noGrp="1"/>
          </p:cNvSpPr>
          <p:nvPr>
            <p:ph type="dt" sz="half" idx="10"/>
          </p:nvPr>
        </p:nvSpPr>
        <p:spPr/>
        <p:txBody>
          <a:bodyPr/>
          <a:lstStyle/>
          <a:p>
            <a:pPr>
              <a:defRPr/>
            </a:pPr>
            <a:r>
              <a:rPr lang="en-US" smtClean="0"/>
              <a:t>www.hu.edu.et</a:t>
            </a:r>
            <a:endParaRPr lang="en-US"/>
          </a:p>
        </p:txBody>
      </p:sp>
      <p:sp>
        <p:nvSpPr>
          <p:cNvPr id="3" name="Footer Placeholder 2"/>
          <p:cNvSpPr>
            <a:spLocks noGrp="1"/>
          </p:cNvSpPr>
          <p:nvPr>
            <p:ph type="ftr" sz="quarter" idx="11"/>
          </p:nvPr>
        </p:nvSpPr>
        <p:spPr/>
        <p:txBody>
          <a:bodyPr/>
          <a:lstStyle/>
          <a:p>
            <a:pPr>
              <a:defRPr/>
            </a:pPr>
            <a:r>
              <a:rPr lang="en-US" smtClean="0"/>
              <a:t>Ever to Excel!</a:t>
            </a:r>
            <a:endParaRPr lang="en-US"/>
          </a:p>
        </p:txBody>
      </p:sp>
      <p:sp>
        <p:nvSpPr>
          <p:cNvPr id="4" name="Slide Number Placeholder 3"/>
          <p:cNvSpPr>
            <a:spLocks noGrp="1"/>
          </p:cNvSpPr>
          <p:nvPr>
            <p:ph type="sldNum" sz="quarter" idx="12"/>
          </p:nvPr>
        </p:nvSpPr>
        <p:spPr/>
        <p:txBody>
          <a:bodyPr/>
          <a:lstStyle/>
          <a:p>
            <a:pPr>
              <a:defRPr/>
            </a:pPr>
            <a:fld id="{662CB6B0-DFB5-4A57-992B-6A9D766DFFF1}" type="slidenum">
              <a:rPr lang="en-US" smtClean="0"/>
              <a:pPr>
                <a:defRPr/>
              </a:pPr>
              <a:t>56</a:t>
            </a:fld>
            <a:endParaRPr lang="en-US"/>
          </a:p>
        </p:txBody>
      </p:sp>
    </p:spTree>
    <p:extLst>
      <p:ext uri="{BB962C8B-B14F-4D97-AF65-F5344CB8AC3E}">
        <p14:creationId xmlns:p14="http://schemas.microsoft.com/office/powerpoint/2010/main" val="4200729982"/>
      </p:ext>
    </p:extLst>
  </p:cSld>
  <p:clrMapOvr>
    <a:masterClrMapping/>
  </p:clrMapOvr>
  <p:transition spd="slow">
    <p:push dir="u"/>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895E9C1C-CCB6-487E-B8D1-B178D6135836}"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57</a:t>
            </a:fld>
            <a:endParaRPr lang="en-US"/>
          </a:p>
        </p:txBody>
      </p:sp>
      <p:pic>
        <p:nvPicPr>
          <p:cNvPr id="7" name="Picture 5" descr="41_T01-VitaminReqHuman-U"/>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b="33787"/>
          <a:stretch/>
        </p:blipFill>
        <p:spPr bwMode="auto">
          <a:xfrm>
            <a:off x="111760" y="862489"/>
            <a:ext cx="9137669" cy="5472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8675381"/>
      </p:ext>
    </p:extLst>
  </p:cSld>
  <p:clrMapOvr>
    <a:masterClrMapping/>
  </p:clrMapOvr>
  <p:transition spd="slow">
    <p:push dir="u"/>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7BADBBA6-BB3C-4DB3-A8DB-FFAD039DAC0D}" type="datetime1">
              <a:rPr lang="en-US" smtClean="0"/>
              <a:t>10/31/2023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6E5D1F-AD71-4468-8BAF-9C079CEC6AC7}" type="slidenum">
              <a:rPr lang="en-US" smtClean="0"/>
              <a:pPr/>
              <a:t>58</a:t>
            </a:fld>
            <a:endParaRPr lang="en-US"/>
          </a:p>
        </p:txBody>
      </p:sp>
      <p:grpSp>
        <p:nvGrpSpPr>
          <p:cNvPr id="7" name="Group 6"/>
          <p:cNvGrpSpPr/>
          <p:nvPr/>
        </p:nvGrpSpPr>
        <p:grpSpPr>
          <a:xfrm>
            <a:off x="126774" y="900115"/>
            <a:ext cx="8888865" cy="5397446"/>
            <a:chOff x="218261" y="1250859"/>
            <a:chExt cx="12031341" cy="4725735"/>
          </a:xfrm>
        </p:grpSpPr>
        <p:pic>
          <p:nvPicPr>
            <p:cNvPr id="8" name="Picture 5" descr="41_T01-VitaminReqHuman-U"/>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t="66213"/>
            <a:stretch/>
          </p:blipFill>
          <p:spPr bwMode="auto">
            <a:xfrm>
              <a:off x="218261" y="2299755"/>
              <a:ext cx="12031341" cy="367683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5" descr="41_T01-VitaminReqHuman-U"/>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b="90334"/>
            <a:stretch/>
          </p:blipFill>
          <p:spPr bwMode="auto">
            <a:xfrm>
              <a:off x="218261" y="1250859"/>
              <a:ext cx="12031341" cy="104889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17606370"/>
      </p:ext>
    </p:extLst>
  </p:cSld>
  <p:clrMapOvr>
    <a:masterClrMapping/>
  </p:clrMapOvr>
  <p:transition spd="slow">
    <p:push dir="u"/>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fld id="{61CA450D-9B0B-40B9-87DC-19113F2397F2}" type="datetime1">
              <a:rPr kumimoji="0" lang="en-US" sz="1800" b="0" i="1" u="none" strike="noStrike" kern="1200" cap="none" spc="0" normalizeH="0" baseline="0" noProof="0" smtClean="0">
                <a:ln>
                  <a:noFill/>
                </a:ln>
                <a:solidFill>
                  <a:srgbClr val="000000"/>
                </a:solidFill>
                <a:effectLst/>
                <a:uLnTx/>
                <a:uFillTx/>
                <a:latin typeface="Arial" charset="0"/>
                <a:ea typeface="Microsoft YaHei" charset="-122"/>
                <a:cs typeface="Arial Unicode MS" charset="0"/>
              </a:rPr>
              <a:pPr marL="0" marR="0" lvl="0" indent="0" algn="l"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t>10/31/2023</a:t>
            </a:fld>
            <a:endParaRPr kumimoji="0" lang="en-US" sz="1800" b="0" i="1" u="none" strike="noStrike" kern="1200" cap="none" spc="0" normalizeH="0" baseline="0" noProof="0">
              <a:ln>
                <a:noFill/>
              </a:ln>
              <a:solidFill>
                <a:srgbClr val="000000"/>
              </a:solidFill>
              <a:effectLst/>
              <a:uLnTx/>
              <a:uFillTx/>
              <a:latin typeface="Arial" charset="0"/>
              <a:ea typeface="Microsoft YaHei" charset="-122"/>
              <a:cs typeface="Arial Unicode MS" charset="0"/>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endParaRPr kumimoji="0" lang="en-US" sz="1800" b="0" i="1" u="none" strike="noStrike" kern="1200" cap="none" spc="0" normalizeH="0" baseline="0" noProof="0">
              <a:ln>
                <a:noFill/>
              </a:ln>
              <a:solidFill>
                <a:srgbClr val="000000"/>
              </a:solidFill>
              <a:effectLst/>
              <a:uLnTx/>
              <a:uFillTx/>
              <a:latin typeface="Arial" charset="0"/>
              <a:ea typeface="Microsoft YaHei" charset="-122"/>
              <a:cs typeface="+mj-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fld id="{796E5D1F-AD71-4468-8BAF-9C079CEC6AC7}" type="slidenum">
              <a:rPr kumimoji="0" lang="en-US" sz="1800" b="0" i="0" u="none" strike="noStrike" kern="1200" cap="none" spc="0" normalizeH="0" baseline="0" noProof="0" smtClean="0">
                <a:ln>
                  <a:noFill/>
                </a:ln>
                <a:solidFill>
                  <a:srgbClr val="000000"/>
                </a:solidFill>
                <a:effectLst/>
                <a:uLnTx/>
                <a:uFillTx/>
                <a:latin typeface="Arial" panose="020B0604020202020204"/>
                <a:ea typeface="Arial Unicode MS" panose="020B0604020202020204" pitchFamily="34" charset="-128"/>
                <a:cs typeface="Arial Unicode MS" panose="020B0604020202020204" pitchFamily="34" charset="-128"/>
              </a:rPr>
              <a:pPr marL="0" marR="0" lvl="0" indent="0" algn="ct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t>59</a:t>
            </a:fld>
            <a:endParaRPr kumimoji="0" lang="en-US" sz="1800" b="0" i="0" u="none" strike="noStrike" kern="1200" cap="none" spc="0" normalizeH="0" baseline="0" noProof="0">
              <a:ln>
                <a:noFill/>
              </a:ln>
              <a:solidFill>
                <a:srgbClr val="000000"/>
              </a:solidFill>
              <a:effectLst/>
              <a:uLnTx/>
              <a:uFillTx/>
              <a:latin typeface="Arial" panose="020B0604020202020204"/>
              <a:ea typeface="Arial Unicode MS" panose="020B0604020202020204" pitchFamily="34" charset="-128"/>
              <a:cs typeface="Arial Unicode MS" panose="020B0604020202020204" pitchFamily="34" charset="-128"/>
            </a:endParaRPr>
          </a:p>
        </p:txBody>
      </p:sp>
      <p:sp>
        <p:nvSpPr>
          <p:cNvPr id="7" name="Text Placeholder 3"/>
          <p:cNvSpPr>
            <a:spLocks noGrp="1"/>
          </p:cNvSpPr>
          <p:nvPr>
            <p:ph idx="1"/>
          </p:nvPr>
        </p:nvSpPr>
        <p:spPr>
          <a:xfrm>
            <a:off x="264161" y="1523466"/>
            <a:ext cx="8686800" cy="4937762"/>
          </a:xfrm>
        </p:spPr>
        <p:txBody>
          <a:bodyPr>
            <a:noAutofit/>
          </a:bodyPr>
          <a:lstStyle/>
          <a:p>
            <a:pPr marL="342900" indent="-342900">
              <a:buFont typeface="Arial"/>
              <a:buChar char="•"/>
            </a:pPr>
            <a:r>
              <a:rPr lang="en-US" sz="2400" b="0" dirty="0" smtClean="0">
                <a:latin typeface="Times New Roman" panose="02020603050405020304" pitchFamily="18" charset="0"/>
                <a:cs typeface="Times New Roman" panose="02020603050405020304" pitchFamily="18" charset="0"/>
              </a:rPr>
              <a:t>Why do scientist spend so much time looking for water on other planets? </a:t>
            </a:r>
          </a:p>
          <a:p>
            <a:pPr marL="1188720" lvl="1">
              <a:buFont typeface="Wingdings" panose="05000000000000000000" pitchFamily="2" charset="2"/>
              <a:buChar char="ü"/>
            </a:pPr>
            <a:r>
              <a:rPr lang="en-US" sz="2400" dirty="0" smtClean="0">
                <a:latin typeface="Times New Roman" panose="02020603050405020304" pitchFamily="18" charset="0"/>
                <a:cs typeface="Times New Roman" panose="02020603050405020304" pitchFamily="18" charset="0"/>
              </a:rPr>
              <a:t>It is because water is essential to life</a:t>
            </a:r>
          </a:p>
          <a:p>
            <a:pPr marL="342900" indent="-342900">
              <a:buFont typeface="Arial"/>
              <a:buChar char="•"/>
            </a:pPr>
            <a:r>
              <a:rPr lang="en-US" sz="2400" b="0" dirty="0">
                <a:latin typeface="Times New Roman" panose="02020603050405020304" pitchFamily="18" charset="0"/>
                <a:cs typeface="Times New Roman" panose="02020603050405020304" pitchFamily="18" charset="0"/>
              </a:rPr>
              <a:t>Water is the most abundant molecule of </a:t>
            </a:r>
            <a:r>
              <a:rPr lang="en-US" sz="2400" b="0" dirty="0" smtClean="0">
                <a:latin typeface="Times New Roman" panose="02020603050405020304" pitchFamily="18" charset="0"/>
                <a:cs typeface="Times New Roman" panose="02020603050405020304" pitchFamily="18" charset="0"/>
              </a:rPr>
              <a:t>life.</a:t>
            </a:r>
          </a:p>
          <a:p>
            <a:pPr marL="342900" indent="-342900">
              <a:buFont typeface="Arial"/>
              <a:buChar char="•"/>
            </a:pPr>
            <a:r>
              <a:rPr lang="en-US" sz="2400" b="0" dirty="0" smtClean="0">
                <a:latin typeface="Times New Roman" panose="02020603050405020304" pitchFamily="18" charset="0"/>
                <a:cs typeface="Times New Roman" panose="02020603050405020304" pitchFamily="18" charset="0"/>
              </a:rPr>
              <a:t>Human </a:t>
            </a:r>
            <a:r>
              <a:rPr lang="en-US" sz="2400" b="0" dirty="0">
                <a:latin typeface="Times New Roman" panose="02020603050405020304" pitchFamily="18" charset="0"/>
                <a:cs typeface="Times New Roman" panose="02020603050405020304" pitchFamily="18" charset="0"/>
              </a:rPr>
              <a:t>beings are 70% water, tomatoes are 90% </a:t>
            </a:r>
            <a:r>
              <a:rPr lang="en-US" sz="2400" b="0" dirty="0" smtClean="0">
                <a:latin typeface="Times New Roman" panose="02020603050405020304" pitchFamily="18" charset="0"/>
                <a:cs typeface="Times New Roman" panose="02020603050405020304" pitchFamily="18" charset="0"/>
              </a:rPr>
              <a:t>water,</a:t>
            </a:r>
          </a:p>
          <a:p>
            <a:pPr marL="0" indent="0"/>
            <a:r>
              <a:rPr lang="nb-NO" sz="2400" dirty="0" smtClean="0">
                <a:solidFill>
                  <a:schemeClr val="accent2"/>
                </a:solidFill>
                <a:latin typeface="Times New Roman" panose="02020603050405020304" pitchFamily="18" charset="0"/>
                <a:cs typeface="Times New Roman" panose="02020603050405020304" pitchFamily="18" charset="0"/>
              </a:rPr>
              <a:t>Functions of water</a:t>
            </a:r>
            <a:endParaRPr lang="en-US" sz="2400" dirty="0" smtClean="0">
              <a:solidFill>
                <a:schemeClr val="accent2"/>
              </a:solidFill>
              <a:latin typeface="Times New Roman" panose="02020603050405020304" pitchFamily="18" charset="0"/>
              <a:cs typeface="Times New Roman" panose="02020603050405020304" pitchFamily="18" charset="0"/>
            </a:endParaRPr>
          </a:p>
          <a:p>
            <a:pPr marL="342900" indent="-342900">
              <a:buFont typeface="Arial"/>
              <a:buChar char="•"/>
            </a:pPr>
            <a:r>
              <a:rPr lang="en-US" sz="2400" b="0" dirty="0" smtClean="0">
                <a:latin typeface="Times New Roman" panose="02020603050405020304" pitchFamily="18" charset="0"/>
                <a:cs typeface="Times New Roman" panose="02020603050405020304" pitchFamily="18" charset="0"/>
              </a:rPr>
              <a:t>serve </a:t>
            </a:r>
            <a:r>
              <a:rPr lang="en-US" sz="2400" b="0" dirty="0">
                <a:latin typeface="Times New Roman" panose="02020603050405020304" pitchFamily="18" charset="0"/>
                <a:cs typeface="Times New Roman" panose="02020603050405020304" pitchFamily="18" charset="0"/>
              </a:rPr>
              <a:t>as solvent of life</a:t>
            </a:r>
          </a:p>
          <a:p>
            <a:pPr marL="342900" indent="-342900">
              <a:buFont typeface="Arial"/>
              <a:buChar char="•"/>
            </a:pPr>
            <a:r>
              <a:rPr lang="en-US" sz="2400" b="0" dirty="0">
                <a:latin typeface="Times New Roman" panose="02020603050405020304" pitchFamily="18" charset="0"/>
                <a:cs typeface="Times New Roman" panose="02020603050405020304" pitchFamily="18" charset="0"/>
              </a:rPr>
              <a:t>transports compounds</a:t>
            </a:r>
          </a:p>
          <a:p>
            <a:pPr marL="342900" indent="-342900">
              <a:buFont typeface="Arial"/>
              <a:buChar char="•"/>
            </a:pPr>
            <a:r>
              <a:rPr lang="en-US" sz="2400" b="0" dirty="0">
                <a:latin typeface="Times New Roman" panose="02020603050405020304" pitchFamily="18" charset="0"/>
                <a:cs typeface="Times New Roman" panose="02020603050405020304" pitchFamily="18" charset="0"/>
              </a:rPr>
              <a:t>separates charged molecules</a:t>
            </a:r>
          </a:p>
          <a:p>
            <a:pPr marL="342900" indent="-342900">
              <a:buFont typeface="Arial"/>
              <a:buChar char="•"/>
            </a:pPr>
            <a:r>
              <a:rPr lang="en-US" sz="2400" b="0" dirty="0">
                <a:latin typeface="Times New Roman" panose="02020603050405020304" pitchFamily="18" charset="0"/>
                <a:cs typeface="Times New Roman" panose="02020603050405020304" pitchFamily="18" charset="0"/>
              </a:rPr>
              <a:t>dissipates heat</a:t>
            </a:r>
          </a:p>
          <a:p>
            <a:pPr marL="342900" indent="-342900">
              <a:buFont typeface="Arial"/>
              <a:buChar char="•"/>
            </a:pPr>
            <a:r>
              <a:rPr lang="en-US" sz="2400" b="0" dirty="0">
                <a:latin typeface="Times New Roman" panose="02020603050405020304" pitchFamily="18" charset="0"/>
                <a:cs typeface="Times New Roman" panose="02020603050405020304" pitchFamily="18" charset="0"/>
              </a:rPr>
              <a:t>Used as </a:t>
            </a:r>
            <a:r>
              <a:rPr lang="en-US" sz="2400" b="0" dirty="0" smtClean="0">
                <a:latin typeface="Times New Roman" panose="02020603050405020304" pitchFamily="18" charset="0"/>
                <a:cs typeface="Times New Roman" panose="02020603050405020304" pitchFamily="18" charset="0"/>
              </a:rPr>
              <a:t>a reactant </a:t>
            </a:r>
            <a:r>
              <a:rPr lang="en-US" sz="2400" b="0" dirty="0">
                <a:latin typeface="Times New Roman" panose="02020603050405020304" pitchFamily="18" charset="0"/>
                <a:cs typeface="Times New Roman" panose="02020603050405020304" pitchFamily="18" charset="0"/>
              </a:rPr>
              <a:t>and as </a:t>
            </a:r>
            <a:r>
              <a:rPr lang="en-US" sz="2400" b="0" dirty="0" smtClean="0">
                <a:latin typeface="Times New Roman" panose="02020603050405020304" pitchFamily="18" charset="0"/>
                <a:cs typeface="Times New Roman" panose="02020603050405020304" pitchFamily="18" charset="0"/>
              </a:rPr>
              <a:t>a product </a:t>
            </a:r>
            <a:r>
              <a:rPr lang="en-US" sz="2400" b="0" dirty="0">
                <a:latin typeface="Times New Roman" panose="02020603050405020304" pitchFamily="18" charset="0"/>
                <a:cs typeface="Times New Roman" panose="02020603050405020304" pitchFamily="18" charset="0"/>
              </a:rPr>
              <a:t>in chemical </a:t>
            </a:r>
            <a:r>
              <a:rPr lang="en-US" sz="2400" b="0" dirty="0" err="1" smtClean="0">
                <a:latin typeface="Times New Roman" panose="02020603050405020304" pitchFamily="18" charset="0"/>
                <a:cs typeface="Times New Roman" panose="02020603050405020304" pitchFamily="18" charset="0"/>
              </a:rPr>
              <a:t>rxns</a:t>
            </a:r>
            <a:endParaRPr lang="en-US" sz="2400" b="0" dirty="0" smtClean="0">
              <a:latin typeface="Times New Roman" panose="02020603050405020304" pitchFamily="18" charset="0"/>
              <a:cs typeface="Times New Roman" panose="02020603050405020304" pitchFamily="18" charset="0"/>
            </a:endParaRPr>
          </a:p>
          <a:p>
            <a:pPr marL="342900" indent="-342900">
              <a:buFont typeface="Arial"/>
              <a:buChar char="•"/>
            </a:pPr>
            <a:endParaRPr lang="en-US" sz="2400" b="0" dirty="0">
              <a:latin typeface="Times New Roman" panose="02020603050405020304" pitchFamily="18" charset="0"/>
              <a:cs typeface="Times New Roman" panose="02020603050405020304" pitchFamily="18" charset="0"/>
            </a:endParaRPr>
          </a:p>
        </p:txBody>
      </p:sp>
      <p:sp>
        <p:nvSpPr>
          <p:cNvPr id="8" name="Title 1"/>
          <p:cNvSpPr txBox="1">
            <a:spLocks/>
          </p:cNvSpPr>
          <p:nvPr/>
        </p:nvSpPr>
        <p:spPr bwMode="auto">
          <a:xfrm>
            <a:off x="91440" y="773545"/>
            <a:ext cx="8062912" cy="6595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mj-lt"/>
                <a:ea typeface="+mj-ea"/>
                <a:cs typeface="+mj-cs"/>
              </a:defRPr>
            </a:lvl1pPr>
            <a:lvl2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Times New Roman" panose="02020603050405020304" pitchFamily="18" charset="0"/>
                <a:cs typeface="Arial" charset="0"/>
              </a:defRPr>
            </a:lvl2pPr>
            <a:lvl3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Times New Roman" panose="02020603050405020304" pitchFamily="18" charset="0"/>
                <a:cs typeface="Arial" charset="0"/>
              </a:defRPr>
            </a:lvl3pPr>
            <a:lvl4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Times New Roman" panose="02020603050405020304" pitchFamily="18" charset="0"/>
                <a:cs typeface="Arial" charset="0"/>
              </a:defRPr>
            </a:lvl4pPr>
            <a:lvl5pPr algn="ctr" defTabSz="342900" rtl="0" eaLnBrk="1" fontAlgn="base" hangingPunct="1">
              <a:spcBef>
                <a:spcPct val="0"/>
              </a:spcBef>
              <a:spcAft>
                <a:spcPct val="0"/>
              </a:spcAft>
              <a:buClr>
                <a:srgbClr val="000000"/>
              </a:buClr>
              <a:buSzPct val="100000"/>
              <a:buFont typeface="Times New Roman" panose="02020603050405020304" pitchFamily="18" charset="0"/>
              <a:defRPr sz="2100" b="1">
                <a:solidFill>
                  <a:srgbClr val="FFFFFF"/>
                </a:solidFill>
                <a:latin typeface="Times New Roman" panose="02020603050405020304" pitchFamily="18" charset="0"/>
                <a:cs typeface="Arial" charset="0"/>
              </a:defRPr>
            </a:lvl5pPr>
            <a:lvl6pPr marL="1885950" indent="-171450" algn="ctr" defTabSz="342900" rtl="0" eaLnBrk="1" fontAlgn="base" hangingPunct="1">
              <a:spcBef>
                <a:spcPct val="0"/>
              </a:spcBef>
              <a:spcAft>
                <a:spcPct val="0"/>
              </a:spcAft>
              <a:buClr>
                <a:srgbClr val="000000"/>
              </a:buClr>
              <a:buSzPct val="100000"/>
              <a:buFont typeface="Times New Roman" pitchFamily="16" charset="0"/>
              <a:defRPr sz="2100" b="1">
                <a:solidFill>
                  <a:srgbClr val="FFFFFF"/>
                </a:solidFill>
                <a:latin typeface="Arial" charset="0"/>
                <a:cs typeface="Arial" charset="0"/>
              </a:defRPr>
            </a:lvl6pPr>
            <a:lvl7pPr marL="2228850" indent="-171450" algn="ctr" defTabSz="342900" rtl="0" eaLnBrk="1" fontAlgn="base" hangingPunct="1">
              <a:spcBef>
                <a:spcPct val="0"/>
              </a:spcBef>
              <a:spcAft>
                <a:spcPct val="0"/>
              </a:spcAft>
              <a:buClr>
                <a:srgbClr val="000000"/>
              </a:buClr>
              <a:buSzPct val="100000"/>
              <a:buFont typeface="Times New Roman" pitchFamily="16" charset="0"/>
              <a:defRPr sz="2100" b="1">
                <a:solidFill>
                  <a:srgbClr val="FFFFFF"/>
                </a:solidFill>
                <a:latin typeface="Arial" charset="0"/>
                <a:cs typeface="Arial" charset="0"/>
              </a:defRPr>
            </a:lvl7pPr>
            <a:lvl8pPr marL="2571750" indent="-171450" algn="ctr" defTabSz="342900" rtl="0" eaLnBrk="1" fontAlgn="base" hangingPunct="1">
              <a:spcBef>
                <a:spcPct val="0"/>
              </a:spcBef>
              <a:spcAft>
                <a:spcPct val="0"/>
              </a:spcAft>
              <a:buClr>
                <a:srgbClr val="000000"/>
              </a:buClr>
              <a:buSzPct val="100000"/>
              <a:buFont typeface="Times New Roman" pitchFamily="16" charset="0"/>
              <a:defRPr sz="2100" b="1">
                <a:solidFill>
                  <a:srgbClr val="FFFFFF"/>
                </a:solidFill>
                <a:latin typeface="Arial" charset="0"/>
                <a:cs typeface="Arial" charset="0"/>
              </a:defRPr>
            </a:lvl8pPr>
            <a:lvl9pPr marL="2914650" indent="-171450" algn="ctr" defTabSz="342900" rtl="0" eaLnBrk="1" fontAlgn="base" hangingPunct="1">
              <a:spcBef>
                <a:spcPct val="0"/>
              </a:spcBef>
              <a:spcAft>
                <a:spcPct val="0"/>
              </a:spcAft>
              <a:buClr>
                <a:srgbClr val="000000"/>
              </a:buClr>
              <a:buSzPct val="100000"/>
              <a:buFont typeface="Times New Roman" pitchFamily="16" charset="0"/>
              <a:defRPr sz="2100" b="1">
                <a:solidFill>
                  <a:srgbClr val="FFFFFF"/>
                </a:solidFill>
                <a:latin typeface="Arial" charset="0"/>
                <a:cs typeface="Arial" charset="0"/>
              </a:defRPr>
            </a:lvl9pPr>
          </a:lstStyle>
          <a:p>
            <a:pPr marL="0" marR="0" lvl="0" indent="0" algn="ctr" defTabSz="3429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a:pPr>
            <a:r>
              <a:rPr kumimoji="0" lang="en-US" sz="3200" b="1" i="0" u="none" strike="noStrike" kern="0" cap="none" spc="0" normalizeH="0" baseline="0" noProof="0" dirty="0" smtClean="0">
                <a:ln>
                  <a:noFill/>
                </a:ln>
                <a:solidFill>
                  <a:srgbClr val="3333CC"/>
                </a:solidFill>
                <a:effectLst/>
                <a:uLnTx/>
                <a:uFillTx/>
                <a:latin typeface="Times New Roman" panose="02020603050405020304" pitchFamily="18" charset="0"/>
                <a:ea typeface="+mj-ea"/>
                <a:cs typeface="Times New Roman" panose="02020603050405020304" pitchFamily="18" charset="0"/>
              </a:rPr>
              <a:t>Water: a vital compound for life</a:t>
            </a:r>
            <a:endParaRPr kumimoji="0" lang="en-US" sz="3200" b="1" i="0" u="none" strike="noStrike" kern="0" cap="none" spc="0" normalizeH="0" baseline="0" noProof="0" dirty="0">
              <a:ln>
                <a:noFill/>
              </a:ln>
              <a:solidFill>
                <a:srgbClr val="3333CC"/>
              </a:solidFill>
              <a:effectLst/>
              <a:uLnTx/>
              <a:uFillTx/>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816920193"/>
      </p:ext>
    </p:extLst>
  </p:cSld>
  <p:clrMapOvr>
    <a:masterClrMapping/>
  </p:clrMapOvr>
  <p:transition spd="slow">
    <p:push dir="u"/>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fld id="{A5D675E4-4AFB-4A0B-A41A-90CCE4BEFCF7}" type="datetime1">
              <a:rPr kumimoji="0" lang="en-US" sz="1800" b="0" i="1" u="none" strike="noStrike" kern="1200" cap="none" spc="0" normalizeH="0" baseline="0" noProof="0" smtClean="0">
                <a:ln>
                  <a:noFill/>
                </a:ln>
                <a:solidFill>
                  <a:srgbClr val="000000"/>
                </a:solidFill>
                <a:effectLst/>
                <a:uLnTx/>
                <a:uFillTx/>
                <a:latin typeface="Arial" charset="0"/>
                <a:ea typeface="Microsoft YaHei" charset="-122"/>
                <a:cs typeface="Arial Unicode MS" charset="0"/>
              </a:rPr>
              <a:pPr marL="0" marR="0" lvl="0" indent="0" algn="l"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t>10/31/2023</a:t>
            </a:fld>
            <a:endParaRPr kumimoji="0" lang="en-US" sz="1800" b="0" i="1" u="none" strike="noStrike" kern="1200" cap="none" spc="0" normalizeH="0" baseline="0" noProof="0">
              <a:ln>
                <a:noFill/>
              </a:ln>
              <a:solidFill>
                <a:srgbClr val="000000"/>
              </a:solidFill>
              <a:effectLst/>
              <a:uLnTx/>
              <a:uFillTx/>
              <a:latin typeface="Arial" charset="0"/>
              <a:ea typeface="Microsoft YaHei" charset="-122"/>
              <a:cs typeface="Arial Unicode MS" charset="0"/>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endParaRPr kumimoji="0" lang="en-US" sz="1800" b="0" i="1" u="none" strike="noStrike" kern="1200" cap="none" spc="0" normalizeH="0" baseline="0" noProof="0">
              <a:ln>
                <a:noFill/>
              </a:ln>
              <a:solidFill>
                <a:srgbClr val="000000"/>
              </a:solidFill>
              <a:effectLst/>
              <a:uLnTx/>
              <a:uFillTx/>
              <a:latin typeface="Arial" charset="0"/>
              <a:ea typeface="Microsoft YaHei" charset="-122"/>
              <a:cs typeface="+mj-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fld id="{796E5D1F-AD71-4468-8BAF-9C079CEC6AC7}" type="slidenum">
              <a:rPr kumimoji="0" lang="en-US" sz="1800" b="0" i="0" u="none" strike="noStrike" kern="1200" cap="none" spc="0" normalizeH="0" baseline="0" noProof="0" smtClean="0">
                <a:ln>
                  <a:noFill/>
                </a:ln>
                <a:solidFill>
                  <a:srgbClr val="000000"/>
                </a:solidFill>
                <a:effectLst/>
                <a:uLnTx/>
                <a:uFillTx/>
                <a:latin typeface="Arial" panose="020B0604020202020204"/>
                <a:ea typeface="Arial Unicode MS" panose="020B0604020202020204" pitchFamily="34" charset="-128"/>
                <a:cs typeface="Arial Unicode MS" panose="020B0604020202020204" pitchFamily="34" charset="-128"/>
              </a:rPr>
              <a:pPr marL="0" marR="0" lvl="0" indent="0" algn="ct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t>60</a:t>
            </a:fld>
            <a:endParaRPr kumimoji="0" lang="en-US" sz="1800" b="0" i="0" u="none" strike="noStrike" kern="1200" cap="none" spc="0" normalizeH="0" baseline="0" noProof="0">
              <a:ln>
                <a:noFill/>
              </a:ln>
              <a:solidFill>
                <a:srgbClr val="000000"/>
              </a:solidFill>
              <a:effectLst/>
              <a:uLnTx/>
              <a:uFillTx/>
              <a:latin typeface="Arial" panose="020B0604020202020204"/>
              <a:ea typeface="Arial Unicode MS" panose="020B0604020202020204" pitchFamily="34" charset="-128"/>
              <a:cs typeface="Arial Unicode MS" panose="020B0604020202020204" pitchFamily="34" charset="-128"/>
            </a:endParaRPr>
          </a:p>
        </p:txBody>
      </p:sp>
      <p:sp>
        <p:nvSpPr>
          <p:cNvPr id="7" name="Text Placeholder 3"/>
          <p:cNvSpPr>
            <a:spLocks noGrp="1"/>
          </p:cNvSpPr>
          <p:nvPr>
            <p:ph idx="1"/>
          </p:nvPr>
        </p:nvSpPr>
        <p:spPr>
          <a:xfrm>
            <a:off x="243840" y="1179871"/>
            <a:ext cx="8788399" cy="5357454"/>
          </a:xfrm>
        </p:spPr>
        <p:txBody>
          <a:bodyPr>
            <a:normAutofit/>
          </a:bodyPr>
          <a:lstStyle/>
          <a:p>
            <a:pPr marL="0" indent="0"/>
            <a:r>
              <a:rPr lang="en-US" sz="2400" kern="1200" dirty="0">
                <a:solidFill>
                  <a:srgbClr val="FF0000"/>
                </a:solidFill>
              </a:rPr>
              <a:t>Water is Polar compound</a:t>
            </a:r>
          </a:p>
          <a:p>
            <a:pPr marL="342900" indent="-342900">
              <a:buFont typeface="Arial"/>
              <a:buChar char="•"/>
            </a:pPr>
            <a:r>
              <a:rPr lang="en-US" sz="2400" b="0" dirty="0" smtClean="0">
                <a:latin typeface="Times New Roman" panose="02020603050405020304" pitchFamily="18" charset="0"/>
                <a:cs typeface="Times New Roman" panose="02020603050405020304" pitchFamily="18" charset="0"/>
              </a:rPr>
              <a:t>The hydrogen and oxygen atoms within water molecules form polar covalent bonds</a:t>
            </a:r>
          </a:p>
          <a:p>
            <a:pPr marL="342900" indent="-342900">
              <a:buFont typeface="Arial"/>
              <a:buChar char="•"/>
            </a:pPr>
            <a:r>
              <a:rPr lang="en-US" sz="2400" b="0" dirty="0" smtClean="0">
                <a:latin typeface="Times New Roman" panose="02020603050405020304" pitchFamily="18" charset="0"/>
                <a:cs typeface="Times New Roman" panose="02020603050405020304" pitchFamily="18" charset="0"/>
              </a:rPr>
              <a:t>Each hydrogen has a </a:t>
            </a:r>
            <a:r>
              <a:rPr lang="en-US" sz="2400" b="0" dirty="0" smtClean="0">
                <a:solidFill>
                  <a:schemeClr val="accent2"/>
                </a:solidFill>
                <a:latin typeface="Times New Roman" panose="02020603050405020304" pitchFamily="18" charset="0"/>
                <a:cs typeface="Times New Roman" panose="02020603050405020304" pitchFamily="18" charset="0"/>
              </a:rPr>
              <a:t>slight positive </a:t>
            </a:r>
            <a:r>
              <a:rPr lang="en-US" sz="2400" b="0" dirty="0" smtClean="0">
                <a:latin typeface="Times New Roman" panose="02020603050405020304" pitchFamily="18" charset="0"/>
                <a:cs typeface="Times New Roman" panose="02020603050405020304" pitchFamily="18" charset="0"/>
              </a:rPr>
              <a:t>charge and the oxygen has a </a:t>
            </a:r>
            <a:r>
              <a:rPr lang="en-US" sz="2400" b="0" dirty="0" smtClean="0">
                <a:solidFill>
                  <a:schemeClr val="accent2"/>
                </a:solidFill>
                <a:latin typeface="Times New Roman" panose="02020603050405020304" pitchFamily="18" charset="0"/>
                <a:cs typeface="Times New Roman" panose="02020603050405020304" pitchFamily="18" charset="0"/>
              </a:rPr>
              <a:t>slight negative </a:t>
            </a:r>
            <a:r>
              <a:rPr lang="en-US" sz="2400" b="0" dirty="0" smtClean="0">
                <a:latin typeface="Times New Roman" panose="02020603050405020304" pitchFamily="18" charset="0"/>
                <a:cs typeface="Times New Roman" panose="02020603050405020304" pitchFamily="18" charset="0"/>
              </a:rPr>
              <a:t>charge</a:t>
            </a:r>
          </a:p>
          <a:p>
            <a:pPr marL="342900" indent="-342900">
              <a:buFont typeface="Arial"/>
              <a:buChar char="•"/>
            </a:pPr>
            <a:r>
              <a:rPr lang="en-US" sz="2400" b="0" dirty="0" smtClean="0">
                <a:latin typeface="Times New Roman" panose="02020603050405020304" pitchFamily="18" charset="0"/>
                <a:cs typeface="Times New Roman" panose="02020603050405020304" pitchFamily="18" charset="0"/>
              </a:rPr>
              <a:t>The opposite charges of water molecules are attracted to one another, and is also attracted to other polar molecules</a:t>
            </a:r>
          </a:p>
          <a:p>
            <a:pPr marL="0" indent="0"/>
            <a:endParaRPr lang="en-US" sz="2400" b="0" dirty="0" smtClean="0">
              <a:latin typeface="Times New Roman" panose="02020603050405020304" pitchFamily="18" charset="0"/>
              <a:cs typeface="Times New Roman" panose="02020603050405020304" pitchFamily="18" charset="0"/>
            </a:endParaRPr>
          </a:p>
          <a:p>
            <a:pPr marL="342900" indent="-342900">
              <a:buFont typeface="Arial"/>
              <a:buChar char="•"/>
            </a:pPr>
            <a:r>
              <a:rPr lang="en-US" sz="2400" b="0" dirty="0" smtClean="0">
                <a:latin typeface="Times New Roman" panose="02020603050405020304" pitchFamily="18" charset="0"/>
                <a:cs typeface="Times New Roman" panose="02020603050405020304" pitchFamily="18" charset="0"/>
              </a:rPr>
              <a:t>When a substance readily forms hydrogen bonds with water, it can dissolve in water and is referred to as </a:t>
            </a:r>
            <a:r>
              <a:rPr lang="en-US" sz="2400" dirty="0" smtClean="0">
                <a:solidFill>
                  <a:schemeClr val="accent2"/>
                </a:solidFill>
                <a:latin typeface="Times New Roman" panose="02020603050405020304" pitchFamily="18" charset="0"/>
                <a:cs typeface="Times New Roman" panose="02020603050405020304" pitchFamily="18" charset="0"/>
              </a:rPr>
              <a:t>hydrophilic</a:t>
            </a:r>
          </a:p>
          <a:p>
            <a:pPr marL="342900" indent="-342900">
              <a:buFont typeface="Arial"/>
              <a:buChar char="•"/>
            </a:pPr>
            <a:r>
              <a:rPr lang="en-US" sz="2400" b="0" dirty="0">
                <a:latin typeface="Times New Roman" panose="02020603050405020304" pitchFamily="18" charset="0"/>
                <a:cs typeface="Times New Roman" panose="02020603050405020304" pitchFamily="18" charset="0"/>
              </a:rPr>
              <a:t>When a substance </a:t>
            </a:r>
            <a:r>
              <a:rPr lang="en-US" sz="2400" b="0" dirty="0" smtClean="0">
                <a:latin typeface="Times New Roman" panose="02020603050405020304" pitchFamily="18" charset="0"/>
                <a:cs typeface="Times New Roman" panose="02020603050405020304" pitchFamily="18" charset="0"/>
              </a:rPr>
              <a:t>does not readily form </a:t>
            </a:r>
            <a:r>
              <a:rPr lang="en-US" sz="2400" b="0" dirty="0">
                <a:latin typeface="Times New Roman" panose="02020603050405020304" pitchFamily="18" charset="0"/>
                <a:cs typeface="Times New Roman" panose="02020603050405020304" pitchFamily="18" charset="0"/>
              </a:rPr>
              <a:t>hydrogen bonds with water, it </a:t>
            </a:r>
            <a:r>
              <a:rPr lang="en-US" sz="2400" b="0" dirty="0" smtClean="0">
                <a:latin typeface="Times New Roman" panose="02020603050405020304" pitchFamily="18" charset="0"/>
                <a:cs typeface="Times New Roman" panose="02020603050405020304" pitchFamily="18" charset="0"/>
              </a:rPr>
              <a:t>will not </a:t>
            </a:r>
            <a:r>
              <a:rPr lang="en-US" sz="2400" b="0" dirty="0">
                <a:latin typeface="Times New Roman" panose="02020603050405020304" pitchFamily="18" charset="0"/>
                <a:cs typeface="Times New Roman" panose="02020603050405020304" pitchFamily="18" charset="0"/>
              </a:rPr>
              <a:t>dissolve in water and is referred to as </a:t>
            </a:r>
            <a:r>
              <a:rPr lang="en-US" sz="2400" dirty="0" smtClean="0">
                <a:solidFill>
                  <a:schemeClr val="accent2"/>
                </a:solidFill>
                <a:latin typeface="Times New Roman" panose="02020603050405020304" pitchFamily="18" charset="0"/>
                <a:cs typeface="Times New Roman" panose="02020603050405020304" pitchFamily="18" charset="0"/>
              </a:rPr>
              <a:t>hydrophobic</a:t>
            </a:r>
          </a:p>
          <a:p>
            <a:pPr marL="342900" indent="-342900">
              <a:buFont typeface="Arial"/>
              <a:buChar char="•"/>
            </a:pPr>
            <a:endParaRPr lang="en-US" sz="24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2989778"/>
      </p:ext>
    </p:extLst>
  </p:cSld>
  <p:clrMapOvr>
    <a:masterClrMapping/>
  </p:clrMapOvr>
  <p:transition spd="slow">
    <p:push dir="u"/>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13360" y="900115"/>
            <a:ext cx="8768079" cy="5246687"/>
          </a:xfrm>
        </p:spPr>
        <p:txBody>
          <a:bodyPr/>
          <a:lstStyle/>
          <a:p>
            <a:r>
              <a:rPr lang="nb-NO" sz="2800" dirty="0" smtClean="0">
                <a:solidFill>
                  <a:srgbClr val="FF0000"/>
                </a:solidFill>
                <a:latin typeface="Times New Roman" panose="02020603050405020304" pitchFamily="18" charset="0"/>
                <a:cs typeface="Times New Roman" panose="02020603050405020304" pitchFamily="18" charset="0"/>
              </a:rPr>
              <a:t>Properties of Water</a:t>
            </a:r>
            <a:endParaRPr lang="en-US" sz="2800" dirty="0" smtClean="0">
              <a:solidFill>
                <a:srgbClr val="FF0000"/>
              </a:solidFill>
              <a:latin typeface="Times New Roman" panose="02020603050405020304" pitchFamily="18" charset="0"/>
              <a:cs typeface="Times New Roman" panose="02020603050405020304" pitchFamily="18" charset="0"/>
            </a:endParaRPr>
          </a:p>
          <a:p>
            <a:r>
              <a:rPr lang="en-US" sz="2400" b="0" dirty="0" smtClean="0">
                <a:solidFill>
                  <a:schemeClr val="tx1"/>
                </a:solidFill>
                <a:latin typeface="Times New Roman" panose="02020603050405020304" pitchFamily="18" charset="0"/>
                <a:cs typeface="Times New Roman" panose="02020603050405020304" pitchFamily="18" charset="0"/>
              </a:rPr>
              <a:t>Water </a:t>
            </a:r>
            <a:r>
              <a:rPr lang="en-US" sz="2400" b="0" dirty="0">
                <a:solidFill>
                  <a:schemeClr val="tx1"/>
                </a:solidFill>
                <a:latin typeface="Times New Roman" panose="02020603050405020304" pitchFamily="18" charset="0"/>
                <a:cs typeface="Times New Roman" panose="02020603050405020304" pitchFamily="18" charset="0"/>
              </a:rPr>
              <a:t>has many important unique properties that result from water’s polar nature</a:t>
            </a:r>
          </a:p>
          <a:p>
            <a:r>
              <a:rPr lang="en-US" sz="2400" b="0" dirty="0">
                <a:solidFill>
                  <a:srgbClr val="009900"/>
                </a:solidFill>
                <a:latin typeface="Times New Roman" panose="02020603050405020304" pitchFamily="18" charset="0"/>
                <a:cs typeface="Times New Roman" panose="02020603050405020304" pitchFamily="18" charset="0"/>
              </a:rPr>
              <a:t>1. </a:t>
            </a:r>
            <a:r>
              <a:rPr lang="en-US" sz="2400" b="0" dirty="0">
                <a:solidFill>
                  <a:schemeClr val="accent2"/>
                </a:solidFill>
                <a:latin typeface="Times New Roman" panose="02020603050405020304" pitchFamily="18" charset="0"/>
                <a:cs typeface="Times New Roman" panose="02020603050405020304" pitchFamily="18" charset="0"/>
              </a:rPr>
              <a:t>Water has a high heat of vaporization and stabilizes the temperature</a:t>
            </a:r>
          </a:p>
          <a:p>
            <a:pPr marL="342900" indent="-342900">
              <a:buFont typeface="Arial"/>
              <a:buChar char="•"/>
            </a:pPr>
            <a:r>
              <a:rPr lang="en-US" sz="2400" b="0" dirty="0">
                <a:solidFill>
                  <a:schemeClr val="tx1"/>
                </a:solidFill>
                <a:latin typeface="Times New Roman" panose="02020603050405020304" pitchFamily="18" charset="0"/>
                <a:cs typeface="Times New Roman" panose="02020603050405020304" pitchFamily="18" charset="0"/>
              </a:rPr>
              <a:t>The hydrogen bonds in water allow it to absorb and release heat energy more slowly than many other substances</a:t>
            </a:r>
          </a:p>
          <a:p>
            <a:pPr marL="342900" indent="-342900">
              <a:buFont typeface="Arial"/>
              <a:buChar char="•"/>
            </a:pPr>
            <a:r>
              <a:rPr lang="en-US" sz="2400" b="0" dirty="0">
                <a:solidFill>
                  <a:schemeClr val="tx1"/>
                </a:solidFill>
                <a:latin typeface="Times New Roman" panose="02020603050405020304" pitchFamily="18" charset="0"/>
                <a:cs typeface="Times New Roman" panose="02020603050405020304" pitchFamily="18" charset="0"/>
              </a:rPr>
              <a:t>A large amount of energy is required to change the temperature of the water and evaporate it. This helps to keep body temperature constant</a:t>
            </a:r>
          </a:p>
          <a:p>
            <a:pPr marL="342900" indent="-342900">
              <a:buFont typeface="Arial"/>
              <a:buChar char="•"/>
            </a:pPr>
            <a:r>
              <a:rPr lang="en-US" sz="2400" b="0" dirty="0">
                <a:solidFill>
                  <a:schemeClr val="tx1"/>
                </a:solidFill>
                <a:latin typeface="Times New Roman" panose="02020603050405020304" pitchFamily="18" charset="0"/>
                <a:cs typeface="Times New Roman" panose="02020603050405020304" pitchFamily="18" charset="0"/>
              </a:rPr>
              <a:t>The evaporation of water from a surface causes the cooling of that surface</a:t>
            </a:r>
          </a:p>
          <a:p>
            <a:endParaRPr lang="en-US" b="0"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fld id="{67B2D293-C31A-45AF-9CD6-1084CD440A45}" type="datetime1">
              <a:rPr kumimoji="0" lang="en-US" sz="1800" b="0" i="1" u="none" strike="noStrike" kern="1200" cap="none" spc="0" normalizeH="0" baseline="0" noProof="0" smtClean="0">
                <a:ln>
                  <a:noFill/>
                </a:ln>
                <a:solidFill>
                  <a:srgbClr val="000000"/>
                </a:solidFill>
                <a:effectLst/>
                <a:uLnTx/>
                <a:uFillTx/>
                <a:latin typeface="Arial" charset="0"/>
                <a:ea typeface="Microsoft YaHei" charset="-122"/>
                <a:cs typeface="Arial Unicode MS" charset="0"/>
              </a:rPr>
              <a:pPr marL="0" marR="0" lvl="0" indent="0" algn="l"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t>10/31/2023</a:t>
            </a:fld>
            <a:endParaRPr kumimoji="0" lang="en-US" sz="1800" b="0" i="1" u="none" strike="noStrike" kern="1200" cap="none" spc="0" normalizeH="0" baseline="0" noProof="0">
              <a:ln>
                <a:noFill/>
              </a:ln>
              <a:solidFill>
                <a:srgbClr val="000000"/>
              </a:solidFill>
              <a:effectLst/>
              <a:uLnTx/>
              <a:uFillTx/>
              <a:latin typeface="Arial" charset="0"/>
              <a:ea typeface="Microsoft YaHei" charset="-122"/>
              <a:cs typeface="Arial Unicode MS" charset="0"/>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endParaRPr kumimoji="0" lang="en-US" sz="1800" b="0" i="1" u="none" strike="noStrike" kern="1200" cap="none" spc="0" normalizeH="0" baseline="0" noProof="0">
              <a:ln>
                <a:noFill/>
              </a:ln>
              <a:solidFill>
                <a:srgbClr val="000000"/>
              </a:solidFill>
              <a:effectLst/>
              <a:uLnTx/>
              <a:uFillTx/>
              <a:latin typeface="Arial" charset="0"/>
              <a:ea typeface="Microsoft YaHei" charset="-122"/>
              <a:cs typeface="+mj-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fld id="{796E5D1F-AD71-4468-8BAF-9C079CEC6AC7}" type="slidenum">
              <a:rPr kumimoji="0" lang="en-US" sz="1800" b="0" i="0" u="none" strike="noStrike" kern="1200" cap="none" spc="0" normalizeH="0" baseline="0" noProof="0" smtClean="0">
                <a:ln>
                  <a:noFill/>
                </a:ln>
                <a:solidFill>
                  <a:srgbClr val="000000"/>
                </a:solidFill>
                <a:effectLst/>
                <a:uLnTx/>
                <a:uFillTx/>
                <a:latin typeface="Arial" panose="020B0604020202020204"/>
                <a:ea typeface="Arial Unicode MS" panose="020B0604020202020204" pitchFamily="34" charset="-128"/>
                <a:cs typeface="Arial Unicode MS" panose="020B0604020202020204" pitchFamily="34" charset="-128"/>
              </a:rPr>
              <a:pPr marL="0" marR="0" lvl="0" indent="0" algn="ct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t>61</a:t>
            </a:fld>
            <a:endParaRPr kumimoji="0" lang="en-US" sz="1800" b="0" i="0" u="none" strike="noStrike" kern="1200" cap="none" spc="0" normalizeH="0" baseline="0" noProof="0">
              <a:ln>
                <a:noFill/>
              </a:ln>
              <a:solidFill>
                <a:srgbClr val="000000"/>
              </a:solidFill>
              <a:effectLst/>
              <a:uLnTx/>
              <a:uFillTx/>
              <a:latin typeface="Arial" panose="020B0604020202020204"/>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0728075"/>
      </p:ext>
    </p:extLst>
  </p:cSld>
  <p:clrMapOvr>
    <a:masterClrMapping/>
  </p:clrMapOvr>
  <p:transition spd="slow">
    <p:push dir="u"/>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84480" y="900115"/>
            <a:ext cx="8717279" cy="5246687"/>
          </a:xfrm>
        </p:spPr>
        <p:txBody>
          <a:bodyPr/>
          <a:lstStyle/>
          <a:p>
            <a:pPr marL="0" lvl="0" indent="0" defTabSz="914400" fontAlgn="auto">
              <a:spcBef>
                <a:spcPts val="0"/>
              </a:spcBef>
              <a:spcAft>
                <a:spcPts val="0"/>
              </a:spcAft>
              <a:buClrTx/>
              <a:buSzTx/>
              <a:defRPr/>
            </a:pPr>
            <a:r>
              <a:rPr lang="en-US" sz="2400" kern="1200" dirty="0">
                <a:solidFill>
                  <a:srgbClr val="3333CC"/>
                </a:solidFill>
              </a:rPr>
              <a:t>2. Water is an Excellent Solvent</a:t>
            </a:r>
          </a:p>
          <a:p>
            <a:pPr marL="342900" indent="-342900">
              <a:buFont typeface="Arial"/>
              <a:buChar char="•"/>
            </a:pPr>
            <a:r>
              <a:rPr lang="en-US" sz="2400" b="0" dirty="0" smtClean="0">
                <a:solidFill>
                  <a:schemeClr val="tx1"/>
                </a:solidFill>
                <a:latin typeface="Times New Roman" panose="02020603050405020304" pitchFamily="18" charset="0"/>
                <a:cs typeface="Times New Roman" panose="02020603050405020304" pitchFamily="18" charset="0"/>
              </a:rPr>
              <a:t>Because </a:t>
            </a:r>
            <a:r>
              <a:rPr lang="en-US" sz="2400" b="0" dirty="0">
                <a:solidFill>
                  <a:schemeClr val="tx1"/>
                </a:solidFill>
                <a:latin typeface="Times New Roman" panose="02020603050405020304" pitchFamily="18" charset="0"/>
                <a:cs typeface="Times New Roman" panose="02020603050405020304" pitchFamily="18" charset="0"/>
              </a:rPr>
              <a:t>water is polar, ionic compounds and polar molecules can readily dissolve in it</a:t>
            </a:r>
          </a:p>
          <a:p>
            <a:pPr marL="342900" indent="-342900">
              <a:buFont typeface="Arial"/>
              <a:buChar char="•"/>
            </a:pPr>
            <a:r>
              <a:rPr lang="en-US" sz="2400" b="0" dirty="0">
                <a:solidFill>
                  <a:schemeClr val="tx1"/>
                </a:solidFill>
                <a:latin typeface="Times New Roman" panose="02020603050405020304" pitchFamily="18" charset="0"/>
                <a:cs typeface="Times New Roman" panose="02020603050405020304" pitchFamily="18" charset="0"/>
              </a:rPr>
              <a:t>Water is therefore referred to as a </a:t>
            </a:r>
            <a:r>
              <a:rPr lang="en-US" sz="2400" b="0" dirty="0">
                <a:solidFill>
                  <a:schemeClr val="accent2"/>
                </a:solidFill>
                <a:latin typeface="Times New Roman" panose="02020603050405020304" pitchFamily="18" charset="0"/>
                <a:cs typeface="Times New Roman" panose="02020603050405020304" pitchFamily="18" charset="0"/>
              </a:rPr>
              <a:t>solvent</a:t>
            </a:r>
            <a:r>
              <a:rPr lang="en-US" sz="2400" b="0" dirty="0">
                <a:solidFill>
                  <a:schemeClr val="tx1"/>
                </a:solidFill>
                <a:latin typeface="Times New Roman" panose="02020603050405020304" pitchFamily="18" charset="0"/>
                <a:cs typeface="Times New Roman" panose="02020603050405020304" pitchFamily="18" charset="0"/>
              </a:rPr>
              <a:t> - a substance capable of dissolving another substance</a:t>
            </a:r>
          </a:p>
          <a:p>
            <a:pPr marL="342900" indent="-342900">
              <a:buFont typeface="Arial"/>
              <a:buChar char="•"/>
            </a:pPr>
            <a:r>
              <a:rPr lang="en-US" sz="2400" b="0" dirty="0">
                <a:solidFill>
                  <a:schemeClr val="tx1"/>
                </a:solidFill>
                <a:latin typeface="Times New Roman" panose="02020603050405020304" pitchFamily="18" charset="0"/>
                <a:cs typeface="Times New Roman" panose="02020603050405020304" pitchFamily="18" charset="0"/>
              </a:rPr>
              <a:t>A “sphere of hydration” serves to keep the charged particles separated or dispersed in the water</a:t>
            </a:r>
          </a:p>
          <a:p>
            <a:endParaRPr lang="en-US" sz="2400" b="0"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fld id="{E928B71E-7E57-4F8A-86CB-E7591DAA3F3D}" type="datetime1">
              <a:rPr kumimoji="0" lang="en-US" sz="1800" b="0" i="1" u="none" strike="noStrike" kern="1200" cap="none" spc="0" normalizeH="0" baseline="0" noProof="0" smtClean="0">
                <a:ln>
                  <a:noFill/>
                </a:ln>
                <a:solidFill>
                  <a:srgbClr val="000000"/>
                </a:solidFill>
                <a:effectLst/>
                <a:uLnTx/>
                <a:uFillTx/>
                <a:latin typeface="Arial" charset="0"/>
                <a:ea typeface="Microsoft YaHei" charset="-122"/>
                <a:cs typeface="Arial Unicode MS" charset="0"/>
              </a:rPr>
              <a:pPr marL="0" marR="0" lvl="0" indent="0" algn="l"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t>10/31/2023</a:t>
            </a:fld>
            <a:endParaRPr kumimoji="0" lang="en-US" sz="1800" b="0" i="1" u="none" strike="noStrike" kern="1200" cap="none" spc="0" normalizeH="0" baseline="0" noProof="0">
              <a:ln>
                <a:noFill/>
              </a:ln>
              <a:solidFill>
                <a:srgbClr val="000000"/>
              </a:solidFill>
              <a:effectLst/>
              <a:uLnTx/>
              <a:uFillTx/>
              <a:latin typeface="Arial" charset="0"/>
              <a:ea typeface="Microsoft YaHei" charset="-122"/>
              <a:cs typeface="Arial Unicode MS" charset="0"/>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endParaRPr kumimoji="0" lang="en-US" sz="1800" b="0" i="1" u="none" strike="noStrike" kern="1200" cap="none" spc="0" normalizeH="0" baseline="0" noProof="0">
              <a:ln>
                <a:noFill/>
              </a:ln>
              <a:solidFill>
                <a:srgbClr val="000000"/>
              </a:solidFill>
              <a:effectLst/>
              <a:uLnTx/>
              <a:uFillTx/>
              <a:latin typeface="Arial" charset="0"/>
              <a:ea typeface="Microsoft YaHei" charset="-122"/>
              <a:cs typeface="+mj-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fld id="{796E5D1F-AD71-4468-8BAF-9C079CEC6AC7}" type="slidenum">
              <a:rPr kumimoji="0" lang="en-US" sz="1800" b="0" i="0" u="none" strike="noStrike" kern="1200" cap="none" spc="0" normalizeH="0" baseline="0" noProof="0" smtClean="0">
                <a:ln>
                  <a:noFill/>
                </a:ln>
                <a:solidFill>
                  <a:srgbClr val="000000"/>
                </a:solidFill>
                <a:effectLst/>
                <a:uLnTx/>
                <a:uFillTx/>
                <a:latin typeface="Arial" panose="020B0604020202020204"/>
                <a:ea typeface="Arial Unicode MS" panose="020B0604020202020204" pitchFamily="34" charset="-128"/>
                <a:cs typeface="Arial Unicode MS" panose="020B0604020202020204" pitchFamily="34" charset="-128"/>
              </a:rPr>
              <a:pPr marL="0" marR="0" lvl="0" indent="0" algn="ct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t>62</a:t>
            </a:fld>
            <a:endParaRPr kumimoji="0" lang="en-US" sz="1800" b="0" i="0" u="none" strike="noStrike" kern="1200" cap="none" spc="0" normalizeH="0" baseline="0" noProof="0">
              <a:ln>
                <a:noFill/>
              </a:ln>
              <a:solidFill>
                <a:srgbClr val="000000"/>
              </a:solidFill>
              <a:effectLst/>
              <a:uLnTx/>
              <a:uFillTx/>
              <a:latin typeface="Arial" panose="020B0604020202020204"/>
              <a:ea typeface="Arial Unicode MS" panose="020B0604020202020204" pitchFamily="34" charset="-128"/>
              <a:cs typeface="Arial Unicode MS" panose="020B0604020202020204" pitchFamily="34" charset="-128"/>
            </a:endParaRPr>
          </a:p>
        </p:txBody>
      </p:sp>
      <p:pic>
        <p:nvPicPr>
          <p:cNvPr id="7" name="Picture 6"/>
          <p:cNvPicPr>
            <a:picLocks noChangeAspect="1"/>
          </p:cNvPicPr>
          <p:nvPr/>
        </p:nvPicPr>
        <p:blipFill>
          <a:blip r:embed="rId2"/>
          <a:stretch>
            <a:fillRect/>
          </a:stretch>
        </p:blipFill>
        <p:spPr>
          <a:xfrm>
            <a:off x="2444311" y="3698240"/>
            <a:ext cx="3897415" cy="2931436"/>
          </a:xfrm>
          <a:prstGeom prst="rect">
            <a:avLst/>
          </a:prstGeom>
        </p:spPr>
      </p:pic>
    </p:spTree>
    <p:extLst>
      <p:ext uri="{BB962C8B-B14F-4D97-AF65-F5344CB8AC3E}">
        <p14:creationId xmlns:p14="http://schemas.microsoft.com/office/powerpoint/2010/main" val="2159472058"/>
      </p:ext>
    </p:extLst>
  </p:cSld>
  <p:clrMapOvr>
    <a:masterClrMapping/>
  </p:clrMapOvr>
  <p:transition spd="slow">
    <p:push dir="u"/>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43840" y="900115"/>
            <a:ext cx="8707119" cy="5246687"/>
          </a:xfrm>
        </p:spPr>
        <p:txBody>
          <a:bodyPr/>
          <a:lstStyle/>
          <a:p>
            <a:r>
              <a:rPr lang="en-US" sz="2400" kern="1200" dirty="0">
                <a:solidFill>
                  <a:srgbClr val="3333CC"/>
                </a:solidFill>
              </a:rPr>
              <a:t>3. Water is Cohesive</a:t>
            </a:r>
          </a:p>
          <a:p>
            <a:pPr marL="342900" lvl="0" indent="-342900">
              <a:buClr>
                <a:srgbClr val="6CB255"/>
              </a:buClr>
              <a:buFont typeface="Arial"/>
              <a:buChar char="•"/>
            </a:pPr>
            <a:r>
              <a:rPr lang="en-US" sz="2400" b="0" dirty="0">
                <a:solidFill>
                  <a:srgbClr val="3333CC"/>
                </a:solidFill>
                <a:latin typeface="Times New Roman" panose="02020603050405020304" pitchFamily="18" charset="0"/>
                <a:cs typeface="Times New Roman" panose="02020603050405020304" pitchFamily="18" charset="0"/>
              </a:rPr>
              <a:t>Cohesion </a:t>
            </a:r>
            <a:r>
              <a:rPr lang="en-US" sz="2400" b="0" dirty="0">
                <a:solidFill>
                  <a:srgbClr val="000000"/>
                </a:solidFill>
                <a:latin typeface="Times New Roman" panose="02020603050405020304" pitchFamily="18" charset="0"/>
                <a:cs typeface="Times New Roman" panose="02020603050405020304" pitchFamily="18" charset="0"/>
              </a:rPr>
              <a:t>- the attraction of water molecules to other water molecules</a:t>
            </a:r>
          </a:p>
          <a:p>
            <a:pPr marL="342900" lvl="0" indent="-342900">
              <a:buClr>
                <a:srgbClr val="6CB255"/>
              </a:buClr>
              <a:buFont typeface="Arial"/>
              <a:buChar char="•"/>
            </a:pPr>
            <a:r>
              <a:rPr lang="en-US" sz="2400" b="0" dirty="0">
                <a:solidFill>
                  <a:srgbClr val="000000"/>
                </a:solidFill>
                <a:latin typeface="Times New Roman" panose="02020603050405020304" pitchFamily="18" charset="0"/>
                <a:cs typeface="Times New Roman" panose="02020603050405020304" pitchFamily="18" charset="0"/>
              </a:rPr>
              <a:t>Cohesion gives rise to </a:t>
            </a:r>
            <a:r>
              <a:rPr lang="en-US" sz="2400" b="0" dirty="0">
                <a:solidFill>
                  <a:srgbClr val="3333CC"/>
                </a:solidFill>
                <a:latin typeface="Times New Roman" panose="02020603050405020304" pitchFamily="18" charset="0"/>
                <a:cs typeface="Times New Roman" panose="02020603050405020304" pitchFamily="18" charset="0"/>
              </a:rPr>
              <a:t>surface tension </a:t>
            </a:r>
            <a:r>
              <a:rPr lang="en-US" sz="2400" b="0" dirty="0">
                <a:solidFill>
                  <a:srgbClr val="000000"/>
                </a:solidFill>
                <a:latin typeface="Times New Roman" panose="02020603050405020304" pitchFamily="18" charset="0"/>
                <a:cs typeface="Times New Roman" panose="02020603050405020304" pitchFamily="18" charset="0"/>
              </a:rPr>
              <a:t>- the capacity of a substance to withstand rupture when placed under tension or stress</a:t>
            </a:r>
          </a:p>
          <a:p>
            <a:pPr marL="1188720" lvl="1" indent="-457200">
              <a:buClr>
                <a:srgbClr val="6CB255"/>
              </a:buClr>
              <a:buFont typeface="Wingdings" panose="05000000000000000000" pitchFamily="2" charset="2"/>
              <a:buChar char="ü"/>
            </a:pPr>
            <a:r>
              <a:rPr lang="en-US" sz="2400" dirty="0">
                <a:solidFill>
                  <a:srgbClr val="000000"/>
                </a:solidFill>
                <a:latin typeface="Times New Roman" panose="02020603050405020304" pitchFamily="18" charset="0"/>
                <a:cs typeface="Times New Roman" panose="02020603050405020304" pitchFamily="18" charset="0"/>
              </a:rPr>
              <a:t>Surface tension allows water to serve as transport medium</a:t>
            </a:r>
          </a:p>
          <a:p>
            <a:pPr marL="342900" lvl="0" indent="-342900">
              <a:buClr>
                <a:srgbClr val="6CB255"/>
              </a:buClr>
              <a:buFont typeface="Arial"/>
              <a:buChar char="•"/>
            </a:pPr>
            <a:r>
              <a:rPr lang="en-US" sz="2400" b="0" dirty="0">
                <a:solidFill>
                  <a:srgbClr val="3333CC"/>
                </a:solidFill>
                <a:latin typeface="Times New Roman" panose="02020603050405020304" pitchFamily="18" charset="0"/>
                <a:cs typeface="Times New Roman" panose="02020603050405020304" pitchFamily="18" charset="0"/>
              </a:rPr>
              <a:t>Adhesion </a:t>
            </a:r>
            <a:r>
              <a:rPr lang="en-US" sz="2400" b="0" dirty="0">
                <a:solidFill>
                  <a:srgbClr val="000000"/>
                </a:solidFill>
                <a:latin typeface="Times New Roman" panose="02020603050405020304" pitchFamily="18" charset="0"/>
                <a:cs typeface="Times New Roman" panose="02020603050405020304" pitchFamily="18" charset="0"/>
              </a:rPr>
              <a:t>- the attraction between water molecules and other molecules</a:t>
            </a:r>
          </a:p>
          <a:p>
            <a:pPr marL="1188720" lvl="1" indent="-457200">
              <a:buClr>
                <a:srgbClr val="6CB255"/>
              </a:buClr>
              <a:buFont typeface="Wingdings" panose="05000000000000000000" pitchFamily="2" charset="2"/>
              <a:buChar char="ü"/>
            </a:pPr>
            <a:r>
              <a:rPr lang="en-US" sz="2400" dirty="0">
                <a:solidFill>
                  <a:srgbClr val="000000"/>
                </a:solidFill>
                <a:latin typeface="Times New Roman" panose="02020603050405020304" pitchFamily="18" charset="0"/>
                <a:cs typeface="Times New Roman" panose="02020603050405020304" pitchFamily="18" charset="0"/>
              </a:rPr>
              <a:t>The adhesion of water molecules is responsible for transportation of water from the soil to tip of the tree</a:t>
            </a:r>
          </a:p>
          <a:p>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fld id="{67067C59-15EE-4CDE-904C-440C27C6BD49}" type="datetime1">
              <a:rPr kumimoji="0" lang="en-US" sz="1800" b="0" i="1" u="none" strike="noStrike" kern="1200" cap="none" spc="0" normalizeH="0" baseline="0" noProof="0" smtClean="0">
                <a:ln>
                  <a:noFill/>
                </a:ln>
                <a:solidFill>
                  <a:srgbClr val="000000"/>
                </a:solidFill>
                <a:effectLst/>
                <a:uLnTx/>
                <a:uFillTx/>
                <a:latin typeface="Arial" charset="0"/>
                <a:ea typeface="Microsoft YaHei" charset="-122"/>
                <a:cs typeface="Arial Unicode MS" charset="0"/>
              </a:rPr>
              <a:pPr marL="0" marR="0" lvl="0" indent="0" algn="l"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t>10/31/2023</a:t>
            </a:fld>
            <a:endParaRPr kumimoji="0" lang="en-US" sz="1800" b="0" i="1" u="none" strike="noStrike" kern="1200" cap="none" spc="0" normalizeH="0" baseline="0" noProof="0">
              <a:ln>
                <a:noFill/>
              </a:ln>
              <a:solidFill>
                <a:srgbClr val="000000"/>
              </a:solidFill>
              <a:effectLst/>
              <a:uLnTx/>
              <a:uFillTx/>
              <a:latin typeface="Arial" charset="0"/>
              <a:ea typeface="Microsoft YaHei" charset="-122"/>
              <a:cs typeface="Arial Unicode MS" charset="0"/>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endParaRPr kumimoji="0" lang="en-US" sz="1800" b="0" i="1" u="none" strike="noStrike" kern="1200" cap="none" spc="0" normalizeH="0" baseline="0" noProof="0">
              <a:ln>
                <a:noFill/>
              </a:ln>
              <a:solidFill>
                <a:srgbClr val="000000"/>
              </a:solidFill>
              <a:effectLst/>
              <a:uLnTx/>
              <a:uFillTx/>
              <a:latin typeface="Arial" charset="0"/>
              <a:ea typeface="Microsoft YaHei" charset="-122"/>
              <a:cs typeface="+mj-cs"/>
            </a:endParaRP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fld id="{796E5D1F-AD71-4468-8BAF-9C079CEC6AC7}" type="slidenum">
              <a:rPr kumimoji="0" lang="en-US" sz="1800" b="0" i="0" u="none" strike="noStrike" kern="1200" cap="none" spc="0" normalizeH="0" baseline="0" noProof="0" smtClean="0">
                <a:ln>
                  <a:noFill/>
                </a:ln>
                <a:solidFill>
                  <a:srgbClr val="000000"/>
                </a:solidFill>
                <a:effectLst/>
                <a:uLnTx/>
                <a:uFillTx/>
                <a:latin typeface="Arial" panose="020B0604020202020204"/>
                <a:ea typeface="Arial Unicode MS" panose="020B0604020202020204" pitchFamily="34" charset="-128"/>
                <a:cs typeface="Arial Unicode MS" panose="020B0604020202020204" pitchFamily="34" charset="-128"/>
              </a:rPr>
              <a:pPr marL="0" marR="0" lvl="0" indent="0" algn="ct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t>63</a:t>
            </a:fld>
            <a:endParaRPr kumimoji="0" lang="en-US" sz="1800" b="0" i="0" u="none" strike="noStrike" kern="1200" cap="none" spc="0" normalizeH="0" baseline="0" noProof="0">
              <a:ln>
                <a:noFill/>
              </a:ln>
              <a:solidFill>
                <a:srgbClr val="000000"/>
              </a:solidFill>
              <a:effectLst/>
              <a:uLnTx/>
              <a:uFillTx/>
              <a:latin typeface="Arial" panose="020B0604020202020204"/>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957661097"/>
      </p:ext>
    </p:extLst>
  </p:cSld>
  <p:clrMapOvr>
    <a:masterClrMapping/>
  </p:clrMapOvr>
  <p:transition spd="slow">
    <p:push dir="u"/>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fld id="{F38DF745-7D3F-47F4-83A3-874385CFAA69}" type="slidenum">
              <a:rPr kumimoji="0" lang="en-US" sz="1800" b="0" i="0" u="none" strike="noStrike" kern="1200" cap="none" spc="0" normalizeH="0" baseline="0" noProof="0" smtClean="0">
                <a:ln>
                  <a:noFill/>
                </a:ln>
                <a:solidFill>
                  <a:srgbClr val="000000"/>
                </a:solidFill>
                <a:effectLst/>
                <a:uLnTx/>
                <a:uFillTx/>
                <a:latin typeface="Arial" panose="020B0604020202020204"/>
                <a:ea typeface="Arial Unicode MS" panose="020B0604020202020204" pitchFamily="34" charset="-128"/>
                <a:cs typeface="Arial Unicode MS" panose="020B0604020202020204" pitchFamily="34" charset="-128"/>
              </a:rPr>
              <a:pPr marL="0" marR="0" lvl="0" indent="0" algn="ct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t>64</a:t>
            </a:fld>
            <a:endParaRPr kumimoji="0" lang="en-US" sz="1800" b="0" i="0" u="none" strike="noStrike" kern="1200" cap="none" spc="0" normalizeH="0" baseline="0" noProof="0">
              <a:ln>
                <a:noFill/>
              </a:ln>
              <a:solidFill>
                <a:srgbClr val="000000"/>
              </a:solidFill>
              <a:effectLst/>
              <a:uLnTx/>
              <a:uFillTx/>
              <a:latin typeface="Arial" panose="020B0604020202020204"/>
              <a:ea typeface="Arial Unicode MS" panose="020B0604020202020204" pitchFamily="34" charset="-128"/>
              <a:cs typeface="Arial Unicode MS" panose="020B0604020202020204" pitchFamily="34" charset="-128"/>
            </a:endParaRPr>
          </a:p>
        </p:txBody>
      </p:sp>
      <p:sp>
        <p:nvSpPr>
          <p:cNvPr id="2" name="Title 1"/>
          <p:cNvSpPr>
            <a:spLocks noGrp="1"/>
          </p:cNvSpPr>
          <p:nvPr>
            <p:ph type="title"/>
          </p:nvPr>
        </p:nvSpPr>
        <p:spPr/>
        <p:txBody>
          <a:bodyPr/>
          <a:lstStyle/>
          <a:p>
            <a:endParaRPr lang="en-US"/>
          </a:p>
        </p:txBody>
      </p:sp>
      <p:sp>
        <p:nvSpPr>
          <p:cNvPr id="3" name="Picture Placeholder 2"/>
          <p:cNvSpPr>
            <a:spLocks noGrp="1"/>
          </p:cNvSpPr>
          <p:nvPr>
            <p:ph type="pic" sz="quarter" idx="13"/>
          </p:nvPr>
        </p:nvSpPr>
        <p:spPr/>
      </p:sp>
      <p:sp>
        <p:nvSpPr>
          <p:cNvPr id="4" name="Text Placeholder 3"/>
          <p:cNvSpPr>
            <a:spLocks noGrp="1"/>
          </p:cNvSpPr>
          <p:nvPr>
            <p:ph type="body" sz="quarter" idx="14"/>
          </p:nvPr>
        </p:nvSpPr>
        <p:spPr/>
        <p:txBody>
          <a:bodyPr/>
          <a:lstStyle/>
          <a:p>
            <a:endParaRPr lang="en-US"/>
          </a:p>
        </p:txBody>
      </p:sp>
      <p:pic>
        <p:nvPicPr>
          <p:cNvPr id="5" name="Picture 4"/>
          <p:cNvPicPr>
            <a:picLocks noChangeAspect="1"/>
          </p:cNvPicPr>
          <p:nvPr/>
        </p:nvPicPr>
        <p:blipFill>
          <a:blip r:embed="rId2"/>
          <a:stretch>
            <a:fillRect/>
          </a:stretch>
        </p:blipFill>
        <p:spPr>
          <a:xfrm>
            <a:off x="0" y="1122386"/>
            <a:ext cx="4302495" cy="2751114"/>
          </a:xfrm>
          <a:prstGeom prst="rect">
            <a:avLst/>
          </a:prstGeom>
        </p:spPr>
      </p:pic>
      <p:pic>
        <p:nvPicPr>
          <p:cNvPr id="6" name="Picture 5"/>
          <p:cNvPicPr>
            <a:picLocks noChangeAspect="1"/>
          </p:cNvPicPr>
          <p:nvPr/>
        </p:nvPicPr>
        <p:blipFill rotWithShape="1">
          <a:blip r:embed="rId3"/>
          <a:srcRect l="20950"/>
          <a:stretch/>
        </p:blipFill>
        <p:spPr>
          <a:xfrm>
            <a:off x="4276716" y="241325"/>
            <a:ext cx="4700594" cy="6529101"/>
          </a:xfrm>
          <a:prstGeom prst="rect">
            <a:avLst/>
          </a:prstGeom>
        </p:spPr>
      </p:pic>
    </p:spTree>
    <p:extLst>
      <p:ext uri="{BB962C8B-B14F-4D97-AF65-F5344CB8AC3E}">
        <p14:creationId xmlns:p14="http://schemas.microsoft.com/office/powerpoint/2010/main" val="40502289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1"/>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lvl1pPr eaLnBrk="0" hangingPunct="0">
              <a:spcBef>
                <a:spcPts val="8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eaLnBrk="0" hangingPunct="0">
              <a:spcBef>
                <a:spcPts val="7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r" defTabSz="457200" rtl="0" eaLnBrk="1" fontAlgn="base" latinLnBrk="0" hangingPunct="1">
              <a:lnSpc>
                <a:spcPct val="100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kumimoji="0" lang="en-US"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endParaRPr>
          </a:p>
        </p:txBody>
      </p:sp>
      <p:sp>
        <p:nvSpPr>
          <p:cNvPr id="47108" name="Text Box 3"/>
          <p:cNvSpPr txBox="1">
            <a:spLocks noChangeArrowheads="1"/>
          </p:cNvSpPr>
          <p:nvPr/>
        </p:nvSpPr>
        <p:spPr bwMode="auto">
          <a:xfrm>
            <a:off x="152400" y="873760"/>
            <a:ext cx="8534400" cy="3484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4350" indent="-514350" eaLnBrk="0" hangingPunct="0">
              <a:spcBef>
                <a:spcPts val="800"/>
              </a:spcBef>
              <a:tabLst>
                <a:tab pos="1082675" algn="l"/>
                <a:tab pos="1997075" algn="l"/>
                <a:tab pos="2911475" algn="l"/>
                <a:tab pos="3825875" algn="l"/>
                <a:tab pos="4740275" algn="l"/>
                <a:tab pos="5654675" algn="l"/>
                <a:tab pos="6569075" algn="l"/>
                <a:tab pos="7483475" algn="l"/>
                <a:tab pos="8397875" algn="l"/>
                <a:tab pos="9312275" algn="l"/>
                <a:tab pos="10226675" algn="l"/>
              </a:tabLst>
              <a:defRPr sz="32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1pPr>
            <a:lvl2pPr marL="400050" eaLnBrk="0" hangingPunct="0">
              <a:spcBef>
                <a:spcPts val="700"/>
              </a:spcBef>
              <a:tabLst>
                <a:tab pos="1082675" algn="l"/>
                <a:tab pos="1997075" algn="l"/>
                <a:tab pos="2911475" algn="l"/>
                <a:tab pos="3825875" algn="l"/>
                <a:tab pos="4740275" algn="l"/>
                <a:tab pos="5654675" algn="l"/>
                <a:tab pos="6569075" algn="l"/>
                <a:tab pos="7483475" algn="l"/>
                <a:tab pos="8397875" algn="l"/>
                <a:tab pos="9312275" algn="l"/>
                <a:tab pos="10226675" algn="l"/>
              </a:tabLst>
              <a:defRPr sz="28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2pPr>
            <a:lvl3pPr eaLnBrk="0" hangingPunct="0">
              <a:spcBef>
                <a:spcPts val="600"/>
              </a:spcBef>
              <a:tabLst>
                <a:tab pos="1082675" algn="l"/>
                <a:tab pos="1997075" algn="l"/>
                <a:tab pos="2911475" algn="l"/>
                <a:tab pos="3825875" algn="l"/>
                <a:tab pos="4740275" algn="l"/>
                <a:tab pos="5654675" algn="l"/>
                <a:tab pos="6569075" algn="l"/>
                <a:tab pos="7483475" algn="l"/>
                <a:tab pos="8397875" algn="l"/>
                <a:tab pos="9312275" algn="l"/>
                <a:tab pos="10226675" algn="l"/>
              </a:tabLst>
              <a:defRPr sz="24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3pPr>
            <a:lvl4pPr eaLnBrk="0" hangingPunct="0">
              <a:spcBef>
                <a:spcPts val="500"/>
              </a:spcBef>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4pPr>
            <a:lvl5pPr eaLnBrk="0" hangingPunct="0">
              <a:spcBef>
                <a:spcPts val="500"/>
              </a:spcBef>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tabLst>
                <a:tab pos="1082675" algn="l"/>
                <a:tab pos="1997075" algn="l"/>
                <a:tab pos="2911475" algn="l"/>
                <a:tab pos="3825875" algn="l"/>
                <a:tab pos="4740275" algn="l"/>
                <a:tab pos="5654675" algn="l"/>
                <a:tab pos="6569075" algn="l"/>
                <a:tab pos="7483475" algn="l"/>
                <a:tab pos="8397875" algn="l"/>
                <a:tab pos="9312275" algn="l"/>
                <a:tab pos="10226675" algn="l"/>
              </a:tabLst>
              <a:defRPr sz="2000">
                <a:solidFill>
                  <a:srgbClr val="000000"/>
                </a:solidFill>
                <a:latin typeface="Arial" panose="020B0604020202020204" pitchFamily="34" charset="0"/>
                <a:ea typeface="ＭＳ Ｐゴシック" panose="020B0600070205080204" pitchFamily="34" charset="-128"/>
                <a:cs typeface="Microsoft YaHei" panose="020B0503020204020204" pitchFamily="34" charset="-122"/>
              </a:defRPr>
            </a:lvl9pPr>
          </a:lstStyle>
          <a:p>
            <a:pPr marL="0" marR="0" lvl="0" indent="0" algn="l" defTabSz="457200" rtl="0" eaLnBrk="1" fontAlgn="base" latinLnBrk="0" hangingPunct="1">
              <a:lnSpc>
                <a:spcPct val="100000"/>
              </a:lnSpc>
              <a:spcBef>
                <a:spcPts val="800"/>
              </a:spcBef>
              <a:spcAft>
                <a:spcPct val="0"/>
              </a:spcAft>
              <a:buClr>
                <a:srgbClr val="000000"/>
              </a:buClr>
              <a:buSzPct val="100000"/>
              <a:buFontTx/>
              <a:buNone/>
              <a:tabLst>
                <a:tab pos="1082675" algn="l"/>
                <a:tab pos="1997075" algn="l"/>
                <a:tab pos="2911475" algn="l"/>
                <a:tab pos="3825875" algn="l"/>
                <a:tab pos="4740275" algn="l"/>
                <a:tab pos="5654675" algn="l"/>
                <a:tab pos="6569075" algn="l"/>
                <a:tab pos="7483475" algn="l"/>
                <a:tab pos="8397875" algn="l"/>
                <a:tab pos="9312275" algn="l"/>
                <a:tab pos="10226675" algn="l"/>
              </a:tabLst>
              <a:defRPr/>
            </a:pP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4. </a:t>
            </a:r>
            <a:r>
              <a:rPr kumimoji="0" lang="en-US" altLang="en-US" sz="2400" b="1" i="0" u="none" strike="noStrike" kern="1200" cap="none" spc="0" normalizeH="0" baseline="0" noProof="0" dirty="0" smtClean="0">
                <a:ln>
                  <a:noFill/>
                </a:ln>
                <a:solidFill>
                  <a:srgbClr val="3333CC"/>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Water expands </a:t>
            </a:r>
            <a:r>
              <a:rPr kumimoji="0" lang="en-US" altLang="en-US" sz="2400" b="1" i="0" u="none" strike="noStrike" kern="1200" cap="none" spc="0" normalizeH="0" baseline="0" noProof="0" dirty="0">
                <a:ln>
                  <a:noFill/>
                </a:ln>
                <a:solidFill>
                  <a:srgbClr val="3333CC"/>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upon freezing</a:t>
            </a:r>
          </a:p>
          <a:p>
            <a:pPr marL="457200" marR="0" lvl="0" indent="-457200" algn="just" defTabSz="457200" rtl="0" eaLnBrk="1" fontAlgn="base" latinLnBrk="0" hangingPunct="1">
              <a:lnSpc>
                <a:spcPct val="100000"/>
              </a:lnSpc>
              <a:spcBef>
                <a:spcPts val="800"/>
              </a:spcBef>
              <a:spcAft>
                <a:spcPct val="0"/>
              </a:spcAft>
              <a:buClr>
                <a:srgbClr val="000000"/>
              </a:buClr>
              <a:buSzPct val="100000"/>
              <a:buFont typeface="Arial" panose="020B0604020202020204" pitchFamily="34" charset="0"/>
              <a:buChar char="•"/>
              <a:tabLst>
                <a:tab pos="1082675" algn="l"/>
                <a:tab pos="1997075" algn="l"/>
                <a:tab pos="2911475" algn="l"/>
                <a:tab pos="3825875" algn="l"/>
                <a:tab pos="4740275" algn="l"/>
                <a:tab pos="5654675" algn="l"/>
                <a:tab pos="6569075" algn="l"/>
                <a:tab pos="7483475" algn="l"/>
                <a:tab pos="8397875" algn="l"/>
                <a:tab pos="9312275" algn="l"/>
                <a:tab pos="10226675" algn="l"/>
              </a:tabLst>
              <a:defRPr/>
            </a:pP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Solid water is less dense than liquid water</a:t>
            </a:r>
          </a:p>
          <a:p>
            <a:pPr marL="857250" marR="0" lvl="1" indent="-457200" algn="just" defTabSz="457200" rtl="0" eaLnBrk="1" fontAlgn="base" latinLnBrk="0" hangingPunct="1">
              <a:lnSpc>
                <a:spcPct val="100000"/>
              </a:lnSpc>
              <a:spcBef>
                <a:spcPts val="700"/>
              </a:spcBef>
              <a:spcAft>
                <a:spcPct val="0"/>
              </a:spcAft>
              <a:buClr>
                <a:srgbClr val="000000"/>
              </a:buClr>
              <a:buSzPct val="100000"/>
              <a:buFont typeface="Wingdings" panose="05000000000000000000" pitchFamily="2" charset="2"/>
              <a:buChar char="ü"/>
              <a:tabLst>
                <a:tab pos="1082675" algn="l"/>
                <a:tab pos="1997075" algn="l"/>
                <a:tab pos="2911475" algn="l"/>
                <a:tab pos="3825875" algn="l"/>
                <a:tab pos="4740275" algn="l"/>
                <a:tab pos="5654675" algn="l"/>
                <a:tab pos="6569075" algn="l"/>
                <a:tab pos="7483475" algn="l"/>
                <a:tab pos="8397875" algn="l"/>
                <a:tab pos="9312275" algn="l"/>
                <a:tab pos="10226675" algn="l"/>
              </a:tabLst>
              <a:defRPr/>
            </a:pP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density of water decrease </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as it cools </a:t>
            </a: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down</a:t>
            </a:r>
          </a:p>
          <a:p>
            <a:pPr marL="857250" marR="0" lvl="1" indent="-457200" algn="just" defTabSz="457200" rtl="0" eaLnBrk="1" fontAlgn="base" latinLnBrk="0" hangingPunct="1">
              <a:lnSpc>
                <a:spcPct val="100000"/>
              </a:lnSpc>
              <a:spcBef>
                <a:spcPts val="700"/>
              </a:spcBef>
              <a:spcAft>
                <a:spcPct val="0"/>
              </a:spcAft>
              <a:buClr>
                <a:srgbClr val="000000"/>
              </a:buClr>
              <a:buSzPct val="100000"/>
              <a:buFont typeface="Wingdings" panose="05000000000000000000" pitchFamily="2" charset="2"/>
              <a:buChar char="ü"/>
              <a:tabLst>
                <a:tab pos="1082675" algn="l"/>
                <a:tab pos="1997075" algn="l"/>
                <a:tab pos="2911475" algn="l"/>
                <a:tab pos="3825875" algn="l"/>
                <a:tab pos="4740275" algn="l"/>
                <a:tab pos="5654675" algn="l"/>
                <a:tab pos="6569075" algn="l"/>
                <a:tab pos="7483475" algn="l"/>
                <a:tab pos="8397875" algn="l"/>
                <a:tab pos="9312275" algn="l"/>
                <a:tab pos="10226675" algn="l"/>
              </a:tabLst>
              <a:defRPr/>
            </a:pP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Water has the highest </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density at 4 degree </a:t>
            </a: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centigrade</a:t>
            </a:r>
          </a:p>
          <a:p>
            <a:pPr marL="857250" marR="0" lvl="1" indent="-457200" algn="just" defTabSz="457200" rtl="0" eaLnBrk="1" fontAlgn="base" latinLnBrk="0" hangingPunct="1">
              <a:lnSpc>
                <a:spcPct val="100000"/>
              </a:lnSpc>
              <a:spcBef>
                <a:spcPts val="700"/>
              </a:spcBef>
              <a:spcAft>
                <a:spcPct val="0"/>
              </a:spcAft>
              <a:buClr>
                <a:srgbClr val="000000"/>
              </a:buClr>
              <a:buSzPct val="100000"/>
              <a:buFont typeface="Wingdings" panose="05000000000000000000" pitchFamily="2" charset="2"/>
              <a:buChar char="ü"/>
              <a:tabLst>
                <a:tab pos="1082675" algn="l"/>
                <a:tab pos="1997075" algn="l"/>
                <a:tab pos="2911475" algn="l"/>
                <a:tab pos="3825875" algn="l"/>
                <a:tab pos="4740275" algn="l"/>
                <a:tab pos="5654675" algn="l"/>
                <a:tab pos="6569075" algn="l"/>
                <a:tab pos="7483475" algn="l"/>
                <a:tab pos="8397875" algn="l"/>
                <a:tab pos="9312275" algn="l"/>
                <a:tab pos="10226675" algn="l"/>
              </a:tabLst>
              <a:defRPr/>
            </a:pP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Bodies </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of water freeze from the top </a:t>
            </a: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down. This allow </a:t>
            </a: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organisms to live at the bottom of fresh water lakes, protected from </a:t>
            </a:r>
            <a:r>
              <a:rPr kumimoji="0" lang="en-US" altLang="en-US" sz="2400" b="0" i="0" u="none" strike="noStrike" kern="120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freezing</a:t>
            </a:r>
            <a:endPar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pic>
        <p:nvPicPr>
          <p:cNvPr id="47109" name="Picture 2" descr="http://www.hdwallpapersplus.com/wp-content/uploads/2012/10/iceberg_2.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917190" y="3992880"/>
            <a:ext cx="3414394" cy="2560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idx="12"/>
          </p:nvPr>
        </p:nvSpPr>
        <p:spPr>
          <a:xfrm>
            <a:off x="7011988" y="6245225"/>
            <a:ext cx="2132012" cy="474663"/>
          </a:xfrm>
        </p:spPr>
        <p:txBody>
          <a:bodyPr/>
          <a:lstStyle/>
          <a:p>
            <a:pPr marL="0" marR="0" lvl="0" indent="0" algn="ct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fld id="{D7E5A37C-F2D3-40CC-B2C6-EF7AC0C09F88}" type="slidenum">
              <a:rPr kumimoji="0" lang="en-US" altLang="en-US" sz="1800" b="0" i="0" u="none" strike="noStrike" kern="1200" cap="none" spc="0" normalizeH="0" baseline="0" noProof="0" smtClean="0">
                <a:ln>
                  <a:noFill/>
                </a:ln>
                <a:solidFill>
                  <a:srgbClr val="000000"/>
                </a:solidFill>
                <a:effectLst/>
                <a:uLnTx/>
                <a:uFillTx/>
                <a:latin typeface="Arial" panose="020B0604020202020204"/>
                <a:ea typeface="Arial Unicode MS" panose="020B0604020202020204" pitchFamily="34" charset="-128"/>
                <a:cs typeface="Arial Unicode MS" panose="020B0604020202020204" pitchFamily="34" charset="-128"/>
              </a:rPr>
              <a:pPr marL="0" marR="0" lvl="0" indent="0" algn="ct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t>65</a:t>
            </a:fld>
            <a:endParaRPr kumimoji="0" lang="en-US" altLang="en-US" sz="1800" b="0" i="0" u="none" strike="noStrike" kern="1200" cap="none" spc="0" normalizeH="0" baseline="0" noProof="0">
              <a:ln>
                <a:noFill/>
              </a:ln>
              <a:solidFill>
                <a:srgbClr val="000000"/>
              </a:solidFill>
              <a:effectLst/>
              <a:uLnTx/>
              <a:uFillTx/>
              <a:latin typeface="Arial" panose="020B0604020202020204"/>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100508063"/>
      </p:ext>
    </p:extLst>
  </p:cSld>
  <p:clrMapOvr>
    <a:masterClrMapping/>
  </p:clrMapOvr>
  <p:transition spd="slow">
    <p:push dir="u"/>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5637" name="Picture 5" descr="41_T02-MineralReqHuman-U"/>
          <p:cNvPicPr>
            <a:picLocks noChangeAspect="1" noChangeArrowheads="1"/>
          </p:cNvPicPr>
          <p:nvPr/>
        </p:nvPicPr>
        <p:blipFill rotWithShape="1">
          <a:blip r:embed="rId3" cstate="email">
            <a:extLst>
              <a:ext uri="{28A0092B-C50C-407E-A947-70E740481C1C}">
                <a14:useLocalDpi xmlns:a14="http://schemas.microsoft.com/office/drawing/2010/main" val="0"/>
              </a:ext>
            </a:extLst>
          </a:blip>
          <a:srcRect b="46694"/>
          <a:stretch/>
        </p:blipFill>
        <p:spPr bwMode="auto">
          <a:xfrm>
            <a:off x="28579" y="2045993"/>
            <a:ext cx="9115421" cy="4474028"/>
          </a:xfrm>
          <a:prstGeom prst="rect">
            <a:avLst/>
          </a:prstGeom>
          <a:noFill/>
          <a:extLst>
            <a:ext uri="{909E8E84-426E-40DD-AFC4-6F175D3DCCD1}">
              <a14:hiddenFill xmlns:a14="http://schemas.microsoft.com/office/drawing/2010/main">
                <a:solidFill>
                  <a:srgbClr val="FFFFFF"/>
                </a:solidFill>
              </a14:hiddenFill>
            </a:ext>
          </a:extLst>
        </p:spPr>
      </p:pic>
      <p:sp>
        <p:nvSpPr>
          <p:cNvPr id="965638" name="Rectangle 6"/>
          <p:cNvSpPr>
            <a:spLocks noChangeArrowheads="1"/>
          </p:cNvSpPr>
          <p:nvPr/>
        </p:nvSpPr>
        <p:spPr bwMode="auto">
          <a:xfrm>
            <a:off x="1257300" y="828675"/>
            <a:ext cx="14859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defRPr>
            </a:lvl1pPr>
            <a:lvl2pPr algn="ctr">
              <a:defRPr sz="4400">
                <a:solidFill>
                  <a:schemeClr val="tx2"/>
                </a:solidFill>
                <a:latin typeface="Arial" panose="020B0604020202020204" pitchFamily="34" charset="0"/>
              </a:defRPr>
            </a:lvl2pPr>
            <a:lvl3pPr algn="ctr">
              <a:defRPr sz="4400">
                <a:solidFill>
                  <a:schemeClr val="tx2"/>
                </a:solidFill>
                <a:latin typeface="Arial" panose="020B0604020202020204" pitchFamily="34" charset="0"/>
              </a:defRPr>
            </a:lvl3pPr>
            <a:lvl4pPr algn="ctr">
              <a:defRPr sz="4400">
                <a:solidFill>
                  <a:schemeClr val="tx2"/>
                </a:solidFill>
                <a:latin typeface="Arial" panose="020B0604020202020204" pitchFamily="34" charset="0"/>
              </a:defRPr>
            </a:lvl4pPr>
            <a:lvl5pPr algn="ctr">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US" altLang="en-US" sz="900" b="0"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Symbol" panose="05050102010706020507" pitchFamily="18" charset="2"/>
            </a:endParaRPr>
          </a:p>
        </p:txBody>
      </p:sp>
      <p:sp>
        <p:nvSpPr>
          <p:cNvPr id="3" name="Content Placeholder 2"/>
          <p:cNvSpPr>
            <a:spLocks noGrp="1"/>
          </p:cNvSpPr>
          <p:nvPr>
            <p:ph idx="1"/>
          </p:nvPr>
        </p:nvSpPr>
        <p:spPr>
          <a:xfrm>
            <a:off x="243840" y="828675"/>
            <a:ext cx="8900160" cy="1610360"/>
          </a:xfrm>
        </p:spPr>
        <p:txBody>
          <a:bodyPr/>
          <a:lstStyle/>
          <a:p>
            <a:r>
              <a:rPr lang="nb-NO" sz="2400" b="0" dirty="0" smtClean="0">
                <a:solidFill>
                  <a:srgbClr val="FF0000"/>
                </a:solidFill>
                <a:latin typeface="Times New Roman" panose="02020603050405020304" pitchFamily="18" charset="0"/>
                <a:cs typeface="Times New Roman" panose="02020603050405020304" pitchFamily="18" charset="0"/>
              </a:rPr>
              <a:t> </a:t>
            </a:r>
            <a:r>
              <a:rPr lang="en-US" sz="2400" b="0" dirty="0" smtClean="0">
                <a:latin typeface="Times New Roman" panose="02020603050405020304" pitchFamily="18" charset="0"/>
                <a:cs typeface="Times New Roman" panose="02020603050405020304" pitchFamily="18" charset="0"/>
              </a:rPr>
              <a:t>Provide </a:t>
            </a:r>
            <a:r>
              <a:rPr lang="en-US" sz="2400" b="0" dirty="0">
                <a:latin typeface="Times New Roman" panose="02020603050405020304" pitchFamily="18" charset="0"/>
                <a:cs typeface="Times New Roman" panose="02020603050405020304" pitchFamily="18" charset="0"/>
              </a:rPr>
              <a:t>ions for:-Muscle Contraction -Nerve Impulse Conduction -transports substances into- out of </a:t>
            </a:r>
            <a:r>
              <a:rPr lang="en-US" sz="2400" b="0" dirty="0" smtClean="0">
                <a:latin typeface="Times New Roman" panose="02020603050405020304" pitchFamily="18" charset="0"/>
                <a:cs typeface="Times New Roman" panose="02020603050405020304" pitchFamily="18" charset="0"/>
              </a:rPr>
              <a:t>cells</a:t>
            </a:r>
          </a:p>
          <a:p>
            <a:pPr marL="0" indent="0"/>
            <a:r>
              <a:rPr lang="nb-NO" sz="2400" b="0" dirty="0" smtClean="0">
                <a:solidFill>
                  <a:schemeClr val="accent2"/>
                </a:solidFill>
                <a:latin typeface="Times New Roman" panose="02020603050405020304" pitchFamily="18" charset="0"/>
                <a:cs typeface="Times New Roman" panose="02020603050405020304" pitchFamily="18" charset="0"/>
              </a:rPr>
              <a:t>Below in the table are important minerals in human body</a:t>
            </a:r>
            <a:endParaRPr lang="en-US" sz="2400" b="0" dirty="0">
              <a:solidFill>
                <a:schemeClr val="accent2"/>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a:xfrm>
            <a:off x="3491704" y="6520021"/>
            <a:ext cx="2132012" cy="474663"/>
          </a:xfrm>
        </p:spPr>
        <p:txBody>
          <a:bodyPr/>
          <a:lstStyle/>
          <a:p>
            <a:pPr marL="0" marR="0" lvl="0" indent="0" algn="ct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fld id="{53317C95-79B3-47B2-BCE4-777D56DEFB80}" type="slidenum">
              <a:rPr kumimoji="0" lang="en-US" altLang="en-US" sz="1800" b="0" i="0" u="none" strike="noStrike" kern="1200" cap="none" spc="0" normalizeH="0" baseline="0" noProof="0" smtClean="0">
                <a:ln>
                  <a:noFill/>
                </a:ln>
                <a:solidFill>
                  <a:srgbClr val="000000"/>
                </a:solidFill>
                <a:effectLst/>
                <a:uLnTx/>
                <a:uFillTx/>
                <a:latin typeface="Arial" panose="020B0604020202020204"/>
                <a:ea typeface="Arial Unicode MS" panose="020B0604020202020204" pitchFamily="34" charset="-128"/>
                <a:cs typeface="Arial Unicode MS" panose="020B0604020202020204" pitchFamily="34" charset="-128"/>
              </a:rPr>
              <a:pPr marL="0" marR="0" lvl="0" indent="0" algn="ctr" defTabSz="914400" rtl="0" eaLnBrk="1" fontAlgn="auto" latinLnBrk="0" hangingPunct="1">
                <a:lnSpc>
                  <a:spcPct val="100000"/>
                </a:lnSpc>
                <a:spcBef>
                  <a:spcPts val="0"/>
                </a:spcBef>
                <a:spcAft>
                  <a:spcPts val="0"/>
                </a:spcAft>
                <a:buClrTx/>
                <a:buSzPct val="100000"/>
                <a:buFontTx/>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t>66</a:t>
            </a:fld>
            <a:endParaRPr kumimoji="0" lang="en-US" altLang="en-US" sz="1800" b="0" i="0" u="none" strike="noStrike" kern="1200" cap="none" spc="0" normalizeH="0" baseline="0" noProof="0" dirty="0">
              <a:ln>
                <a:noFill/>
              </a:ln>
              <a:solidFill>
                <a:srgbClr val="000000"/>
              </a:solidFill>
              <a:effectLst/>
              <a:uLnTx/>
              <a:uFillTx/>
              <a:latin typeface="Arial" panose="020B0604020202020204"/>
              <a:ea typeface="Arial Unicode MS" panose="020B0604020202020204" pitchFamily="34" charset="-128"/>
              <a:cs typeface="Arial Unicode MS" panose="020B0604020202020204" pitchFamily="34" charset="-128"/>
            </a:endParaRPr>
          </a:p>
        </p:txBody>
      </p:sp>
      <p:sp>
        <p:nvSpPr>
          <p:cNvPr id="2" name="Rectangle 1"/>
          <p:cNvSpPr/>
          <p:nvPr/>
        </p:nvSpPr>
        <p:spPr>
          <a:xfrm>
            <a:off x="2372578" y="70029"/>
            <a:ext cx="1758815" cy="58477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b-NO" sz="3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Minerals</a:t>
            </a:r>
            <a:endParaRPr kumimoji="0" lang="en-US" sz="3200" b="1"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2980168155"/>
      </p:ext>
    </p:extLst>
  </p:cSld>
  <p:clrMapOvr>
    <a:masterClrMapping/>
  </p:clrMapOvr>
  <p:transition spd="slow">
    <p:push dir="u"/>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5638" name="Rectangle 6"/>
          <p:cNvSpPr>
            <a:spLocks noChangeArrowheads="1"/>
          </p:cNvSpPr>
          <p:nvPr/>
        </p:nvSpPr>
        <p:spPr bwMode="auto">
          <a:xfrm>
            <a:off x="1257300" y="828675"/>
            <a:ext cx="14859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defRPr>
            </a:lvl1pPr>
            <a:lvl2pPr algn="ctr">
              <a:defRPr sz="4400">
                <a:solidFill>
                  <a:schemeClr val="tx2"/>
                </a:solidFill>
                <a:latin typeface="Arial" panose="020B0604020202020204" pitchFamily="34" charset="0"/>
              </a:defRPr>
            </a:lvl2pPr>
            <a:lvl3pPr algn="ctr">
              <a:defRPr sz="4400">
                <a:solidFill>
                  <a:schemeClr val="tx2"/>
                </a:solidFill>
                <a:latin typeface="Arial" panose="020B0604020202020204" pitchFamily="34" charset="0"/>
              </a:defRPr>
            </a:lvl3pPr>
            <a:lvl4pPr algn="ctr">
              <a:defRPr sz="4400">
                <a:solidFill>
                  <a:schemeClr val="tx2"/>
                </a:solidFill>
                <a:latin typeface="Arial" panose="020B0604020202020204" pitchFamily="34" charset="0"/>
              </a:defRPr>
            </a:lvl4pPr>
            <a:lvl5pPr algn="ctr">
              <a:defRPr sz="4400">
                <a:solidFill>
                  <a:schemeClr val="tx2"/>
                </a:solidFill>
                <a:latin typeface="Arial" panose="020B0604020202020204" pitchFamily="34" charset="0"/>
              </a:defRPr>
            </a:lvl5pPr>
            <a:lvl6pPr marL="457200" algn="ctr" fontAlgn="base">
              <a:spcBef>
                <a:spcPct val="0"/>
              </a:spcBef>
              <a:spcAft>
                <a:spcPct val="0"/>
              </a:spcAft>
              <a:defRPr sz="4400">
                <a:solidFill>
                  <a:schemeClr val="tx2"/>
                </a:solidFill>
                <a:latin typeface="Arial" panose="020B0604020202020204" pitchFamily="34" charset="0"/>
              </a:defRPr>
            </a:lvl6pPr>
            <a:lvl7pPr marL="914400" algn="ctr" fontAlgn="base">
              <a:spcBef>
                <a:spcPct val="0"/>
              </a:spcBef>
              <a:spcAft>
                <a:spcPct val="0"/>
              </a:spcAft>
              <a:defRPr sz="4400">
                <a:solidFill>
                  <a:schemeClr val="tx2"/>
                </a:solidFill>
                <a:latin typeface="Arial" panose="020B0604020202020204" pitchFamily="34" charset="0"/>
              </a:defRPr>
            </a:lvl7pPr>
            <a:lvl8pPr marL="1371600" algn="ctr" fontAlgn="base">
              <a:spcBef>
                <a:spcPct val="0"/>
              </a:spcBef>
              <a:spcAft>
                <a:spcPct val="0"/>
              </a:spcAft>
              <a:defRPr sz="4400">
                <a:solidFill>
                  <a:schemeClr val="tx2"/>
                </a:solidFill>
                <a:latin typeface="Arial" panose="020B0604020202020204" pitchFamily="34" charset="0"/>
              </a:defRPr>
            </a:lvl8pPr>
            <a:lvl9pPr marL="1828800" algn="ctr" fontAlgn="base">
              <a:spcBef>
                <a:spcPct val="0"/>
              </a:spcBef>
              <a:spcAft>
                <a:spcPct val="0"/>
              </a:spcAft>
              <a:defRPr sz="4400">
                <a:solidFill>
                  <a:schemeClr val="tx2"/>
                </a:solidFill>
                <a:latin typeface="Arial" panose="020B0604020202020204" pitchFamily="34" charset="0"/>
              </a:defRPr>
            </a:lvl9p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US" altLang="en-US" sz="900" b="0"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Symbol" panose="05050102010706020507" pitchFamily="18" charset="2"/>
            </a:endParaRPr>
          </a:p>
        </p:txBody>
      </p:sp>
      <p:grpSp>
        <p:nvGrpSpPr>
          <p:cNvPr id="2" name="Group 1"/>
          <p:cNvGrpSpPr/>
          <p:nvPr/>
        </p:nvGrpSpPr>
        <p:grpSpPr>
          <a:xfrm>
            <a:off x="0" y="828675"/>
            <a:ext cx="9147660" cy="4702629"/>
            <a:chOff x="0" y="0"/>
            <a:chExt cx="12196880" cy="6270172"/>
          </a:xfrm>
        </p:grpSpPr>
        <p:pic>
          <p:nvPicPr>
            <p:cNvPr id="965637" name="Picture 5" descr="41_T02-MineralReqHuman-U"/>
            <p:cNvPicPr>
              <a:picLocks noChangeAspect="1" noChangeArrowheads="1"/>
            </p:cNvPicPr>
            <p:nvPr/>
          </p:nvPicPr>
          <p:blipFill rotWithShape="1">
            <a:blip r:embed="rId3" cstate="email">
              <a:extLst>
                <a:ext uri="{28A0092B-C50C-407E-A947-70E740481C1C}">
                  <a14:useLocalDpi xmlns:a14="http://schemas.microsoft.com/office/drawing/2010/main" val="0"/>
                </a:ext>
              </a:extLst>
            </a:blip>
            <a:srcRect l="1686" t="53637" r="3084" b="3071"/>
            <a:stretch/>
          </p:blipFill>
          <p:spPr bwMode="auto">
            <a:xfrm>
              <a:off x="0" y="1164772"/>
              <a:ext cx="12196880" cy="5105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5" descr="41_T02-MineralReqHuman-U"/>
            <p:cNvPicPr>
              <a:picLocks noChangeAspect="1" noChangeArrowheads="1"/>
            </p:cNvPicPr>
            <p:nvPr/>
          </p:nvPicPr>
          <p:blipFill rotWithShape="1">
            <a:blip r:embed="rId4" cstate="email">
              <a:extLst>
                <a:ext uri="{28A0092B-C50C-407E-A947-70E740481C1C}">
                  <a14:useLocalDpi xmlns:a14="http://schemas.microsoft.com/office/drawing/2010/main" val="0"/>
                </a:ext>
              </a:extLst>
            </a:blip>
            <a:srcRect l="1607" r="2182" b="90501"/>
            <a:stretch/>
          </p:blipFill>
          <p:spPr bwMode="auto">
            <a:xfrm>
              <a:off x="0" y="0"/>
              <a:ext cx="12192000" cy="120287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89847681"/>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gradFill rotWithShape="0">
                <a:gsLst>
                  <a:gs pos="0">
                    <a:schemeClr val="accent1"/>
                  </a:gs>
                  <a:gs pos="100000">
                    <a:schemeClr val="bg1"/>
                  </a:gs>
                </a:gsLst>
                <a:lin ang="5400000" scaled="1"/>
              </a:gradFill>
            </a14:hiddenFill>
          </a:ext>
          <a:ext uri="{91240B29-F687-4F45-9708-019B960494DF}">
            <a14:hiddenLine xmlns:a14="http://schemas.microsoft.com/office/drawing/2010/main" w="349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2075" tIns="46038" rIns="92075" bIns="46038" numCol="1" anchor="ctr"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altLang="en-US" sz="2900" b="0" i="0" u="none" strike="noStrike" cap="none" normalizeH="0" baseline="0" smtClean="0">
            <a:ln>
              <a:noFill/>
            </a:ln>
            <a:solidFill>
              <a:schemeClr val="tx1"/>
            </a:solidFill>
            <a:effectLst/>
            <a:latin typeface="Arial" panose="020B0604020202020204" pitchFamily="34" charset="0"/>
            <a:sym typeface="Symbol" panose="05050102010706020507" pitchFamily="18" charset="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gradFill rotWithShape="0">
                <a:gsLst>
                  <a:gs pos="0">
                    <a:schemeClr val="accent1"/>
                  </a:gs>
                  <a:gs pos="100000">
                    <a:schemeClr val="bg1"/>
                  </a:gs>
                </a:gsLst>
                <a:lin ang="5400000" scaled="1"/>
              </a:gradFill>
            </a14:hiddenFill>
          </a:ext>
          <a:ext uri="{91240B29-F687-4F45-9708-019B960494DF}">
            <a14:hiddenLine xmlns:a14="http://schemas.microsoft.com/office/drawing/2010/main" w="349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2075" tIns="46038" rIns="92075" bIns="46038" numCol="1" anchor="ctr"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altLang="en-US" sz="2900" b="0" i="0" u="none" strike="noStrike" cap="none" normalizeH="0" baseline="0" smtClean="0">
            <a:ln>
              <a:noFill/>
            </a:ln>
            <a:solidFill>
              <a:schemeClr val="tx1"/>
            </a:solidFill>
            <a:effectLst/>
            <a:latin typeface="Arial" panose="020B0604020202020204" pitchFamily="34" charset="0"/>
            <a:sym typeface="Symbol" panose="05050102010706020507" pitchFamily="18" charset="2"/>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wU Theme.2">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altLang="en-US" sz="1800" b="0" i="0" u="none" strike="noStrike" cap="none" normalizeH="0" baseline="0" smtClean="0">
            <a:ln>
              <a:noFill/>
            </a:ln>
            <a:solidFill>
              <a:schemeClr val="bg1"/>
            </a:solidFill>
            <a:effectLst/>
            <a:latin typeface="Arial"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altLang="en-US" sz="1800" b="0" i="0" u="none" strike="noStrike" cap="none" normalizeH="0" baseline="0" smtClean="0">
            <a:ln>
              <a:noFill/>
            </a:ln>
            <a:solidFill>
              <a:schemeClr val="bg1"/>
            </a:solidFill>
            <a:effectLst/>
            <a:latin typeface="Arial"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HwU Theme.2" id="{EA961F07-CEFB-46F8-A5FB-94480D336DF0}" vid="{9735596D-32DE-4689-8024-CACD4FC2DB06}"/>
    </a:ext>
  </a:extLst>
</a:theme>
</file>

<file path=ppt/theme/theme3.xml><?xml version="1.0" encoding="utf-8"?>
<a:theme xmlns:a="http://schemas.openxmlformats.org/drawingml/2006/main" name="1_HwU Theme.2">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altLang="en-US" sz="1800" b="0" i="0" u="none" strike="noStrike" cap="none" normalizeH="0" baseline="0" smtClean="0">
            <a:ln>
              <a:noFill/>
            </a:ln>
            <a:solidFill>
              <a:schemeClr val="bg1"/>
            </a:solidFill>
            <a:effectLst/>
            <a:latin typeface="Arial"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altLang="en-US" sz="1800" b="0" i="0" u="none" strike="noStrike" cap="none" normalizeH="0" baseline="0" smtClean="0">
            <a:ln>
              <a:noFill/>
            </a:ln>
            <a:solidFill>
              <a:schemeClr val="bg1"/>
            </a:solidFill>
            <a:effectLst/>
            <a:latin typeface="Arial"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HwU Theme.2" id="{EA961F07-CEFB-46F8-A5FB-94480D336DF0}" vid="{9735596D-32DE-4689-8024-CACD4FC2DB0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4201</TotalTime>
  <Words>4449</Words>
  <Application>Microsoft Office PowerPoint</Application>
  <PresentationFormat>On-screen Show (4:3)</PresentationFormat>
  <Paragraphs>631</Paragraphs>
  <Slides>67</Slides>
  <Notes>12</Notes>
  <HiddenSlides>0</HiddenSlides>
  <MMClips>0</MMClips>
  <ScaleCrop>false</ScaleCrop>
  <HeadingPairs>
    <vt:vector size="8" baseType="variant">
      <vt:variant>
        <vt:lpstr>Fonts Used</vt:lpstr>
      </vt:variant>
      <vt:variant>
        <vt:i4>15</vt:i4>
      </vt:variant>
      <vt:variant>
        <vt:lpstr>Theme</vt:lpstr>
      </vt:variant>
      <vt:variant>
        <vt:i4>3</vt:i4>
      </vt:variant>
      <vt:variant>
        <vt:lpstr>Embedded OLE Servers</vt:lpstr>
      </vt:variant>
      <vt:variant>
        <vt:i4>0</vt:i4>
      </vt:variant>
      <vt:variant>
        <vt:lpstr>Slide Titles</vt:lpstr>
      </vt:variant>
      <vt:variant>
        <vt:i4>67</vt:i4>
      </vt:variant>
    </vt:vector>
  </HeadingPairs>
  <TitlesOfParts>
    <vt:vector size="85" baseType="lpstr">
      <vt:lpstr>Microsoft YaHei</vt:lpstr>
      <vt:lpstr>ＭＳ Ｐゴシック</vt:lpstr>
      <vt:lpstr>Arial</vt:lpstr>
      <vt:lpstr>Arial Unicode MS</vt:lpstr>
      <vt:lpstr>Arimo</vt:lpstr>
      <vt:lpstr>Calibri</vt:lpstr>
      <vt:lpstr>Cambria Math</vt:lpstr>
      <vt:lpstr>MS Mincho</vt:lpstr>
      <vt:lpstr>Noto Sans Mono CJK JP Bold</vt:lpstr>
      <vt:lpstr>proxima-nova</vt:lpstr>
      <vt:lpstr>Symbol</vt:lpstr>
      <vt:lpstr>Times New Roman</vt:lpstr>
      <vt:lpstr>Trebuchet MS</vt:lpstr>
      <vt:lpstr>Tw Cen MT</vt:lpstr>
      <vt:lpstr>Wingdings</vt:lpstr>
      <vt:lpstr>Custom Design</vt:lpstr>
      <vt:lpstr>HwU Theme.2</vt:lpstr>
      <vt:lpstr>1_HwU Theme.2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Cont’d</vt:lpstr>
      <vt:lpstr>Cont’d</vt:lpstr>
      <vt:lpstr>Cont’d</vt:lpstr>
      <vt:lpstr>PowerPoint Presentation</vt:lpstr>
      <vt:lpstr>Examples of Monosaccharides</vt:lpstr>
      <vt:lpstr>PowerPoint Presentation</vt:lpstr>
      <vt:lpstr>PowerPoint Presentation</vt:lpstr>
      <vt:lpstr>PowerPoint Presentation</vt:lpstr>
      <vt:lpstr>PowerPoint Presentation</vt:lpstr>
      <vt:lpstr>Cont’d</vt:lpstr>
      <vt:lpstr>PowerPoint Presentation</vt:lpstr>
      <vt:lpstr>Structure of starch</vt:lpstr>
      <vt:lpstr>PowerPoint Presentation</vt:lpstr>
      <vt:lpstr>PowerPoint Presentation</vt:lpstr>
      <vt:lpstr>PowerPoint Presentation</vt:lpstr>
      <vt:lpstr>Lipids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Cont’d</vt:lpstr>
      <vt:lpstr>PowerPoint Presentation</vt:lpstr>
      <vt:lpstr>Proteins cont’d</vt:lpstr>
      <vt:lpstr>PowerPoint Presentation</vt:lpstr>
      <vt:lpstr>PowerPoint Presentation</vt:lpstr>
      <vt:lpstr>PowerPoint Presentation</vt:lpstr>
      <vt:lpstr>Nucleic Acids</vt:lpstr>
      <vt:lpstr>Cont’d</vt:lpstr>
      <vt:lpstr>Cont’d</vt:lpstr>
      <vt:lpstr>PowerPoint Presentation</vt:lpstr>
      <vt:lpstr>Cont’d</vt:lpstr>
      <vt:lpstr>Cont’d</vt:lpstr>
      <vt:lpstr>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WNI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Concepts of Biology - Chapter 2 - CHEMISTRY OF LIFE</dc:title>
  <dc:creator>Spuddy McSpare</dc:creator>
  <cp:lastModifiedBy>Admin</cp:lastModifiedBy>
  <cp:revision>335</cp:revision>
  <dcterms:created xsi:type="dcterms:W3CDTF">2012-06-04T02:13:36Z</dcterms:created>
  <dcterms:modified xsi:type="dcterms:W3CDTF">2023-10-31T13:44:45Z</dcterms:modified>
</cp:coreProperties>
</file>